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5.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349" r:id="rId2"/>
    <p:sldId id="257" r:id="rId3"/>
    <p:sldId id="282" r:id="rId4"/>
    <p:sldId id="283" r:id="rId5"/>
    <p:sldId id="261" r:id="rId6"/>
    <p:sldId id="262" r:id="rId7"/>
    <p:sldId id="260" r:id="rId8"/>
    <p:sldId id="263" r:id="rId9"/>
    <p:sldId id="273" r:id="rId10"/>
    <p:sldId id="274" r:id="rId11"/>
    <p:sldId id="280" r:id="rId12"/>
    <p:sldId id="281" r:id="rId13"/>
    <p:sldId id="264" r:id="rId14"/>
    <p:sldId id="275" r:id="rId15"/>
    <p:sldId id="278" r:id="rId16"/>
    <p:sldId id="351"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潘 叙辰" initials="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F51B6"/>
    <a:srgbClr val="3D5CE8"/>
    <a:srgbClr val="FFC107"/>
    <a:srgbClr val="F44336"/>
    <a:srgbClr val="0353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84" autoAdjust="0"/>
    <p:restoredTop sz="89776" autoAdjust="0"/>
  </p:normalViewPr>
  <p:slideViewPr>
    <p:cSldViewPr snapToGrid="0" snapToObjects="1">
      <p:cViewPr varScale="1">
        <p:scale>
          <a:sx n="96" d="100"/>
          <a:sy n="96" d="100"/>
        </p:scale>
        <p:origin x="10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5397A47B-A0D5-DA41-900D-8BC3EE78233D}" type="datetimeFigureOut">
              <a:rPr kumimoji="1" lang="zh-CN" altLang="en-US" smtClean="0"/>
              <a:t>2024/3/15</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D24EB3DA-7079-E949-9421-E14B70A684E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Prompt包括要求ChatGPT总结和列出反应条件、指定输出表格结构和处理说明，以及提供上下文，即MOF合成反应条件段落。这种设计有助于ChatGPT准确提取合成条件并生成结构化的输出。</a:t>
            </a:r>
          </a:p>
          <a:p>
            <a:r>
              <a:rPr lang="zh-CN" altLang="en-US"/>
              <a:t>然而，这种设计的缺点包括：</a:t>
            </a:r>
          </a:p>
          <a:p>
            <a:r>
              <a:rPr lang="zh-CN" altLang="en-US"/>
              <a:t>需要花费时间和精力来设计Prompt，特别是在处理复杂的化学信息时。</a:t>
            </a:r>
          </a:p>
          <a:p>
            <a:r>
              <a:rPr lang="zh-CN" altLang="en-US"/>
              <a:t>如果Prompt设计不当可能会导致ChatGPT生成不准确或不完整的输出。</a:t>
            </a:r>
          </a:p>
          <a:p>
            <a:r>
              <a:rPr lang="zh-CN" altLang="en-US"/>
              <a:t>对于不同类型的化学信息或任务，可能需要不断调整和优化Prompt，增加了工作量和复杂性。</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系统底层由稀土催化材料的多源数据组成，包括理化性质、文献数据、性能属性等。</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数据存储层将多源数据进行整合，形成统一的数据模型表示，根据特点进行数据存储，并以此为基础向上层服务提供数据接口。</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服务层以微服务为基础框架，其中基础服务为系统运行和上层应用提供支持，业务服务泽面向功能需求，实现具体的业务逻辑。</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最终由网关服务向上提供统一的服务接入。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应用层则部署为面向终端用户的独立</a:t>
            </a:r>
            <a:r>
              <a:rPr lang="en-US" altLang="zh-CN" dirty="0"/>
              <a:t>Web</a:t>
            </a:r>
            <a:r>
              <a:rPr lang="zh-CN" altLang="en-US" dirty="0"/>
              <a:t>服务，提供数据检索、文本标注、智能挖掘等业务功能。</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8</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最下层的数据服务模块分为标注数据库、标注文本对象存储和稀土催化材料信息库，为上层模块提供数据管理和标注文本管理接口。标注管理模块通过调用数据服务模块来进行标注项目的创建，支持管理员自定义标注实体、标注标签、标注人员，并管理标注任务。实体标注模块根据标注管理模块中定义的标注任务进行相应实体标注，将标注数据保存至数据库中，并对用户标注数据进行统计与展示。数据导出模块将标注人员标注的结果按约定范式进行导出，为下游机器学习算法提供训练数据集。</a:t>
            </a:r>
            <a:r>
              <a:rPr lang="en-US" altLang="zh-CN"/>
              <a: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转向我们的第二个核心部分：智能挖掘系统。系统的核心需求集中在三个方面：首先是高准确性，我们采用最新的自然语言处理技术，如BERT模型，以确保我们的系统能够准确地识别和分类文档中的关键信息。其次，强调用户交互，我们设计了直观的前端界面，不仅展示智能挖掘的结果，还允许用户直接给予反馈，确保了结果的可靠性和实用性。最后，系统的灵活性，我们的设计支持不同研究领域和文档类型，使得系统可以广泛应用于各种科研任务。</a:t>
            </a:r>
          </a:p>
          <a:p>
            <a:r>
              <a:t>谈到设计要点，我们的系统由几个关键技术构成。首先，智能段落定位，通过训练的BERT模型，我们能够自动识别出文档中含有关键信息的段落。接下来是智能实体识别，这里我们利用大语言模型结合特定的提示词技术，准确地挖掘出文档中的关键实体。为了提升用户体验，我们还设计了前端标注反馈系统，用户可以直观地看到智能挖掘的结果，并进行必要的调整。此外，我们的配置分享机制使得研究人员能够轻松分享他们的成功配置，促进知识的共享和合作。</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t>13</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t>2024/3/15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矩形 11"/>
          <p:cNvSpPr/>
          <p:nvPr userDrawn="1"/>
        </p:nvSpPr>
        <p:spPr>
          <a:xfrm>
            <a:off x="0" y="-13323"/>
            <a:ext cx="12192000" cy="610481"/>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 name="标题占位符 1"/>
          <p:cNvSpPr>
            <a:spLocks noGrp="1"/>
          </p:cNvSpPr>
          <p:nvPr>
            <p:ph type="title"/>
          </p:nvPr>
        </p:nvSpPr>
        <p:spPr>
          <a:xfrm>
            <a:off x="838200" y="787078"/>
            <a:ext cx="10515600" cy="90361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11074077" y="6492875"/>
            <a:ext cx="1106347"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355198AB-6873-054A-AB06-26C5505BAFA0}" type="datetimeFigureOut">
              <a:rPr kumimoji="1" lang="zh-CN" altLang="en-US" smtClean="0"/>
              <a:t>2024/3/15</a:t>
            </a:fld>
            <a:endParaRPr kumimoji="1" lang="zh-CN" altLang="en-US" dirty="0"/>
          </a:p>
        </p:txBody>
      </p:sp>
      <p:sp>
        <p:nvSpPr>
          <p:cNvPr id="5" name="页脚占位符 4"/>
          <p:cNvSpPr>
            <a:spLocks noGrp="1"/>
          </p:cNvSpPr>
          <p:nvPr>
            <p:ph type="ftr" sz="quarter" idx="3"/>
          </p:nvPr>
        </p:nvSpPr>
        <p:spPr>
          <a:xfrm>
            <a:off x="9556828" y="6492874"/>
            <a:ext cx="1505674"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dirty="0"/>
          </a:p>
        </p:txBody>
      </p:sp>
      <p:sp>
        <p:nvSpPr>
          <p:cNvPr id="6" name="灯片编号占位符 5"/>
          <p:cNvSpPr>
            <a:spLocks noGrp="1"/>
          </p:cNvSpPr>
          <p:nvPr>
            <p:ph type="sldNum" sz="quarter" idx="4"/>
          </p:nvPr>
        </p:nvSpPr>
        <p:spPr>
          <a:xfrm>
            <a:off x="11563109" y="96654"/>
            <a:ext cx="617315" cy="365125"/>
          </a:xfrm>
          <a:prstGeom prst="rect">
            <a:avLst/>
          </a:prstGeom>
        </p:spPr>
        <p:txBody>
          <a:bodyPr vert="horz" lIns="91440" tIns="45720" rIns="91440" bIns="45720" rtlCol="0" anchor="ctr"/>
          <a:lstStyle>
            <a:lvl1pPr algn="r">
              <a:defRPr sz="2000">
                <a:solidFill>
                  <a:schemeClr val="bg1"/>
                </a:solidFill>
                <a:latin typeface="微软雅黑" panose="020B0503020204020204" pitchFamily="34" charset="-122"/>
                <a:ea typeface="微软雅黑" panose="020B0503020204020204" pitchFamily="34" charset="-122"/>
              </a:defRPr>
            </a:lvl1pPr>
          </a:lstStyle>
          <a:p>
            <a:pPr algn="ctr"/>
            <a:fld id="{6966DED7-2298-EF44-BC75-CCD61101EBFF}" type="slidenum">
              <a:rPr kumimoji="1" lang="zh-CN" altLang="en-US" smtClean="0"/>
              <a:t>‹#›</a:t>
            </a:fld>
            <a:endParaRPr kumimoji="1" lang="zh-CN" altLang="en-US" dirty="0"/>
          </a:p>
        </p:txBody>
      </p:sp>
      <p:pic>
        <p:nvPicPr>
          <p:cNvPr id="14" name="Picture 4"/>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52878" y="21714"/>
            <a:ext cx="2977333" cy="56611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image" Target="../media/image3.png"/><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2.png"/><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slideLayout" Target="../slideLayouts/slideLayout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3" Type="http://schemas.openxmlformats.org/officeDocument/2006/relationships/tags" Target="../tags/tag27.xml"/><Relationship Id="rId21" Type="http://schemas.openxmlformats.org/officeDocument/2006/relationships/image" Target="../media/image5.png"/><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image" Target="../media/image7.jpeg"/><Relationship Id="rId10" Type="http://schemas.openxmlformats.org/officeDocument/2006/relationships/tags" Target="../tags/tag34.xml"/><Relationship Id="rId19" Type="http://schemas.openxmlformats.org/officeDocument/2006/relationships/tags" Target="../tags/tag43.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tags" Target="../tags/tag61.xml"/><Relationship Id="rId3" Type="http://schemas.openxmlformats.org/officeDocument/2006/relationships/tags" Target="../tags/tag46.xml"/><Relationship Id="rId21" Type="http://schemas.openxmlformats.org/officeDocument/2006/relationships/image" Target="../media/image8.png"/><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 Type="http://schemas.openxmlformats.org/officeDocument/2006/relationships/tags" Target="../tags/tag45.xml"/><Relationship Id="rId16" Type="http://schemas.openxmlformats.org/officeDocument/2006/relationships/tags" Target="../tags/tag59.xml"/><Relationship Id="rId20" Type="http://schemas.openxmlformats.org/officeDocument/2006/relationships/slideLayout" Target="../slideLayouts/slideLayout2.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tags" Target="../tags/tag58.xml"/><Relationship Id="rId23" Type="http://schemas.openxmlformats.org/officeDocument/2006/relationships/image" Target="../media/image10.jpeg"/><Relationship Id="rId10" Type="http://schemas.openxmlformats.org/officeDocument/2006/relationships/tags" Target="../tags/tag53.xml"/><Relationship Id="rId19" Type="http://schemas.openxmlformats.org/officeDocument/2006/relationships/tags" Target="../tags/tag62.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 Id="rId22"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17.png"/><Relationship Id="rId4"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20647" y="991340"/>
            <a:ext cx="7490619"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49894" y="756499"/>
            <a:ext cx="0" cy="381688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411972" y="5401240"/>
            <a:ext cx="6254002"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95703" y="2853976"/>
            <a:ext cx="0" cy="364225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27" name="矩形: 圆角 26"/>
          <p:cNvSpPr/>
          <p:nvPr/>
        </p:nvSpPr>
        <p:spPr>
          <a:xfrm>
            <a:off x="3576920" y="3840434"/>
            <a:ext cx="5136774" cy="4516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微软雅黑" panose="020B0503020204020204" pitchFamily="34" charset="-122"/>
              <a:cs typeface="汉仪君黑-45简" panose="020B0604020202020204" charset="-122"/>
            </a:endParaRPr>
          </a:p>
        </p:txBody>
      </p:sp>
      <p:sp>
        <p:nvSpPr>
          <p:cNvPr id="28" name="文本框 27"/>
          <p:cNvSpPr txBox="1"/>
          <p:nvPr/>
        </p:nvSpPr>
        <p:spPr>
          <a:xfrm>
            <a:off x="4809599" y="3879601"/>
            <a:ext cx="4380827"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cs typeface="汉仪君黑-45简" panose="020B0604020202020204" charset="-122"/>
              </a:rPr>
              <a:t>汇报人：软件工程</a:t>
            </a:r>
            <a:r>
              <a:rPr lang="en-US" altLang="zh-CN" dirty="0">
                <a:solidFill>
                  <a:schemeClr val="bg1"/>
                </a:solidFill>
                <a:latin typeface="微软雅黑" panose="020B0503020204020204" pitchFamily="34" charset="-122"/>
                <a:ea typeface="微软雅黑" panose="020B0503020204020204" pitchFamily="34" charset="-122"/>
                <a:cs typeface="汉仪君黑-45简" panose="020B0604020202020204" charset="-122"/>
              </a:rPr>
              <a:t>A</a:t>
            </a:r>
            <a:r>
              <a:rPr lang="zh-CN" altLang="en-US" dirty="0">
                <a:solidFill>
                  <a:schemeClr val="bg1"/>
                </a:solidFill>
                <a:latin typeface="微软雅黑" panose="020B0503020204020204" pitchFamily="34" charset="-122"/>
                <a:ea typeface="微软雅黑" panose="020B0503020204020204" pitchFamily="34" charset="-122"/>
                <a:cs typeface="汉仪君黑-45简" panose="020B0604020202020204" charset="-122"/>
              </a:rPr>
              <a:t>组 </a:t>
            </a:r>
            <a:endParaRPr lang="en-US" altLang="zh-CN" dirty="0">
              <a:solidFill>
                <a:schemeClr val="bg1"/>
              </a:solidFill>
              <a:latin typeface="微软雅黑" panose="020B0503020204020204" pitchFamily="34" charset="-122"/>
              <a:ea typeface="微软雅黑" panose="020B0503020204020204" pitchFamily="34" charset="-122"/>
              <a:cs typeface="汉仪君黑-45简" panose="020B0604020202020204" charset="-122"/>
            </a:endParaRPr>
          </a:p>
        </p:txBody>
      </p:sp>
      <p:cxnSp>
        <p:nvCxnSpPr>
          <p:cNvPr id="33" name="直接连接符 32"/>
          <p:cNvCxnSpPr/>
          <p:nvPr/>
        </p:nvCxnSpPr>
        <p:spPr>
          <a:xfrm>
            <a:off x="1048355" y="1220494"/>
            <a:ext cx="7490619"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96540" y="5197551"/>
            <a:ext cx="6254002"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21995" y="2332990"/>
            <a:ext cx="10745470" cy="1108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dirty="0">
                <a:solidFill>
                  <a:srgbClr val="005BAC"/>
                </a:solidFill>
                <a:latin typeface="微软雅黑" panose="020B0503020204020204" pitchFamily="34" charset="-122"/>
                <a:ea typeface="微软雅黑" panose="020B0503020204020204" pitchFamily="34" charset="-122"/>
              </a:rPr>
              <a:t>智能文本标注系统（</a:t>
            </a:r>
            <a:r>
              <a:rPr lang="en-US" altLang="zh-CN" sz="4800" b="1" dirty="0">
                <a:solidFill>
                  <a:srgbClr val="005BAC"/>
                </a:solidFill>
                <a:latin typeface="微软雅黑" panose="020B0503020204020204" pitchFamily="34" charset="-122"/>
                <a:ea typeface="微软雅黑" panose="020B0503020204020204" pitchFamily="34" charset="-122"/>
              </a:rPr>
              <a:t>ITAS</a:t>
            </a:r>
            <a:r>
              <a:rPr lang="zh-CN" altLang="en-US" sz="4800" b="1" dirty="0">
                <a:solidFill>
                  <a:srgbClr val="005BAC"/>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82710" y="712715"/>
            <a:ext cx="3281155" cy="584775"/>
            <a:chOff x="582710" y="712715"/>
            <a:chExt cx="3281155" cy="584775"/>
          </a:xfrm>
        </p:grpSpPr>
        <p:sp>
          <p:nvSpPr>
            <p:cNvPr id="3" name="矩形 2"/>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文本框 6"/>
            <p:cNvSpPr txBox="1"/>
            <p:nvPr/>
          </p:nvSpPr>
          <p:spPr>
            <a:xfrm>
              <a:off x="676165" y="712715"/>
              <a:ext cx="3187700" cy="584775"/>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团队介绍</a:t>
              </a:r>
            </a:p>
          </p:txBody>
        </p:sp>
      </p:grpSp>
      <p:grpSp>
        <p:nvGrpSpPr>
          <p:cNvPr id="27" name="组合 26"/>
          <p:cNvGrpSpPr/>
          <p:nvPr>
            <p:custDataLst>
              <p:tags r:id="rId1"/>
            </p:custDataLst>
          </p:nvPr>
        </p:nvGrpSpPr>
        <p:grpSpPr>
          <a:xfrm>
            <a:off x="1549081" y="4267070"/>
            <a:ext cx="1660634" cy="662996"/>
            <a:chOff x="4408245" y="4201889"/>
            <a:chExt cx="1904949" cy="662996"/>
          </a:xfrm>
        </p:grpSpPr>
        <p:sp>
          <p:nvSpPr>
            <p:cNvPr id="28" name="矩形: 圆角 27"/>
            <p:cNvSpPr/>
            <p:nvPr>
              <p:custDataLst>
                <p:tags r:id="rId22"/>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latin typeface="微软雅黑" panose="020B0503020204020204" pitchFamily="34" charset="-122"/>
                <a:ea typeface="微软雅黑" panose="020B0503020204020204" pitchFamily="34" charset="-122"/>
              </a:endParaRPr>
            </a:p>
          </p:txBody>
        </p:sp>
        <p:sp>
          <p:nvSpPr>
            <p:cNvPr id="29" name="矩形 28"/>
            <p:cNvSpPr/>
            <p:nvPr>
              <p:custDataLst>
                <p:tags r:id="rId23"/>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latin typeface="微软雅黑" panose="020B0503020204020204" pitchFamily="34" charset="-122"/>
                  <a:ea typeface="微软雅黑" panose="020B0503020204020204" pitchFamily="34" charset="-122"/>
                </a:rPr>
                <a:t>郭</a:t>
              </a:r>
              <a:r>
                <a:rPr kumimoji="1" lang="en-US" altLang="zh-CN" sz="2400" b="1" dirty="0">
                  <a:solidFill>
                    <a:schemeClr val="bg1"/>
                  </a:solidFill>
                  <a:latin typeface="微软雅黑" panose="020B0503020204020204" pitchFamily="34" charset="-122"/>
                  <a:ea typeface="微软雅黑" panose="020B0503020204020204" pitchFamily="34" charset="-122"/>
                </a:rPr>
                <a:t> </a:t>
              </a:r>
              <a:r>
                <a:rPr kumimoji="1" lang="zh-CN" altLang="en-US" sz="2400" b="1" dirty="0">
                  <a:solidFill>
                    <a:schemeClr val="bg1"/>
                  </a:solidFill>
                  <a:latin typeface="微软雅黑" panose="020B0503020204020204" pitchFamily="34" charset="-122"/>
                  <a:ea typeface="微软雅黑" panose="020B0503020204020204" pitchFamily="34" charset="-122"/>
                </a:rPr>
                <a:t>鑫</a:t>
              </a:r>
              <a:endParaRPr kumimoji="1" lang="en-US" altLang="zh-CN" b="1" dirty="0">
                <a:solidFill>
                  <a:schemeClr val="bg1"/>
                </a:solidFill>
                <a:latin typeface="微软雅黑" panose="020B0503020204020204" pitchFamily="34" charset="-122"/>
                <a:ea typeface="微软雅黑" panose="020B0503020204020204" pitchFamily="34" charset="-122"/>
              </a:endParaRPr>
            </a:p>
          </p:txBody>
        </p:sp>
      </p:grpSp>
      <p:sp>
        <p:nvSpPr>
          <p:cNvPr id="39" name="矩形: 圆角 38"/>
          <p:cNvSpPr/>
          <p:nvPr>
            <p:custDataLst>
              <p:tags r:id="rId2"/>
            </p:custDataLst>
          </p:nvPr>
        </p:nvSpPr>
        <p:spPr>
          <a:xfrm>
            <a:off x="1108227" y="5169834"/>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5" name="文本框 44"/>
          <p:cNvSpPr txBox="1"/>
          <p:nvPr>
            <p:custDataLst>
              <p:tags r:id="rId3"/>
            </p:custDataLst>
          </p:nvPr>
        </p:nvSpPr>
        <p:spPr>
          <a:xfrm>
            <a:off x="1281811" y="5416428"/>
            <a:ext cx="2295243" cy="737235"/>
          </a:xfrm>
          <a:prstGeom prst="rect">
            <a:avLst/>
          </a:prstGeom>
          <a:noFill/>
        </p:spPr>
        <p:txBody>
          <a:bodyPr wrap="square" rtlCol="0">
            <a:spAutoFit/>
          </a:bodyPr>
          <a:lstStyle/>
          <a:p>
            <a:pPr>
              <a:lnSpc>
                <a:spcPct val="100000"/>
              </a:lnSpc>
              <a:spcBef>
                <a:spcPts val="1000"/>
              </a:spcBef>
              <a:buClrTx/>
              <a:buSzTx/>
              <a:buFontTx/>
            </a:pPr>
            <a:r>
              <a:rPr kumimoji="1" lang="zh-CN" altLang="en-US" sz="1400" dirty="0">
                <a:latin typeface="微软雅黑" panose="020B0503020204020204" pitchFamily="34" charset="-122"/>
                <a:ea typeface="微软雅黑" panose="020B0503020204020204" pitchFamily="34" charset="-122"/>
              </a:rPr>
              <a:t>网媒所实验室，有需求分析和测试的经验，熟悉撰写需求和测试相关文档</a:t>
            </a:r>
          </a:p>
        </p:txBody>
      </p:sp>
      <p:grpSp>
        <p:nvGrpSpPr>
          <p:cNvPr id="9" name="组合 8"/>
          <p:cNvGrpSpPr/>
          <p:nvPr>
            <p:custDataLst>
              <p:tags r:id="rId4"/>
            </p:custDataLst>
          </p:nvPr>
        </p:nvGrpSpPr>
        <p:grpSpPr>
          <a:xfrm>
            <a:off x="1143225" y="1582878"/>
            <a:ext cx="2366998" cy="2321912"/>
            <a:chOff x="664435" y="1656997"/>
            <a:chExt cx="2366998" cy="2321912"/>
          </a:xfrm>
        </p:grpSpPr>
        <p:pic>
          <p:nvPicPr>
            <p:cNvPr id="5" name="图片 4"/>
            <p:cNvPicPr>
              <a:picLocks noChangeAspect="1"/>
            </p:cNvPicPr>
            <p:nvPr>
              <p:custDataLst>
                <p:tags r:id="rId20"/>
              </p:custDataLst>
            </p:nvPr>
          </p:nvPicPr>
          <p:blipFill>
            <a:blip r:embed="rId25"/>
            <a:stretch>
              <a:fillRect/>
            </a:stretch>
          </p:blipFill>
          <p:spPr>
            <a:xfrm>
              <a:off x="664435" y="1656997"/>
              <a:ext cx="2366998" cy="2321912"/>
            </a:xfrm>
            <a:prstGeom prst="rect">
              <a:avLst/>
            </a:prstGeom>
          </p:spPr>
        </p:pic>
        <p:sp>
          <p:nvSpPr>
            <p:cNvPr id="6" name="椭圆 5"/>
            <p:cNvSpPr/>
            <p:nvPr>
              <p:custDataLst>
                <p:tags r:id="rId21"/>
              </p:custDataLst>
            </p:nvPr>
          </p:nvSpPr>
          <p:spPr>
            <a:xfrm>
              <a:off x="728909" y="1669697"/>
              <a:ext cx="2238050" cy="2258879"/>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sp>
        <p:nvSpPr>
          <p:cNvPr id="19" name="椭圆 18"/>
          <p:cNvSpPr/>
          <p:nvPr>
            <p:custDataLst>
              <p:tags r:id="rId5"/>
            </p:custDataLst>
          </p:nvPr>
        </p:nvSpPr>
        <p:spPr>
          <a:xfrm>
            <a:off x="4815840" y="1546224"/>
            <a:ext cx="2395220" cy="239522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21" name="组合 20"/>
          <p:cNvGrpSpPr/>
          <p:nvPr>
            <p:custDataLst>
              <p:tags r:id="rId6"/>
            </p:custDataLst>
          </p:nvPr>
        </p:nvGrpSpPr>
        <p:grpSpPr>
          <a:xfrm>
            <a:off x="8305080" y="1546179"/>
            <a:ext cx="2395311" cy="2395311"/>
            <a:chOff x="1091717" y="1786455"/>
            <a:chExt cx="2395311" cy="2395311"/>
          </a:xfrm>
        </p:grpSpPr>
        <p:sp>
          <p:nvSpPr>
            <p:cNvPr id="22" name="椭圆 21"/>
            <p:cNvSpPr/>
            <p:nvPr>
              <p:custDataLst>
                <p:tags r:id="rId18"/>
              </p:custDataLst>
            </p:nvPr>
          </p:nvSpPr>
          <p:spPr>
            <a:xfrm>
              <a:off x="1091717" y="1786455"/>
              <a:ext cx="2395311" cy="239531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23" name="图片 22"/>
            <p:cNvPicPr>
              <a:picLocks noChangeAspect="1"/>
            </p:cNvPicPr>
            <p:nvPr>
              <p:custDataLst>
                <p:tags r:id="rId19"/>
              </p:custDataLst>
            </p:nvPr>
          </p:nvPicPr>
          <p:blipFill>
            <a:blip r:embed="rId26"/>
            <a:stretch>
              <a:fillRect/>
            </a:stretch>
          </p:blipFill>
          <p:spPr>
            <a:xfrm>
              <a:off x="1147260" y="1838647"/>
              <a:ext cx="2292852" cy="2292852"/>
            </a:xfrm>
            <a:prstGeom prst="ellipse">
              <a:avLst/>
            </a:prstGeom>
          </p:spPr>
        </p:pic>
      </p:grpSp>
      <p:grpSp>
        <p:nvGrpSpPr>
          <p:cNvPr id="30" name="组合 29"/>
          <p:cNvGrpSpPr/>
          <p:nvPr>
            <p:custDataLst>
              <p:tags r:id="rId7"/>
            </p:custDataLst>
          </p:nvPr>
        </p:nvGrpSpPr>
        <p:grpSpPr>
          <a:xfrm>
            <a:off x="5183399" y="4244137"/>
            <a:ext cx="1660634" cy="662996"/>
            <a:chOff x="4408245" y="4201889"/>
            <a:chExt cx="1904949" cy="662996"/>
          </a:xfrm>
        </p:grpSpPr>
        <p:sp>
          <p:nvSpPr>
            <p:cNvPr id="31" name="矩形: 圆角 30"/>
            <p:cNvSpPr/>
            <p:nvPr>
              <p:custDataLst>
                <p:tags r:id="rId16"/>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latin typeface="微软雅黑" panose="020B0503020204020204" pitchFamily="34" charset="-122"/>
                <a:ea typeface="微软雅黑" panose="020B0503020204020204" pitchFamily="34" charset="-122"/>
              </a:endParaRPr>
            </a:p>
          </p:txBody>
        </p:sp>
        <p:sp>
          <p:nvSpPr>
            <p:cNvPr id="32" name="矩形 31"/>
            <p:cNvSpPr/>
            <p:nvPr>
              <p:custDataLst>
                <p:tags r:id="rId17"/>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latin typeface="微软雅黑" panose="020B0503020204020204" pitchFamily="34" charset="-122"/>
                  <a:ea typeface="微软雅黑" panose="020B0503020204020204" pitchFamily="34" charset="-122"/>
                </a:rPr>
                <a:t>侯</a:t>
              </a:r>
              <a:r>
                <a:rPr kumimoji="1" lang="en-US" altLang="zh-CN" sz="2400" b="1" dirty="0">
                  <a:solidFill>
                    <a:schemeClr val="bg1"/>
                  </a:solidFill>
                  <a:latin typeface="微软雅黑" panose="020B0503020204020204" pitchFamily="34" charset="-122"/>
                  <a:ea typeface="微软雅黑" panose="020B0503020204020204" pitchFamily="34" charset="-122"/>
                </a:rPr>
                <a:t> </a:t>
              </a:r>
              <a:r>
                <a:rPr kumimoji="1" lang="zh-CN" altLang="en-US" sz="2400" b="1" dirty="0">
                  <a:solidFill>
                    <a:schemeClr val="bg1"/>
                  </a:solidFill>
                  <a:latin typeface="微软雅黑" panose="020B0503020204020204" pitchFamily="34" charset="-122"/>
                  <a:ea typeface="微软雅黑" panose="020B0503020204020204" pitchFamily="34" charset="-122"/>
                </a:rPr>
                <a:t>越</a:t>
              </a:r>
            </a:p>
          </p:txBody>
        </p:sp>
      </p:grpSp>
      <p:grpSp>
        <p:nvGrpSpPr>
          <p:cNvPr id="33" name="组合 32"/>
          <p:cNvGrpSpPr/>
          <p:nvPr>
            <p:custDataLst>
              <p:tags r:id="rId8"/>
            </p:custDataLst>
          </p:nvPr>
        </p:nvGrpSpPr>
        <p:grpSpPr>
          <a:xfrm>
            <a:off x="8660914" y="4244136"/>
            <a:ext cx="1660634" cy="662996"/>
            <a:chOff x="4408245" y="4201889"/>
            <a:chExt cx="1904949" cy="662996"/>
          </a:xfrm>
        </p:grpSpPr>
        <p:sp>
          <p:nvSpPr>
            <p:cNvPr id="34" name="矩形: 圆角 33"/>
            <p:cNvSpPr/>
            <p:nvPr>
              <p:custDataLst>
                <p:tags r:id="rId14"/>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latin typeface="微软雅黑" panose="020B0503020204020204" pitchFamily="34" charset="-122"/>
                <a:ea typeface="微软雅黑" panose="020B0503020204020204" pitchFamily="34" charset="-122"/>
              </a:endParaRPr>
            </a:p>
          </p:txBody>
        </p:sp>
        <p:sp>
          <p:nvSpPr>
            <p:cNvPr id="35" name="矩形 34"/>
            <p:cNvSpPr/>
            <p:nvPr>
              <p:custDataLst>
                <p:tags r:id="rId15"/>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latin typeface="微软雅黑" panose="020B0503020204020204" pitchFamily="34" charset="-122"/>
                  <a:ea typeface="微软雅黑" panose="020B0503020204020204" pitchFamily="34" charset="-122"/>
                </a:rPr>
                <a:t>魏家龙</a:t>
              </a:r>
            </a:p>
          </p:txBody>
        </p:sp>
      </p:grpSp>
      <p:sp>
        <p:nvSpPr>
          <p:cNvPr id="38" name="矩形: 圆角 37"/>
          <p:cNvSpPr/>
          <p:nvPr>
            <p:custDataLst>
              <p:tags r:id="rId9"/>
            </p:custDataLst>
          </p:nvPr>
        </p:nvSpPr>
        <p:spPr>
          <a:xfrm>
            <a:off x="4711220" y="5157135"/>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 name="矩形: 圆角 38"/>
          <p:cNvSpPr/>
          <p:nvPr>
            <p:custDataLst>
              <p:tags r:id="rId10"/>
            </p:custDataLst>
          </p:nvPr>
        </p:nvSpPr>
        <p:spPr>
          <a:xfrm>
            <a:off x="8188735" y="5157135"/>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6" name="文本框 35"/>
          <p:cNvSpPr txBox="1"/>
          <p:nvPr>
            <p:custDataLst>
              <p:tags r:id="rId11"/>
            </p:custDataLst>
          </p:nvPr>
        </p:nvSpPr>
        <p:spPr>
          <a:xfrm>
            <a:off x="8405148" y="5465307"/>
            <a:ext cx="2295243" cy="521970"/>
          </a:xfrm>
          <a:prstGeom prst="rect">
            <a:avLst/>
          </a:prstGeom>
          <a:noFill/>
        </p:spPr>
        <p:txBody>
          <a:bodyPr wrap="square" rtlCol="0">
            <a:spAutoFit/>
          </a:bodyPr>
          <a:lstStyle/>
          <a:p>
            <a:r>
              <a:rPr kumimoji="1" lang="zh-CN" altLang="en-US" sz="1400" dirty="0">
                <a:latin typeface="微软雅黑" panose="020B0503020204020204" pitchFamily="34" charset="-122"/>
                <a:ea typeface="微软雅黑" panose="020B0503020204020204" pitchFamily="34" charset="-122"/>
              </a:rPr>
              <a:t>ACT实验室，研究方向为光刻芯片热点检测</a:t>
            </a:r>
            <a:endParaRPr kumimoji="1" lang="zh-CN" altLang="en-US" sz="1600" dirty="0">
              <a:latin typeface="微软雅黑" panose="020B0503020204020204" pitchFamily="34" charset="-122"/>
              <a:ea typeface="微软雅黑" panose="020B0503020204020204" pitchFamily="34" charset="-122"/>
            </a:endParaRPr>
          </a:p>
        </p:txBody>
      </p:sp>
      <p:sp>
        <p:nvSpPr>
          <p:cNvPr id="41" name="文本框 40"/>
          <p:cNvSpPr txBox="1"/>
          <p:nvPr>
            <p:custDataLst>
              <p:tags r:id="rId12"/>
            </p:custDataLst>
          </p:nvPr>
        </p:nvSpPr>
        <p:spPr>
          <a:xfrm>
            <a:off x="4911050" y="5311011"/>
            <a:ext cx="2295243" cy="953135"/>
          </a:xfrm>
          <a:prstGeom prst="rect">
            <a:avLst/>
          </a:prstGeom>
          <a:noFill/>
        </p:spPr>
        <p:txBody>
          <a:bodyPr wrap="square" rtlCol="0">
            <a:spAutoFit/>
          </a:bodyPr>
          <a:lstStyle/>
          <a:p>
            <a:pPr>
              <a:buClrTx/>
              <a:buSzTx/>
              <a:buFontTx/>
            </a:pPr>
            <a:r>
              <a:rPr kumimoji="1" lang="zh-CN" altLang="en-US" sz="1400" dirty="0">
                <a:latin typeface="微软雅黑" panose="020B0503020204020204" pitchFamily="34" charset="-122"/>
                <a:ea typeface="微软雅黑" panose="020B0503020204020204" pitchFamily="34" charset="-122"/>
              </a:rPr>
              <a:t>软国重，研究方向为图深度学习，有</a:t>
            </a:r>
            <a:r>
              <a:rPr kumimoji="1" lang="en-US" altLang="zh-CN" sz="1400" dirty="0">
                <a:latin typeface="微软雅黑" panose="020B0503020204020204" pitchFamily="34" charset="-122"/>
                <a:ea typeface="微软雅黑" panose="020B0503020204020204" pitchFamily="34" charset="-122"/>
              </a:rPr>
              <a:t>C/C++</a:t>
            </a:r>
            <a:r>
              <a:rPr kumimoji="1" lang="zh-CN" altLang="en-US" sz="1400" dirty="0">
                <a:latin typeface="微软雅黑" panose="020B0503020204020204" pitchFamily="34" charset="-122"/>
                <a:ea typeface="微软雅黑" panose="020B0503020204020204" pitchFamily="34" charset="-122"/>
              </a:rPr>
              <a:t>及</a:t>
            </a:r>
            <a:r>
              <a:rPr kumimoji="1" lang="en-US" altLang="zh-CN" sz="1400" dirty="0">
                <a:latin typeface="微软雅黑" panose="020B0503020204020204" pitchFamily="34" charset="-122"/>
                <a:ea typeface="微软雅黑" panose="020B0503020204020204" pitchFamily="34" charset="-122"/>
              </a:rPr>
              <a:t>web</a:t>
            </a:r>
            <a:r>
              <a:rPr kumimoji="1" lang="zh-CN" altLang="en-US" sz="1400" dirty="0">
                <a:latin typeface="微软雅黑" panose="020B0503020204020204" pitchFamily="34" charset="-122"/>
                <a:ea typeface="微软雅黑" panose="020B0503020204020204" pitchFamily="34" charset="-122"/>
              </a:rPr>
              <a:t>开发经历，具备一定的团队开发经验</a:t>
            </a:r>
          </a:p>
        </p:txBody>
      </p:sp>
      <p:pic>
        <p:nvPicPr>
          <p:cNvPr id="100" name="图片 99"/>
          <p:cNvPicPr>
            <a:picLocks noChangeAspect="1"/>
          </p:cNvPicPr>
          <p:nvPr>
            <p:custDataLst>
              <p:tags r:id="rId13"/>
            </p:custDataLst>
          </p:nvPr>
        </p:nvPicPr>
        <p:blipFill>
          <a:blip r:embed="rId27"/>
          <a:stretch>
            <a:fillRect/>
          </a:stretch>
        </p:blipFill>
        <p:spPr>
          <a:xfrm>
            <a:off x="4861560" y="1591834"/>
            <a:ext cx="2304000" cy="2304000"/>
          </a:xfrm>
          <a:prstGeom prst="ellipse">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82710" y="712715"/>
            <a:ext cx="3281155" cy="584775"/>
            <a:chOff x="582710" y="712715"/>
            <a:chExt cx="3281155" cy="584775"/>
          </a:xfrm>
        </p:grpSpPr>
        <p:sp>
          <p:nvSpPr>
            <p:cNvPr id="3" name="矩形 2"/>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文本框 6"/>
            <p:cNvSpPr txBox="1"/>
            <p:nvPr/>
          </p:nvSpPr>
          <p:spPr>
            <a:xfrm>
              <a:off x="676165" y="712715"/>
              <a:ext cx="3187700" cy="584775"/>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团队介绍</a:t>
              </a:r>
            </a:p>
          </p:txBody>
        </p:sp>
      </p:grpSp>
      <p:grpSp>
        <p:nvGrpSpPr>
          <p:cNvPr id="27" name="组合 26"/>
          <p:cNvGrpSpPr/>
          <p:nvPr>
            <p:custDataLst>
              <p:tags r:id="rId1"/>
            </p:custDataLst>
          </p:nvPr>
        </p:nvGrpSpPr>
        <p:grpSpPr>
          <a:xfrm>
            <a:off x="1549081" y="4267070"/>
            <a:ext cx="1660634" cy="662996"/>
            <a:chOff x="4408245" y="4201889"/>
            <a:chExt cx="1904949" cy="662996"/>
          </a:xfrm>
        </p:grpSpPr>
        <p:sp>
          <p:nvSpPr>
            <p:cNvPr id="28" name="矩形: 圆角 27"/>
            <p:cNvSpPr/>
            <p:nvPr>
              <p:custDataLst>
                <p:tags r:id="rId18"/>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latin typeface="微软雅黑" panose="020B0503020204020204" pitchFamily="34" charset="-122"/>
                <a:ea typeface="微软雅黑" panose="020B0503020204020204" pitchFamily="34" charset="-122"/>
              </a:endParaRPr>
            </a:p>
          </p:txBody>
        </p:sp>
        <p:sp>
          <p:nvSpPr>
            <p:cNvPr id="29" name="矩形 28"/>
            <p:cNvSpPr/>
            <p:nvPr>
              <p:custDataLst>
                <p:tags r:id="rId19"/>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latin typeface="微软雅黑" panose="020B0503020204020204" pitchFamily="34" charset="-122"/>
                  <a:ea typeface="微软雅黑" panose="020B0503020204020204" pitchFamily="34" charset="-122"/>
                </a:rPr>
                <a:t>孙 烨</a:t>
              </a:r>
              <a:endParaRPr kumimoji="1" lang="en-US" altLang="zh-CN" b="1" dirty="0">
                <a:solidFill>
                  <a:schemeClr val="bg1"/>
                </a:solidFill>
                <a:latin typeface="微软雅黑" panose="020B0503020204020204" pitchFamily="34" charset="-122"/>
                <a:ea typeface="微软雅黑" panose="020B0503020204020204" pitchFamily="34" charset="-122"/>
              </a:endParaRPr>
            </a:p>
          </p:txBody>
        </p:sp>
      </p:grpSp>
      <p:sp>
        <p:nvSpPr>
          <p:cNvPr id="39" name="矩形: 圆角 38"/>
          <p:cNvSpPr/>
          <p:nvPr>
            <p:custDataLst>
              <p:tags r:id="rId2"/>
            </p:custDataLst>
          </p:nvPr>
        </p:nvSpPr>
        <p:spPr>
          <a:xfrm>
            <a:off x="1108227" y="5169834"/>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5" name="文本框 44"/>
          <p:cNvSpPr txBox="1"/>
          <p:nvPr>
            <p:custDataLst>
              <p:tags r:id="rId3"/>
            </p:custDataLst>
          </p:nvPr>
        </p:nvSpPr>
        <p:spPr>
          <a:xfrm>
            <a:off x="1281811" y="5416428"/>
            <a:ext cx="2295243" cy="523220"/>
          </a:xfrm>
          <a:prstGeom prst="rect">
            <a:avLst/>
          </a:prstGeom>
          <a:noFill/>
        </p:spPr>
        <p:txBody>
          <a:bodyPr wrap="square" rtlCol="0">
            <a:spAutoFit/>
          </a:bodyPr>
          <a:lstStyle/>
          <a:p>
            <a:pPr>
              <a:lnSpc>
                <a:spcPct val="100000"/>
              </a:lnSpc>
              <a:spcBef>
                <a:spcPts val="1000"/>
              </a:spcBef>
              <a:buClrTx/>
              <a:buSzTx/>
              <a:buFontTx/>
            </a:pPr>
            <a:r>
              <a:rPr kumimoji="1" lang="en-US" altLang="zh-CN" sz="1400" dirty="0">
                <a:latin typeface="微软雅黑" panose="020B0503020204020204" pitchFamily="34" charset="-122"/>
                <a:ea typeface="微软雅黑" panose="020B0503020204020204" pitchFamily="34" charset="-122"/>
              </a:rPr>
              <a:t>ACT</a:t>
            </a:r>
            <a:r>
              <a:rPr kumimoji="1" lang="zh-CN" altLang="en-US" sz="1400" dirty="0">
                <a:latin typeface="微软雅黑" panose="020B0503020204020204" pitchFamily="34" charset="-122"/>
                <a:ea typeface="微软雅黑" panose="020B0503020204020204" pitchFamily="34" charset="-122"/>
              </a:rPr>
              <a:t>实验室，数据挖掘和可视分析，全栈工程师</a:t>
            </a:r>
          </a:p>
        </p:txBody>
      </p:sp>
      <p:sp>
        <p:nvSpPr>
          <p:cNvPr id="22" name="椭圆 21"/>
          <p:cNvSpPr/>
          <p:nvPr>
            <p:custDataLst>
              <p:tags r:id="rId4"/>
            </p:custDataLst>
          </p:nvPr>
        </p:nvSpPr>
        <p:spPr>
          <a:xfrm>
            <a:off x="4798515" y="1583532"/>
            <a:ext cx="2395311" cy="239531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23" name="图片 22"/>
          <p:cNvPicPr>
            <a:picLocks noChangeAspect="1"/>
          </p:cNvPicPr>
          <p:nvPr>
            <p:custDataLst>
              <p:tags r:id="rId5"/>
            </p:custDataLst>
          </p:nvPr>
        </p:nvPicPr>
        <p:blipFill>
          <a:blip r:embed="rId21"/>
          <a:srcRect/>
          <a:stretch>
            <a:fillRect/>
          </a:stretch>
        </p:blipFill>
        <p:spPr>
          <a:xfrm>
            <a:off x="4826286" y="1613219"/>
            <a:ext cx="2339768" cy="2339768"/>
          </a:xfrm>
          <a:prstGeom prst="ellipse">
            <a:avLst/>
          </a:prstGeom>
        </p:spPr>
      </p:pic>
      <p:grpSp>
        <p:nvGrpSpPr>
          <p:cNvPr id="30" name="组合 29"/>
          <p:cNvGrpSpPr/>
          <p:nvPr>
            <p:custDataLst>
              <p:tags r:id="rId6"/>
            </p:custDataLst>
          </p:nvPr>
        </p:nvGrpSpPr>
        <p:grpSpPr>
          <a:xfrm>
            <a:off x="5183399" y="4244137"/>
            <a:ext cx="1660634" cy="662996"/>
            <a:chOff x="4408245" y="4201889"/>
            <a:chExt cx="1904949" cy="662996"/>
          </a:xfrm>
        </p:grpSpPr>
        <p:sp>
          <p:nvSpPr>
            <p:cNvPr id="31" name="矩形: 圆角 30"/>
            <p:cNvSpPr/>
            <p:nvPr>
              <p:custDataLst>
                <p:tags r:id="rId16"/>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latin typeface="微软雅黑" panose="020B0503020204020204" pitchFamily="34" charset="-122"/>
                <a:ea typeface="微软雅黑" panose="020B0503020204020204" pitchFamily="34" charset="-122"/>
              </a:endParaRPr>
            </a:p>
          </p:txBody>
        </p:sp>
        <p:sp>
          <p:nvSpPr>
            <p:cNvPr id="32" name="矩形 31"/>
            <p:cNvSpPr/>
            <p:nvPr>
              <p:custDataLst>
                <p:tags r:id="rId17"/>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latin typeface="微软雅黑" panose="020B0503020204020204" pitchFamily="34" charset="-122"/>
                  <a:ea typeface="微软雅黑" panose="020B0503020204020204" pitchFamily="34" charset="-122"/>
                </a:rPr>
                <a:t>苏丁力</a:t>
              </a:r>
            </a:p>
          </p:txBody>
        </p:sp>
      </p:grpSp>
      <p:sp>
        <p:nvSpPr>
          <p:cNvPr id="38" name="矩形: 圆角 37"/>
          <p:cNvSpPr/>
          <p:nvPr>
            <p:custDataLst>
              <p:tags r:id="rId7"/>
            </p:custDataLst>
          </p:nvPr>
        </p:nvSpPr>
        <p:spPr>
          <a:xfrm>
            <a:off x="4711220" y="5157135"/>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1" name="文本框 40"/>
          <p:cNvSpPr txBox="1"/>
          <p:nvPr>
            <p:custDataLst>
              <p:tags r:id="rId8"/>
            </p:custDataLst>
          </p:nvPr>
        </p:nvSpPr>
        <p:spPr>
          <a:xfrm>
            <a:off x="4911050" y="5416428"/>
            <a:ext cx="2295243" cy="523220"/>
          </a:xfrm>
          <a:prstGeom prst="rect">
            <a:avLst/>
          </a:prstGeom>
          <a:noFill/>
        </p:spPr>
        <p:txBody>
          <a:bodyPr wrap="square" rtlCol="0">
            <a:spAutoFit/>
          </a:bodyPr>
          <a:lstStyle/>
          <a:p>
            <a:pPr>
              <a:buClrTx/>
              <a:buSzTx/>
              <a:buFontTx/>
            </a:pPr>
            <a:r>
              <a:rPr kumimoji="1" lang="zh-CN" altLang="en-US" sz="1400" dirty="0">
                <a:latin typeface="微软雅黑" panose="020B0503020204020204" pitchFamily="34" charset="-122"/>
                <a:ea typeface="微软雅黑" panose="020B0503020204020204" pitchFamily="34" charset="-122"/>
              </a:rPr>
              <a:t>有物流系统项目开发经验，学过软件测试的课程</a:t>
            </a:r>
          </a:p>
        </p:txBody>
      </p:sp>
      <p:grpSp>
        <p:nvGrpSpPr>
          <p:cNvPr id="11" name="组合 10"/>
          <p:cNvGrpSpPr/>
          <p:nvPr/>
        </p:nvGrpSpPr>
        <p:grpSpPr>
          <a:xfrm>
            <a:off x="1112934" y="1586709"/>
            <a:ext cx="2464120" cy="2420118"/>
            <a:chOff x="1112934" y="1586709"/>
            <a:chExt cx="2464120" cy="2420118"/>
          </a:xfrm>
        </p:grpSpPr>
        <p:sp>
          <p:nvSpPr>
            <p:cNvPr id="6" name="椭圆 5"/>
            <p:cNvSpPr/>
            <p:nvPr>
              <p:custDataLst>
                <p:tags r:id="rId15"/>
              </p:custDataLst>
            </p:nvPr>
          </p:nvSpPr>
          <p:spPr>
            <a:xfrm>
              <a:off x="1207699" y="1669697"/>
              <a:ext cx="2238050" cy="2258879"/>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12934" y="1586709"/>
              <a:ext cx="2464120" cy="2420118"/>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Rectangle 4"/>
          <p:cNvSpPr>
            <a:spLocks noChangeArrowheads="1"/>
          </p:cNvSpPr>
          <p:nvPr/>
        </p:nvSpPr>
        <p:spPr bwMode="auto">
          <a:xfrm>
            <a:off x="1112934" y="1428553"/>
            <a:ext cx="53202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dirty="0">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3465843" y="491467"/>
            <a:ext cx="36810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dirty="0">
              <a:latin typeface="微软雅黑" panose="020B0503020204020204" pitchFamily="34" charset="-122"/>
              <a:ea typeface="微软雅黑" panose="020B0503020204020204" pitchFamily="34" charset="-122"/>
            </a:endParaRPr>
          </a:p>
        </p:txBody>
      </p:sp>
      <p:grpSp>
        <p:nvGrpSpPr>
          <p:cNvPr id="4" name="组合 3"/>
          <p:cNvGrpSpPr/>
          <p:nvPr>
            <p:custDataLst>
              <p:tags r:id="rId9"/>
            </p:custDataLst>
          </p:nvPr>
        </p:nvGrpSpPr>
        <p:grpSpPr>
          <a:xfrm>
            <a:off x="8660914" y="4244136"/>
            <a:ext cx="1660634" cy="662996"/>
            <a:chOff x="4408245" y="4201889"/>
            <a:chExt cx="1904949" cy="662996"/>
          </a:xfrm>
        </p:grpSpPr>
        <p:sp>
          <p:nvSpPr>
            <p:cNvPr id="5" name="矩形: 圆角 33"/>
            <p:cNvSpPr/>
            <p:nvPr>
              <p:custDataLst>
                <p:tags r:id="rId13"/>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endParaRPr>
            </a:p>
          </p:txBody>
        </p:sp>
        <p:sp>
          <p:nvSpPr>
            <p:cNvPr id="9" name="矩形 8"/>
            <p:cNvSpPr/>
            <p:nvPr>
              <p:custDataLst>
                <p:tags r:id="rId14"/>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rPr>
                <a:t>刘顺博</a:t>
              </a:r>
            </a:p>
          </p:txBody>
        </p:sp>
      </p:grpSp>
      <p:sp>
        <p:nvSpPr>
          <p:cNvPr id="13" name="矩形: 圆角 38"/>
          <p:cNvSpPr/>
          <p:nvPr>
            <p:custDataLst>
              <p:tags r:id="rId10"/>
            </p:custDataLst>
          </p:nvPr>
        </p:nvSpPr>
        <p:spPr>
          <a:xfrm>
            <a:off x="8188735" y="5157135"/>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FontTx/>
            </a:pPr>
            <a:endParaRPr lang="zh-CN" altLang="en-US"/>
          </a:p>
        </p:txBody>
      </p:sp>
      <p:pic>
        <p:nvPicPr>
          <p:cNvPr id="14" name="图片 13" descr="微信图片_20240314174827"/>
          <p:cNvPicPr>
            <a:picLocks noChangeAspect="1"/>
          </p:cNvPicPr>
          <p:nvPr>
            <p:custDataLst>
              <p:tags r:id="rId11"/>
            </p:custDataLst>
          </p:nvPr>
        </p:nvPicPr>
        <p:blipFill>
          <a:blip r:embed="rId23"/>
          <a:stretch>
            <a:fillRect/>
          </a:stretch>
        </p:blipFill>
        <p:spPr>
          <a:xfrm>
            <a:off x="8188960" y="1598295"/>
            <a:ext cx="2394585" cy="2394585"/>
          </a:xfrm>
          <a:prstGeom prst="rect">
            <a:avLst/>
          </a:prstGeom>
        </p:spPr>
      </p:pic>
      <p:sp>
        <p:nvSpPr>
          <p:cNvPr id="15" name="文本框 14"/>
          <p:cNvSpPr txBox="1"/>
          <p:nvPr>
            <p:custDataLst>
              <p:tags r:id="rId12"/>
            </p:custDataLst>
          </p:nvPr>
        </p:nvSpPr>
        <p:spPr>
          <a:xfrm>
            <a:off x="8398470" y="5511475"/>
            <a:ext cx="2295243" cy="521970"/>
          </a:xfrm>
          <a:prstGeom prst="rect">
            <a:avLst/>
          </a:prstGeom>
          <a:noFill/>
        </p:spPr>
        <p:txBody>
          <a:bodyPr wrap="square" rtlCol="0">
            <a:spAutoFit/>
          </a:bodyPr>
          <a:lstStyle/>
          <a:p>
            <a:pPr>
              <a:buClrTx/>
              <a:buSzTx/>
              <a:buFontTx/>
            </a:pPr>
            <a:r>
              <a:rPr kumimoji="1" lang="zh-CN" altLang="en-US" sz="1400" dirty="0">
                <a:sym typeface="+mn-ea"/>
              </a:rPr>
              <a:t>刘顺博，有</a:t>
            </a:r>
            <a:r>
              <a:rPr kumimoji="1" lang="en-US" altLang="zh-CN" sz="1400" dirty="0">
                <a:sym typeface="+mn-ea"/>
              </a:rPr>
              <a:t>java</a:t>
            </a:r>
            <a:r>
              <a:rPr kumimoji="1" lang="zh-CN" altLang="en-US" sz="1400" dirty="0">
                <a:sym typeface="+mn-ea"/>
              </a:rPr>
              <a:t>开发经验，本科曾修习软件工程</a:t>
            </a:r>
            <a:endParaRPr kumimoji="1" lang="zh-CN"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82710" y="712715"/>
            <a:ext cx="3281155" cy="584775"/>
            <a:chOff x="582710" y="712715"/>
            <a:chExt cx="3281155" cy="584775"/>
          </a:xfrm>
        </p:grpSpPr>
        <p:sp>
          <p:nvSpPr>
            <p:cNvPr id="3" name="矩形 2"/>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文本框 6"/>
            <p:cNvSpPr txBox="1"/>
            <p:nvPr/>
          </p:nvSpPr>
          <p:spPr>
            <a:xfrm>
              <a:off x="676165" y="712715"/>
              <a:ext cx="3187700" cy="584775"/>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团队介绍</a:t>
              </a:r>
            </a:p>
          </p:txBody>
        </p:sp>
      </p:grpSp>
      <p:grpSp>
        <p:nvGrpSpPr>
          <p:cNvPr id="27" name="组合 26"/>
          <p:cNvGrpSpPr/>
          <p:nvPr>
            <p:custDataLst>
              <p:tags r:id="rId1"/>
            </p:custDataLst>
          </p:nvPr>
        </p:nvGrpSpPr>
        <p:grpSpPr>
          <a:xfrm>
            <a:off x="1549081" y="4267070"/>
            <a:ext cx="1660634" cy="662996"/>
            <a:chOff x="4408245" y="4201889"/>
            <a:chExt cx="1904949" cy="662996"/>
          </a:xfrm>
        </p:grpSpPr>
        <p:sp>
          <p:nvSpPr>
            <p:cNvPr id="28" name="矩形: 圆角 27"/>
            <p:cNvSpPr/>
            <p:nvPr>
              <p:custDataLst>
                <p:tags r:id="rId18"/>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latin typeface="微软雅黑" panose="020B0503020204020204" pitchFamily="34" charset="-122"/>
                <a:ea typeface="微软雅黑" panose="020B0503020204020204" pitchFamily="34" charset="-122"/>
              </a:endParaRPr>
            </a:p>
          </p:txBody>
        </p:sp>
        <p:sp>
          <p:nvSpPr>
            <p:cNvPr id="29" name="矩形 28"/>
            <p:cNvSpPr/>
            <p:nvPr>
              <p:custDataLst>
                <p:tags r:id="rId19"/>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latin typeface="微软雅黑" panose="020B0503020204020204" pitchFamily="34" charset="-122"/>
                  <a:ea typeface="微软雅黑" panose="020B0503020204020204" pitchFamily="34" charset="-122"/>
                </a:rPr>
                <a:t>张宸恺</a:t>
              </a:r>
              <a:endParaRPr kumimoji="1" lang="en-US" altLang="zh-CN" b="1" dirty="0">
                <a:solidFill>
                  <a:schemeClr val="bg1"/>
                </a:solidFill>
                <a:latin typeface="微软雅黑" panose="020B0503020204020204" pitchFamily="34" charset="-122"/>
                <a:ea typeface="微软雅黑" panose="020B0503020204020204" pitchFamily="34" charset="-122"/>
              </a:endParaRPr>
            </a:p>
          </p:txBody>
        </p:sp>
      </p:grpSp>
      <p:sp>
        <p:nvSpPr>
          <p:cNvPr id="39" name="矩形: 圆角 38"/>
          <p:cNvSpPr/>
          <p:nvPr>
            <p:custDataLst>
              <p:tags r:id="rId2"/>
            </p:custDataLst>
          </p:nvPr>
        </p:nvSpPr>
        <p:spPr>
          <a:xfrm>
            <a:off x="1108227" y="5169834"/>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5" name="文本框 44"/>
          <p:cNvSpPr txBox="1"/>
          <p:nvPr>
            <p:custDataLst>
              <p:tags r:id="rId3"/>
            </p:custDataLst>
          </p:nvPr>
        </p:nvSpPr>
        <p:spPr>
          <a:xfrm>
            <a:off x="1281811" y="5465307"/>
            <a:ext cx="2295243" cy="738664"/>
          </a:xfrm>
          <a:prstGeom prst="rect">
            <a:avLst/>
          </a:prstGeom>
          <a:noFill/>
        </p:spPr>
        <p:txBody>
          <a:bodyPr wrap="square" rtlCol="0">
            <a:spAutoFit/>
          </a:bodyPr>
          <a:lstStyle/>
          <a:p>
            <a:pPr>
              <a:lnSpc>
                <a:spcPct val="100000"/>
              </a:lnSpc>
              <a:spcBef>
                <a:spcPts val="1000"/>
              </a:spcBef>
              <a:buClrTx/>
              <a:buSzTx/>
              <a:buFontTx/>
            </a:pPr>
            <a:r>
              <a:rPr kumimoji="1" lang="zh-CN" altLang="en-US" sz="1400" dirty="0">
                <a:latin typeface="微软雅黑" panose="020B0503020204020204" pitchFamily="34" charset="-122"/>
                <a:ea typeface="微软雅黑" panose="020B0503020204020204" pitchFamily="34" charset="-122"/>
              </a:rPr>
              <a:t>研究方向为生成式人工智能，有开发</a:t>
            </a:r>
            <a:r>
              <a:rPr kumimoji="1" lang="en-US" altLang="zh-CN" sz="1400" dirty="0">
                <a:latin typeface="微软雅黑" panose="020B0503020204020204" pitchFamily="34" charset="-122"/>
                <a:ea typeface="微软雅黑" panose="020B0503020204020204" pitchFamily="34" charset="-122"/>
              </a:rPr>
              <a:t>web</a:t>
            </a:r>
            <a:r>
              <a:rPr kumimoji="1" lang="zh-CN" altLang="en-US" sz="1400" dirty="0">
                <a:latin typeface="微软雅黑" panose="020B0503020204020204" pitchFamily="34" charset="-122"/>
                <a:ea typeface="微软雅黑" panose="020B0503020204020204" pitchFamily="34" charset="-122"/>
              </a:rPr>
              <a:t>应用的经验</a:t>
            </a:r>
          </a:p>
        </p:txBody>
      </p:sp>
      <p:grpSp>
        <p:nvGrpSpPr>
          <p:cNvPr id="30" name="组合 29"/>
          <p:cNvGrpSpPr/>
          <p:nvPr>
            <p:custDataLst>
              <p:tags r:id="rId4"/>
            </p:custDataLst>
          </p:nvPr>
        </p:nvGrpSpPr>
        <p:grpSpPr>
          <a:xfrm>
            <a:off x="5183399" y="4244137"/>
            <a:ext cx="1660634" cy="662996"/>
            <a:chOff x="4408245" y="4201889"/>
            <a:chExt cx="1904949" cy="662996"/>
          </a:xfrm>
        </p:grpSpPr>
        <p:sp>
          <p:nvSpPr>
            <p:cNvPr id="31" name="矩形: 圆角 30"/>
            <p:cNvSpPr/>
            <p:nvPr>
              <p:custDataLst>
                <p:tags r:id="rId16"/>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latin typeface="微软雅黑" panose="020B0503020204020204" pitchFamily="34" charset="-122"/>
                <a:ea typeface="微软雅黑" panose="020B0503020204020204" pitchFamily="34" charset="-122"/>
              </a:endParaRPr>
            </a:p>
          </p:txBody>
        </p:sp>
        <p:sp>
          <p:nvSpPr>
            <p:cNvPr id="32" name="矩形 31"/>
            <p:cNvSpPr/>
            <p:nvPr>
              <p:custDataLst>
                <p:tags r:id="rId17"/>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latin typeface="微软雅黑" panose="020B0503020204020204" pitchFamily="34" charset="-122"/>
                  <a:ea typeface="微软雅黑" panose="020B0503020204020204" pitchFamily="34" charset="-122"/>
                </a:rPr>
                <a:t>曾祥华</a:t>
              </a:r>
            </a:p>
          </p:txBody>
        </p:sp>
      </p:grpSp>
      <p:grpSp>
        <p:nvGrpSpPr>
          <p:cNvPr id="33" name="组合 32"/>
          <p:cNvGrpSpPr/>
          <p:nvPr>
            <p:custDataLst>
              <p:tags r:id="rId5"/>
            </p:custDataLst>
          </p:nvPr>
        </p:nvGrpSpPr>
        <p:grpSpPr>
          <a:xfrm>
            <a:off x="8660914" y="4244136"/>
            <a:ext cx="1660634" cy="662996"/>
            <a:chOff x="4408245" y="4201889"/>
            <a:chExt cx="1904949" cy="662996"/>
          </a:xfrm>
        </p:grpSpPr>
        <p:sp>
          <p:nvSpPr>
            <p:cNvPr id="34" name="矩形: 圆角 33"/>
            <p:cNvSpPr/>
            <p:nvPr>
              <p:custDataLst>
                <p:tags r:id="rId14"/>
              </p:custDataLst>
            </p:nvPr>
          </p:nvSpPr>
          <p:spPr>
            <a:xfrm>
              <a:off x="4408245" y="4201889"/>
              <a:ext cx="1904949" cy="662996"/>
            </a:xfrm>
            <a:prstGeom prst="roundRect">
              <a:avLst>
                <a:gd name="adj" fmla="val 50000"/>
              </a:avLst>
            </a:prstGeom>
            <a:solidFill>
              <a:srgbClr val="3F51B6"/>
            </a:solidFill>
            <a:ln>
              <a:solidFill>
                <a:srgbClr val="3F51B6"/>
              </a:solidFill>
            </a:ln>
          </p:spPr>
          <p:txBody>
            <a:bodyPr wrap="square">
              <a:spAutoFit/>
            </a:bodyPr>
            <a:lstStyle/>
            <a:p>
              <a:endParaRPr kumimoji="1" lang="en-US" altLang="zh-CN" sz="2400" dirty="0">
                <a:solidFill>
                  <a:srgbClr val="3F51B6"/>
                </a:solidFill>
                <a:latin typeface="微软雅黑" panose="020B0503020204020204" pitchFamily="34" charset="-122"/>
                <a:ea typeface="微软雅黑" panose="020B0503020204020204" pitchFamily="34" charset="-122"/>
              </a:endParaRPr>
            </a:p>
          </p:txBody>
        </p:sp>
        <p:sp>
          <p:nvSpPr>
            <p:cNvPr id="35" name="矩形 34"/>
            <p:cNvSpPr/>
            <p:nvPr>
              <p:custDataLst>
                <p:tags r:id="rId15"/>
              </p:custDataLst>
            </p:nvPr>
          </p:nvSpPr>
          <p:spPr>
            <a:xfrm>
              <a:off x="4604709" y="4302554"/>
              <a:ext cx="1512020" cy="460375"/>
            </a:xfrm>
            <a:prstGeom prst="rect">
              <a:avLst/>
            </a:prstGeom>
          </p:spPr>
          <p:txBody>
            <a:bodyPr wrap="square">
              <a:spAutoFit/>
            </a:bodyPr>
            <a:lstStyle/>
            <a:p>
              <a:pPr algn="ctr"/>
              <a:r>
                <a:rPr kumimoji="1" lang="zh-CN" altLang="en-US" sz="2400" b="1" dirty="0">
                  <a:solidFill>
                    <a:schemeClr val="bg1"/>
                  </a:solidFill>
                  <a:latin typeface="微软雅黑" panose="020B0503020204020204" pitchFamily="34" charset="-122"/>
                  <a:ea typeface="微软雅黑" panose="020B0503020204020204" pitchFamily="34" charset="-122"/>
                </a:rPr>
                <a:t>窦建玲</a:t>
              </a:r>
            </a:p>
          </p:txBody>
        </p:sp>
      </p:grpSp>
      <p:sp>
        <p:nvSpPr>
          <p:cNvPr id="38" name="矩形: 圆角 37"/>
          <p:cNvSpPr/>
          <p:nvPr>
            <p:custDataLst>
              <p:tags r:id="rId6"/>
            </p:custDataLst>
          </p:nvPr>
        </p:nvSpPr>
        <p:spPr>
          <a:xfrm>
            <a:off x="4711220" y="5157135"/>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 name="矩形: 圆角 38"/>
          <p:cNvSpPr/>
          <p:nvPr>
            <p:custDataLst>
              <p:tags r:id="rId7"/>
            </p:custDataLst>
          </p:nvPr>
        </p:nvSpPr>
        <p:spPr>
          <a:xfrm>
            <a:off x="8188735" y="5157135"/>
            <a:ext cx="2604990" cy="1231900"/>
          </a:xfrm>
          <a:prstGeom prst="roundRect">
            <a:avLst/>
          </a:prstGeom>
          <a:solidFill>
            <a:schemeClr val="bg1"/>
          </a:solidFill>
          <a:ln w="19050">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6" name="文本框 35"/>
          <p:cNvSpPr txBox="1"/>
          <p:nvPr>
            <p:custDataLst>
              <p:tags r:id="rId8"/>
            </p:custDataLst>
          </p:nvPr>
        </p:nvSpPr>
        <p:spPr>
          <a:xfrm>
            <a:off x="8405148" y="5403753"/>
            <a:ext cx="2295243" cy="738664"/>
          </a:xfrm>
          <a:prstGeom prst="rect">
            <a:avLst/>
          </a:prstGeom>
          <a:noFill/>
        </p:spPr>
        <p:txBody>
          <a:bodyPr wrap="square" rtlCol="0">
            <a:spAutoFit/>
          </a:bodyPr>
          <a:lstStyle/>
          <a:p>
            <a:r>
              <a:rPr kumimoji="1" lang="zh-CN" altLang="en-US" sz="1400" dirty="0">
                <a:latin typeface="微软雅黑" panose="020B0503020204020204" pitchFamily="34" charset="-122"/>
                <a:ea typeface="微软雅黑" panose="020B0503020204020204" pitchFamily="34" charset="-122"/>
              </a:rPr>
              <a:t>系统结构所，研究方向为深度学习。有团队开发经历与前后端开发经验</a:t>
            </a:r>
            <a:endParaRPr kumimoji="1" lang="zh-CN" altLang="en-US" sz="1600" dirty="0">
              <a:latin typeface="微软雅黑" panose="020B0503020204020204" pitchFamily="34" charset="-122"/>
              <a:ea typeface="微软雅黑" panose="020B0503020204020204" pitchFamily="34" charset="-122"/>
            </a:endParaRPr>
          </a:p>
        </p:txBody>
      </p:sp>
      <p:sp>
        <p:nvSpPr>
          <p:cNvPr id="41" name="文本框 40"/>
          <p:cNvSpPr txBox="1"/>
          <p:nvPr>
            <p:custDataLst>
              <p:tags r:id="rId9"/>
            </p:custDataLst>
          </p:nvPr>
        </p:nvSpPr>
        <p:spPr>
          <a:xfrm>
            <a:off x="4911050" y="5311011"/>
            <a:ext cx="2295243" cy="953135"/>
          </a:xfrm>
          <a:prstGeom prst="rect">
            <a:avLst/>
          </a:prstGeom>
          <a:noFill/>
        </p:spPr>
        <p:txBody>
          <a:bodyPr wrap="square" rtlCol="0">
            <a:spAutoFit/>
          </a:bodyPr>
          <a:lstStyle/>
          <a:p>
            <a:pPr>
              <a:buClrTx/>
              <a:buSzTx/>
              <a:buFontTx/>
            </a:pPr>
            <a:r>
              <a:rPr kumimoji="1" lang="zh-CN" altLang="en-US" sz="1400" dirty="0">
                <a:latin typeface="微软雅黑" panose="020B0503020204020204" pitchFamily="34" charset="-122"/>
                <a:ea typeface="微软雅黑" panose="020B0503020204020204" pitchFamily="34" charset="-122"/>
              </a:rPr>
              <a:t>软件国家重点实验室，研究方向为人工智能、强化学习，有软件开发以及较为丰富的文档写作经验</a:t>
            </a:r>
          </a:p>
        </p:txBody>
      </p:sp>
      <p:sp>
        <p:nvSpPr>
          <p:cNvPr id="4" name="椭圆 3"/>
          <p:cNvSpPr/>
          <p:nvPr>
            <p:custDataLst>
              <p:tags r:id="rId10"/>
            </p:custDataLst>
          </p:nvPr>
        </p:nvSpPr>
        <p:spPr>
          <a:xfrm>
            <a:off x="4857898" y="1558047"/>
            <a:ext cx="2395311" cy="239531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custDataLst>
              <p:tags r:id="rId11"/>
            </p:custDataLst>
          </p:nvPr>
        </p:nvPicPr>
        <p:blipFill>
          <a:blip r:embed="rId21"/>
          <a:srcRect/>
          <a:stretch>
            <a:fillRect/>
          </a:stretch>
        </p:blipFill>
        <p:spPr>
          <a:xfrm>
            <a:off x="4913441" y="1609276"/>
            <a:ext cx="2292852" cy="2292852"/>
          </a:xfrm>
          <a:prstGeom prst="ellipse">
            <a:avLst/>
          </a:prstGeom>
        </p:spPr>
      </p:pic>
      <p:sp>
        <p:nvSpPr>
          <p:cNvPr id="11" name="椭圆 10"/>
          <p:cNvSpPr/>
          <p:nvPr>
            <p:custDataLst>
              <p:tags r:id="rId12"/>
            </p:custDataLst>
          </p:nvPr>
        </p:nvSpPr>
        <p:spPr>
          <a:xfrm>
            <a:off x="1237160" y="1558047"/>
            <a:ext cx="2395311" cy="239531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12" name="图片 11"/>
          <p:cNvPicPr>
            <a:picLocks noChangeAspect="1"/>
          </p:cNvPicPr>
          <p:nvPr>
            <p:custDataLst>
              <p:tags r:id="rId13"/>
            </p:custDataLst>
          </p:nvPr>
        </p:nvPicPr>
        <p:blipFill>
          <a:blip r:embed="rId22"/>
          <a:srcRect/>
          <a:stretch>
            <a:fillRect/>
          </a:stretch>
        </p:blipFill>
        <p:spPr>
          <a:xfrm>
            <a:off x="1292703" y="1609276"/>
            <a:ext cx="2292852" cy="2292852"/>
          </a:xfrm>
          <a:prstGeom prst="ellipse">
            <a:avLst/>
          </a:prstGeom>
        </p:spPr>
      </p:pic>
      <p:pic>
        <p:nvPicPr>
          <p:cNvPr id="15" name="图片 14"/>
          <p:cNvPicPr>
            <a:picLocks noChangeAspect="1"/>
          </p:cNvPicPr>
          <p:nvPr/>
        </p:nvPicPr>
        <p:blipFill rotWithShape="1">
          <a:blip r:embed="rId23"/>
          <a:srcRect t="711"/>
          <a:stretch>
            <a:fillRect/>
          </a:stretch>
        </p:blipFill>
        <p:spPr>
          <a:xfrm>
            <a:off x="8405148" y="1566561"/>
            <a:ext cx="2395310" cy="2335567"/>
          </a:xfrm>
          <a:custGeom>
            <a:avLst/>
            <a:gdLst>
              <a:gd name="connsiteX0" fmla="*/ 1197656 w 2395310"/>
              <a:gd name="connsiteY0" fmla="*/ 0 h 2378282"/>
              <a:gd name="connsiteX1" fmla="*/ 2389129 w 2395310"/>
              <a:gd name="connsiteY1" fmla="*/ 1075203 h 2378282"/>
              <a:gd name="connsiteX2" fmla="*/ 2395310 w 2395310"/>
              <a:gd name="connsiteY2" fmla="*/ 1197617 h 2378282"/>
              <a:gd name="connsiteX3" fmla="*/ 2395310 w 2395310"/>
              <a:gd name="connsiteY3" fmla="*/ 1197696 h 2378282"/>
              <a:gd name="connsiteX4" fmla="*/ 2389129 w 2395310"/>
              <a:gd name="connsiteY4" fmla="*/ 1320109 h 2378282"/>
              <a:gd name="connsiteX5" fmla="*/ 1439025 w 2395310"/>
              <a:gd name="connsiteY5" fmla="*/ 2370980 h 2378282"/>
              <a:gd name="connsiteX6" fmla="*/ 1391180 w 2395310"/>
              <a:gd name="connsiteY6" fmla="*/ 2378282 h 2378282"/>
              <a:gd name="connsiteX7" fmla="*/ 1004132 w 2395310"/>
              <a:gd name="connsiteY7" fmla="*/ 2378282 h 2378282"/>
              <a:gd name="connsiteX8" fmla="*/ 956287 w 2395310"/>
              <a:gd name="connsiteY8" fmla="*/ 2370980 h 2378282"/>
              <a:gd name="connsiteX9" fmla="*/ 0 w 2395310"/>
              <a:gd name="connsiteY9" fmla="*/ 1197656 h 2378282"/>
              <a:gd name="connsiteX10" fmla="*/ 1197656 w 2395310"/>
              <a:gd name="connsiteY10" fmla="*/ 0 h 2378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95310" h="2378282">
                <a:moveTo>
                  <a:pt x="1197656" y="0"/>
                </a:moveTo>
                <a:cubicBezTo>
                  <a:pt x="1817763" y="0"/>
                  <a:pt x="2327797" y="471278"/>
                  <a:pt x="2389129" y="1075203"/>
                </a:cubicBezTo>
                <a:lnTo>
                  <a:pt x="2395310" y="1197617"/>
                </a:lnTo>
                <a:lnTo>
                  <a:pt x="2395310" y="1197696"/>
                </a:lnTo>
                <a:lnTo>
                  <a:pt x="2389129" y="1320109"/>
                </a:lnTo>
                <a:cubicBezTo>
                  <a:pt x="2335974" y="1843511"/>
                  <a:pt x="1945795" y="2267280"/>
                  <a:pt x="1439025" y="2370980"/>
                </a:cubicBezTo>
                <a:lnTo>
                  <a:pt x="1391180" y="2378282"/>
                </a:lnTo>
                <a:lnTo>
                  <a:pt x="1004132" y="2378282"/>
                </a:lnTo>
                <a:lnTo>
                  <a:pt x="956287" y="2370980"/>
                </a:lnTo>
                <a:cubicBezTo>
                  <a:pt x="410535" y="2259303"/>
                  <a:pt x="0" y="1776422"/>
                  <a:pt x="0" y="1197656"/>
                </a:cubicBezTo>
                <a:cubicBezTo>
                  <a:pt x="0" y="536209"/>
                  <a:pt x="536209" y="0"/>
                  <a:pt x="1197656" y="0"/>
                </a:cubicBezTo>
                <a:close/>
              </a:path>
            </a:pathLst>
          </a:cu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6275" y="1440890"/>
            <a:ext cx="10515600" cy="4351338"/>
          </a:xfrm>
        </p:spPr>
        <p:txBody>
          <a:bodyPr>
            <a:normAutofit/>
          </a:bodyPr>
          <a:lstStyle/>
          <a:p>
            <a:pPr algn="l">
              <a:lnSpc>
                <a:spcPts val="1800"/>
              </a:lnSpc>
              <a:buClrTx/>
              <a:buSzTx/>
            </a:pPr>
            <a:r>
              <a:rPr lang="zh-CN" altLang="en-US" sz="1600" dirty="0">
                <a:solidFill>
                  <a:srgbClr val="0D0D0D"/>
                </a:solidFill>
                <a:effectLst/>
                <a:uFillTx/>
                <a:latin typeface="Times New Roman" panose="02020603050405020304" charset="0"/>
              </a:rPr>
              <a:t>目前NLP、LLM技术火热，大语言模型时代来临，针对文本标注需求也逐渐增强</a:t>
            </a:r>
          </a:p>
          <a:p>
            <a:pPr algn="l">
              <a:lnSpc>
                <a:spcPts val="1800"/>
              </a:lnSpc>
              <a:buClrTx/>
              <a:buSzTx/>
            </a:pPr>
            <a:r>
              <a:rPr lang="zh-CN" altLang="en-US" sz="1600" dirty="0">
                <a:solidFill>
                  <a:srgbClr val="0D0D0D"/>
                </a:solidFill>
                <a:effectLst/>
                <a:uFillTx/>
                <a:latin typeface="Times New Roman" panose="02020603050405020304" charset="0"/>
              </a:rPr>
              <a:t>深度学习技术建立在规模较大的数据集上，大量带标签的训练数据才会带来理想的效果</a:t>
            </a:r>
          </a:p>
          <a:p>
            <a:pPr algn="l">
              <a:lnSpc>
                <a:spcPts val="1800"/>
              </a:lnSpc>
              <a:buClrTx/>
              <a:buSzTx/>
            </a:pPr>
            <a:r>
              <a:rPr lang="zh-CN" altLang="en-US" sz="1600" dirty="0">
                <a:solidFill>
                  <a:srgbClr val="0D0D0D"/>
                </a:solidFill>
                <a:effectLst/>
                <a:uFillTx/>
                <a:latin typeface="Times New Roman" panose="02020603050405020304" charset="0"/>
              </a:rPr>
              <a:t>数据标注需要对需标注的文本，标注的结果进行系统组织，因此文本标注系统的开发极其重要</a:t>
            </a:r>
          </a:p>
        </p:txBody>
      </p:sp>
      <p:grpSp>
        <p:nvGrpSpPr>
          <p:cNvPr id="16" name="组合 15"/>
          <p:cNvGrpSpPr/>
          <p:nvPr/>
        </p:nvGrpSpPr>
        <p:grpSpPr>
          <a:xfrm>
            <a:off x="582710" y="712715"/>
            <a:ext cx="3281155" cy="584775"/>
            <a:chOff x="582710" y="712715"/>
            <a:chExt cx="3281155" cy="5847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676165" y="712715"/>
              <a:ext cx="3187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项目来源</a:t>
              </a:r>
              <a:endParaRPr kumimoji="0" lang="zh-CN" altLang="en-US" sz="3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pic>
        <p:nvPicPr>
          <p:cNvPr id="4" name="图片 3"/>
          <p:cNvPicPr>
            <a:picLocks noChangeAspect="1"/>
          </p:cNvPicPr>
          <p:nvPr/>
        </p:nvPicPr>
        <p:blipFill>
          <a:blip r:embed="rId2">
            <a:extLst>
              <a:ext uri="{28A0092B-C50C-407E-A947-70E740481C1C}">
                <a14:useLocalDpi xmlns:a14="http://schemas.microsoft.com/office/drawing/2010/main" val="0"/>
              </a:ext>
            </a:extLst>
          </a:blip>
          <a:srcRect l="1788" r="1753"/>
          <a:stretch>
            <a:fillRect/>
          </a:stretch>
        </p:blipFill>
        <p:spPr>
          <a:xfrm>
            <a:off x="1276350" y="2598420"/>
            <a:ext cx="6194425" cy="36156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9550" y="1355165"/>
            <a:ext cx="10515600" cy="4351338"/>
          </a:xfrm>
        </p:spPr>
        <p:txBody>
          <a:bodyPr>
            <a:normAutofit/>
          </a:bodyPr>
          <a:lstStyle/>
          <a:p>
            <a:pPr marL="0" lvl="1" algn="l">
              <a:lnSpc>
                <a:spcPts val="1800"/>
              </a:lnSpc>
              <a:buClrTx/>
              <a:buSzTx/>
            </a:pPr>
            <a:r>
              <a:rPr lang="zh-CN" altLang="en-US" sz="1800" b="1" dirty="0">
                <a:solidFill>
                  <a:srgbClr val="0D0D0D"/>
                </a:solidFill>
                <a:effectLst/>
                <a:uFillTx/>
                <a:latin typeface="Times New Roman" panose="02020603050405020304" charset="0"/>
              </a:rPr>
              <a:t>相关研究</a:t>
            </a:r>
            <a:r>
              <a:rPr lang="en-US" altLang="zh-CN" sz="1800" b="1" i="1" dirty="0">
                <a:solidFill>
                  <a:srgbClr val="0D0D0D"/>
                </a:solidFill>
                <a:effectLst/>
                <a:uFillTx/>
                <a:latin typeface="Times New Roman" panose="02020603050405020304" charset="0"/>
              </a:rPr>
              <a:t> in the field of </a:t>
            </a:r>
            <a:r>
              <a:rPr lang="zh-CN" altLang="en-US" sz="1800" b="1" i="1" dirty="0">
                <a:solidFill>
                  <a:srgbClr val="0D0D0D"/>
                </a:solidFill>
                <a:effectLst/>
                <a:uFillTx/>
                <a:latin typeface="Times New Roman" panose="02020603050405020304" charset="0"/>
                <a:sym typeface="+mn-ea"/>
              </a:rPr>
              <a:t>metal−organic framework (MOF)</a:t>
            </a:r>
          </a:p>
        </p:txBody>
      </p:sp>
      <p:grpSp>
        <p:nvGrpSpPr>
          <p:cNvPr id="16" name="组合 15"/>
          <p:cNvGrpSpPr/>
          <p:nvPr/>
        </p:nvGrpSpPr>
        <p:grpSpPr>
          <a:xfrm>
            <a:off x="582710" y="712715"/>
            <a:ext cx="3281155" cy="584775"/>
            <a:chOff x="582710" y="712715"/>
            <a:chExt cx="3281155" cy="5847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676165" y="712715"/>
              <a:ext cx="3187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项目来源</a:t>
              </a:r>
              <a:endParaRPr kumimoji="0" lang="zh-CN" altLang="en-US" sz="3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2" name="文本框 1"/>
          <p:cNvSpPr txBox="1"/>
          <p:nvPr/>
        </p:nvSpPr>
        <p:spPr>
          <a:xfrm>
            <a:off x="495300" y="1728470"/>
            <a:ext cx="5419725" cy="4104640"/>
          </a:xfrm>
          <a:prstGeom prst="rect">
            <a:avLst/>
          </a:prstGeom>
          <a:noFill/>
        </p:spPr>
        <p:txBody>
          <a:bodyPr wrap="square" rtlCol="0">
            <a:noAutofit/>
          </a:bodyPr>
          <a:lstStyle/>
          <a:p>
            <a:pPr marL="0" lvl="1"/>
            <a:r>
              <a:rPr lang="zh-CN" altLang="en-US" sz="1600" b="1" dirty="0">
                <a:solidFill>
                  <a:srgbClr val="0D0D0D"/>
                </a:solidFill>
                <a:effectLst/>
                <a:uFillTx/>
                <a:latin typeface="Times New Roman" panose="02020603050405020304" charset="0"/>
                <a:ea typeface="微软雅黑" panose="020B0503020204020204" pitchFamily="34" charset="-122"/>
                <a:sym typeface="+mn-ea"/>
              </a:rPr>
              <a:t>ChatGPT Chemistry Assistant</a:t>
            </a:r>
            <a:r>
              <a:rPr lang="en-US" altLang="zh-CN" sz="1600" b="1" dirty="0">
                <a:solidFill>
                  <a:srgbClr val="0D0D0D"/>
                </a:solidFill>
                <a:effectLst/>
                <a:uFillTx/>
                <a:latin typeface="Times New Roman" panose="02020603050405020304" charset="0"/>
                <a:ea typeface="微软雅黑" panose="020B0503020204020204" pitchFamily="34" charset="-122"/>
                <a:sym typeface="+mn-ea"/>
              </a:rPr>
              <a:t> [1]</a:t>
            </a:r>
            <a:endParaRPr lang="zh-CN" altLang="en-US" sz="1600" b="1" dirty="0">
              <a:solidFill>
                <a:srgbClr val="0D0D0D"/>
              </a:solidFill>
              <a:effectLst/>
              <a:uFillTx/>
              <a:latin typeface="Times New Roman" panose="02020603050405020304" charset="0"/>
              <a:ea typeface="微软雅黑" panose="020B0503020204020204" pitchFamily="34" charset="-122"/>
              <a:sym typeface="+mn-ea"/>
            </a:endParaRPr>
          </a:p>
          <a:p>
            <a:pPr marL="0" lvl="1"/>
            <a:endParaRPr lang="zh-CN" altLang="en-US" sz="1600" b="1" dirty="0">
              <a:solidFill>
                <a:srgbClr val="0D0D0D"/>
              </a:solidFill>
              <a:effectLst/>
              <a:uFillTx/>
              <a:latin typeface="Times New Roman" panose="02020603050405020304" charset="0"/>
              <a:ea typeface="微软雅黑" panose="020B0503020204020204" pitchFamily="34" charset="-122"/>
              <a:sym typeface="+mn-ea"/>
            </a:endParaRPr>
          </a:p>
          <a:p>
            <a:pPr marL="285750" lvl="1" indent="-285750" algn="l">
              <a:lnSpc>
                <a:spcPts val="1800"/>
              </a:lnSpc>
              <a:buClrTx/>
              <a:buSzTx/>
              <a:buFont typeface="Arial" panose="020B0604020202020204" pitchFamily="34" charset="0"/>
              <a:buChar char="•"/>
            </a:pPr>
            <a:r>
              <a:rPr lang="zh-CN" altLang="en-US" sz="1400" dirty="0">
                <a:solidFill>
                  <a:srgbClr val="0D0D0D"/>
                </a:solidFill>
                <a:effectLst/>
                <a:uFillTx/>
                <a:latin typeface="Times New Roman" panose="02020603050405020304" charset="0"/>
                <a:ea typeface="微软雅黑" panose="020B0503020204020204" pitchFamily="34" charset="-122"/>
                <a:sym typeface="+mn-ea"/>
              </a:rPr>
              <a:t>采用了ChatGPT化学助手架构和方法，旨在通过文本挖掘和预测MOF合成过程中的关键参数。</a:t>
            </a:r>
          </a:p>
          <a:p>
            <a:pPr marL="285750" lvl="1" indent="-285750" algn="l">
              <a:lnSpc>
                <a:spcPts val="1800"/>
              </a:lnSpc>
              <a:buClrTx/>
              <a:buSzTx/>
              <a:buFont typeface="Arial" panose="020B0604020202020204" pitchFamily="34" charset="0"/>
              <a:buChar char="•"/>
            </a:pPr>
            <a:r>
              <a:rPr lang="zh-CN" altLang="en-US" sz="1400" dirty="0">
                <a:solidFill>
                  <a:srgbClr val="0D0D0D"/>
                </a:solidFill>
                <a:effectLst/>
                <a:uFillTx/>
                <a:latin typeface="Times New Roman" panose="02020603050405020304" charset="0"/>
                <a:ea typeface="微软雅黑" panose="020B0503020204020204" pitchFamily="34" charset="-122"/>
                <a:sym typeface="+mn-ea"/>
              </a:rPr>
              <a:t>通过Prompt工程技术，ChatGPT能够准确提取合成条件，并预测实验结果。</a:t>
            </a:r>
          </a:p>
          <a:p>
            <a:pPr marL="285750" lvl="1" indent="-285750" algn="l">
              <a:lnSpc>
                <a:spcPts val="1800"/>
              </a:lnSpc>
              <a:buClrTx/>
              <a:buSzTx/>
              <a:buFont typeface="Arial" panose="020B0604020202020204" pitchFamily="34" charset="0"/>
              <a:buChar char="•"/>
            </a:pPr>
            <a:r>
              <a:rPr lang="zh-CN" altLang="en-US" sz="1400" dirty="0">
                <a:solidFill>
                  <a:srgbClr val="0D0D0D"/>
                </a:solidFill>
                <a:effectLst/>
                <a:uFillTx/>
                <a:latin typeface="Times New Roman" panose="02020603050405020304" charset="0"/>
                <a:ea typeface="微软雅黑" panose="020B0503020204020204" pitchFamily="34" charset="-122"/>
                <a:sym typeface="+mn-ea"/>
              </a:rPr>
              <a:t>优点：能够高效地处理复杂的化学信息来推进研究</a:t>
            </a:r>
          </a:p>
          <a:p>
            <a:pPr marL="285750" lvl="1" indent="-285750" algn="l">
              <a:lnSpc>
                <a:spcPts val="1800"/>
              </a:lnSpc>
              <a:buClrTx/>
              <a:buSzTx/>
              <a:buFont typeface="Arial" panose="020B0604020202020204" pitchFamily="34" charset="0"/>
              <a:buChar char="•"/>
            </a:pPr>
            <a:r>
              <a:rPr lang="zh-CN" altLang="en-US" sz="1400" dirty="0">
                <a:solidFill>
                  <a:srgbClr val="0D0D0D"/>
                </a:solidFill>
                <a:effectLst/>
                <a:uFillTx/>
                <a:latin typeface="Times New Roman" panose="02020603050405020304" charset="0"/>
                <a:ea typeface="微软雅黑" panose="020B0503020204020204" pitchFamily="34" charset="-122"/>
                <a:sym typeface="+mn-ea"/>
              </a:rPr>
              <a:t>缺点：需要大量的数据和专业知识来训练模型，在处理不同语言或任务时可能需要调整模型</a:t>
            </a:r>
          </a:p>
          <a:p>
            <a:pPr marL="285750" lvl="1" indent="-285750" algn="l">
              <a:lnSpc>
                <a:spcPts val="1800"/>
              </a:lnSpc>
              <a:buClrTx/>
              <a:buSzTx/>
              <a:buFont typeface="Arial" panose="020B0604020202020204" pitchFamily="34" charset="0"/>
              <a:buChar char="•"/>
            </a:pPr>
            <a:endParaRPr lang="zh-CN" altLang="en-US" sz="1400" dirty="0">
              <a:solidFill>
                <a:srgbClr val="0D0D0D"/>
              </a:solidFill>
              <a:effectLst/>
              <a:uFillTx/>
              <a:latin typeface="Times New Roman" panose="02020603050405020304" charset="0"/>
              <a:ea typeface="微软雅黑" panose="020B0503020204020204" pitchFamily="34" charset="-122"/>
              <a:sym typeface="+mn-ea"/>
            </a:endParaRPr>
          </a:p>
          <a:p>
            <a:pPr marL="285750" lvl="1" indent="-285750" algn="l">
              <a:lnSpc>
                <a:spcPts val="1800"/>
              </a:lnSpc>
              <a:buClrTx/>
              <a:buSzTx/>
              <a:buFont typeface="Arial" panose="020B0604020202020204" pitchFamily="34" charset="0"/>
              <a:buChar char="•"/>
            </a:pPr>
            <a:endParaRPr lang="zh-CN" altLang="en-US" sz="1400" dirty="0">
              <a:solidFill>
                <a:srgbClr val="0D0D0D"/>
              </a:solidFill>
              <a:effectLst/>
              <a:uFillTx/>
              <a:latin typeface="Times New Roman" panose="02020603050405020304" charset="0"/>
              <a:ea typeface="微软雅黑" panose="020B0503020204020204" pitchFamily="34" charset="-122"/>
            </a:endParaRPr>
          </a:p>
          <a:p>
            <a:pPr marL="285750" lvl="1" indent="-285750" algn="l">
              <a:lnSpc>
                <a:spcPts val="1800"/>
              </a:lnSpc>
              <a:buClrTx/>
              <a:buSzTx/>
              <a:buFont typeface="Arial" panose="020B0604020202020204" pitchFamily="34" charset="0"/>
              <a:buChar char="•"/>
            </a:pPr>
            <a:endParaRPr lang="zh-CN" altLang="en-US" sz="1400" dirty="0">
              <a:solidFill>
                <a:srgbClr val="0D0D0D"/>
              </a:solidFill>
              <a:effectLst/>
              <a:uFillTx/>
              <a:latin typeface="Times New Roman" panose="02020603050405020304" charset="0"/>
              <a:ea typeface="微软雅黑" panose="020B0503020204020204" pitchFamily="34" charset="-122"/>
            </a:endParaRPr>
          </a:p>
        </p:txBody>
      </p:sp>
      <p:sp>
        <p:nvSpPr>
          <p:cNvPr id="5" name="文本框 4"/>
          <p:cNvSpPr txBox="1"/>
          <p:nvPr/>
        </p:nvSpPr>
        <p:spPr>
          <a:xfrm>
            <a:off x="6078220" y="1728470"/>
            <a:ext cx="5699125" cy="4104640"/>
          </a:xfrm>
          <a:prstGeom prst="rect">
            <a:avLst/>
          </a:prstGeom>
          <a:noFill/>
        </p:spPr>
        <p:txBody>
          <a:bodyPr wrap="square" rtlCol="0">
            <a:noAutofit/>
          </a:bodyPr>
          <a:lstStyle/>
          <a:p>
            <a:pPr marL="0" lvl="1"/>
            <a:r>
              <a:rPr lang="zh-CN" altLang="en-US" sz="1600" b="1" dirty="0">
                <a:solidFill>
                  <a:srgbClr val="0D0D0D"/>
                </a:solidFill>
                <a:effectLst/>
                <a:uFillTx/>
                <a:latin typeface="Times New Roman" panose="02020603050405020304" charset="0"/>
                <a:ea typeface="微软雅黑" panose="020B0503020204020204" pitchFamily="34" charset="-122"/>
                <a:sym typeface="+mn-ea"/>
              </a:rPr>
              <a:t>MOFtextminer</a:t>
            </a:r>
            <a:r>
              <a:rPr lang="en-US" altLang="zh-CN" sz="1600" b="1" dirty="0">
                <a:solidFill>
                  <a:srgbClr val="0D0D0D"/>
                </a:solidFill>
                <a:effectLst/>
                <a:uFillTx/>
                <a:latin typeface="Times New Roman" panose="02020603050405020304" charset="0"/>
                <a:ea typeface="微软雅黑" panose="020B0503020204020204" pitchFamily="34" charset="-122"/>
                <a:sym typeface="+mn-ea"/>
              </a:rPr>
              <a:t> [2]</a:t>
            </a:r>
            <a:endParaRPr lang="zh-CN" altLang="en-US" sz="1600" b="1" dirty="0">
              <a:solidFill>
                <a:srgbClr val="0D0D0D"/>
              </a:solidFill>
              <a:effectLst/>
              <a:uFillTx/>
              <a:latin typeface="Times New Roman" panose="02020603050405020304" charset="0"/>
              <a:ea typeface="微软雅黑" panose="020B0503020204020204" pitchFamily="34" charset="-122"/>
              <a:sym typeface="+mn-ea"/>
            </a:endParaRPr>
          </a:p>
          <a:p>
            <a:pPr marL="0" lvl="1"/>
            <a:endParaRPr lang="zh-CN" altLang="en-US" sz="1600" b="1" dirty="0">
              <a:solidFill>
                <a:srgbClr val="0D0D0D"/>
              </a:solidFill>
              <a:effectLst/>
              <a:uFillTx/>
              <a:latin typeface="Times New Roman" panose="02020603050405020304" charset="0"/>
              <a:ea typeface="微软雅黑" panose="020B0503020204020204" pitchFamily="34" charset="-122"/>
              <a:sym typeface="+mn-ea"/>
            </a:endParaRPr>
          </a:p>
          <a:p>
            <a:pPr marL="285750" lvl="1" indent="-285750" fontAlgn="auto">
              <a:lnSpc>
                <a:spcPts val="1800"/>
              </a:lnSpc>
              <a:buFont typeface="Arial" panose="020B0604020202020204" pitchFamily="34" charset="0"/>
              <a:buChar char="•"/>
            </a:pPr>
            <a:r>
              <a:rPr lang="zh-CN" altLang="en-US" sz="1400" dirty="0">
                <a:solidFill>
                  <a:srgbClr val="0D0D0D"/>
                </a:solidFill>
                <a:effectLst/>
                <a:uFillTx/>
                <a:latin typeface="Times New Roman" panose="02020603050405020304" charset="0"/>
                <a:ea typeface="微软雅黑" panose="020B0503020204020204" pitchFamily="34" charset="-122"/>
                <a:sym typeface="+mn-ea"/>
              </a:rPr>
              <a:t>应用场景：预测金属有机框架（MOFs）的合成可行性</a:t>
            </a:r>
          </a:p>
          <a:p>
            <a:pPr marL="285750" lvl="1" indent="-285750" fontAlgn="auto">
              <a:lnSpc>
                <a:spcPts val="1800"/>
              </a:lnSpc>
              <a:buFont typeface="Arial" panose="020B0604020202020204" pitchFamily="34" charset="0"/>
              <a:buChar char="•"/>
            </a:pPr>
            <a:r>
              <a:rPr lang="zh-CN" altLang="en-US" sz="1400" dirty="0">
                <a:solidFill>
                  <a:srgbClr val="0D0D0D"/>
                </a:solidFill>
                <a:effectLst/>
                <a:uFillTx/>
                <a:latin typeface="Times New Roman" panose="02020603050405020304" charset="0"/>
                <a:ea typeface="微软雅黑" panose="020B0503020204020204" pitchFamily="34" charset="-122"/>
                <a:sym typeface="+mn-ea"/>
              </a:rPr>
              <a:t>旨在从大量的MOF论文中提取合成信息，利用规则化表达式和机器学习模型，如命名实体识别（NER）和</a:t>
            </a:r>
            <a:r>
              <a:rPr lang="en-US" altLang="zh-CN" sz="1400" dirty="0">
                <a:solidFill>
                  <a:srgbClr val="0D0D0D"/>
                </a:solidFill>
                <a:effectLst/>
                <a:uFillTx/>
                <a:latin typeface="Times New Roman" panose="02020603050405020304" charset="0"/>
                <a:ea typeface="微软雅黑" panose="020B0503020204020204" pitchFamily="34" charset="-122"/>
                <a:sym typeface="+mn-ea"/>
              </a:rPr>
              <a:t> </a:t>
            </a:r>
            <a:r>
              <a:rPr lang="zh-CN" altLang="en-US" sz="1400" dirty="0">
                <a:solidFill>
                  <a:srgbClr val="0D0D0D"/>
                </a:solidFill>
                <a:effectLst/>
                <a:uFillTx/>
                <a:latin typeface="Times New Roman" panose="02020603050405020304" charset="0"/>
                <a:ea typeface="微软雅黑" panose="020B0503020204020204" pitchFamily="34" charset="-122"/>
                <a:sym typeface="+mn-ea"/>
              </a:rPr>
              <a:t>positive-unlabeled learning，来处理合成条件数据。</a:t>
            </a:r>
          </a:p>
          <a:p>
            <a:pPr marL="285750" lvl="1" indent="-285750" fontAlgn="auto">
              <a:lnSpc>
                <a:spcPts val="1800"/>
              </a:lnSpc>
              <a:buFont typeface="Arial" panose="020B0604020202020204" pitchFamily="34" charset="0"/>
              <a:buChar char="•"/>
            </a:pPr>
            <a:r>
              <a:rPr lang="zh-CN" altLang="en-US" sz="1400" dirty="0">
                <a:solidFill>
                  <a:srgbClr val="0D0D0D"/>
                </a:solidFill>
                <a:effectLst/>
                <a:uFillTx/>
                <a:latin typeface="Times New Roman" panose="02020603050405020304" charset="0"/>
                <a:ea typeface="微软雅黑" panose="020B0503020204020204" pitchFamily="34" charset="-122"/>
                <a:sym typeface="+mn-ea"/>
              </a:rPr>
              <a:t>优点：能够高效从大量文献中提取关键信息，为材料研发提供指导；</a:t>
            </a:r>
          </a:p>
          <a:p>
            <a:pPr marL="285750" lvl="1" indent="-285750" fontAlgn="auto">
              <a:lnSpc>
                <a:spcPts val="1800"/>
              </a:lnSpc>
              <a:buFont typeface="Arial" panose="020B0604020202020204" pitchFamily="34" charset="0"/>
              <a:buChar char="•"/>
            </a:pPr>
            <a:r>
              <a:rPr lang="zh-CN" altLang="en-US" sz="1400" dirty="0">
                <a:solidFill>
                  <a:srgbClr val="0D0D0D"/>
                </a:solidFill>
                <a:effectLst/>
                <a:uFillTx/>
                <a:latin typeface="Times New Roman" panose="02020603050405020304" charset="0"/>
                <a:ea typeface="微软雅黑" panose="020B0503020204020204" pitchFamily="34" charset="-122"/>
                <a:sym typeface="+mn-ea"/>
              </a:rPr>
              <a:t>缺点：依赖数据质量和模型准确性，对大规模数据处理的挑战</a:t>
            </a:r>
          </a:p>
          <a:p>
            <a:pPr marL="0" lvl="1"/>
            <a:endParaRPr lang="zh-CN" altLang="en-US" sz="1600" b="1" dirty="0">
              <a:solidFill>
                <a:srgbClr val="0D0D0D"/>
              </a:solidFill>
              <a:effectLst/>
              <a:uFillTx/>
              <a:latin typeface="Times New Roman" panose="02020603050405020304" charset="0"/>
              <a:ea typeface="微软雅黑" panose="020B0503020204020204" pitchFamily="34" charset="-122"/>
              <a:sym typeface="+mn-ea"/>
            </a:endParaRPr>
          </a:p>
          <a:p>
            <a:pPr marL="0" lvl="1"/>
            <a:endParaRPr lang="zh-CN" altLang="en-US" sz="1600" b="1" dirty="0">
              <a:solidFill>
                <a:srgbClr val="0D0D0D"/>
              </a:solidFill>
              <a:effectLst/>
              <a:uFillTx/>
              <a:latin typeface="Times New Roman" panose="02020603050405020304" charset="0"/>
              <a:ea typeface="微软雅黑" panose="020B0503020204020204" pitchFamily="34" charset="-122"/>
            </a:endParaRPr>
          </a:p>
          <a:p>
            <a:endParaRPr lang="zh-CN" altLang="en-US" sz="16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6376035" y="6170930"/>
            <a:ext cx="5166360" cy="481965"/>
          </a:xfrm>
          <a:prstGeom prst="rect">
            <a:avLst/>
          </a:prstGeom>
          <a:noFill/>
        </p:spPr>
        <p:txBody>
          <a:bodyPr wrap="square" rtlCol="0">
            <a:noAutofit/>
          </a:bodyPr>
          <a:lstStyle/>
          <a:p>
            <a:pPr marL="0" lvl="1"/>
            <a:r>
              <a:rPr lang="en-US" altLang="zh-CN" sz="1000" dirty="0">
                <a:solidFill>
                  <a:srgbClr val="0D0D0D"/>
                </a:solidFill>
                <a:effectLst/>
                <a:uFillTx/>
                <a:latin typeface="Times New Roman" panose="02020603050405020304" charset="0"/>
                <a:ea typeface="微软雅黑" panose="020B0503020204020204" pitchFamily="34" charset="-122"/>
                <a:sym typeface="+mn-ea"/>
              </a:rPr>
              <a:t>[1] </a:t>
            </a:r>
            <a:r>
              <a:rPr lang="zh-CN" altLang="en-US" sz="1000" dirty="0">
                <a:solidFill>
                  <a:srgbClr val="0D0D0D"/>
                </a:solidFill>
                <a:effectLst/>
                <a:uFillTx/>
                <a:latin typeface="Times New Roman" panose="02020603050405020304" charset="0"/>
                <a:ea typeface="微软雅黑" panose="020B0503020204020204" pitchFamily="34" charset="-122"/>
                <a:sym typeface="+mn-ea"/>
              </a:rPr>
              <a:t>ChatGPT Chemistry Assistant for Text Mining and the Prediction ofMOF Synthesis</a:t>
            </a:r>
          </a:p>
          <a:p>
            <a:pPr marL="0" lvl="1"/>
            <a:r>
              <a:rPr lang="en-US" altLang="zh-CN" sz="1000" dirty="0">
                <a:solidFill>
                  <a:srgbClr val="0D0D0D"/>
                </a:solidFill>
                <a:effectLst/>
                <a:uFillTx/>
                <a:latin typeface="Times New Roman" panose="02020603050405020304" charset="0"/>
                <a:ea typeface="微软雅黑" panose="020B0503020204020204" pitchFamily="34" charset="-122"/>
                <a:sym typeface="+mn-ea"/>
              </a:rPr>
              <a:t>[2] </a:t>
            </a:r>
            <a:r>
              <a:rPr lang="zh-CN" altLang="en-US" sz="1000" dirty="0">
                <a:solidFill>
                  <a:srgbClr val="0D0D0D"/>
                </a:solidFill>
                <a:effectLst/>
                <a:uFillTx/>
                <a:latin typeface="Times New Roman" panose="02020603050405020304" charset="0"/>
                <a:ea typeface="微软雅黑" panose="020B0503020204020204" pitchFamily="34" charset="-122"/>
                <a:sym typeface="+mn-ea"/>
              </a:rPr>
              <a:t>Mining Insights on Metal−Organic Framework Synthesis from</a:t>
            </a:r>
            <a:r>
              <a:rPr lang="en-US" altLang="zh-CN" sz="1000" dirty="0">
                <a:solidFill>
                  <a:srgbClr val="0D0D0D"/>
                </a:solidFill>
                <a:effectLst/>
                <a:uFillTx/>
                <a:latin typeface="Times New Roman" panose="02020603050405020304" charset="0"/>
                <a:ea typeface="微软雅黑" panose="020B0503020204020204" pitchFamily="34" charset="-122"/>
                <a:sym typeface="+mn-ea"/>
              </a:rPr>
              <a:t> </a:t>
            </a:r>
            <a:r>
              <a:rPr lang="zh-CN" altLang="en-US" sz="1000" dirty="0">
                <a:solidFill>
                  <a:srgbClr val="0D0D0D"/>
                </a:solidFill>
                <a:effectLst/>
                <a:uFillTx/>
                <a:latin typeface="Times New Roman" panose="02020603050405020304" charset="0"/>
                <a:ea typeface="微软雅黑" panose="020B0503020204020204" pitchFamily="34" charset="-122"/>
                <a:sym typeface="+mn-ea"/>
              </a:rPr>
              <a:t>Scientific Literature Texts</a:t>
            </a:r>
          </a:p>
          <a:p>
            <a:pPr marL="0" lvl="1"/>
            <a:endParaRPr lang="zh-CN" altLang="en-US" sz="10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rcRect t="3331"/>
          <a:stretch>
            <a:fillRect/>
          </a:stretch>
        </p:blipFill>
        <p:spPr>
          <a:xfrm>
            <a:off x="6328410" y="3648075"/>
            <a:ext cx="5288280" cy="2460625"/>
          </a:xfrm>
          <a:prstGeom prst="rect">
            <a:avLst/>
          </a:prstGeom>
        </p:spPr>
      </p:pic>
      <p:pic>
        <p:nvPicPr>
          <p:cNvPr id="9" name="图片 8"/>
          <p:cNvPicPr>
            <a:picLocks noChangeAspect="1"/>
          </p:cNvPicPr>
          <p:nvPr/>
        </p:nvPicPr>
        <p:blipFill>
          <a:blip r:embed="rId4"/>
          <a:stretch>
            <a:fillRect/>
          </a:stretch>
        </p:blipFill>
        <p:spPr>
          <a:xfrm>
            <a:off x="751205" y="3971925"/>
            <a:ext cx="4711700" cy="25514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82710" y="712715"/>
            <a:ext cx="3281155" cy="584775"/>
            <a:chOff x="582710" y="712715"/>
            <a:chExt cx="3281155" cy="584775"/>
          </a:xfrm>
        </p:grpSpPr>
        <p:sp>
          <p:nvSpPr>
            <p:cNvPr id="9" name="矩形 8"/>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76165" y="712715"/>
              <a:ext cx="3187700" cy="584775"/>
            </a:xfrm>
            <a:prstGeom prst="rect">
              <a:avLst/>
            </a:prstGeom>
            <a:noFill/>
          </p:spPr>
          <p:txBody>
            <a:bodyPr wrap="square" rtlCol="0">
              <a:spAutoFit/>
            </a:bodyPr>
            <a:lstStyle/>
            <a:p>
              <a:r>
                <a:rPr kumimoji="1" lang="zh-CN" altLang="en-US" sz="3200" dirty="0">
                  <a:latin typeface="微软雅黑" panose="020B0503020204020204" pitchFamily="34" charset="-122"/>
                  <a:ea typeface="微软雅黑" panose="020B0503020204020204" pitchFamily="34" charset="-122"/>
                </a:rPr>
                <a:t>项目来源</a:t>
              </a:r>
              <a:endParaRPr lang="zh-CN" altLang="en-US" sz="3200" dirty="0">
                <a:latin typeface="微软雅黑" panose="020B0503020204020204" pitchFamily="34" charset="-122"/>
                <a:ea typeface="微软雅黑" panose="020B0503020204020204" pitchFamily="34" charset="-122"/>
              </a:endParaRPr>
            </a:p>
          </p:txBody>
        </p:sp>
      </p:grpSp>
      <p:sp>
        <p:nvSpPr>
          <p:cNvPr id="4" name="内容占位符 3"/>
          <p:cNvSpPr>
            <a:spLocks noGrp="1"/>
          </p:cNvSpPr>
          <p:nvPr>
            <p:ph idx="1"/>
          </p:nvPr>
        </p:nvSpPr>
        <p:spPr>
          <a:xfrm>
            <a:off x="582930" y="1402080"/>
            <a:ext cx="10968990" cy="3246755"/>
          </a:xfrm>
        </p:spPr>
        <p:txBody>
          <a:bodyPr>
            <a:normAutofit/>
          </a:bodyPr>
          <a:lstStyle/>
          <a:p>
            <a:pPr fontAlgn="auto">
              <a:lnSpc>
                <a:spcPts val="1800"/>
              </a:lnSpc>
            </a:pPr>
            <a:r>
              <a:rPr lang="zh-CN" altLang="en-US" sz="1400" b="1" i="0" dirty="0">
                <a:effectLst/>
                <a:latin typeface="Söhne"/>
              </a:rPr>
              <a:t>稀土催化材料作为关键的战略资源，对于传统产业、现代高新技术以及国防尖端技术的发展起着不可或缺的重要作用。为了推动稀土催化材料的创新研发，本项目旨在利用机器学习方法构建专用数据库，通过挖掘和预测科学文献中的稀土催化材料信息，提供支持于相关领域的科研工作。</a:t>
            </a:r>
            <a:endParaRPr lang="en-US" altLang="zh-CN" sz="1400" b="1" i="0" dirty="0">
              <a:effectLst/>
              <a:latin typeface="Söhne"/>
            </a:endParaRPr>
          </a:p>
          <a:p>
            <a:pPr fontAlgn="auto">
              <a:lnSpc>
                <a:spcPts val="1800"/>
              </a:lnSpc>
            </a:pPr>
            <a:r>
              <a:rPr lang="zh-CN" altLang="en-US" sz="1400" b="0" i="0" dirty="0">
                <a:solidFill>
                  <a:srgbClr val="0D0D0D"/>
                </a:solidFill>
                <a:effectLst/>
                <a:latin typeface="Söhne"/>
              </a:rPr>
              <a:t>首要任务是建立一个可靠的稀土催化材料</a:t>
            </a:r>
            <a:r>
              <a:rPr lang="zh-CN" altLang="en-US" sz="1400" b="1" i="0" dirty="0">
                <a:solidFill>
                  <a:srgbClr val="FF0000"/>
                </a:solidFill>
                <a:effectLst/>
                <a:latin typeface="Söhne"/>
              </a:rPr>
              <a:t>人工标注数据集</a:t>
            </a:r>
            <a:r>
              <a:rPr lang="zh-CN" altLang="en-US" sz="1400" b="0" i="0" dirty="0">
                <a:solidFill>
                  <a:srgbClr val="0D0D0D"/>
                </a:solidFill>
                <a:effectLst/>
                <a:latin typeface="Söhne"/>
              </a:rPr>
              <a:t>，为后续的机器学习模型训练奠定基础。为此，本系统设计了</a:t>
            </a:r>
            <a:r>
              <a:rPr lang="zh-CN" altLang="en-US" sz="1400" b="1" i="0" dirty="0">
                <a:solidFill>
                  <a:srgbClr val="FF0000"/>
                </a:solidFill>
                <a:effectLst/>
                <a:latin typeface="Söhne"/>
              </a:rPr>
              <a:t>一套人机协同的实体标注工具</a:t>
            </a:r>
            <a:r>
              <a:rPr lang="zh-CN" altLang="en-US" sz="1400" b="0" i="0" dirty="0">
                <a:solidFill>
                  <a:srgbClr val="0D0D0D"/>
                </a:solidFill>
                <a:effectLst/>
                <a:latin typeface="Söhne"/>
              </a:rPr>
              <a:t>，允许材料领域的工作者在相关科学文献中进行标注。通过这一过程，我们能够收集到丰富的、有针对性的数据，涵盖了稀土催化材料的合成策略等关键参数。</a:t>
            </a:r>
            <a:endParaRPr lang="en-US" altLang="zh-CN" sz="1400" b="0" i="0" dirty="0">
              <a:solidFill>
                <a:srgbClr val="0D0D0D"/>
              </a:solidFill>
              <a:effectLst/>
              <a:latin typeface="Söhne"/>
            </a:endParaRPr>
          </a:p>
          <a:p>
            <a:pPr fontAlgn="auto">
              <a:lnSpc>
                <a:spcPts val="1800"/>
              </a:lnSpc>
            </a:pPr>
            <a:r>
              <a:rPr lang="zh-CN" altLang="en-US" sz="1400" dirty="0">
                <a:solidFill>
                  <a:srgbClr val="0D0D0D"/>
                </a:solidFill>
                <a:latin typeface="Söhne"/>
              </a:rPr>
              <a:t>人工标注数据集的建立具有重要意义，其核心在于</a:t>
            </a:r>
            <a:r>
              <a:rPr lang="zh-CN" altLang="en-US" sz="1400" b="1" dirty="0">
                <a:solidFill>
                  <a:srgbClr val="FF0000"/>
                </a:solidFill>
                <a:latin typeface="Söhne"/>
              </a:rPr>
              <a:t>为后续的机器学习算法提供有力的支持</a:t>
            </a:r>
            <a:r>
              <a:rPr lang="zh-CN" altLang="en-US" sz="1400" dirty="0">
                <a:solidFill>
                  <a:srgbClr val="0D0D0D"/>
                </a:solidFill>
                <a:latin typeface="Söhne"/>
              </a:rPr>
              <a:t>。通过使用这一数据集进行训练，我们可以训练</a:t>
            </a:r>
            <a:r>
              <a:rPr lang="zh-CN" altLang="en-US" sz="1400" b="1" dirty="0">
                <a:solidFill>
                  <a:srgbClr val="FF0000"/>
                </a:solidFill>
                <a:latin typeface="Söhne"/>
              </a:rPr>
              <a:t>智能文本标注模型</a:t>
            </a:r>
            <a:r>
              <a:rPr lang="zh-CN" altLang="en-US" sz="1400" dirty="0">
                <a:solidFill>
                  <a:srgbClr val="0D0D0D"/>
                </a:solidFill>
                <a:latin typeface="Söhne"/>
              </a:rPr>
              <a:t>，使其具备更高的</a:t>
            </a:r>
            <a:r>
              <a:rPr lang="zh-CN" altLang="en-US" sz="1400" b="1" dirty="0">
                <a:solidFill>
                  <a:srgbClr val="FF0000"/>
                </a:solidFill>
                <a:latin typeface="Söhne"/>
              </a:rPr>
              <a:t>准确性和效率</a:t>
            </a:r>
            <a:r>
              <a:rPr lang="zh-CN" altLang="en-US" sz="1400" dirty="0">
                <a:solidFill>
                  <a:srgbClr val="0D0D0D"/>
                </a:solidFill>
                <a:latin typeface="Söhne"/>
              </a:rPr>
              <a:t>。这不仅有助于加速科学研究的进程，还为构建稀土催化材料专用数据库奠定了坚实的技术基础。</a:t>
            </a:r>
            <a:endParaRPr lang="en-US" altLang="zh-CN" sz="1400" dirty="0">
              <a:solidFill>
                <a:srgbClr val="0D0D0D"/>
              </a:solidFill>
              <a:latin typeface="Söhne"/>
            </a:endParaRPr>
          </a:p>
          <a:p>
            <a:pPr fontAlgn="auto">
              <a:lnSpc>
                <a:spcPts val="1800"/>
              </a:lnSpc>
            </a:pPr>
            <a:endParaRPr lang="en-US" altLang="zh-CN" sz="1400" dirty="0">
              <a:solidFill>
                <a:srgbClr val="0D0D0D"/>
              </a:solidFill>
              <a:latin typeface="Söhne"/>
            </a:endParaRPr>
          </a:p>
          <a:p>
            <a:pPr fontAlgn="auto">
              <a:lnSpc>
                <a:spcPts val="1800"/>
              </a:lnSpc>
            </a:pPr>
            <a:endParaRPr lang="en-US" altLang="zh-CN" sz="1400" dirty="0">
              <a:solidFill>
                <a:srgbClr val="0D0D0D"/>
              </a:solidFill>
              <a:latin typeface="Söhne"/>
            </a:endParaRPr>
          </a:p>
          <a:p>
            <a:pPr marL="0" indent="0" fontAlgn="auto">
              <a:lnSpc>
                <a:spcPts val="1800"/>
              </a:lnSpc>
              <a:buNone/>
            </a:pPr>
            <a:endParaRPr lang="en-US" altLang="zh-CN" sz="1400" dirty="0">
              <a:solidFill>
                <a:srgbClr val="0D0D0D"/>
              </a:solidFill>
              <a:latin typeface="Söhne"/>
            </a:endParaRPr>
          </a:p>
        </p:txBody>
      </p:sp>
      <p:pic>
        <p:nvPicPr>
          <p:cNvPr id="12" name="图片 11"/>
          <p:cNvPicPr>
            <a:picLocks noChangeAspect="1"/>
          </p:cNvPicPr>
          <p:nvPr/>
        </p:nvPicPr>
        <p:blipFill>
          <a:blip r:embed="rId2"/>
          <a:stretch>
            <a:fillRect/>
          </a:stretch>
        </p:blipFill>
        <p:spPr>
          <a:xfrm>
            <a:off x="901189" y="4075294"/>
            <a:ext cx="3867491" cy="1776181"/>
          </a:xfrm>
          <a:prstGeom prst="rect">
            <a:avLst/>
          </a:prstGeom>
        </p:spPr>
      </p:pic>
      <p:sp>
        <p:nvSpPr>
          <p:cNvPr id="13" name="箭头: 右 12"/>
          <p:cNvSpPr/>
          <p:nvPr/>
        </p:nvSpPr>
        <p:spPr>
          <a:xfrm>
            <a:off x="4890426" y="4630680"/>
            <a:ext cx="994299" cy="381418"/>
          </a:xfrm>
          <a:prstGeom prst="rightArrow">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3"/>
          <a:stretch>
            <a:fillRect/>
          </a:stretch>
        </p:blipFill>
        <p:spPr>
          <a:xfrm>
            <a:off x="6096000" y="4303547"/>
            <a:ext cx="3234014" cy="1074275"/>
          </a:xfrm>
          <a:prstGeom prst="rect">
            <a:avLst/>
          </a:prstGeom>
        </p:spPr>
      </p:pic>
      <p:sp>
        <p:nvSpPr>
          <p:cNvPr id="19" name="文本框 18"/>
          <p:cNvSpPr txBox="1"/>
          <p:nvPr/>
        </p:nvSpPr>
        <p:spPr>
          <a:xfrm>
            <a:off x="1809874" y="5865495"/>
            <a:ext cx="1616906" cy="33718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人工文本标注</a:t>
            </a:r>
          </a:p>
        </p:txBody>
      </p:sp>
      <p:sp>
        <p:nvSpPr>
          <p:cNvPr id="20" name="文本框 19"/>
          <p:cNvSpPr txBox="1"/>
          <p:nvPr/>
        </p:nvSpPr>
        <p:spPr>
          <a:xfrm>
            <a:off x="6797747" y="5865495"/>
            <a:ext cx="2044411" cy="33718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智能文本标注模型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7494310" y="1886293"/>
            <a:ext cx="4528008" cy="4971707"/>
          </a:xfrm>
          <a:prstGeom prst="rect">
            <a:avLst/>
          </a:prstGeom>
        </p:spPr>
      </p:pic>
      <p:sp>
        <p:nvSpPr>
          <p:cNvPr id="3" name="内容占位符 2"/>
          <p:cNvSpPr>
            <a:spLocks noGrp="1"/>
          </p:cNvSpPr>
          <p:nvPr>
            <p:ph idx="1"/>
          </p:nvPr>
        </p:nvSpPr>
        <p:spPr>
          <a:xfrm>
            <a:off x="301003" y="1509275"/>
            <a:ext cx="8036173" cy="4969622"/>
          </a:xfrm>
        </p:spPr>
        <p:txBody>
          <a:bodyPr>
            <a:normAutofit/>
          </a:bodyPr>
          <a:lstStyle/>
          <a:p>
            <a:pPr>
              <a:lnSpc>
                <a:spcPct val="120000"/>
              </a:lnSpc>
            </a:pPr>
            <a:r>
              <a:rPr kumimoji="1" lang="zh-CN" altLang="en-US" sz="2400" dirty="0"/>
              <a:t>存储层：多源数据整合、统一数据表示、向上数据接口</a:t>
            </a:r>
            <a:endParaRPr kumimoji="1" lang="en-US" altLang="zh-CN" sz="2400" dirty="0"/>
          </a:p>
          <a:p>
            <a:pPr>
              <a:lnSpc>
                <a:spcPct val="120000"/>
              </a:lnSpc>
            </a:pPr>
            <a:r>
              <a:rPr kumimoji="1" lang="zh-CN" altLang="en-US" sz="2400" dirty="0"/>
              <a:t>服务层：</a:t>
            </a:r>
            <a:endParaRPr kumimoji="1" lang="en-US" altLang="zh-CN" sz="2400" dirty="0"/>
          </a:p>
          <a:p>
            <a:pPr lvl="1">
              <a:lnSpc>
                <a:spcPct val="120000"/>
              </a:lnSpc>
            </a:pPr>
            <a:r>
              <a:rPr kumimoji="1" lang="zh-CN" altLang="en-US" sz="1800" dirty="0"/>
              <a:t>基础服务：系统运行、上层应用</a:t>
            </a:r>
            <a:endParaRPr kumimoji="1" lang="en-US" altLang="zh-CN" sz="1800" dirty="0"/>
          </a:p>
          <a:p>
            <a:pPr lvl="1">
              <a:lnSpc>
                <a:spcPct val="120000"/>
              </a:lnSpc>
            </a:pPr>
            <a:r>
              <a:rPr kumimoji="1" lang="zh-CN" altLang="en-US" sz="1800" dirty="0"/>
              <a:t>业务服务：功能需求、业务逻辑</a:t>
            </a:r>
            <a:endParaRPr kumimoji="1" lang="en-US" altLang="zh-CN" sz="1800" dirty="0"/>
          </a:p>
          <a:p>
            <a:pPr>
              <a:lnSpc>
                <a:spcPct val="120000"/>
              </a:lnSpc>
            </a:pPr>
            <a:r>
              <a:rPr kumimoji="1" lang="zh-CN" altLang="en-US" sz="2400" dirty="0"/>
              <a:t>网关层：统一的服务接入</a:t>
            </a:r>
            <a:endParaRPr kumimoji="1" lang="en-US" altLang="zh-CN" sz="2400" dirty="0"/>
          </a:p>
          <a:p>
            <a:pPr>
              <a:lnSpc>
                <a:spcPct val="120000"/>
              </a:lnSpc>
            </a:pPr>
            <a:r>
              <a:rPr kumimoji="1" lang="zh-CN" altLang="en-US" sz="2400" dirty="0"/>
              <a:t>应用层：面向终端用户的</a:t>
            </a:r>
            <a:r>
              <a:rPr kumimoji="1" lang="en-US" altLang="zh-CN" sz="2400" dirty="0"/>
              <a:t>Web</a:t>
            </a:r>
            <a:r>
              <a:rPr kumimoji="1" lang="zh-CN" altLang="en-US" sz="2400" dirty="0"/>
              <a:t>服务</a:t>
            </a:r>
            <a:endParaRPr kumimoji="1" lang="en-US" altLang="zh-CN" sz="2400" dirty="0"/>
          </a:p>
          <a:p>
            <a:pPr lvl="1">
              <a:lnSpc>
                <a:spcPct val="120000"/>
              </a:lnSpc>
            </a:pPr>
            <a:r>
              <a:rPr kumimoji="1" lang="zh-CN" altLang="en-US" sz="1800" dirty="0"/>
              <a:t>数据检索</a:t>
            </a:r>
            <a:endParaRPr kumimoji="1" lang="en-US" altLang="zh-CN" sz="1800" dirty="0"/>
          </a:p>
          <a:p>
            <a:pPr lvl="1">
              <a:lnSpc>
                <a:spcPct val="120000"/>
              </a:lnSpc>
            </a:pPr>
            <a:r>
              <a:rPr kumimoji="1" lang="zh-CN" altLang="en-US" sz="1800" dirty="0"/>
              <a:t>文本标注</a:t>
            </a:r>
            <a:endParaRPr kumimoji="1" lang="en-US" altLang="zh-CN" sz="1800" dirty="0"/>
          </a:p>
          <a:p>
            <a:pPr lvl="1">
              <a:lnSpc>
                <a:spcPct val="120000"/>
              </a:lnSpc>
            </a:pPr>
            <a:r>
              <a:rPr kumimoji="1" lang="zh-CN" altLang="en-US" sz="1800" dirty="0"/>
              <a:t>智能挖掘</a:t>
            </a:r>
            <a:endParaRPr kumimoji="1" lang="en-US" altLang="zh-CN" sz="1800" dirty="0"/>
          </a:p>
          <a:p>
            <a:pPr>
              <a:lnSpc>
                <a:spcPct val="120000"/>
              </a:lnSpc>
            </a:pPr>
            <a:endParaRPr kumimoji="1" lang="zh-CN" altLang="en-US" sz="2000" dirty="0"/>
          </a:p>
        </p:txBody>
      </p:sp>
      <p:grpSp>
        <p:nvGrpSpPr>
          <p:cNvPr id="23" name="组合 22"/>
          <p:cNvGrpSpPr/>
          <p:nvPr/>
        </p:nvGrpSpPr>
        <p:grpSpPr>
          <a:xfrm>
            <a:off x="582710" y="712715"/>
            <a:ext cx="5289172" cy="584775"/>
            <a:chOff x="582710" y="712715"/>
            <a:chExt cx="5289172" cy="584775"/>
          </a:xfrm>
        </p:grpSpPr>
        <p:sp>
          <p:nvSpPr>
            <p:cNvPr id="24" name="矩形 23"/>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676164" y="712715"/>
              <a:ext cx="5195718" cy="584775"/>
            </a:xfrm>
            <a:prstGeom prst="rect">
              <a:avLst/>
            </a:prstGeom>
            <a:noFill/>
          </p:spPr>
          <p:txBody>
            <a:bodyPr wrap="square" rtlCol="0">
              <a:spAutoFit/>
            </a:bodyPr>
            <a:lstStyle/>
            <a:p>
              <a:r>
                <a:rPr kumimoji="1" lang="zh-CN" altLang="en-US" sz="3200" dirty="0">
                  <a:latin typeface="微软雅黑" panose="020B0503020204020204" pitchFamily="34" charset="-122"/>
                  <a:ea typeface="微软雅黑" panose="020B0503020204020204" pitchFamily="34" charset="-122"/>
                </a:rPr>
                <a:t>基于微服务技术的总体架构</a:t>
              </a:r>
              <a:endParaRPr lang="zh-CN" altLang="en-US" sz="32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82930" y="712470"/>
            <a:ext cx="5231130" cy="579120"/>
            <a:chOff x="582710" y="712715"/>
            <a:chExt cx="4154389" cy="579120"/>
          </a:xfrm>
        </p:grpSpPr>
        <p:sp>
          <p:nvSpPr>
            <p:cNvPr id="8" name="矩形 7"/>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676164" y="712715"/>
              <a:ext cx="4060935" cy="579120"/>
            </a:xfrm>
            <a:prstGeom prst="rect">
              <a:avLst/>
            </a:prstGeom>
            <a:noFill/>
          </p:spPr>
          <p:txBody>
            <a:bodyPr wrap="square" rtlCol="0">
              <a:spAutoFit/>
            </a:bodyPr>
            <a:lstStyle/>
            <a:p>
              <a:r>
                <a:rPr kumimoji="1" lang="zh-CN" altLang="en-US" sz="3200" dirty="0">
                  <a:latin typeface="微软雅黑" panose="020B0503020204020204" pitchFamily="34" charset="-122"/>
                  <a:ea typeface="微软雅黑" panose="020B0503020204020204" pitchFamily="34" charset="-122"/>
                </a:rPr>
                <a:t>整体设计</a:t>
              </a:r>
              <a:r>
                <a:rPr kumimoji="1" lang="en-US" altLang="zh-CN" sz="3200" dirty="0">
                  <a:latin typeface="微软雅黑" panose="020B0503020204020204" pitchFamily="34" charset="-122"/>
                  <a:ea typeface="微软雅黑" panose="020B0503020204020204" pitchFamily="34" charset="-122"/>
                </a:rPr>
                <a:t>-文本标注</a:t>
              </a:r>
              <a:r>
                <a:rPr kumimoji="1" lang="zh-CN" altLang="en-US" sz="3200" dirty="0">
                  <a:latin typeface="微软雅黑" panose="020B0503020204020204" pitchFamily="34" charset="-122"/>
                  <a:ea typeface="微软雅黑" panose="020B0503020204020204" pitchFamily="34" charset="-122"/>
                </a:rPr>
                <a:t>系统</a:t>
              </a:r>
              <a:endParaRPr lang="zh-CN" altLang="en-US" sz="3200" dirty="0">
                <a:latin typeface="微软雅黑" panose="020B0503020204020204" pitchFamily="34" charset="-122"/>
                <a:ea typeface="微软雅黑" panose="020B0503020204020204" pitchFamily="34" charset="-122"/>
              </a:endParaRPr>
            </a:p>
          </p:txBody>
        </p:sp>
      </p:grpSp>
      <p:pic>
        <p:nvPicPr>
          <p:cNvPr id="2" name="图片 2"/>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7866380" y="468313"/>
            <a:ext cx="4324350" cy="6467475"/>
          </a:xfrm>
          <a:prstGeom prst="rect">
            <a:avLst/>
          </a:prstGeom>
        </p:spPr>
      </p:pic>
      <p:sp>
        <p:nvSpPr>
          <p:cNvPr id="3" name="圆柱形 2"/>
          <p:cNvSpPr/>
          <p:nvPr/>
        </p:nvSpPr>
        <p:spPr>
          <a:xfrm>
            <a:off x="10739755" y="5595620"/>
            <a:ext cx="1005205" cy="806450"/>
          </a:xfrm>
          <a:prstGeom prst="can">
            <a:avLst>
              <a:gd name="adj" fmla="val 37465"/>
            </a:avLst>
          </a:prstGeom>
          <a:solidFill>
            <a:schemeClr val="bg1"/>
          </a:solidFill>
          <a:ln w="19050" cap="flat" cmpd="sng">
            <a:solidFill>
              <a:schemeClr val="tx1"/>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标注实体</a:t>
            </a:r>
          </a:p>
          <a:p>
            <a:pPr algn="ct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数据库</a:t>
            </a:r>
          </a:p>
        </p:txBody>
      </p:sp>
      <p:sp>
        <p:nvSpPr>
          <p:cNvPr id="4" name="圆柱形 3"/>
          <p:cNvSpPr/>
          <p:nvPr/>
        </p:nvSpPr>
        <p:spPr>
          <a:xfrm>
            <a:off x="9505950" y="5595620"/>
            <a:ext cx="1024890" cy="806450"/>
          </a:xfrm>
          <a:prstGeom prst="can">
            <a:avLst>
              <a:gd name="adj" fmla="val 37465"/>
            </a:avLst>
          </a:prstGeom>
          <a:solidFill>
            <a:schemeClr val="bg1"/>
          </a:solidFill>
          <a:ln w="19050" cap="flat" cmpd="sng">
            <a:solidFill>
              <a:schemeClr val="tx1"/>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标注文本</a:t>
            </a:r>
          </a:p>
          <a:p>
            <a:pPr algn="ct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对象存储</a:t>
            </a:r>
          </a:p>
        </p:txBody>
      </p:sp>
      <p:sp>
        <p:nvSpPr>
          <p:cNvPr id="5" name="圆柱形 4"/>
          <p:cNvSpPr/>
          <p:nvPr/>
        </p:nvSpPr>
        <p:spPr>
          <a:xfrm>
            <a:off x="8250555" y="5586095"/>
            <a:ext cx="1005205" cy="806450"/>
          </a:xfrm>
          <a:prstGeom prst="can">
            <a:avLst>
              <a:gd name="adj" fmla="val 37465"/>
            </a:avLst>
          </a:prstGeom>
          <a:solidFill>
            <a:schemeClr val="bg1"/>
          </a:solidFill>
          <a:ln w="19050" cap="flat" cmpd="sng">
            <a:solidFill>
              <a:schemeClr val="tx1"/>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标注</a:t>
            </a:r>
          </a:p>
          <a:p>
            <a:pPr algn="ct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数据库</a:t>
            </a:r>
          </a:p>
        </p:txBody>
      </p:sp>
      <p:sp>
        <p:nvSpPr>
          <p:cNvPr id="6" name="内容占位符 2"/>
          <p:cNvSpPr/>
          <p:nvPr>
            <p:custDataLst>
              <p:tags r:id="rId2"/>
            </p:custDataLst>
          </p:nvPr>
        </p:nvSpPr>
        <p:spPr>
          <a:xfrm>
            <a:off x="582930" y="1617345"/>
            <a:ext cx="7283450" cy="4351655"/>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20000"/>
              </a:lnSpc>
            </a:pPr>
            <a:r>
              <a:rPr lang="zh-CN" altLang="en-US" sz="2400" dirty="0">
                <a:latin typeface="微软雅黑" panose="020B0503020204020204" pitchFamily="34" charset="-122"/>
                <a:ea typeface="微软雅黑" panose="020B0503020204020204" pitchFamily="34" charset="-122"/>
                <a:sym typeface="+mn-ea"/>
              </a:rPr>
              <a:t>核心需求：</a:t>
            </a:r>
            <a:endParaRPr lang="zh-CN" altLang="en-US" sz="24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sym typeface="+mn-ea"/>
              </a:rPr>
              <a:t>高自定义性：能够根据特定学科（如材料化学）自定义标注类别。</a:t>
            </a:r>
            <a:endParaRPr lang="zh-CN" altLang="en-US"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sym typeface="+mn-ea"/>
              </a:rPr>
              <a:t>精准定位：确保数据的准确性和后续处理的便利性。</a:t>
            </a:r>
            <a:endParaRPr lang="zh-CN" altLang="en-US"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sym typeface="+mn-ea"/>
              </a:rPr>
              <a:t>数据质量控制：提供高效准确的标注工具，以保证数据集的质量。</a:t>
            </a:r>
            <a:endParaRPr lang="zh-CN" altLang="en-US" sz="1800" dirty="0">
              <a:latin typeface="微软雅黑" panose="020B0503020204020204" pitchFamily="34" charset="-122"/>
              <a:ea typeface="微软雅黑" panose="020B0503020204020204" pitchFamily="34" charset="-122"/>
            </a:endParaRPr>
          </a:p>
          <a:p>
            <a:pPr lvl="0">
              <a:lnSpc>
                <a:spcPct val="120000"/>
              </a:lnSpc>
            </a:pPr>
            <a:r>
              <a:rPr lang="zh-CN" altLang="en-US" sz="2400" dirty="0">
                <a:latin typeface="微软雅黑" panose="020B0503020204020204" pitchFamily="34" charset="-122"/>
                <a:ea typeface="微软雅黑" panose="020B0503020204020204" pitchFamily="34" charset="-122"/>
                <a:sym typeface="+mn-ea"/>
              </a:rPr>
              <a:t>设计要点：</a:t>
            </a:r>
            <a:endParaRPr lang="zh-CN" altLang="en-US" sz="2400" dirty="0">
              <a:latin typeface="微软雅黑" panose="020B0503020204020204" pitchFamily="34" charset="-122"/>
              <a:ea typeface="微软雅黑" panose="020B0503020204020204" pitchFamily="34" charset="-122"/>
            </a:endParaRPr>
          </a:p>
          <a:p>
            <a:pPr lvl="1">
              <a:lnSpc>
                <a:spcPct val="120000"/>
              </a:lnSpc>
              <a:buFont typeface="Arial" panose="020B0604020202020204" pitchFamily="34" charset="0"/>
              <a:buChar char="•"/>
            </a:pPr>
            <a:r>
              <a:rPr sz="1800" dirty="0" err="1">
                <a:latin typeface="微软雅黑" panose="020B0503020204020204" pitchFamily="34" charset="-122"/>
                <a:sym typeface="+mn-ea"/>
              </a:rPr>
              <a:t>数据服务：实现数据库和存储访问，包括SQL接口和存储SDK，管理标注数据</a:t>
            </a:r>
            <a:r>
              <a:rPr sz="1800" dirty="0">
                <a:latin typeface="微软雅黑" panose="020B0503020204020204" pitchFamily="34" charset="-122"/>
                <a:sym typeface="+mn-ea"/>
              </a:rPr>
              <a:t>。</a:t>
            </a:r>
            <a:endParaRPr lang="en-US" sz="1800" dirty="0">
              <a:latin typeface="微软雅黑" panose="020B0503020204020204" pitchFamily="34" charset="-122"/>
              <a:sym typeface="+mn-ea"/>
            </a:endParaRPr>
          </a:p>
          <a:p>
            <a:pPr lvl="1">
              <a:lnSpc>
                <a:spcPct val="120000"/>
              </a:lnSpc>
              <a:buFont typeface="Arial" panose="020B0604020202020204" pitchFamily="34" charset="0"/>
              <a:buChar char="•"/>
            </a:pPr>
            <a:r>
              <a:rPr sz="1800" dirty="0" err="1">
                <a:latin typeface="微软雅黑" panose="020B0503020204020204" pitchFamily="34" charset="-122"/>
                <a:sym typeface="+mn-ea"/>
              </a:rPr>
              <a:t>标注管理：使管理员能配置项目和任务，为标注工作提供基础</a:t>
            </a:r>
            <a:r>
              <a:rPr sz="1800" dirty="0">
                <a:latin typeface="微软雅黑" panose="020B0503020204020204" pitchFamily="34" charset="-122"/>
                <a:sym typeface="+mn-ea"/>
              </a:rPr>
              <a:t>。</a:t>
            </a:r>
            <a:endParaRPr lang="en-US" sz="1800" dirty="0">
              <a:latin typeface="微软雅黑" panose="020B0503020204020204" pitchFamily="34" charset="-122"/>
              <a:sym typeface="+mn-ea"/>
            </a:endParaRPr>
          </a:p>
          <a:p>
            <a:pPr lvl="1">
              <a:lnSpc>
                <a:spcPct val="120000"/>
              </a:lnSpc>
              <a:buFont typeface="Arial" panose="020B0604020202020204" pitchFamily="34" charset="0"/>
              <a:buChar char="•"/>
            </a:pPr>
            <a:r>
              <a:rPr sz="1800" dirty="0" err="1">
                <a:latin typeface="微软雅黑" panose="020B0503020204020204" pitchFamily="34" charset="-122"/>
                <a:sym typeface="+mn-ea"/>
              </a:rPr>
              <a:t>实体标注：支持学者在论文中标注关键参数</a:t>
            </a:r>
            <a:r>
              <a:rPr sz="1800" dirty="0">
                <a:latin typeface="微软雅黑" panose="020B0503020204020204" pitchFamily="34" charset="-122"/>
                <a:sym typeface="+mn-ea"/>
              </a:rPr>
              <a:t>，</a:t>
            </a:r>
            <a:r>
              <a:rPr lang="zh-CN" sz="1800" dirty="0">
                <a:latin typeface="微软雅黑" panose="020B0503020204020204" pitchFamily="34" charset="-122"/>
                <a:ea typeface="微软雅黑" panose="020B0503020204020204" pitchFamily="34" charset="-122"/>
                <a:sym typeface="+mn-ea"/>
              </a:rPr>
              <a:t>含</a:t>
            </a:r>
            <a:r>
              <a:rPr sz="1800" dirty="0" err="1">
                <a:latin typeface="微软雅黑" panose="020B0503020204020204" pitchFamily="34" charset="-122"/>
                <a:sym typeface="+mn-ea"/>
              </a:rPr>
              <a:t>数据统计展示</a:t>
            </a:r>
            <a:r>
              <a:rPr sz="1800" dirty="0">
                <a:latin typeface="微软雅黑" panose="020B0503020204020204" pitchFamily="34" charset="-122"/>
                <a:sym typeface="+mn-ea"/>
              </a:rPr>
              <a:t>。</a:t>
            </a:r>
            <a:endParaRPr lang="en-US" sz="1800" dirty="0">
              <a:latin typeface="微软雅黑" panose="020B0503020204020204" pitchFamily="34" charset="-122"/>
              <a:sym typeface="+mn-ea"/>
            </a:endParaRPr>
          </a:p>
          <a:p>
            <a:pPr lvl="1">
              <a:lnSpc>
                <a:spcPct val="120000"/>
              </a:lnSpc>
              <a:buFont typeface="Arial" panose="020B0604020202020204" pitchFamily="34" charset="0"/>
              <a:buChar char="•"/>
            </a:pPr>
            <a:r>
              <a:rPr sz="1800" dirty="0" err="1">
                <a:latin typeface="微软雅黑" panose="020B0503020204020204" pitchFamily="34" charset="-122"/>
                <a:sym typeface="+mn-ea"/>
              </a:rPr>
              <a:t>数据导出：提供标注结果和文本导出，适用于机器学习算法</a:t>
            </a:r>
            <a:endParaRPr sz="1800" dirty="0">
              <a:latin typeface="微软雅黑" panose="020B0503020204020204" pitchFamily="3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82930" y="712470"/>
            <a:ext cx="5231130" cy="583565"/>
            <a:chOff x="582710" y="712715"/>
            <a:chExt cx="4154389" cy="583565"/>
          </a:xfrm>
        </p:grpSpPr>
        <p:sp>
          <p:nvSpPr>
            <p:cNvPr id="8" name="矩形 7"/>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676164" y="712715"/>
              <a:ext cx="4060935" cy="583565"/>
            </a:xfrm>
            <a:prstGeom prst="rect">
              <a:avLst/>
            </a:prstGeom>
            <a:noFill/>
          </p:spPr>
          <p:txBody>
            <a:bodyPr wrap="square" rtlCol="0">
              <a:spAutoFit/>
            </a:bodyPr>
            <a:lstStyle/>
            <a:p>
              <a:r>
                <a:rPr kumimoji="1" lang="zh-CN" altLang="en-US" sz="3200" dirty="0">
                  <a:latin typeface="微软雅黑" panose="020B0503020204020204" pitchFamily="34" charset="-122"/>
                  <a:ea typeface="微软雅黑" panose="020B0503020204020204" pitchFamily="34" charset="-122"/>
                </a:rPr>
                <a:t>整体设计</a:t>
              </a:r>
              <a:r>
                <a:rPr kumimoji="1" lang="en-US" altLang="zh-CN" sz="3200" dirty="0">
                  <a:latin typeface="微软雅黑" panose="020B0503020204020204" pitchFamily="34" charset="-122"/>
                  <a:ea typeface="微软雅黑" panose="020B0503020204020204" pitchFamily="34" charset="-122"/>
                </a:rPr>
                <a:t>-</a:t>
              </a:r>
              <a:r>
                <a:rPr kumimoji="1" lang="zh-CN" altLang="en-US" sz="3200" dirty="0">
                  <a:latin typeface="微软雅黑" panose="020B0503020204020204" pitchFamily="34" charset="-122"/>
                  <a:ea typeface="微软雅黑" panose="020B0503020204020204" pitchFamily="34" charset="-122"/>
                </a:rPr>
                <a:t>智能挖掘系统</a:t>
              </a:r>
              <a:endParaRPr lang="zh-CN" altLang="en-US" sz="3200" dirty="0">
                <a:latin typeface="微软雅黑" panose="020B0503020204020204" pitchFamily="34" charset="-122"/>
                <a:ea typeface="微软雅黑" panose="020B0503020204020204" pitchFamily="34" charset="-122"/>
              </a:endParaRPr>
            </a:p>
          </p:txBody>
        </p:sp>
      </p:grpSp>
      <p:sp>
        <p:nvSpPr>
          <p:cNvPr id="36" name="内容占位符 2"/>
          <p:cNvSpPr/>
          <p:nvPr/>
        </p:nvSpPr>
        <p:spPr>
          <a:xfrm>
            <a:off x="582930" y="1567815"/>
            <a:ext cx="7452995" cy="4727575"/>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20000"/>
              </a:lnSpc>
            </a:pPr>
            <a:r>
              <a:rPr lang="zh-CN" altLang="en-US" sz="2400" dirty="0">
                <a:latin typeface="微软雅黑" panose="020B0503020204020204" pitchFamily="34" charset="-122"/>
                <a:ea typeface="微软雅黑" panose="020B0503020204020204" pitchFamily="34" charset="-122"/>
              </a:rPr>
              <a:t>核心需求：</a:t>
            </a:r>
          </a:p>
          <a:p>
            <a:pPr lvl="1">
              <a:lnSpc>
                <a:spcPct val="120000"/>
              </a:lnSpc>
            </a:pPr>
            <a:r>
              <a:rPr lang="zh-CN" altLang="en-US" sz="1800" dirty="0">
                <a:latin typeface="微软雅黑" panose="020B0503020204020204" pitchFamily="34" charset="-122"/>
                <a:ea typeface="微软雅黑" panose="020B0503020204020204" pitchFamily="34" charset="-122"/>
              </a:rPr>
              <a:t>高准确性：利用先进的机器学习技术确保识别的准确率。</a:t>
            </a:r>
          </a:p>
          <a:p>
            <a:pPr lvl="1">
              <a:lnSpc>
                <a:spcPct val="120000"/>
              </a:lnSpc>
            </a:pPr>
            <a:r>
              <a:rPr lang="zh-CN" altLang="en-US" sz="1800" dirty="0">
                <a:latin typeface="微软雅黑" panose="020B0503020204020204" pitchFamily="34" charset="-122"/>
                <a:ea typeface="微软雅黑" panose="020B0503020204020204" pitchFamily="34" charset="-122"/>
              </a:rPr>
              <a:t>用户交互：直观的前端展示和反馈机制，提升用户体验。</a:t>
            </a:r>
          </a:p>
          <a:p>
            <a:pPr lvl="1">
              <a:lnSpc>
                <a:spcPct val="120000"/>
              </a:lnSpc>
            </a:pPr>
            <a:r>
              <a:rPr lang="zh-CN" altLang="en-US" sz="1800" dirty="0">
                <a:latin typeface="微软雅黑" panose="020B0503020204020204" pitchFamily="34" charset="-122"/>
                <a:ea typeface="微软雅黑" panose="020B0503020204020204" pitchFamily="34" charset="-122"/>
              </a:rPr>
              <a:t>灵活性：适应不同的研究领域和文档类型。</a:t>
            </a:r>
          </a:p>
          <a:p>
            <a:pPr lvl="0">
              <a:lnSpc>
                <a:spcPct val="120000"/>
              </a:lnSpc>
            </a:pPr>
            <a:r>
              <a:rPr lang="zh-CN" altLang="en-US" sz="2400" dirty="0">
                <a:latin typeface="微软雅黑" panose="020B0503020204020204" pitchFamily="34" charset="-122"/>
                <a:ea typeface="微软雅黑" panose="020B0503020204020204" pitchFamily="34" charset="-122"/>
              </a:rPr>
              <a:t>设计要点：</a:t>
            </a:r>
          </a:p>
          <a:p>
            <a:pPr lvl="1">
              <a:lnSpc>
                <a:spcPct val="120000"/>
              </a:lnSpc>
            </a:pPr>
            <a:r>
              <a:rPr lang="zh-CN" altLang="en-US" sz="1800" dirty="0">
                <a:latin typeface="微软雅黑" panose="020B0503020204020204" pitchFamily="34" charset="-122"/>
                <a:ea typeface="微软雅黑" panose="020B0503020204020204" pitchFamily="34" charset="-122"/>
              </a:rPr>
              <a:t>智能段落定位：使用NLP技术，如BERT，进行文档段落的自动分类和识别。</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智能实体识别：结合大语言模型和自定义提示词，识别关键实体。</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前端标注反馈：展示自动标注结果，允许用户进行验证和修改。</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配置分享：使研究人员能够分享和复用成功的挖掘配置。</a:t>
            </a:r>
          </a:p>
        </p:txBody>
      </p:sp>
      <p:pic>
        <p:nvPicPr>
          <p:cNvPr id="6" name="图片 5" descr="whiteboard_exported_image"/>
          <p:cNvPicPr>
            <a:picLocks noChangeAspect="1"/>
          </p:cNvPicPr>
          <p:nvPr/>
        </p:nvPicPr>
        <p:blipFill>
          <a:blip r:embed="rId3"/>
          <a:stretch>
            <a:fillRect/>
          </a:stretch>
        </p:blipFill>
        <p:spPr>
          <a:xfrm>
            <a:off x="8293735" y="635635"/>
            <a:ext cx="3658235" cy="62166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custDataLst>
              <p:tags r:id="rId1"/>
            </p:custDataLst>
          </p:nvPr>
        </p:nvGraphicFramePr>
        <p:xfrm>
          <a:off x="906449" y="1948071"/>
          <a:ext cx="10710407" cy="4682445"/>
        </p:xfrm>
        <a:graphic>
          <a:graphicData uri="http://schemas.openxmlformats.org/drawingml/2006/table">
            <a:tbl>
              <a:tblPr firstRow="1" bandRow="1">
                <a:tableStyleId>{5C22544A-7EE6-4342-B048-85BDC9FD1C3A}</a:tableStyleId>
              </a:tblPr>
              <a:tblGrid>
                <a:gridCol w="2492322">
                  <a:extLst>
                    <a:ext uri="{9D8B030D-6E8A-4147-A177-3AD203B41FA5}">
                      <a16:colId xmlns:a16="http://schemas.microsoft.com/office/drawing/2014/main" val="20000"/>
                    </a:ext>
                  </a:extLst>
                </a:gridCol>
                <a:gridCol w="2456954">
                  <a:extLst>
                    <a:ext uri="{9D8B030D-6E8A-4147-A177-3AD203B41FA5}">
                      <a16:colId xmlns:a16="http://schemas.microsoft.com/office/drawing/2014/main" val="20001"/>
                    </a:ext>
                  </a:extLst>
                </a:gridCol>
                <a:gridCol w="1643453">
                  <a:extLst>
                    <a:ext uri="{9D8B030D-6E8A-4147-A177-3AD203B41FA5}">
                      <a16:colId xmlns:a16="http://schemas.microsoft.com/office/drawing/2014/main" val="20002"/>
                    </a:ext>
                  </a:extLst>
                </a:gridCol>
                <a:gridCol w="2058839">
                  <a:extLst>
                    <a:ext uri="{9D8B030D-6E8A-4147-A177-3AD203B41FA5}">
                      <a16:colId xmlns:a16="http://schemas.microsoft.com/office/drawing/2014/main" val="20003"/>
                    </a:ext>
                  </a:extLst>
                </a:gridCol>
                <a:gridCol w="2058839">
                  <a:extLst>
                    <a:ext uri="{9D8B030D-6E8A-4147-A177-3AD203B41FA5}">
                      <a16:colId xmlns:a16="http://schemas.microsoft.com/office/drawing/2014/main" val="20004"/>
                    </a:ext>
                  </a:extLst>
                </a:gridCol>
              </a:tblGrid>
              <a:tr h="326984">
                <a:tc>
                  <a:txBody>
                    <a:bodyPr/>
                    <a:lstStyle/>
                    <a:p>
                      <a:pPr algn="ctr"/>
                      <a:r>
                        <a:rPr lang="zh-CN" altLang="en-US" dirty="0">
                          <a:latin typeface="微软雅黑" panose="020B0503020204020204" pitchFamily="34" charset="-122"/>
                          <a:ea typeface="微软雅黑" panose="020B0503020204020204" pitchFamily="34" charset="-122"/>
                        </a:rPr>
                        <a:t>任务名称</a:t>
                      </a:r>
                    </a:p>
                  </a:txBody>
                  <a:tcPr>
                    <a:solidFill>
                      <a:srgbClr val="3F51B6"/>
                    </a:solidFill>
                  </a:tcPr>
                </a:tc>
                <a:tc>
                  <a:txBody>
                    <a:bodyPr/>
                    <a:lstStyle/>
                    <a:p>
                      <a:pPr algn="ctr"/>
                      <a:r>
                        <a:rPr lang="zh-CN" altLang="en-US" dirty="0">
                          <a:latin typeface="微软雅黑" panose="020B0503020204020204" pitchFamily="34" charset="-122"/>
                          <a:ea typeface="微软雅黑" panose="020B0503020204020204" pitchFamily="34" charset="-122"/>
                        </a:rPr>
                        <a:t>实验</a:t>
                      </a:r>
                    </a:p>
                  </a:txBody>
                  <a:tcPr>
                    <a:solidFill>
                      <a:srgbClr val="3F51B6"/>
                    </a:solidFill>
                  </a:tcPr>
                </a:tc>
                <a:tc>
                  <a:txBody>
                    <a:bodyPr/>
                    <a:lstStyle/>
                    <a:p>
                      <a:pPr algn="ctr"/>
                      <a:r>
                        <a:rPr lang="zh-CN" altLang="en-US" dirty="0">
                          <a:latin typeface="微软雅黑" panose="020B0503020204020204" pitchFamily="34" charset="-122"/>
                          <a:ea typeface="微软雅黑" panose="020B0503020204020204" pitchFamily="34" charset="-122"/>
                        </a:rPr>
                        <a:t>任务量</a:t>
                      </a:r>
                    </a:p>
                  </a:txBody>
                  <a:tcPr>
                    <a:solidFill>
                      <a:srgbClr val="3F51B6"/>
                    </a:solidFill>
                  </a:tcPr>
                </a:tc>
                <a:tc>
                  <a:txBody>
                    <a:bodyPr/>
                    <a:lstStyle/>
                    <a:p>
                      <a:pPr algn="ctr"/>
                      <a:r>
                        <a:rPr lang="zh-CN" altLang="en-US" dirty="0">
                          <a:latin typeface="微软雅黑" panose="020B0503020204020204" pitchFamily="34" charset="-122"/>
                          <a:ea typeface="微软雅黑" panose="020B0503020204020204" pitchFamily="34" charset="-122"/>
                        </a:rPr>
                        <a:t>开始日期</a:t>
                      </a:r>
                    </a:p>
                  </a:txBody>
                  <a:tcPr>
                    <a:solidFill>
                      <a:srgbClr val="3F51B6"/>
                    </a:solidFill>
                  </a:tcPr>
                </a:tc>
                <a:tc>
                  <a:txBody>
                    <a:bodyPr/>
                    <a:lstStyle/>
                    <a:p>
                      <a:pPr algn="ctr"/>
                      <a:r>
                        <a:rPr lang="zh-CN" altLang="en-US" dirty="0">
                          <a:latin typeface="微软雅黑" panose="020B0503020204020204" pitchFamily="34" charset="-122"/>
                          <a:ea typeface="微软雅黑" panose="020B0503020204020204" pitchFamily="34" charset="-122"/>
                        </a:rPr>
                        <a:t>结束日期</a:t>
                      </a:r>
                    </a:p>
                  </a:txBody>
                  <a:tcPr>
                    <a:solidFill>
                      <a:srgbClr val="3F51B6"/>
                    </a:solidFill>
                  </a:tcPr>
                </a:tc>
                <a:extLst>
                  <a:ext uri="{0D108BD9-81ED-4DB2-BD59-A6C34878D82A}">
                    <a16:rowId xmlns:a16="http://schemas.microsoft.com/office/drawing/2014/main" val="10000"/>
                  </a:ext>
                </a:extLst>
              </a:tr>
              <a:tr h="463535">
                <a:tc>
                  <a:txBody>
                    <a:bodyPr/>
                    <a:lstStyle/>
                    <a:p>
                      <a:pPr algn="ctr"/>
                      <a:r>
                        <a:rPr lang="zh-CN" altLang="en-US" dirty="0">
                          <a:latin typeface="微软雅黑" panose="020B0503020204020204" pitchFamily="34" charset="-122"/>
                          <a:ea typeface="微软雅黑" panose="020B0503020204020204" pitchFamily="34" charset="-122"/>
                        </a:rPr>
                        <a:t>成员介绍和项目确定</a:t>
                      </a:r>
                    </a:p>
                  </a:txBody>
                  <a:tcPr/>
                </a:tc>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3.13</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3.13</a:t>
                      </a:r>
                      <a:endParaRPr lang="zh-CN" altLang="en-US" dirty="0"/>
                    </a:p>
                  </a:txBody>
                  <a:tcPr/>
                </a:tc>
                <a:extLst>
                  <a:ext uri="{0D108BD9-81ED-4DB2-BD59-A6C34878D82A}">
                    <a16:rowId xmlns:a16="http://schemas.microsoft.com/office/drawing/2014/main" val="10001"/>
                  </a:ext>
                </a:extLst>
              </a:tr>
              <a:tr h="326984">
                <a:tc>
                  <a:txBody>
                    <a:bodyPr/>
                    <a:lstStyle/>
                    <a:p>
                      <a:pPr algn="ctr"/>
                      <a:r>
                        <a:rPr lang="zh-CN" altLang="en-US" dirty="0">
                          <a:latin typeface="微软雅黑" panose="020B0503020204020204" pitchFamily="34" charset="-122"/>
                          <a:ea typeface="微软雅黑" panose="020B0503020204020204" pitchFamily="34" charset="-122"/>
                        </a:rPr>
                        <a:t>分工和进度安排</a:t>
                      </a:r>
                    </a:p>
                  </a:txBody>
                  <a:tcPr/>
                </a:tc>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3.13</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3.13</a:t>
                      </a:r>
                      <a:endParaRPr lang="zh-CN" altLang="en-US" dirty="0"/>
                    </a:p>
                  </a:txBody>
                  <a:tcPr/>
                </a:tc>
                <a:extLst>
                  <a:ext uri="{0D108BD9-81ED-4DB2-BD59-A6C34878D82A}">
                    <a16:rowId xmlns:a16="http://schemas.microsoft.com/office/drawing/2014/main" val="10002"/>
                  </a:ext>
                </a:extLst>
              </a:tr>
              <a:tr h="326984">
                <a:tc>
                  <a:txBody>
                    <a:bodyPr/>
                    <a:lstStyle/>
                    <a:p>
                      <a:pPr algn="ctr"/>
                      <a:r>
                        <a:rPr lang="zh-CN" altLang="en-US" dirty="0">
                          <a:latin typeface="微软雅黑" panose="020B0503020204020204" pitchFamily="34" charset="-122"/>
                          <a:ea typeface="微软雅黑" panose="020B0503020204020204" pitchFamily="34" charset="-122"/>
                        </a:rPr>
                        <a:t>软件需求分析</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1</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2</a:t>
                      </a:r>
                      <a:r>
                        <a:rPr lang="zh-CN" altLang="en-US" dirty="0"/>
                        <a:t>周</a:t>
                      </a:r>
                    </a:p>
                  </a:txBody>
                  <a:tcPr/>
                </a:tc>
                <a:tc>
                  <a:txBody>
                    <a:bodyPr/>
                    <a:lstStyle/>
                    <a:p>
                      <a:pPr algn="ctr"/>
                      <a:r>
                        <a:rPr lang="en-US" altLang="zh-CN" dirty="0">
                          <a:latin typeface="微软雅黑" panose="020B0503020204020204" pitchFamily="34" charset="-122"/>
                          <a:ea typeface="微软雅黑" panose="020B0503020204020204" pitchFamily="34" charset="-122"/>
                        </a:rPr>
                        <a:t>3.16</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3.29</a:t>
                      </a:r>
                      <a:endParaRPr lang="zh-CN" altLang="en-US" dirty="0"/>
                    </a:p>
                  </a:txBody>
                  <a:tcPr/>
                </a:tc>
                <a:extLst>
                  <a:ext uri="{0D108BD9-81ED-4DB2-BD59-A6C34878D82A}">
                    <a16:rowId xmlns:a16="http://schemas.microsoft.com/office/drawing/2014/main" val="10003"/>
                  </a:ext>
                </a:extLst>
              </a:tr>
              <a:tr h="326984">
                <a:tc>
                  <a:txBody>
                    <a:bodyPr/>
                    <a:lstStyle/>
                    <a:p>
                      <a:pPr algn="ctr"/>
                      <a:r>
                        <a:rPr lang="zh-CN" altLang="en-US" dirty="0">
                          <a:latin typeface="微软雅黑" panose="020B0503020204020204" pitchFamily="34" charset="-122"/>
                          <a:ea typeface="微软雅黑" panose="020B0503020204020204" pitchFamily="34" charset="-122"/>
                        </a:rPr>
                        <a:t>软件需求评审</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2</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2</a:t>
                      </a:r>
                      <a:r>
                        <a:rPr lang="zh-CN" altLang="en-US" dirty="0"/>
                        <a:t>周</a:t>
                      </a:r>
                    </a:p>
                  </a:txBody>
                  <a:tcPr/>
                </a:tc>
                <a:tc>
                  <a:txBody>
                    <a:bodyPr/>
                    <a:lstStyle/>
                    <a:p>
                      <a:pPr algn="ctr"/>
                      <a:r>
                        <a:rPr lang="en-US" altLang="zh-CN" dirty="0">
                          <a:latin typeface="微软雅黑" panose="020B0503020204020204" pitchFamily="34" charset="-122"/>
                          <a:ea typeface="微软雅黑" panose="020B0503020204020204" pitchFamily="34" charset="-122"/>
                        </a:rPr>
                        <a:t>3.30</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4.12</a:t>
                      </a:r>
                      <a:endParaRPr lang="zh-CN" altLang="en-US" dirty="0"/>
                    </a:p>
                  </a:txBody>
                  <a:tcPr/>
                </a:tc>
                <a:extLst>
                  <a:ext uri="{0D108BD9-81ED-4DB2-BD59-A6C34878D82A}">
                    <a16:rowId xmlns:a16="http://schemas.microsoft.com/office/drawing/2014/main" val="10004"/>
                  </a:ext>
                </a:extLst>
              </a:tr>
              <a:tr h="326984">
                <a:tc>
                  <a:txBody>
                    <a:bodyPr/>
                    <a:lstStyle/>
                    <a:p>
                      <a:pPr algn="ctr"/>
                      <a:r>
                        <a:rPr lang="zh-CN" altLang="en-US" dirty="0">
                          <a:latin typeface="微软雅黑" panose="020B0503020204020204" pitchFamily="34" charset="-122"/>
                          <a:ea typeface="微软雅黑" panose="020B0503020204020204" pitchFamily="34" charset="-122"/>
                        </a:rPr>
                        <a:t>软件设计与实现</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3</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4</a:t>
                      </a:r>
                      <a:r>
                        <a:rPr lang="zh-CN" altLang="en-US" dirty="0"/>
                        <a:t>周</a:t>
                      </a:r>
                    </a:p>
                  </a:txBody>
                  <a:tcPr/>
                </a:tc>
                <a:tc>
                  <a:txBody>
                    <a:bodyPr/>
                    <a:lstStyle/>
                    <a:p>
                      <a:pPr algn="ctr"/>
                      <a:r>
                        <a:rPr lang="en-US" altLang="zh-CN" dirty="0">
                          <a:latin typeface="微软雅黑" panose="020B0503020204020204" pitchFamily="34" charset="-122"/>
                          <a:ea typeface="微软雅黑" panose="020B0503020204020204" pitchFamily="34" charset="-122"/>
                        </a:rPr>
                        <a:t>4.13</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5.3</a:t>
                      </a:r>
                      <a:endParaRPr lang="zh-CN" altLang="en-US" dirty="0"/>
                    </a:p>
                  </a:txBody>
                  <a:tcPr/>
                </a:tc>
                <a:extLst>
                  <a:ext uri="{0D108BD9-81ED-4DB2-BD59-A6C34878D82A}">
                    <a16:rowId xmlns:a16="http://schemas.microsoft.com/office/drawing/2014/main" val="10005"/>
                  </a:ext>
                </a:extLst>
              </a:tr>
              <a:tr h="326984">
                <a:tc>
                  <a:txBody>
                    <a:bodyPr/>
                    <a:lstStyle/>
                    <a:p>
                      <a:pPr algn="ctr"/>
                      <a:r>
                        <a:rPr lang="zh-CN" altLang="en-US" dirty="0">
                          <a:latin typeface="微软雅黑" panose="020B0503020204020204" pitchFamily="34" charset="-122"/>
                          <a:ea typeface="微软雅黑" panose="020B0503020204020204" pitchFamily="34" charset="-122"/>
                        </a:rPr>
                        <a:t>软件测试</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4</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1-5</a:t>
                      </a:r>
                      <a:r>
                        <a:rPr lang="zh-CN" altLang="en-US" dirty="0"/>
                        <a:t>周</a:t>
                      </a:r>
                    </a:p>
                  </a:txBody>
                  <a:tcPr/>
                </a:tc>
                <a:tc>
                  <a:txBody>
                    <a:bodyPr/>
                    <a:lstStyle/>
                    <a:p>
                      <a:pPr algn="ctr"/>
                      <a:r>
                        <a:rPr lang="en-US" altLang="zh-CN" dirty="0">
                          <a:latin typeface="微软雅黑" panose="020B0503020204020204" pitchFamily="34" charset="-122"/>
                          <a:ea typeface="微软雅黑" panose="020B0503020204020204" pitchFamily="34" charset="-122"/>
                        </a:rPr>
                        <a:t>4.13</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5.10</a:t>
                      </a:r>
                      <a:endParaRPr lang="zh-CN" altLang="en-US" dirty="0"/>
                    </a:p>
                  </a:txBody>
                  <a:tcPr/>
                </a:tc>
                <a:extLst>
                  <a:ext uri="{0D108BD9-81ED-4DB2-BD59-A6C34878D82A}">
                    <a16:rowId xmlns:a16="http://schemas.microsoft.com/office/drawing/2014/main" val="10006"/>
                  </a:ext>
                </a:extLst>
              </a:tr>
              <a:tr h="326984">
                <a:tc>
                  <a:txBody>
                    <a:bodyPr/>
                    <a:lstStyle/>
                    <a:p>
                      <a:pPr algn="ctr"/>
                      <a:r>
                        <a:rPr lang="zh-CN" altLang="en-US" dirty="0">
                          <a:latin typeface="微软雅黑" panose="020B0503020204020204" pitchFamily="34" charset="-122"/>
                          <a:ea typeface="微软雅黑" panose="020B0503020204020204" pitchFamily="34" charset="-122"/>
                        </a:rPr>
                        <a:t>软件测试评审</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5.1-5.2</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2</a:t>
                      </a:r>
                      <a:r>
                        <a:rPr lang="zh-CN" altLang="en-US" dirty="0"/>
                        <a:t>周</a:t>
                      </a:r>
                    </a:p>
                  </a:txBody>
                  <a:tcPr/>
                </a:tc>
                <a:tc>
                  <a:txBody>
                    <a:bodyPr/>
                    <a:lstStyle/>
                    <a:p>
                      <a:pPr algn="ctr"/>
                      <a:r>
                        <a:rPr lang="en-US" altLang="zh-CN" dirty="0">
                          <a:latin typeface="微软雅黑" panose="020B0503020204020204" pitchFamily="34" charset="-122"/>
                          <a:ea typeface="微软雅黑" panose="020B0503020204020204" pitchFamily="34" charset="-122"/>
                        </a:rPr>
                        <a:t>5.11</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5.24</a:t>
                      </a:r>
                      <a:endParaRPr lang="zh-CN" altLang="en-US" dirty="0"/>
                    </a:p>
                  </a:txBody>
                  <a:tcPr/>
                </a:tc>
                <a:extLst>
                  <a:ext uri="{0D108BD9-81ED-4DB2-BD59-A6C34878D82A}">
                    <a16:rowId xmlns:a16="http://schemas.microsoft.com/office/drawing/2014/main" val="10007"/>
                  </a:ext>
                </a:extLst>
              </a:tr>
              <a:tr h="326984">
                <a:tc>
                  <a:txBody>
                    <a:bodyPr/>
                    <a:lstStyle/>
                    <a:p>
                      <a:pPr algn="ctr"/>
                      <a:r>
                        <a:rPr lang="zh-CN" altLang="en-US" dirty="0">
                          <a:latin typeface="微软雅黑" panose="020B0503020204020204" pitchFamily="34" charset="-122"/>
                          <a:ea typeface="微软雅黑" panose="020B0503020204020204" pitchFamily="34" charset="-122"/>
                        </a:rPr>
                        <a:t>软件演示与测评</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5.3</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1</a:t>
                      </a:r>
                      <a:r>
                        <a:rPr lang="zh-CN" altLang="en-US" dirty="0"/>
                        <a:t>周</a:t>
                      </a:r>
                    </a:p>
                  </a:txBody>
                  <a:tcPr/>
                </a:tc>
                <a:tc>
                  <a:txBody>
                    <a:bodyPr/>
                    <a:lstStyle/>
                    <a:p>
                      <a:pPr algn="ctr"/>
                      <a:r>
                        <a:rPr lang="en-US" altLang="zh-CN" dirty="0">
                          <a:latin typeface="微软雅黑" panose="020B0503020204020204" pitchFamily="34" charset="-122"/>
                          <a:ea typeface="微软雅黑" panose="020B0503020204020204" pitchFamily="34" charset="-122"/>
                        </a:rPr>
                        <a:t>5.25</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5.31</a:t>
                      </a:r>
                      <a:endParaRPr lang="zh-CN" altLang="en-US" dirty="0"/>
                    </a:p>
                  </a:txBody>
                  <a:tcPr/>
                </a:tc>
                <a:extLst>
                  <a:ext uri="{0D108BD9-81ED-4DB2-BD59-A6C34878D82A}">
                    <a16:rowId xmlns:a16="http://schemas.microsoft.com/office/drawing/2014/main" val="10008"/>
                  </a:ext>
                </a:extLst>
              </a:tr>
              <a:tr h="463535">
                <a:tc>
                  <a:txBody>
                    <a:bodyPr/>
                    <a:lstStyle/>
                    <a:p>
                      <a:pPr algn="ctr"/>
                      <a:r>
                        <a:rPr lang="zh-CN" altLang="en-US" dirty="0">
                          <a:latin typeface="微软雅黑" panose="020B0503020204020204" pitchFamily="34" charset="-122"/>
                          <a:ea typeface="微软雅黑" panose="020B0503020204020204" pitchFamily="34" charset="-122"/>
                        </a:rPr>
                        <a:t>软件项目计划与监控</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6</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p>
                  </a:txBody>
                  <a:tcPr/>
                </a:tc>
                <a:tc>
                  <a:txBody>
                    <a:bodyPr/>
                    <a:lstStyle/>
                    <a:p>
                      <a:pPr algn="ctr"/>
                      <a:r>
                        <a:rPr lang="zh-CN" altLang="en-US" dirty="0">
                          <a:latin typeface="微软雅黑" panose="020B0503020204020204" pitchFamily="34" charset="-122"/>
                          <a:ea typeface="微软雅黑" panose="020B0503020204020204" pitchFamily="34" charset="-122"/>
                        </a:rPr>
                        <a:t>全程</a:t>
                      </a:r>
                    </a:p>
                  </a:txBody>
                  <a:tcPr/>
                </a:tc>
                <a:tc>
                  <a:txBody>
                    <a:bodyPr/>
                    <a:lstStyle/>
                    <a:p>
                      <a:pPr algn="ctr"/>
                      <a:r>
                        <a:rPr lang="zh-CN" altLang="en-US" dirty="0">
                          <a:latin typeface="微软雅黑" panose="020B0503020204020204" pitchFamily="34" charset="-122"/>
                          <a:ea typeface="微软雅黑" panose="020B0503020204020204" pitchFamily="34" charset="-122"/>
                        </a:rPr>
                        <a:t>全程</a:t>
                      </a:r>
                    </a:p>
                  </a:txBody>
                  <a:tcPr/>
                </a:tc>
                <a:extLst>
                  <a:ext uri="{0D108BD9-81ED-4DB2-BD59-A6C34878D82A}">
                    <a16:rowId xmlns:a16="http://schemas.microsoft.com/office/drawing/2014/main" val="10009"/>
                  </a:ext>
                </a:extLst>
              </a:tr>
              <a:tr h="326984">
                <a:tc>
                  <a:txBody>
                    <a:bodyPr/>
                    <a:lstStyle/>
                    <a:p>
                      <a:pPr algn="ctr"/>
                      <a:r>
                        <a:rPr lang="zh-CN" altLang="en-US" dirty="0">
                          <a:latin typeface="微软雅黑" panose="020B0503020204020204" pitchFamily="34" charset="-122"/>
                          <a:ea typeface="微软雅黑" panose="020B0503020204020204" pitchFamily="34" charset="-122"/>
                        </a:rPr>
                        <a:t>软件配置管理</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7</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p>
                  </a:txBody>
                  <a:tcPr/>
                </a:tc>
                <a:tc>
                  <a:txBody>
                    <a:bodyPr/>
                    <a:lstStyle/>
                    <a:p>
                      <a:pPr algn="ctr"/>
                      <a:r>
                        <a:rPr lang="zh-CN" altLang="en-US" dirty="0">
                          <a:latin typeface="微软雅黑" panose="020B0503020204020204" pitchFamily="34" charset="-122"/>
                          <a:ea typeface="微软雅黑" panose="020B0503020204020204" pitchFamily="34" charset="-122"/>
                        </a:rPr>
                        <a:t>全程</a:t>
                      </a:r>
                    </a:p>
                  </a:txBody>
                  <a:tcPr/>
                </a:tc>
                <a:tc>
                  <a:txBody>
                    <a:bodyPr/>
                    <a:lstStyle/>
                    <a:p>
                      <a:pPr algn="ctr"/>
                      <a:r>
                        <a:rPr lang="zh-CN" altLang="en-US" dirty="0">
                          <a:latin typeface="微软雅黑" panose="020B0503020204020204" pitchFamily="34" charset="-122"/>
                          <a:ea typeface="微软雅黑" panose="020B0503020204020204" pitchFamily="34" charset="-122"/>
                        </a:rPr>
                        <a:t>全程</a:t>
                      </a:r>
                    </a:p>
                  </a:txBody>
                  <a:tcPr/>
                </a:tc>
                <a:extLst>
                  <a:ext uri="{0D108BD9-81ED-4DB2-BD59-A6C34878D82A}">
                    <a16:rowId xmlns:a16="http://schemas.microsoft.com/office/drawing/2014/main" val="10010"/>
                  </a:ext>
                </a:extLst>
              </a:tr>
              <a:tr h="463535">
                <a:tc>
                  <a:txBody>
                    <a:bodyPr/>
                    <a:lstStyle/>
                    <a:p>
                      <a:pPr algn="ctr"/>
                      <a:r>
                        <a:rPr lang="zh-CN" altLang="en-US" dirty="0">
                          <a:latin typeface="微软雅黑" panose="020B0503020204020204" pitchFamily="34" charset="-122"/>
                          <a:ea typeface="微软雅黑" panose="020B0503020204020204" pitchFamily="34" charset="-122"/>
                        </a:rPr>
                        <a:t>软件实验追踪与分析</a:t>
                      </a:r>
                    </a:p>
                  </a:txBody>
                  <a:tcPr/>
                </a:tc>
                <a:tc>
                  <a:txBody>
                    <a:bodyPr/>
                    <a:lstStyle/>
                    <a:p>
                      <a:pPr algn="ctr"/>
                      <a:r>
                        <a:rPr lang="zh-CN" altLang="en-US" dirty="0">
                          <a:latin typeface="微软雅黑" panose="020B0503020204020204" pitchFamily="34" charset="-122"/>
                          <a:ea typeface="微软雅黑" panose="020B0503020204020204" pitchFamily="34" charset="-122"/>
                        </a:rPr>
                        <a:t>实验</a:t>
                      </a:r>
                      <a:r>
                        <a:rPr lang="en-US" altLang="zh-CN" dirty="0"/>
                        <a:t>8</a:t>
                      </a:r>
                      <a:endParaRPr lang="zh-CN" altLang="en-US" dirty="0"/>
                    </a:p>
                  </a:txBody>
                  <a:tcPr/>
                </a:tc>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p>
                  </a:txBody>
                  <a:tcPr/>
                </a:tc>
                <a:tc>
                  <a:txBody>
                    <a:bodyPr/>
                    <a:lstStyle/>
                    <a:p>
                      <a:pPr algn="ctr"/>
                      <a:r>
                        <a:rPr lang="zh-CN" altLang="en-US" dirty="0">
                          <a:latin typeface="微软雅黑" panose="020B0503020204020204" pitchFamily="34" charset="-122"/>
                          <a:ea typeface="微软雅黑" panose="020B0503020204020204" pitchFamily="34" charset="-122"/>
                        </a:rPr>
                        <a:t>全程</a:t>
                      </a:r>
                    </a:p>
                  </a:txBody>
                  <a:tcPr/>
                </a:tc>
                <a:tc>
                  <a:txBody>
                    <a:bodyPr/>
                    <a:lstStyle/>
                    <a:p>
                      <a:pPr algn="ctr"/>
                      <a:r>
                        <a:rPr lang="zh-CN" altLang="en-US" dirty="0">
                          <a:latin typeface="微软雅黑" panose="020B0503020204020204" pitchFamily="34" charset="-122"/>
                          <a:ea typeface="微软雅黑" panose="020B0503020204020204" pitchFamily="34" charset="-122"/>
                        </a:rPr>
                        <a:t>全程</a:t>
                      </a:r>
                    </a:p>
                  </a:txBody>
                  <a:tcPr/>
                </a:tc>
                <a:extLst>
                  <a:ext uri="{0D108BD9-81ED-4DB2-BD59-A6C34878D82A}">
                    <a16:rowId xmlns:a16="http://schemas.microsoft.com/office/drawing/2014/main" val="10011"/>
                  </a:ext>
                </a:extLst>
              </a:tr>
            </a:tbl>
          </a:graphicData>
        </a:graphic>
      </p:graphicFrame>
      <p:grpSp>
        <p:nvGrpSpPr>
          <p:cNvPr id="10" name="组合 9"/>
          <p:cNvGrpSpPr/>
          <p:nvPr/>
        </p:nvGrpSpPr>
        <p:grpSpPr>
          <a:xfrm>
            <a:off x="582710" y="712715"/>
            <a:ext cx="5289172" cy="584775"/>
            <a:chOff x="582710" y="712715"/>
            <a:chExt cx="5289172" cy="584775"/>
          </a:xfrm>
        </p:grpSpPr>
        <p:sp>
          <p:nvSpPr>
            <p:cNvPr id="11" name="矩形 10"/>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76164" y="712715"/>
              <a:ext cx="5195718" cy="584775"/>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工作量统计</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整体工作</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stretch>
            <a:fillRect/>
          </a:stretch>
        </p:blipFill>
        <p:spPr>
          <a:xfrm>
            <a:off x="238539" y="2434308"/>
            <a:ext cx="11457830" cy="3044141"/>
          </a:xfrm>
        </p:spPr>
      </p:pic>
      <p:grpSp>
        <p:nvGrpSpPr>
          <p:cNvPr id="14" name="组合 13"/>
          <p:cNvGrpSpPr/>
          <p:nvPr/>
        </p:nvGrpSpPr>
        <p:grpSpPr>
          <a:xfrm>
            <a:off x="582710" y="712715"/>
            <a:ext cx="5289172" cy="584775"/>
            <a:chOff x="582710" y="712715"/>
            <a:chExt cx="5289172" cy="584775"/>
          </a:xfrm>
        </p:grpSpPr>
        <p:sp>
          <p:nvSpPr>
            <p:cNvPr id="15" name="矩形 14"/>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676164" y="712715"/>
              <a:ext cx="5195718" cy="584775"/>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工作量统计</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整体工作</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p:cNvGraphicFramePr>
            <a:graphicFrameLocks noGrp="1"/>
          </p:cNvGraphicFramePr>
          <p:nvPr>
            <p:ph idx="1"/>
          </p:nvPr>
        </p:nvGraphicFramePr>
        <p:xfrm>
          <a:off x="710454" y="1690687"/>
          <a:ext cx="10771091" cy="4270840"/>
        </p:xfrm>
        <a:graphic>
          <a:graphicData uri="http://schemas.openxmlformats.org/drawingml/2006/table">
            <a:tbl>
              <a:tblPr firstRow="1" bandRow="1">
                <a:tableStyleId>{B301B821-A1FF-4177-AEE7-76D212191A09}</a:tableStyleId>
              </a:tblPr>
              <a:tblGrid>
                <a:gridCol w="1615952">
                  <a:extLst>
                    <a:ext uri="{9D8B030D-6E8A-4147-A177-3AD203B41FA5}">
                      <a16:colId xmlns:a16="http://schemas.microsoft.com/office/drawing/2014/main" val="20000"/>
                    </a:ext>
                  </a:extLst>
                </a:gridCol>
                <a:gridCol w="3852514">
                  <a:extLst>
                    <a:ext uri="{9D8B030D-6E8A-4147-A177-3AD203B41FA5}">
                      <a16:colId xmlns:a16="http://schemas.microsoft.com/office/drawing/2014/main" val="20001"/>
                    </a:ext>
                  </a:extLst>
                </a:gridCol>
                <a:gridCol w="2609852">
                  <a:extLst>
                    <a:ext uri="{9D8B030D-6E8A-4147-A177-3AD203B41FA5}">
                      <a16:colId xmlns:a16="http://schemas.microsoft.com/office/drawing/2014/main" val="20002"/>
                    </a:ext>
                  </a:extLst>
                </a:gridCol>
                <a:gridCol w="2692773">
                  <a:extLst>
                    <a:ext uri="{9D8B030D-6E8A-4147-A177-3AD203B41FA5}">
                      <a16:colId xmlns:a16="http://schemas.microsoft.com/office/drawing/2014/main" val="20003"/>
                    </a:ext>
                  </a:extLst>
                </a:gridCol>
              </a:tblGrid>
              <a:tr h="854168">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F51B6"/>
                    </a:solidFill>
                  </a:tcPr>
                </a:tc>
                <a:tc>
                  <a:txBody>
                    <a:bodyPr/>
                    <a:lstStyle/>
                    <a:p>
                      <a:pPr algn="ctr"/>
                      <a:r>
                        <a:rPr lang="zh-CN" altLang="en-US" dirty="0"/>
                        <a:t>基本业务系统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F51B6"/>
                    </a:solidFill>
                  </a:tcPr>
                </a:tc>
                <a:tc>
                  <a:txBody>
                    <a:bodyPr/>
                    <a:lstStyle/>
                    <a:p>
                      <a:pPr algn="ctr"/>
                      <a:r>
                        <a:rPr lang="zh-CN" altLang="en-US" dirty="0"/>
                        <a:t>文本标注系统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F51B6"/>
                    </a:solidFill>
                  </a:tcPr>
                </a:tc>
                <a:tc>
                  <a:txBody>
                    <a:bodyPr/>
                    <a:lstStyle/>
                    <a:p>
                      <a:pPr algn="ctr"/>
                      <a:r>
                        <a:rPr lang="zh-CN" altLang="en-US" dirty="0"/>
                        <a:t>智能挖掘系统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F51B6"/>
                    </a:solidFill>
                  </a:tcPr>
                </a:tc>
                <a:extLst>
                  <a:ext uri="{0D108BD9-81ED-4DB2-BD59-A6C34878D82A}">
                    <a16:rowId xmlns:a16="http://schemas.microsoft.com/office/drawing/2014/main" val="10000"/>
                  </a:ext>
                </a:extLst>
              </a:tr>
              <a:tr h="854168">
                <a:tc>
                  <a:txBody>
                    <a:bodyPr/>
                    <a:lstStyle/>
                    <a:p>
                      <a:pPr algn="ctr"/>
                      <a:r>
                        <a:rPr lang="zh-CN" altLang="en-US" dirty="0"/>
                        <a:t>开发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郭鑫、苏丁力、侯越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曾祥华、刘顺博、窦建玲魏家龙</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郭鑫、刘顺博、张宸恺、孙烨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54168">
                <a:tc>
                  <a:txBody>
                    <a:bodyPr/>
                    <a:lstStyle/>
                    <a:p>
                      <a:pPr algn="ctr"/>
                      <a:r>
                        <a:rPr lang="zh-CN" altLang="en-US" dirty="0"/>
                        <a:t>测试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孙烨、窦建玲、魏家龙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张宸恺、苏丁力、侯越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苏丁力、窦建玲、魏家龙、侯越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4168">
                <a:tc>
                  <a:txBody>
                    <a:bodyPr/>
                    <a:lstStyle/>
                    <a:p>
                      <a:pPr algn="ctr"/>
                      <a:r>
                        <a:rPr lang="zh-CN" altLang="en-US" dirty="0"/>
                        <a:t>文档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曾祥华、郭鑫、张宸恺、苏丁力、窦建玲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郭鑫、刘顺博、孙烨、窦建玲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曾祥华、刘顺博、孙烨</a:t>
                      </a:r>
                    </a:p>
                    <a:p>
                      <a:pPr algn="ct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54168">
                <a:tc>
                  <a:txBody>
                    <a:bodyPr/>
                    <a:lstStyle/>
                    <a:p>
                      <a:pPr algn="ctr"/>
                      <a:r>
                        <a:rPr lang="zh-CN" altLang="en-US" dirty="0"/>
                        <a:t>时间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2-12</a:t>
                      </a:r>
                      <a:r>
                        <a:rPr lang="zh-CN" altLang="en-US" sz="1600" dirty="0"/>
                        <a:t>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4-14</a:t>
                      </a:r>
                      <a:r>
                        <a:rPr lang="zh-CN" altLang="en-US" sz="1600" dirty="0"/>
                        <a:t>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4-14</a:t>
                      </a:r>
                      <a:r>
                        <a:rPr lang="zh-CN" altLang="en-US" sz="1600" dirty="0"/>
                        <a:t>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6" name="组合 5"/>
          <p:cNvGrpSpPr/>
          <p:nvPr/>
        </p:nvGrpSpPr>
        <p:grpSpPr>
          <a:xfrm>
            <a:off x="582710" y="712715"/>
            <a:ext cx="4154389" cy="584775"/>
            <a:chOff x="582710" y="712715"/>
            <a:chExt cx="4154389" cy="584775"/>
          </a:xfrm>
        </p:grpSpPr>
        <p:sp>
          <p:nvSpPr>
            <p:cNvPr id="7" name="矩形 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76164" y="712715"/>
              <a:ext cx="4060935" cy="584775"/>
            </a:xfrm>
            <a:prstGeom prst="rect">
              <a:avLst/>
            </a:prstGeom>
            <a:noFill/>
          </p:spPr>
          <p:txBody>
            <a:bodyPr wrap="square" rtlCol="0">
              <a:spAutoFit/>
            </a:bodyPr>
            <a:lstStyle/>
            <a:p>
              <a:r>
                <a:rPr lang="zh-CN" altLang="en-US" sz="3200" dirty="0"/>
                <a:t>整体计划</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39511" y="1809863"/>
            <a:ext cx="6104142" cy="2589299"/>
          </a:xfrm>
          <a:prstGeom prst="rect">
            <a:avLst/>
          </a:prstGeom>
          <a:noFill/>
        </p:spPr>
        <p:txBody>
          <a:bodyPr wrap="square">
            <a:spAutoFit/>
          </a:bodyPr>
          <a:lstStyle/>
          <a:p>
            <a:pPr marL="342900" indent="-342900">
              <a:lnSpc>
                <a:spcPct val="150000"/>
              </a:lnSpc>
              <a:buFont typeface="Wingdings" panose="05000000000000000000" pitchFamily="2" charset="2"/>
              <a:buChar char="u"/>
            </a:pPr>
            <a:r>
              <a:rPr lang="zh-CN" altLang="en-US" sz="2000" b="1" dirty="0">
                <a:solidFill>
                  <a:srgbClr val="002060"/>
                </a:solidFill>
                <a:latin typeface="微软雅黑" panose="020B0503020204020204" pitchFamily="34" charset="-122"/>
                <a:ea typeface="微软雅黑" panose="020B0503020204020204" pitchFamily="34" charset="-122"/>
              </a:rPr>
              <a:t>会议机制</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每周定期开展至少一次线下会议</a:t>
            </a:r>
            <a:endParaRPr lang="en-US" altLang="zh-CN" dirty="0">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根据每周的任务情况，不定期开展线上会议</a:t>
            </a:r>
            <a:endParaRPr lang="en-US" altLang="zh-CN" dirty="0">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微信群聊随时沟通讨论项目进展、遇到的问题</a:t>
            </a:r>
            <a:endParaRPr lang="en-US" altLang="zh-CN" dirty="0">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u"/>
            </a:pPr>
            <a:endParaRPr lang="en-US" altLang="zh-CN" dirty="0">
              <a:latin typeface="微软雅黑" panose="020B0503020204020204" pitchFamily="34" charset="-122"/>
              <a:ea typeface="微软雅黑" panose="020B0503020204020204" pitchFamily="34" charset="-122"/>
            </a:endParaRPr>
          </a:p>
          <a:p>
            <a:pPr marL="609600" lvl="1">
              <a:lnSpc>
                <a:spcPct val="150000"/>
              </a:lnSpc>
            </a:pPr>
            <a:endParaRPr lang="en-US" altLang="zh-CN" dirty="0">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2"/>
          <a:stretch>
            <a:fillRect/>
          </a:stretch>
        </p:blipFill>
        <p:spPr>
          <a:xfrm>
            <a:off x="7672988" y="713898"/>
            <a:ext cx="3997827" cy="6144102"/>
          </a:xfrm>
          <a:prstGeom prst="rect">
            <a:avLst/>
          </a:prstGeom>
        </p:spPr>
      </p:pic>
      <p:sp>
        <p:nvSpPr>
          <p:cNvPr id="15" name="文本框 14"/>
          <p:cNvSpPr txBox="1"/>
          <p:nvPr/>
        </p:nvSpPr>
        <p:spPr>
          <a:xfrm>
            <a:off x="1139511" y="4318113"/>
            <a:ext cx="6104142" cy="3266407"/>
          </a:xfrm>
          <a:prstGeom prst="rect">
            <a:avLst/>
          </a:prstGeom>
          <a:noFill/>
        </p:spPr>
        <p:txBody>
          <a:bodyPr wrap="square">
            <a:spAutoFit/>
          </a:bodyPr>
          <a:lstStyle/>
          <a:p>
            <a:pPr marL="342900" indent="-342900">
              <a:buFont typeface="Wingdings" panose="05000000000000000000" pitchFamily="2" charset="2"/>
              <a:buChar char="u"/>
            </a:pPr>
            <a:r>
              <a:rPr lang="zh-CN" altLang="en-US" sz="2000" b="1" dirty="0">
                <a:solidFill>
                  <a:srgbClr val="002060"/>
                </a:solidFill>
                <a:latin typeface="微软雅黑" panose="020B0503020204020204" pitchFamily="34" charset="-122"/>
                <a:ea typeface="微软雅黑" panose="020B0503020204020204" pitchFamily="34" charset="-122"/>
              </a:rPr>
              <a:t>项目统计</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895350" lvl="1" indent="-28575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每周整理并记录项目进展及实施情况</a:t>
            </a:r>
            <a:endParaRPr lang="en-US" altLang="zh-CN" dirty="0">
              <a:latin typeface="微软雅黑" panose="020B0503020204020204" pitchFamily="34" charset="-122"/>
              <a:ea typeface="微软雅黑" panose="020B0503020204020204" pitchFamily="34" charset="-122"/>
            </a:endParaRPr>
          </a:p>
          <a:p>
            <a:pPr marL="895350" lvl="1" indent="-28575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每周通过问卷形式统计并记录成员工作量</a:t>
            </a:r>
            <a:endParaRPr lang="en-US" altLang="zh-CN" dirty="0">
              <a:latin typeface="微软雅黑" panose="020B0503020204020204" pitchFamily="34" charset="-122"/>
              <a:ea typeface="微软雅黑" panose="020B0503020204020204" pitchFamily="34" charset="-122"/>
            </a:endParaRPr>
          </a:p>
          <a:p>
            <a:pPr marL="895350" lvl="1" indent="-28575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每周对比计划进度，及时调整</a:t>
            </a:r>
          </a:p>
          <a:p>
            <a:pPr marL="895350" lvl="1" indent="-285750">
              <a:lnSpc>
                <a:spcPct val="150000"/>
              </a:lnSpc>
              <a:buFont typeface="Wingdings" panose="05000000000000000000" pitchFamily="2" charset="2"/>
              <a:buChar char="u"/>
            </a:pPr>
            <a:endParaRPr lang="zh-CN" altLang="en-US" dirty="0">
              <a:latin typeface="微软雅黑" panose="020B0503020204020204" pitchFamily="34" charset="-122"/>
              <a:ea typeface="微软雅黑" panose="020B0503020204020204" pitchFamily="34" charset="-122"/>
            </a:endParaRPr>
          </a:p>
          <a:p>
            <a:pPr marL="895350" lvl="1" indent="-285750">
              <a:lnSpc>
                <a:spcPct val="150000"/>
              </a:lnSpc>
              <a:buFont typeface="Wingdings" panose="05000000000000000000" pitchFamily="2" charset="2"/>
              <a:buChar char="u"/>
            </a:pPr>
            <a:endParaRPr lang="zh-CN" altLang="en-US" dirty="0">
              <a:latin typeface="微软雅黑" panose="020B0503020204020204" pitchFamily="34" charset="-122"/>
              <a:ea typeface="微软雅黑" panose="020B0503020204020204" pitchFamily="34" charset="-122"/>
            </a:endParaRPr>
          </a:p>
          <a:p>
            <a:pPr marL="895350" lvl="1" indent="-285750">
              <a:lnSpc>
                <a:spcPct val="150000"/>
              </a:lnSpc>
              <a:buFont typeface="Wingdings" panose="05000000000000000000" pitchFamily="2" charset="2"/>
              <a:buChar char="u"/>
            </a:pPr>
            <a:endParaRPr lang="en-US" altLang="zh-CN" dirty="0">
              <a:latin typeface="微软雅黑" panose="020B0503020204020204" pitchFamily="34" charset="-122"/>
              <a:ea typeface="微软雅黑" panose="020B0503020204020204" pitchFamily="34" charset="-122"/>
            </a:endParaRPr>
          </a:p>
          <a:p>
            <a:pPr marL="609600" lvl="1">
              <a:lnSpc>
                <a:spcPct val="150000"/>
              </a:lnSpc>
            </a:pPr>
            <a:endParaRPr lang="en-US" altLang="zh-CN" dirty="0">
              <a:latin typeface="微软雅黑" panose="020B0503020204020204" pitchFamily="34" charset="-122"/>
              <a:ea typeface="微软雅黑" panose="020B0503020204020204" pitchFamily="34" charset="-122"/>
            </a:endParaRPr>
          </a:p>
        </p:txBody>
      </p:sp>
      <p:grpSp>
        <p:nvGrpSpPr>
          <p:cNvPr id="18" name="组合 17"/>
          <p:cNvGrpSpPr/>
          <p:nvPr/>
        </p:nvGrpSpPr>
        <p:grpSpPr>
          <a:xfrm>
            <a:off x="582710" y="712715"/>
            <a:ext cx="5289172" cy="584775"/>
            <a:chOff x="582710" y="712715"/>
            <a:chExt cx="5289172" cy="584775"/>
          </a:xfrm>
        </p:grpSpPr>
        <p:sp>
          <p:nvSpPr>
            <p:cNvPr id="19" name="矩形 18"/>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676164" y="712715"/>
              <a:ext cx="5195718" cy="584775"/>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工作量统计</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日常工作</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825625"/>
            <a:ext cx="9387724" cy="4351338"/>
          </a:xfrm>
        </p:spPr>
        <p:txBody>
          <a:bodyPr>
            <a:normAutofit fontScale="85000" lnSpcReduction="20000"/>
          </a:bodyPr>
          <a:lstStyle/>
          <a:p>
            <a:pPr marL="800100" lvl="1" indent="-342900">
              <a:lnSpc>
                <a:spcPct val="170000"/>
              </a:lnSpc>
              <a:buFont typeface="Wingdings" panose="05000000000000000000" pitchFamily="2" charset="2"/>
              <a:buChar char="u"/>
            </a:pPr>
            <a:r>
              <a:rPr lang="zh-CN" altLang="en-US" sz="2500" b="1" dirty="0">
                <a:solidFill>
                  <a:srgbClr val="002060"/>
                </a:solidFill>
              </a:rPr>
              <a:t>代码开发</a:t>
            </a:r>
            <a:endParaRPr lang="en-US" altLang="zh-CN" sz="2500" b="1" dirty="0">
              <a:solidFill>
                <a:srgbClr val="002060"/>
              </a:solidFill>
            </a:endParaRPr>
          </a:p>
          <a:p>
            <a:pPr marL="1409700" lvl="2" indent="-342900">
              <a:lnSpc>
                <a:spcPct val="150000"/>
              </a:lnSpc>
              <a:buFont typeface="Wingdings" panose="05000000000000000000" pitchFamily="2" charset="2"/>
              <a:buChar char="u"/>
            </a:pPr>
            <a:r>
              <a:rPr lang="zh-CN" altLang="en-US" dirty="0"/>
              <a:t>不允许直接修改</a:t>
            </a:r>
            <a:r>
              <a:rPr lang="en-US" altLang="zh-CN" dirty="0"/>
              <a:t>master</a:t>
            </a:r>
            <a:r>
              <a:rPr lang="zh-CN" altLang="en-US" dirty="0"/>
              <a:t>分支</a:t>
            </a:r>
            <a:endParaRPr lang="en-US" altLang="zh-CN" dirty="0"/>
          </a:p>
          <a:p>
            <a:pPr marL="1409700" lvl="2" indent="-342900">
              <a:lnSpc>
                <a:spcPct val="150000"/>
              </a:lnSpc>
              <a:buFont typeface="Wingdings" panose="05000000000000000000" pitchFamily="2" charset="2"/>
              <a:buChar char="u"/>
            </a:pPr>
            <a:r>
              <a:rPr lang="zh-CN" altLang="en-US" dirty="0"/>
              <a:t>开发代码时，每人维护自己的功能分支，之后向</a:t>
            </a:r>
            <a:r>
              <a:rPr lang="en-US" altLang="zh-CN" dirty="0"/>
              <a:t>master</a:t>
            </a:r>
            <a:r>
              <a:rPr lang="zh-CN" altLang="en-US" dirty="0"/>
              <a:t>分支合并</a:t>
            </a:r>
            <a:endParaRPr lang="en-US" altLang="zh-CN" dirty="0"/>
          </a:p>
          <a:p>
            <a:pPr marL="1409700" lvl="2" indent="-342900">
              <a:lnSpc>
                <a:spcPct val="150000"/>
              </a:lnSpc>
              <a:buFont typeface="Wingdings" panose="05000000000000000000" pitchFamily="2" charset="2"/>
              <a:buChar char="u"/>
            </a:pPr>
            <a:r>
              <a:rPr lang="zh-CN" altLang="en-US" dirty="0"/>
              <a:t>所有分支合并都需要提起</a:t>
            </a:r>
            <a:r>
              <a:rPr lang="en-US" altLang="zh-CN" dirty="0"/>
              <a:t>PR</a:t>
            </a:r>
            <a:r>
              <a:rPr lang="zh-CN" altLang="en-US" dirty="0"/>
              <a:t>，并由至少一位其他成员评审通过（评审人员应该是该任务的负责人之一）</a:t>
            </a:r>
            <a:endParaRPr lang="en-US" altLang="zh-CN" dirty="0"/>
          </a:p>
          <a:p>
            <a:pPr marL="800100" lvl="1" indent="-342900">
              <a:lnSpc>
                <a:spcPct val="170000"/>
              </a:lnSpc>
              <a:buFont typeface="Wingdings" panose="05000000000000000000" pitchFamily="2" charset="2"/>
              <a:buChar char="u"/>
            </a:pPr>
            <a:r>
              <a:rPr lang="zh-CN" altLang="en-US" sz="2500" b="1" dirty="0">
                <a:solidFill>
                  <a:srgbClr val="002060"/>
                </a:solidFill>
              </a:rPr>
              <a:t>文档撰写</a:t>
            </a:r>
            <a:endParaRPr lang="en-US" altLang="zh-CN" sz="2500" b="1" dirty="0">
              <a:solidFill>
                <a:srgbClr val="002060"/>
              </a:solidFill>
            </a:endParaRPr>
          </a:p>
          <a:p>
            <a:pPr marL="1409700" lvl="2" indent="-342900">
              <a:lnSpc>
                <a:spcPct val="150000"/>
              </a:lnSpc>
              <a:buFont typeface="Wingdings" panose="05000000000000000000" pitchFamily="2" charset="2"/>
              <a:buChar char="u"/>
            </a:pPr>
            <a:r>
              <a:rPr lang="zh-CN" altLang="en-US" dirty="0"/>
              <a:t>使用</a:t>
            </a:r>
            <a:r>
              <a:rPr lang="en-US" altLang="zh-CN" dirty="0"/>
              <a:t>markdown</a:t>
            </a:r>
            <a:r>
              <a:rPr lang="zh-CN" altLang="en-US" dirty="0"/>
              <a:t>在线文档协作工具</a:t>
            </a:r>
            <a:endParaRPr lang="en-US" altLang="zh-CN" dirty="0"/>
          </a:p>
          <a:p>
            <a:pPr marL="1409700" lvl="2" indent="-342900">
              <a:lnSpc>
                <a:spcPct val="150000"/>
              </a:lnSpc>
              <a:buFont typeface="Wingdings" panose="05000000000000000000" pitchFamily="2" charset="2"/>
              <a:buChar char="u"/>
            </a:pPr>
            <a:r>
              <a:rPr lang="zh-CN" altLang="en-US" dirty="0"/>
              <a:t>文档版本号格式为</a:t>
            </a:r>
            <a:r>
              <a:rPr lang="en-US" altLang="zh-CN" dirty="0"/>
              <a:t>A.B.C</a:t>
            </a:r>
            <a:r>
              <a:rPr lang="zh-CN" altLang="en-US" dirty="0"/>
              <a:t>，</a:t>
            </a:r>
            <a:r>
              <a:rPr lang="en-US" altLang="zh-CN" dirty="0"/>
              <a:t>C</a:t>
            </a:r>
            <a:r>
              <a:rPr lang="zh-CN" altLang="en-US" dirty="0"/>
              <a:t>位可以个人修改，</a:t>
            </a:r>
            <a:r>
              <a:rPr lang="en-US" altLang="zh-CN" dirty="0"/>
              <a:t>B</a:t>
            </a:r>
            <a:r>
              <a:rPr lang="zh-CN" altLang="en-US" dirty="0"/>
              <a:t>位变化需小组</a:t>
            </a:r>
            <a:r>
              <a:rPr lang="en-US" altLang="zh-CN" dirty="0"/>
              <a:t>1/2</a:t>
            </a:r>
            <a:r>
              <a:rPr lang="zh-CN" altLang="en-US" dirty="0"/>
              <a:t>成员通过，</a:t>
            </a:r>
            <a:r>
              <a:rPr lang="en-US" altLang="zh-CN" dirty="0"/>
              <a:t>A</a:t>
            </a:r>
            <a:r>
              <a:rPr lang="zh-CN" altLang="en-US" dirty="0"/>
              <a:t>位则需小组所有成员通过</a:t>
            </a:r>
            <a:endParaRPr lang="en-US" altLang="zh-CN" dirty="0"/>
          </a:p>
          <a:p>
            <a:pPr marL="1409700" lvl="2" indent="-342900">
              <a:lnSpc>
                <a:spcPct val="150000"/>
              </a:lnSpc>
              <a:buFont typeface="Wingdings" panose="05000000000000000000" pitchFamily="2" charset="2"/>
              <a:buChar char="u"/>
            </a:pPr>
            <a:r>
              <a:rPr lang="zh-CN" altLang="en-US" dirty="0"/>
              <a:t>文档最后需要经过专人审核（文档审核人员或者项目经理）</a:t>
            </a:r>
            <a:endParaRPr lang="en-US" altLang="zh-CN" dirty="0"/>
          </a:p>
          <a:p>
            <a:endParaRPr lang="zh-CN" altLang="en-US" dirty="0"/>
          </a:p>
        </p:txBody>
      </p:sp>
      <p:grpSp>
        <p:nvGrpSpPr>
          <p:cNvPr id="6" name="组合 5"/>
          <p:cNvGrpSpPr/>
          <p:nvPr/>
        </p:nvGrpSpPr>
        <p:grpSpPr>
          <a:xfrm>
            <a:off x="582710" y="712715"/>
            <a:ext cx="5289172" cy="584775"/>
            <a:chOff x="582710" y="712715"/>
            <a:chExt cx="5289172" cy="584775"/>
          </a:xfrm>
        </p:grpSpPr>
        <p:sp>
          <p:nvSpPr>
            <p:cNvPr id="7" name="矩形 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 name="文本框 7"/>
            <p:cNvSpPr txBox="1"/>
            <p:nvPr/>
          </p:nvSpPr>
          <p:spPr>
            <a:xfrm>
              <a:off x="676164" y="712715"/>
              <a:ext cx="5195718" cy="584775"/>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团队协作</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20647" y="991340"/>
            <a:ext cx="7490619"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49894" y="756499"/>
            <a:ext cx="0" cy="381688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411972" y="5401240"/>
            <a:ext cx="6254002"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95703" y="2853976"/>
            <a:ext cx="0" cy="364225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27" name="矩形: 圆角 26"/>
          <p:cNvSpPr/>
          <p:nvPr/>
        </p:nvSpPr>
        <p:spPr>
          <a:xfrm>
            <a:off x="3576920" y="3840434"/>
            <a:ext cx="5136774" cy="4516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微软雅黑" panose="020B0503020204020204" pitchFamily="34" charset="-122"/>
              <a:cs typeface="汉仪君黑-45简" panose="020B0604020202020204" charset="-122"/>
            </a:endParaRPr>
          </a:p>
        </p:txBody>
      </p:sp>
      <p:sp>
        <p:nvSpPr>
          <p:cNvPr id="28" name="文本框 27"/>
          <p:cNvSpPr txBox="1"/>
          <p:nvPr/>
        </p:nvSpPr>
        <p:spPr>
          <a:xfrm>
            <a:off x="4809599" y="3879601"/>
            <a:ext cx="4380827"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cs typeface="汉仪君黑-45简" panose="020B0604020202020204" charset="-122"/>
              </a:rPr>
              <a:t>汇报人：软件工程</a:t>
            </a:r>
            <a:r>
              <a:rPr lang="en-US" altLang="zh-CN" dirty="0">
                <a:solidFill>
                  <a:schemeClr val="bg1"/>
                </a:solidFill>
                <a:latin typeface="微软雅黑" panose="020B0503020204020204" pitchFamily="34" charset="-122"/>
                <a:ea typeface="微软雅黑" panose="020B0503020204020204" pitchFamily="34" charset="-122"/>
                <a:cs typeface="汉仪君黑-45简" panose="020B0604020202020204" charset="-122"/>
              </a:rPr>
              <a:t>A</a:t>
            </a:r>
            <a:r>
              <a:rPr lang="zh-CN" altLang="en-US" dirty="0">
                <a:solidFill>
                  <a:schemeClr val="bg1"/>
                </a:solidFill>
                <a:latin typeface="微软雅黑" panose="020B0503020204020204" pitchFamily="34" charset="-122"/>
                <a:ea typeface="微软雅黑" panose="020B0503020204020204" pitchFamily="34" charset="-122"/>
                <a:cs typeface="汉仪君黑-45简" panose="020B0604020202020204" charset="-122"/>
              </a:rPr>
              <a:t>组 </a:t>
            </a:r>
            <a:endParaRPr lang="en-US" altLang="zh-CN" dirty="0">
              <a:solidFill>
                <a:schemeClr val="bg1"/>
              </a:solidFill>
              <a:latin typeface="微软雅黑" panose="020B0503020204020204" pitchFamily="34" charset="-122"/>
              <a:ea typeface="微软雅黑" panose="020B0503020204020204" pitchFamily="34" charset="-122"/>
              <a:cs typeface="汉仪君黑-45简" panose="020B0604020202020204" charset="-122"/>
            </a:endParaRPr>
          </a:p>
        </p:txBody>
      </p:sp>
      <p:cxnSp>
        <p:nvCxnSpPr>
          <p:cNvPr id="33" name="直接连接符 32"/>
          <p:cNvCxnSpPr/>
          <p:nvPr/>
        </p:nvCxnSpPr>
        <p:spPr>
          <a:xfrm>
            <a:off x="1048355" y="1220494"/>
            <a:ext cx="7490619"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96540" y="5197551"/>
            <a:ext cx="6254002"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21995" y="2332990"/>
            <a:ext cx="10745470" cy="1108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dirty="0">
                <a:solidFill>
                  <a:srgbClr val="005BAC"/>
                </a:solidFill>
                <a:latin typeface="微软雅黑" panose="020B0503020204020204" pitchFamily="34" charset="-122"/>
                <a:ea typeface="微软雅黑" panose="020B0503020204020204" pitchFamily="34" charset="-122"/>
              </a:rPr>
              <a:t>请老师批评指正！</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lmNGM0MTY1Zjc1NDk4MTlmODIwZjc2MWI0MGI3MTg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510.2217322834646,&quot;left&quot;:87.26196850393701,&quot;top&quot;:0.017401574803147923,&quot;width&quot;:762.637637795275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510.2217322834646,&quot;left&quot;:87.26196850393701,&quot;top&quot;:0.017401574803147923,&quot;width&quot;:762.6376377952756}"/>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UNIT_TABLE_BEAUTIFY" val="smartTable{902f2e51-bbbd-4487-9e79-f27aa485e395}"/>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1864</Words>
  <Application>Microsoft Macintosh PowerPoint</Application>
  <PresentationFormat>宽屏</PresentationFormat>
  <Paragraphs>210</Paragraphs>
  <Slides>16</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等线 Light</vt:lpstr>
      <vt:lpstr>汉仪君黑-45简</vt:lpstr>
      <vt:lpstr>微软雅黑</vt:lpstr>
      <vt:lpstr>Söhne</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面向CI的自动评测系统</dc:title>
  <dc:creator>周雨飞</dc:creator>
  <cp:lastModifiedBy>Student</cp:lastModifiedBy>
  <cp:revision>467</cp:revision>
  <dcterms:created xsi:type="dcterms:W3CDTF">2021-03-10T05:59:00Z</dcterms:created>
  <dcterms:modified xsi:type="dcterms:W3CDTF">2024-03-15T10:50:52Z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3535E818BA4A4110B5359F4A33F5E335_12</vt:lpwstr>
  </property>
  <property fmtid="{D5CDD505-2E9C-101B-9397-08002B2CF9AE}" pid="3" name="KSOProductBuildVer">
    <vt:lpwstr>2052-12.1.0.16250</vt:lpwstr>
  </property>
</Properties>
</file>