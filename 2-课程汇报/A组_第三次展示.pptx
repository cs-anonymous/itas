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xml" ContentType="application/vnd.openxmlformats-officedocument.presentationml.notesSlide+xml"/>
  <Override PartName="/ppt/tags/tag73.xml" ContentType="application/vnd.openxmlformats-officedocument.presentationml.tags+xml"/>
  <Override PartName="/ppt/notesSlides/notesSlide2.xml" ContentType="application/vnd.openxmlformats-officedocument.presentationml.notesSlide+xml"/>
  <Override PartName="/ppt/tags/tag74.xml" ContentType="application/vnd.openxmlformats-officedocument.presentationml.tags+xml"/>
  <Override PartName="/ppt/notesSlides/notesSlide3.xml" ContentType="application/vnd.openxmlformats-officedocument.presentationml.notesSlide+xml"/>
  <Override PartName="/ppt/tags/tag75.xml" ContentType="application/vnd.openxmlformats-officedocument.presentationml.tags+xml"/>
  <Override PartName="/ppt/notesSlides/notesSlide4.xml" ContentType="application/vnd.openxmlformats-officedocument.presentationml.notesSlide+xml"/>
  <Override PartName="/ppt/tags/tag76.xml" ContentType="application/vnd.openxmlformats-officedocument.presentationml.tags+xml"/>
  <Override PartName="/ppt/notesSlides/notesSlide5.xml" ContentType="application/vnd.openxmlformats-officedocument.presentationml.notesSlide+xml"/>
  <Override PartName="/ppt/tags/tag77.xml" ContentType="application/vnd.openxmlformats-officedocument.presentationml.tags+xml"/>
  <Override PartName="/ppt/notesSlides/notesSlide6.xml" ContentType="application/vnd.openxmlformats-officedocument.presentationml.notesSlide+xml"/>
  <Override PartName="/ppt/tags/tag78.xml" ContentType="application/vnd.openxmlformats-officedocument.presentationml.tags+xml"/>
  <Override PartName="/ppt/notesSlides/notesSlide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92" r:id="rId2"/>
    <p:sldId id="322" r:id="rId3"/>
    <p:sldId id="323" r:id="rId4"/>
    <p:sldId id="324" r:id="rId5"/>
    <p:sldId id="325" r:id="rId6"/>
    <p:sldId id="336" r:id="rId7"/>
    <p:sldId id="338" r:id="rId8"/>
    <p:sldId id="326" r:id="rId9"/>
    <p:sldId id="327" r:id="rId10"/>
    <p:sldId id="328" r:id="rId11"/>
    <p:sldId id="329" r:id="rId12"/>
    <p:sldId id="330" r:id="rId13"/>
    <p:sldId id="331" r:id="rId14"/>
    <p:sldId id="332" r:id="rId15"/>
    <p:sldId id="337" r:id="rId16"/>
    <p:sldId id="297" r:id="rId17"/>
    <p:sldId id="339" r:id="rId18"/>
    <p:sldId id="340" r:id="rId19"/>
    <p:sldId id="341" r:id="rId20"/>
    <p:sldId id="302" r:id="rId21"/>
  </p:sldIdLst>
  <p:sldSz cx="12192000" cy="6858000"/>
  <p:notesSz cx="6858000" cy="9144000"/>
  <p:embeddedFontLst>
    <p:embeddedFont>
      <p:font typeface="腾讯字体包" panose="02010600030101010101" charset="-128"/>
      <p:regular r:id="rId23"/>
    </p:embeddedFont>
    <p:embeddedFont>
      <p:font typeface="微软雅黑" panose="020B0503020204020204" pitchFamily="34" charset="-122"/>
      <p:regular r:id="rId24"/>
      <p:bold r:id="rId25"/>
    </p:embeddedFont>
    <p:embeddedFont>
      <p:font typeface="等线" panose="02010600030101010101" pitchFamily="2" charset="-122"/>
      <p:regular r:id="rId26"/>
      <p:bold r:id="rId27"/>
    </p:embeddedFont>
    <p:embeddedFont>
      <p:font typeface="等线 Light" panose="02010600030101010101" pitchFamily="2" charset="-122"/>
      <p:regular r:id="rId28"/>
    </p:embeddedFont>
  </p:embeddedFontLst>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2" userDrawn="1">
          <p15:clr>
            <a:srgbClr val="A4A3A4"/>
          </p15:clr>
        </p15:guide>
        <p15:guide id="2" pos="383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潘 叙辰" initials="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4336"/>
    <a:srgbClr val="3D5CE8"/>
    <a:srgbClr val="3F51B6"/>
    <a:srgbClr val="FFC107"/>
    <a:srgbClr val="0353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89774" autoAdjust="0"/>
  </p:normalViewPr>
  <p:slideViewPr>
    <p:cSldViewPr snapToGrid="0" snapToObjects="1" showGuides="1">
      <p:cViewPr varScale="1">
        <p:scale>
          <a:sx n="80" d="100"/>
          <a:sy n="80" d="100"/>
        </p:scale>
        <p:origin x="776" y="48"/>
      </p:cViewPr>
      <p:guideLst>
        <p:guide orient="horz" pos="2202"/>
        <p:guide pos="38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97A47B-A0D5-DA41-900D-8BC3EE78233D}" type="datetimeFigureOut">
              <a:rPr kumimoji="1" lang="zh-CN" altLang="en-US" smtClean="0"/>
              <a:t>2024/3/29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EB3DA-7079-E949-9421-E14B70A684EB}"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8</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9</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10</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11</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12</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13</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系统划分为文本标注子系统与智能挖掘子系统。</a:t>
            </a:r>
          </a:p>
          <a:p>
            <a:pPr indent="266700" algn="just">
              <a:lnSpc>
                <a:spcPct val="150000"/>
              </a:lnSpc>
            </a:pPr>
            <a:r>
              <a:rPr lang="zh-CN" altLang="zh-CN" sz="1200" kern="100" dirty="0">
                <a:effectLst/>
                <a:latin typeface="Times New Roman" panose="02020603050405020304" charset="0"/>
                <a:ea typeface="宋体" panose="02010600030101010101" pitchFamily="2" charset="-122"/>
                <a:cs typeface="Times New Roman" panose="02020603050405020304" charset="0"/>
              </a:rPr>
              <a:t>文本标注子系统的功能目标为提供一个能够完成文本标注与管理的图形化界面平台，以直接提供可供科研使用的有效标注数据或为智能挖掘模型训练提供训练数据。</a:t>
            </a:r>
          </a:p>
          <a:p>
            <a:r>
              <a:rPr lang="zh-CN" altLang="zh-CN" sz="1200" kern="100" dirty="0">
                <a:effectLst/>
                <a:latin typeface="Times New Roman" panose="02020603050405020304" charset="0"/>
                <a:ea typeface="宋体" panose="02010600030101010101" pitchFamily="2" charset="-122"/>
                <a:cs typeface="Times New Roman" panose="02020603050405020304"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14</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17</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矩形 11"/>
          <p:cNvSpPr/>
          <p:nvPr userDrawn="1"/>
        </p:nvSpPr>
        <p:spPr>
          <a:xfrm>
            <a:off x="0" y="-13323"/>
            <a:ext cx="12192000" cy="610481"/>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 name="标题占位符 1"/>
          <p:cNvSpPr>
            <a:spLocks noGrp="1"/>
          </p:cNvSpPr>
          <p:nvPr>
            <p:ph type="title"/>
          </p:nvPr>
        </p:nvSpPr>
        <p:spPr>
          <a:xfrm>
            <a:off x="838200" y="787078"/>
            <a:ext cx="10515600" cy="90361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11074077" y="6492875"/>
            <a:ext cx="11063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5198AB-6873-054A-AB06-26C5505BAFA0}" type="datetimeFigureOut">
              <a:rPr kumimoji="1" lang="zh-CN" altLang="en-US" smtClean="0"/>
              <a:t>2024/3/29</a:t>
            </a:fld>
            <a:endParaRPr kumimoji="1" lang="zh-CN" altLang="en-US"/>
          </a:p>
        </p:txBody>
      </p:sp>
      <p:sp>
        <p:nvSpPr>
          <p:cNvPr id="5" name="页脚占位符 4"/>
          <p:cNvSpPr>
            <a:spLocks noGrp="1"/>
          </p:cNvSpPr>
          <p:nvPr>
            <p:ph type="ftr" sz="quarter" idx="3"/>
          </p:nvPr>
        </p:nvSpPr>
        <p:spPr>
          <a:xfrm>
            <a:off x="9556828" y="6492874"/>
            <a:ext cx="150567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11563109" y="96654"/>
            <a:ext cx="617315" cy="365125"/>
          </a:xfrm>
          <a:prstGeom prst="rect">
            <a:avLst/>
          </a:prstGeom>
        </p:spPr>
        <p:txBody>
          <a:bodyPr vert="horz" lIns="91440" tIns="45720" rIns="91440" bIns="45720" rtlCol="0" anchor="ctr"/>
          <a:lstStyle>
            <a:lvl1pPr algn="r">
              <a:defRPr sz="2000">
                <a:solidFill>
                  <a:schemeClr val="bg1"/>
                </a:solidFill>
              </a:defRPr>
            </a:lvl1pPr>
          </a:lstStyle>
          <a:p>
            <a:pPr algn="ctr"/>
            <a:fld id="{6966DED7-2298-EF44-BC75-CCD61101EBFF}" type="slidenum">
              <a:rPr kumimoji="1" lang="zh-CN" altLang="en-US" smtClean="0"/>
              <a:t>‹#›</a:t>
            </a:fld>
            <a:endParaRPr kumimoji="1" lang="zh-CN" altLang="en-US" dirty="0"/>
          </a:p>
        </p:txBody>
      </p:sp>
      <p:pic>
        <p:nvPicPr>
          <p:cNvPr id="14" name="Picture 4"/>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52878" y="21714"/>
            <a:ext cx="2977333" cy="56611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3" Type="http://schemas.openxmlformats.org/officeDocument/2006/relationships/tags" Target="../tags/tag7.xml"/><Relationship Id="rId21" Type="http://schemas.openxmlformats.org/officeDocument/2006/relationships/tags" Target="../tags/tag25.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slideLayout" Target="../slideLayouts/slideLayout2.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tags" Target="../tags/tag28.xml"/><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tags" Target="../tags/tag27.xml"/><Relationship Id="rId10" Type="http://schemas.openxmlformats.org/officeDocument/2006/relationships/tags" Target="../tags/tag14.xml"/><Relationship Id="rId19" Type="http://schemas.openxmlformats.org/officeDocument/2006/relationships/tags" Target="../tags/tag23.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tags" Target="../tags/tag26.xml"/></Relationships>
</file>

<file path=ppt/slides/_rels/slide6.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tags" Target="../tags/tag46.xml"/><Relationship Id="rId3" Type="http://schemas.openxmlformats.org/officeDocument/2006/relationships/tags" Target="../tags/tag31.xml"/><Relationship Id="rId21" Type="http://schemas.openxmlformats.org/officeDocument/2006/relationships/tags" Target="../tags/tag49.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tags" Target="../tags/tag48.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image" Target="../media/image7.png"/><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slideLayout" Target="../slideLayouts/slideLayout2.xml"/><Relationship Id="rId10" Type="http://schemas.openxmlformats.org/officeDocument/2006/relationships/tags" Target="../tags/tag38.xml"/><Relationship Id="rId19" Type="http://schemas.openxmlformats.org/officeDocument/2006/relationships/tags" Target="../tags/tag47.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tags" Target="../tags/tag50.xml"/></Relationships>
</file>

<file path=ppt/slides/_rels/slide7.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tags" Target="../tags/tag71.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24" Type="http://schemas.openxmlformats.org/officeDocument/2006/relationships/image" Target="../media/image8.png"/><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slideLayout" Target="../slideLayouts/slideLayout2.xml"/><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tags" Target="../tags/tag7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tags" Target="../tags/tag91.xml"/><Relationship Id="rId18" Type="http://schemas.openxmlformats.org/officeDocument/2006/relationships/tags" Target="../tags/tag96.xml"/><Relationship Id="rId3" Type="http://schemas.openxmlformats.org/officeDocument/2006/relationships/tags" Target="../tags/tag81.xml"/><Relationship Id="rId21" Type="http://schemas.openxmlformats.org/officeDocument/2006/relationships/tags" Target="../tags/tag99.xml"/><Relationship Id="rId7" Type="http://schemas.openxmlformats.org/officeDocument/2006/relationships/tags" Target="../tags/tag85.xml"/><Relationship Id="rId12" Type="http://schemas.openxmlformats.org/officeDocument/2006/relationships/tags" Target="../tags/tag90.xml"/><Relationship Id="rId17" Type="http://schemas.openxmlformats.org/officeDocument/2006/relationships/tags" Target="../tags/tag95.xml"/><Relationship Id="rId2" Type="http://schemas.openxmlformats.org/officeDocument/2006/relationships/tags" Target="../tags/tag80.xml"/><Relationship Id="rId16" Type="http://schemas.openxmlformats.org/officeDocument/2006/relationships/tags" Target="../tags/tag94.xml"/><Relationship Id="rId20" Type="http://schemas.openxmlformats.org/officeDocument/2006/relationships/tags" Target="../tags/tag98.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5" Type="http://schemas.openxmlformats.org/officeDocument/2006/relationships/tags" Target="../tags/tag93.xml"/><Relationship Id="rId10" Type="http://schemas.openxmlformats.org/officeDocument/2006/relationships/tags" Target="../tags/tag88.xml"/><Relationship Id="rId19" Type="http://schemas.openxmlformats.org/officeDocument/2006/relationships/tags" Target="../tags/tag97.xml"/><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tags" Target="../tags/tag92.xml"/><Relationship Id="rId2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086915"/>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576920" y="3840434"/>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charset="-122"/>
              <a:cs typeface="汉仪君黑-45简" panose="020B0604020202020204" charset="-122"/>
            </a:endParaRPr>
          </a:p>
        </p:txBody>
      </p:sp>
      <p:sp>
        <p:nvSpPr>
          <p:cNvPr id="28" name="文本框 27"/>
          <p:cNvSpPr txBox="1"/>
          <p:nvPr/>
        </p:nvSpPr>
        <p:spPr>
          <a:xfrm>
            <a:off x="4809599" y="3879601"/>
            <a:ext cx="4380827" cy="368300"/>
          </a:xfrm>
          <a:prstGeom prst="rect">
            <a:avLst/>
          </a:prstGeom>
          <a:noFill/>
        </p:spPr>
        <p:txBody>
          <a:bodyPr wrap="square" rtlCol="0">
            <a:spAutoFit/>
          </a:bodyPr>
          <a:lstStyle/>
          <a:p>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汇报人：软件工程</a:t>
            </a:r>
            <a:r>
              <a:rPr lang="en-US" altLang="zh-CN" dirty="0">
                <a:solidFill>
                  <a:schemeClr val="bg1"/>
                </a:solidFill>
                <a:latin typeface="腾讯字体包" panose="02010600010101010101" charset="-128"/>
                <a:ea typeface="腾讯字体包" panose="02010600010101010101" charset="-128"/>
                <a:cs typeface="腾讯字体包" panose="02010600010101010101" charset="-128"/>
              </a:rPr>
              <a:t>A</a:t>
            </a:r>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组 </a:t>
            </a:r>
            <a:endParaRPr lang="en-US" altLang="zh-CN" dirty="0">
              <a:solidFill>
                <a:schemeClr val="bg1"/>
              </a:solidFill>
              <a:latin typeface="腾讯字体包" panose="02010600010101010101" charset="-128"/>
              <a:ea typeface="腾讯字体包" panose="02010600010101010101" charset="-128"/>
              <a:cs typeface="腾讯字体包" panose="02010600010101010101" charset="-128"/>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4883226"/>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199644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rPr>
              <a:t>智能文本标注系统（</a:t>
            </a:r>
            <a:r>
              <a:rPr lang="en-US" altLang="zh-CN" sz="4400" b="1" dirty="0">
                <a:solidFill>
                  <a:srgbClr val="005BAC"/>
                </a:solidFill>
                <a:latin typeface="腾讯字体包" panose="02010600010101010101" charset="-128"/>
                <a:ea typeface="腾讯字体包" panose="02010600010101010101" charset="-128"/>
                <a:cs typeface="腾讯字体包" panose="02010600010101010101" charset="-128"/>
              </a:rPr>
              <a:t>ITAS</a:t>
            </a:r>
            <a:r>
              <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rPr>
              <a:t>）</a:t>
            </a:r>
          </a:p>
        </p:txBody>
      </p:sp>
      <p:pic>
        <p:nvPicPr>
          <p:cNvPr id="3" name="图片 2" descr="图标"/>
          <p:cNvPicPr>
            <a:picLocks noChangeAspect="1"/>
          </p:cNvPicPr>
          <p:nvPr/>
        </p:nvPicPr>
        <p:blipFill>
          <a:blip r:embed="rId2"/>
          <a:stretch>
            <a:fillRect/>
          </a:stretch>
        </p:blipFill>
        <p:spPr>
          <a:xfrm>
            <a:off x="9451340" y="546735"/>
            <a:ext cx="1899285" cy="1899285"/>
          </a:xfrm>
          <a:prstGeom prst="rect">
            <a:avLst/>
          </a:prstGeom>
        </p:spPr>
      </p:pic>
      <p:sp>
        <p:nvSpPr>
          <p:cNvPr id="121" name="TextBox 27"/>
          <p:cNvSpPr txBox="1"/>
          <p:nvPr/>
        </p:nvSpPr>
        <p:spPr>
          <a:xfrm>
            <a:off x="1478280" y="5165725"/>
            <a:ext cx="8943975" cy="1337945"/>
          </a:xfrm>
          <a:prstGeom prst="rect">
            <a:avLst/>
          </a:prstGeom>
          <a:noFill/>
        </p:spPr>
        <p:txBody>
          <a:bodyPr wrap="square">
            <a:spAutoFit/>
          </a:bodyPr>
          <a:lstStyle/>
          <a:p>
            <a:pPr algn="ctr">
              <a:lnSpc>
                <a:spcPct val="150000"/>
              </a:lnSpc>
            </a:pPr>
            <a:r>
              <a:rPr lang="en-US"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孙烨-BY2306093 </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苏丁力-BY2306092</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曾祥华-BY2206062</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 </a:t>
            </a:r>
          </a:p>
          <a:p>
            <a:pPr algn="ctr">
              <a:lnSpc>
                <a:spcPct val="150000"/>
              </a:lnSpc>
            </a:pP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侯越-BY2306087</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    </a:t>
            </a:r>
            <a:r>
              <a:rPr dirty="0">
                <a:solidFill>
                  <a:srgbClr val="0070C0"/>
                </a:solidFill>
                <a:latin typeface="腾讯字体包" panose="02010600010101010101" charset="-128"/>
                <a:ea typeface="腾讯字体包" panose="02010600010101010101" charset="-128"/>
                <a:cs typeface="腾讯字体包" panose="02010600010101010101" charset="-128"/>
              </a:rPr>
              <a:t>郭鑫-BY</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2306085</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魏家龙-BY2306095</a:t>
            </a:r>
            <a:r>
              <a:rPr dirty="0">
                <a:solidFill>
                  <a:srgbClr val="0070C0"/>
                </a:solidFill>
                <a:latin typeface="腾讯字体包" panose="02010600010101010101" charset="-128"/>
                <a:ea typeface="腾讯字体包" panose="02010600010101010101" charset="-128"/>
                <a:cs typeface="腾讯字体包" panose="02010600010101010101" charset="-128"/>
              </a:rPr>
              <a:t>  </a:t>
            </a:r>
          </a:p>
          <a:p>
            <a:pPr algn="ctr">
              <a:lnSpc>
                <a:spcPct val="150000"/>
              </a:lnSpc>
            </a:pP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刘顺博-SY2306133</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窦建玲-ZY2306321</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张宸恺-ZY2306342</a:t>
            </a:r>
            <a:endPar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sym typeface="+mn-ea"/>
            </a:endParaRPr>
          </a:p>
        </p:txBody>
      </p:sp>
      <p:sp>
        <p:nvSpPr>
          <p:cNvPr id="2" name="矩形 1"/>
          <p:cNvSpPr/>
          <p:nvPr/>
        </p:nvSpPr>
        <p:spPr>
          <a:xfrm>
            <a:off x="4565015" y="3088005"/>
            <a:ext cx="3215640" cy="570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005BAC"/>
                </a:solidFill>
                <a:latin typeface="腾讯字体包" panose="02010600010101010101" charset="-128"/>
                <a:ea typeface="腾讯字体包" panose="02010600010101010101" charset="-128"/>
                <a:cs typeface="腾讯字体包" panose="02010600010101010101" charset="-128"/>
              </a:rPr>
              <a:t>需求分析</a:t>
            </a:r>
            <a:r>
              <a:rPr lang="en-US" altLang="zh-CN" sz="2800" dirty="0">
                <a:solidFill>
                  <a:srgbClr val="005BAC"/>
                </a:solidFill>
                <a:latin typeface="腾讯字体包" panose="02010600010101010101" charset="-128"/>
                <a:ea typeface="腾讯字体包" panose="02010600010101010101" charset="-128"/>
                <a:cs typeface="腾讯字体包" panose="02010600010101010101" charset="-128"/>
              </a:rPr>
              <a:t>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454785"/>
            <a:ext cx="6468110" cy="5173345"/>
          </a:xfrm>
        </p:spPr>
        <p:txBody>
          <a:bodyPr>
            <a:normAutofit/>
          </a:bodyPr>
          <a:lstStyle/>
          <a:p>
            <a:pPr marL="0" algn="l">
              <a:lnSpc>
                <a:spcPct val="125000"/>
              </a:lnSpc>
              <a:spcAft>
                <a:spcPts val="0"/>
              </a:spcAft>
              <a:buClrTx/>
              <a:buSzTx/>
              <a:buNone/>
            </a:pPr>
            <a:r>
              <a:rPr lang="zh-CN" altLang="en-US" sz="2220" dirty="0">
                <a:solidFill>
                  <a:srgbClr val="3F51B6"/>
                </a:solidFill>
                <a:effectLst/>
                <a:highlight>
                  <a:srgbClr val="FFFF00"/>
                </a:highlight>
                <a:uFillTx/>
                <a:latin typeface="腾讯字体包" panose="02010600010101010101" charset="-128"/>
                <a:ea typeface="腾讯字体包" panose="02010600010101010101" charset="-128"/>
              </a:rPr>
              <a:t>可扩展多领域智能文本标注与挖掘系统</a:t>
            </a: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rPr>
              <a:t>从海量文献中自动提取精确的信息,实现对长文本的精准标注。</a:t>
            </a: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rPr>
              <a:t>难点：</a:t>
            </a:r>
            <a:r>
              <a:rPr lang="zh-CN" altLang="en-US" sz="1800" dirty="0">
                <a:solidFill>
                  <a:srgbClr val="FF0000"/>
                </a:solidFill>
                <a:effectLst/>
                <a:latin typeface="腾讯字体包" panose="02010600010101010101" charset="-128"/>
                <a:ea typeface="腾讯字体包" panose="02010600010101010101" charset="-128"/>
                <a:cs typeface="腾讯字体包" panose="02010600010101010101" charset="-128"/>
              </a:rPr>
              <a:t>长文本</a:t>
            </a:r>
            <a:r>
              <a:rPr lang="zh-CN" altLang="en-US" sz="1800" dirty="0">
                <a:effectLst/>
                <a:latin typeface="腾讯字体包" panose="02010600010101010101" charset="-128"/>
                <a:ea typeface="腾讯字体包" panose="02010600010101010101" charset="-128"/>
                <a:cs typeface="腾讯字体包" panose="02010600010101010101" charset="-128"/>
              </a:rPr>
              <a:t>的</a:t>
            </a:r>
            <a:r>
              <a:rPr lang="zh-CN" altLang="en-US" sz="1800" dirty="0">
                <a:solidFill>
                  <a:srgbClr val="FF0000"/>
                </a:solidFill>
                <a:effectLst/>
                <a:latin typeface="腾讯字体包" panose="02010600010101010101" charset="-128"/>
                <a:ea typeface="腾讯字体包" panose="02010600010101010101" charset="-128"/>
                <a:cs typeface="腾讯字体包" panose="02010600010101010101" charset="-128"/>
              </a:rPr>
              <a:t>精准</a:t>
            </a:r>
            <a:r>
              <a:rPr lang="zh-CN" altLang="en-US" sz="1800" dirty="0">
                <a:effectLst/>
                <a:latin typeface="腾讯字体包" panose="02010600010101010101" charset="-128"/>
                <a:ea typeface="腾讯字体包" panose="02010600010101010101" charset="-128"/>
                <a:cs typeface="腾讯字体包" panose="02010600010101010101" charset="-128"/>
              </a:rPr>
              <a:t>标注。</a:t>
            </a: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rPr>
              <a:t>解决方案：通过智能挖掘模型等</a:t>
            </a:r>
            <a:r>
              <a:rPr lang="zh-CN" altLang="en-US" sz="1800" dirty="0">
                <a:solidFill>
                  <a:srgbClr val="FF0000"/>
                </a:solidFill>
                <a:effectLst/>
                <a:latin typeface="腾讯字体包" panose="02010600010101010101" charset="-128"/>
                <a:ea typeface="腾讯字体包" panose="02010600010101010101" charset="-128"/>
                <a:cs typeface="腾讯字体包" panose="02010600010101010101" charset="-128"/>
              </a:rPr>
              <a:t>段落定位</a:t>
            </a:r>
            <a:r>
              <a:rPr lang="zh-CN" altLang="en-US" sz="1800" dirty="0">
                <a:effectLst/>
                <a:latin typeface="腾讯字体包" panose="02010600010101010101" charset="-128"/>
                <a:ea typeface="腾讯字体包" panose="02010600010101010101" charset="-128"/>
                <a:cs typeface="腾讯字体包" panose="02010600010101010101" charset="-128"/>
              </a:rPr>
              <a:t>和</a:t>
            </a:r>
            <a:r>
              <a:rPr lang="zh-CN" altLang="en-US" sz="1800" dirty="0">
                <a:solidFill>
                  <a:srgbClr val="FF0000"/>
                </a:solidFill>
                <a:effectLst/>
                <a:latin typeface="腾讯字体包" panose="02010600010101010101" charset="-128"/>
                <a:ea typeface="腾讯字体包" panose="02010600010101010101" charset="-128"/>
                <a:cs typeface="腾讯字体包" panose="02010600010101010101" charset="-128"/>
              </a:rPr>
              <a:t>微调训练</a:t>
            </a:r>
            <a:r>
              <a:rPr lang="zh-CN" altLang="en-US" sz="1800" dirty="0">
                <a:effectLst/>
                <a:latin typeface="腾讯字体包" panose="02010600010101010101" charset="-128"/>
                <a:ea typeface="腾讯字体包" panose="02010600010101010101" charset="-128"/>
                <a:cs typeface="腾讯字体包" panose="02010600010101010101" charset="-128"/>
              </a:rPr>
              <a:t>，利用人工标注收集的数据，提高标注的准确性和效率。</a:t>
            </a:r>
          </a:p>
          <a:p>
            <a:pPr algn="l">
              <a:lnSpc>
                <a:spcPct val="125000"/>
              </a:lnSpc>
              <a:spcAft>
                <a:spcPts val="0"/>
              </a:spcAft>
              <a:buClrTx/>
              <a:buSzTx/>
              <a:buChar char="•"/>
            </a:pPr>
            <a:r>
              <a:rPr lang="zh-CN" altLang="en-US" sz="2220" dirty="0">
                <a:solidFill>
                  <a:srgbClr val="3F51B6"/>
                </a:solidFill>
                <a:effectLst/>
                <a:uFillTx/>
                <a:latin typeface="腾讯字体包" panose="02010600010101010101" charset="-128"/>
                <a:ea typeface="腾讯字体包" panose="02010600010101010101" charset="-128"/>
              </a:rPr>
              <a:t>已有基础：稀土催化材料文本标注工作区</a:t>
            </a:r>
            <a:endParaRPr lang="zh-CN" altLang="en-US" sz="2400" dirty="0">
              <a:solidFill>
                <a:srgbClr val="0D0D0D"/>
              </a:solidFill>
              <a:effectLst/>
              <a:uFillTx/>
              <a:latin typeface="Times New Roman" panose="02020603050405020304" charset="0"/>
            </a:endParaRPr>
          </a:p>
          <a:p>
            <a:pPr algn="l">
              <a:lnSpc>
                <a:spcPct val="125000"/>
              </a:lnSpc>
              <a:spcAft>
                <a:spcPts val="0"/>
              </a:spcAft>
              <a:buClrTx/>
              <a:buSzTx/>
            </a:pPr>
            <a:r>
              <a:rPr lang="zh-CN" altLang="en-US" sz="1800" dirty="0">
                <a:effectLst/>
                <a:latin typeface="腾讯字体包" panose="02010600010101010101" charset="-128"/>
                <a:ea typeface="腾讯字体包" panose="02010600010101010101" charset="-128"/>
                <a:cs typeface="腾讯字体包" panose="02010600010101010101" charset="-128"/>
              </a:rPr>
              <a:t>从仅限于稀土催化材料领域的基础功能，扩展到多领域应用。</a:t>
            </a:r>
          </a:p>
          <a:p>
            <a:pPr algn="l">
              <a:lnSpc>
                <a:spcPct val="125000"/>
              </a:lnSpc>
              <a:spcAft>
                <a:spcPts val="0"/>
              </a:spcAft>
              <a:buClrTx/>
              <a:buSzTx/>
            </a:pPr>
            <a:r>
              <a:rPr lang="zh-CN" altLang="en-US" sz="1800" dirty="0">
                <a:effectLst/>
                <a:latin typeface="腾讯字体包" panose="02010600010101010101" charset="-128"/>
                <a:ea typeface="腾讯字体包" panose="02010600010101010101" charset="-128"/>
                <a:cs typeface="腾讯字体包" panose="02010600010101010101" charset="-128"/>
              </a:rPr>
              <a:t>技术升级：引入段落定位模型和大型语言模型(LLM)进行智能挖掘，大幅提升处理能力和应用范围。</a:t>
            </a:r>
          </a:p>
          <a:p>
            <a:pPr algn="l">
              <a:lnSpc>
                <a:spcPct val="125000"/>
              </a:lnSpc>
              <a:spcAft>
                <a:spcPts val="0"/>
              </a:spcAft>
              <a:buClrTx/>
              <a:buSzTx/>
            </a:pPr>
            <a:r>
              <a:rPr lang="zh-CN" altLang="en-US" sz="1800" dirty="0">
                <a:effectLst/>
                <a:latin typeface="腾讯字体包" panose="02010600010101010101" charset="-128"/>
                <a:ea typeface="腾讯字体包" panose="02010600010101010101" charset="-128"/>
                <a:cs typeface="腾讯字体包" panose="02010600010101010101" charset="-128"/>
              </a:rPr>
              <a:t>从底层完全重构系统，</a:t>
            </a:r>
            <a:r>
              <a:rPr lang="zh-CN" altLang="en-US" sz="1800" dirty="0">
                <a:solidFill>
                  <a:srgbClr val="FF0000"/>
                </a:solidFill>
                <a:effectLst/>
                <a:latin typeface="腾讯字体包" panose="02010600010101010101" charset="-128"/>
                <a:ea typeface="腾讯字体包" panose="02010600010101010101" charset="-128"/>
                <a:cs typeface="腾讯字体包" panose="02010600010101010101" charset="-128"/>
              </a:rPr>
              <a:t>仅使用文献展示与标注模块代码</a:t>
            </a: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rPr>
                <a:t>项目简述</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升级特色</a:t>
              </a:r>
            </a:p>
          </p:txBody>
        </p:sp>
      </p:grpSp>
      <p:pic>
        <p:nvPicPr>
          <p:cNvPr id="12" name="图片 11" descr="upload_post_object_v2_1379730781"/>
          <p:cNvPicPr>
            <a:picLocks noChangeAspect="1"/>
          </p:cNvPicPr>
          <p:nvPr/>
        </p:nvPicPr>
        <p:blipFill>
          <a:blip r:embed="rId5"/>
          <a:srcRect l="34826"/>
          <a:stretch>
            <a:fillRect/>
          </a:stretch>
        </p:blipFill>
        <p:spPr>
          <a:xfrm>
            <a:off x="6921122" y="622716"/>
            <a:ext cx="5189775" cy="1343025"/>
          </a:xfrm>
          <a:prstGeom prst="rect">
            <a:avLst/>
          </a:prstGeom>
        </p:spPr>
      </p:pic>
      <p:graphicFrame>
        <p:nvGraphicFramePr>
          <p:cNvPr id="14" name="表格 18"/>
          <p:cNvGraphicFramePr>
            <a:graphicFrameLocks noGrp="1"/>
          </p:cNvGraphicFramePr>
          <p:nvPr>
            <p:custDataLst>
              <p:tags r:id="rId1"/>
            </p:custDataLst>
          </p:nvPr>
        </p:nvGraphicFramePr>
        <p:xfrm>
          <a:off x="6920865" y="2860675"/>
          <a:ext cx="5189855" cy="3493770"/>
        </p:xfrm>
        <a:graphic>
          <a:graphicData uri="http://schemas.openxmlformats.org/drawingml/2006/table">
            <a:tbl>
              <a:tblPr firstRow="1" bandRow="1">
                <a:tableStyleId>{5C22544A-7EE6-4342-B048-85BDC9FD1C3A}</a:tableStyleId>
              </a:tblPr>
              <a:tblGrid>
                <a:gridCol w="984885">
                  <a:extLst>
                    <a:ext uri="{9D8B030D-6E8A-4147-A177-3AD203B41FA5}">
                      <a16:colId xmlns:a16="http://schemas.microsoft.com/office/drawing/2014/main" val="20000"/>
                    </a:ext>
                  </a:extLst>
                </a:gridCol>
                <a:gridCol w="2178050">
                  <a:extLst>
                    <a:ext uri="{9D8B030D-6E8A-4147-A177-3AD203B41FA5}">
                      <a16:colId xmlns:a16="http://schemas.microsoft.com/office/drawing/2014/main" val="20001"/>
                    </a:ext>
                  </a:extLst>
                </a:gridCol>
                <a:gridCol w="2026920">
                  <a:extLst>
                    <a:ext uri="{9D8B030D-6E8A-4147-A177-3AD203B41FA5}">
                      <a16:colId xmlns:a16="http://schemas.microsoft.com/office/drawing/2014/main" val="20002"/>
                    </a:ext>
                  </a:extLst>
                </a:gridCol>
              </a:tblGrid>
              <a:tr h="647065">
                <a:tc>
                  <a:txBody>
                    <a:bodyPr/>
                    <a:lstStyle/>
                    <a:p>
                      <a:pPr indent="0" algn="ctr">
                        <a:buNone/>
                      </a:pPr>
                      <a:r>
                        <a:rPr lang="zh-CN" altLang="en-US" sz="1400" b="1" dirty="0">
                          <a:solidFill>
                            <a:schemeClr val="bg1"/>
                          </a:solidFill>
                          <a:effectLst/>
                          <a:latin typeface="腾讯字体包" panose="02010600010101010101" charset="-128"/>
                          <a:ea typeface="腾讯字体包" panose="02010600010101010101" charset="-128"/>
                          <a:cs typeface="腾讯字体包" panose="02010600010101010101" charset="-128"/>
                        </a:rPr>
                        <a:t>升级需求</a:t>
                      </a:r>
                    </a:p>
                  </a:txBody>
                  <a:tcPr marL="12700" marR="12700" marT="12700" anchor="ctr"/>
                </a:tc>
                <a:tc>
                  <a:txBody>
                    <a:bodyPr/>
                    <a:lstStyle/>
                    <a:p>
                      <a:pPr indent="0" algn="ctr">
                        <a:buNone/>
                      </a:pPr>
                      <a:r>
                        <a:rPr lang="zh-CN" altLang="en-US" sz="1400" b="1" dirty="0">
                          <a:solidFill>
                            <a:schemeClr val="bg1"/>
                          </a:solidFill>
                          <a:effectLst/>
                          <a:latin typeface="腾讯字体包" panose="02010600010101010101" charset="-128"/>
                          <a:ea typeface="腾讯字体包" panose="02010600010101010101" charset="-128"/>
                          <a:cs typeface="腾讯字体包" panose="02010600010101010101" charset="-128"/>
                        </a:rPr>
                        <a:t>原系统</a:t>
                      </a:r>
                    </a:p>
                  </a:txBody>
                  <a:tcPr marL="12700" marR="12700" marT="12700" anchor="ctr"/>
                </a:tc>
                <a:tc>
                  <a:txBody>
                    <a:bodyPr/>
                    <a:lstStyle/>
                    <a:p>
                      <a:pPr indent="0" algn="ctr">
                        <a:buNone/>
                      </a:pPr>
                      <a:r>
                        <a:rPr lang="zh-CN" altLang="en-US" sz="1400" b="1" dirty="0">
                          <a:solidFill>
                            <a:srgbClr val="FF0000"/>
                          </a:solidFill>
                          <a:effectLst/>
                          <a:latin typeface="腾讯字体包" panose="02010600010101010101" charset="-128"/>
                          <a:ea typeface="腾讯字体包" panose="02010600010101010101" charset="-128"/>
                          <a:cs typeface="腾讯字体包" panose="02010600010101010101" charset="-128"/>
                        </a:rPr>
                        <a:t>现系统</a:t>
                      </a:r>
                    </a:p>
                  </a:txBody>
                  <a:tcPr marL="12700" marR="12700" marT="12700" anchor="ctr"/>
                </a:tc>
                <a:extLst>
                  <a:ext uri="{0D108BD9-81ED-4DB2-BD59-A6C34878D82A}">
                    <a16:rowId xmlns:a16="http://schemas.microsoft.com/office/drawing/2014/main" val="10000"/>
                  </a:ext>
                </a:extLst>
              </a:tr>
              <a:tr h="491490">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应用领域</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稀土催化材料领域</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可扩展至</a:t>
                      </a:r>
                      <a:r>
                        <a:rPr lang="zh-CN" altLang="en-US" sz="1400" b="0" dirty="0">
                          <a:solidFill>
                            <a:srgbClr val="FF0000"/>
                          </a:solidFill>
                          <a:effectLst/>
                          <a:latin typeface="腾讯字体包" panose="02010600010101010101" charset="-128"/>
                          <a:ea typeface="腾讯字体包" panose="02010600010101010101" charset="-128"/>
                          <a:cs typeface="腾讯字体包" panose="02010600010101010101" charset="-128"/>
                        </a:rPr>
                        <a:t>多个领域</a:t>
                      </a:r>
                    </a:p>
                  </a:txBody>
                  <a:tcPr marL="12700" marR="12700" marT="12700" anchor="ctr"/>
                </a:tc>
                <a:extLst>
                  <a:ext uri="{0D108BD9-81ED-4DB2-BD59-A6C34878D82A}">
                    <a16:rowId xmlns:a16="http://schemas.microsoft.com/office/drawing/2014/main" val="10001"/>
                  </a:ext>
                </a:extLst>
              </a:tr>
              <a:tr h="807720">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核心功能</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文献展示与标注，数据导出</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文献展示与标注，数据导出，</a:t>
                      </a:r>
                      <a:r>
                        <a:rPr lang="zh-CN" altLang="en-US" sz="1400" b="0" dirty="0">
                          <a:solidFill>
                            <a:srgbClr val="FF0000"/>
                          </a:solidFill>
                          <a:effectLst/>
                          <a:latin typeface="腾讯字体包" panose="02010600010101010101" charset="-128"/>
                          <a:ea typeface="腾讯字体包" panose="02010600010101010101" charset="-128"/>
                          <a:cs typeface="腾讯字体包" panose="02010600010101010101" charset="-128"/>
                        </a:rPr>
                        <a:t>模型训练和智能挖掘</a:t>
                      </a:r>
                      <a:endPar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endParaRPr>
                    </a:p>
                  </a:txBody>
                  <a:tcPr marL="12700" marR="12700" marT="12700" anchor="ctr"/>
                </a:tc>
                <a:extLst>
                  <a:ext uri="{0D108BD9-81ED-4DB2-BD59-A6C34878D82A}">
                    <a16:rowId xmlns:a16="http://schemas.microsoft.com/office/drawing/2014/main" val="10002"/>
                  </a:ext>
                </a:extLst>
              </a:tr>
              <a:tr h="881380">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技术实现</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人工标注</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引入</a:t>
                      </a:r>
                      <a:r>
                        <a:rPr lang="zh-CN" altLang="en-US" sz="1400" b="0" dirty="0">
                          <a:solidFill>
                            <a:srgbClr val="FF0000"/>
                          </a:solidFill>
                          <a:effectLst/>
                          <a:latin typeface="腾讯字体包" panose="02010600010101010101" charset="-128"/>
                          <a:ea typeface="腾讯字体包" panose="02010600010101010101" charset="-128"/>
                          <a:cs typeface="腾讯字体包" panose="02010600010101010101" charset="-128"/>
                        </a:rPr>
                        <a:t>段落定位模型</a:t>
                      </a: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和</a:t>
                      </a:r>
                      <a:r>
                        <a:rPr lang="zh-CN" altLang="en-US" sz="1400" b="0" dirty="0">
                          <a:solidFill>
                            <a:srgbClr val="FF0000"/>
                          </a:solidFill>
                          <a:effectLst/>
                          <a:latin typeface="腾讯字体包" panose="02010600010101010101" charset="-128"/>
                          <a:ea typeface="腾讯字体包" panose="02010600010101010101" charset="-128"/>
                          <a:cs typeface="腾讯字体包" panose="02010600010101010101" charset="-128"/>
                        </a:rPr>
                        <a:t>大型语言模型</a:t>
                      </a: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进行智能挖掘</a:t>
                      </a:r>
                    </a:p>
                  </a:txBody>
                  <a:tcPr marL="12700" marR="12700" marT="12700" anchor="ctr"/>
                </a:tc>
                <a:extLst>
                  <a:ext uri="{0D108BD9-81ED-4DB2-BD59-A6C34878D82A}">
                    <a16:rowId xmlns:a16="http://schemas.microsoft.com/office/drawing/2014/main" val="10003"/>
                  </a:ext>
                </a:extLst>
              </a:tr>
              <a:tr h="666115">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协作机制</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缺乏多人协作项目管理功能</a:t>
                      </a:r>
                    </a:p>
                  </a:txBody>
                  <a:tcPr marL="12700" marR="12700" marT="12700" anchor="ctr"/>
                </a:tc>
                <a:tc>
                  <a:txBody>
                    <a:bodyPr/>
                    <a:lstStyle/>
                    <a:p>
                      <a:pPr indent="0" algn="ctr">
                        <a:buNone/>
                      </a:pP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支持</a:t>
                      </a:r>
                      <a:r>
                        <a:rPr lang="zh-CN" altLang="en-US" sz="1400" b="0" dirty="0">
                          <a:solidFill>
                            <a:srgbClr val="FF0000"/>
                          </a:solidFill>
                          <a:effectLst/>
                          <a:latin typeface="腾讯字体包" panose="02010600010101010101" charset="-128"/>
                          <a:ea typeface="腾讯字体包" panose="02010600010101010101" charset="-128"/>
                          <a:cs typeface="腾讯字体包" panose="02010600010101010101" charset="-128"/>
                        </a:rPr>
                        <a:t>多人协作</a:t>
                      </a:r>
                      <a:r>
                        <a:rPr lang="zh-CN" altLang="en-US" sz="1400" b="0" dirty="0">
                          <a:solidFill>
                            <a:schemeClr val="tx1"/>
                          </a:solidFill>
                          <a:effectLst/>
                          <a:latin typeface="腾讯字体包" panose="02010600010101010101" charset="-128"/>
                          <a:ea typeface="腾讯字体包" panose="02010600010101010101" charset="-128"/>
                          <a:cs typeface="腾讯字体包" panose="02010600010101010101" charset="-128"/>
                        </a:rPr>
                        <a:t>项目管理与配置</a:t>
                      </a:r>
                    </a:p>
                  </a:txBody>
                  <a:tcPr marL="12700" marR="12700" marT="12700" anchor="ctr"/>
                </a:tc>
                <a:extLst>
                  <a:ext uri="{0D108BD9-81ED-4DB2-BD59-A6C34878D82A}">
                    <a16:rowId xmlns:a16="http://schemas.microsoft.com/office/drawing/2014/main" val="10004"/>
                  </a:ext>
                </a:extLst>
              </a:tr>
            </a:tbl>
          </a:graphicData>
        </a:graphic>
      </p:graphicFrame>
      <p:pic>
        <p:nvPicPr>
          <p:cNvPr id="7" name="图片 6"/>
          <p:cNvPicPr>
            <a:picLocks noChangeAspect="1"/>
          </p:cNvPicPr>
          <p:nvPr>
            <p:custDataLst>
              <p:tags r:id="rId2"/>
            </p:custDataLst>
          </p:nvPr>
        </p:nvPicPr>
        <p:blipFill>
          <a:blip r:embed="rId6"/>
          <a:srcRect r="47093"/>
          <a:stretch>
            <a:fillRect/>
          </a:stretch>
        </p:blipFill>
        <p:spPr>
          <a:xfrm>
            <a:off x="6881495" y="2072640"/>
            <a:ext cx="2879725" cy="705485"/>
          </a:xfrm>
          <a:prstGeom prst="rect">
            <a:avLst/>
          </a:prstGeom>
        </p:spPr>
      </p:pic>
      <p:pic>
        <p:nvPicPr>
          <p:cNvPr id="8" name="图片 7"/>
          <p:cNvPicPr>
            <a:picLocks noChangeAspect="1"/>
          </p:cNvPicPr>
          <p:nvPr>
            <p:custDataLst>
              <p:tags r:id="rId3"/>
            </p:custDataLst>
          </p:nvPr>
        </p:nvPicPr>
        <p:blipFill>
          <a:blip r:embed="rId7"/>
          <a:srcRect l="55146" t="478" r="13588" b="68619"/>
          <a:stretch>
            <a:fillRect/>
          </a:stretch>
        </p:blipFill>
        <p:spPr>
          <a:xfrm>
            <a:off x="10424795" y="2072640"/>
            <a:ext cx="1590040" cy="705485"/>
          </a:xfrm>
          <a:prstGeom prst="rect">
            <a:avLst/>
          </a:prstGeom>
        </p:spPr>
      </p:pic>
      <p:sp>
        <p:nvSpPr>
          <p:cNvPr id="10" name="右箭头 9"/>
          <p:cNvSpPr/>
          <p:nvPr/>
        </p:nvSpPr>
        <p:spPr>
          <a:xfrm>
            <a:off x="9890760" y="2294255"/>
            <a:ext cx="405130" cy="2387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upload_post_object_v2_39650152"/>
          <p:cNvPicPr>
            <a:picLocks noChangeAspect="1"/>
          </p:cNvPicPr>
          <p:nvPr/>
        </p:nvPicPr>
        <p:blipFill>
          <a:blip r:embed="rId2"/>
          <a:stretch>
            <a:fillRect/>
          </a:stretch>
        </p:blipFill>
        <p:spPr>
          <a:xfrm>
            <a:off x="6855460" y="643890"/>
            <a:ext cx="5079365" cy="5984875"/>
          </a:xfrm>
          <a:prstGeom prst="rect">
            <a:avLst/>
          </a:prstGeom>
        </p:spPr>
      </p:pic>
      <p:grpSp>
        <p:nvGrpSpPr>
          <p:cNvPr id="7" name="组合 6"/>
          <p:cNvGrpSpPr/>
          <p:nvPr/>
        </p:nvGrpSpPr>
        <p:grpSpPr>
          <a:xfrm>
            <a:off x="263940" y="718430"/>
            <a:ext cx="11520000" cy="576000"/>
            <a:chOff x="582710" y="712715"/>
            <a:chExt cx="11527790" cy="572075"/>
          </a:xfrm>
        </p:grpSpPr>
        <p:sp>
          <p:nvSpPr>
            <p:cNvPr id="8" name="矩形 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文本框 8"/>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rPr>
                <a:t>整体设计</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系统框架</a:t>
              </a:r>
            </a:p>
          </p:txBody>
        </p:sp>
      </p:grpSp>
      <p:sp>
        <p:nvSpPr>
          <p:cNvPr id="11" name="内容占位符 10"/>
          <p:cNvSpPr>
            <a:spLocks noGrp="1"/>
          </p:cNvSpPr>
          <p:nvPr>
            <p:ph idx="1"/>
          </p:nvPr>
        </p:nvSpPr>
        <p:spPr>
          <a:xfrm>
            <a:off x="447675" y="1405255"/>
            <a:ext cx="6294120" cy="5155565"/>
          </a:xfrm>
        </p:spPr>
        <p:txBody>
          <a:bodyPr>
            <a:normAutofit fontScale="92500"/>
          </a:bodyPr>
          <a:lstStyle/>
          <a:p>
            <a:pPr marL="0" indent="0" algn="l">
              <a:lnSpc>
                <a:spcPct val="125000"/>
              </a:lnSpc>
              <a:spcAft>
                <a:spcPts val="0"/>
              </a:spcAft>
              <a:buClrTx/>
              <a:buSzTx/>
              <a:buNone/>
            </a:pPr>
            <a:r>
              <a:rPr lang="en-US" altLang="zh-CN" sz="2000">
                <a:latin typeface="腾讯字体包" panose="02010600010101010101" charset="-128"/>
                <a:ea typeface="腾讯字体包" panose="02010600010101010101" charset="-128"/>
              </a:rPr>
              <a:t>1) </a:t>
            </a:r>
            <a:r>
              <a:rPr lang="zh-CN" sz="2000">
                <a:latin typeface="腾讯字体包" panose="02010600010101010101" charset="-128"/>
                <a:ea typeface="腾讯字体包" panose="02010600010101010101" charset="-128"/>
              </a:rPr>
              <a:t>文本标注子系统:</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数据服务模块</a:t>
            </a:r>
            <a:r>
              <a:rPr lang="zh-CN" sz="1600">
                <a:latin typeface="腾讯字体包" panose="02010600010101010101" charset="-128"/>
                <a:ea typeface="腾讯字体包" panose="02010600010101010101" charset="-128"/>
              </a:rPr>
              <a:t>: 管理原始文献和标注数据，实现文档的上传、存储和检索功能。</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标注管理模块:</a:t>
            </a:r>
            <a:r>
              <a:rPr lang="zh-CN" sz="1600">
                <a:latin typeface="腾讯字体包" panose="02010600010101010101" charset="-128"/>
                <a:ea typeface="腾讯字体包" panose="02010600010101010101" charset="-128"/>
              </a:rPr>
              <a:t> 负责标注项目的配置、任务分配和质量管理，实现多人协作。</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实体标注模块: </a:t>
            </a:r>
            <a:r>
              <a:rPr lang="zh-CN" sz="1600">
                <a:latin typeface="腾讯字体包" panose="02010600010101010101" charset="-128"/>
                <a:ea typeface="腾讯字体包" panose="02010600010101010101" charset="-128"/>
              </a:rPr>
              <a:t>核心功能，支持自定义标注类别和精准定位。</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数据导出模块:</a:t>
            </a:r>
            <a:r>
              <a:rPr lang="zh-CN" sz="1600">
                <a:latin typeface="腾讯字体包" panose="02010600010101010101" charset="-128"/>
                <a:ea typeface="腾讯字体包" panose="02010600010101010101" charset="-128"/>
              </a:rPr>
              <a:t> 根据标注结果训练机器学习模型，用于段落定位和实体识别。</a:t>
            </a:r>
          </a:p>
          <a:p>
            <a:pPr marL="285750" indent="-285750" algn="l">
              <a:lnSpc>
                <a:spcPct val="125000"/>
              </a:lnSpc>
              <a:spcAft>
                <a:spcPts val="0"/>
              </a:spcAft>
              <a:buClrTx/>
              <a:buSzTx/>
              <a:buFont typeface="Arial" panose="020B0604020202020204" pitchFamily="34" charset="0"/>
              <a:buChar char="•"/>
            </a:pPr>
            <a:endParaRPr lang="zh-CN" sz="1600">
              <a:latin typeface="腾讯字体包" panose="02010600010101010101" charset="-128"/>
              <a:ea typeface="腾讯字体包" panose="02010600010101010101" charset="-128"/>
            </a:endParaRPr>
          </a:p>
          <a:p>
            <a:pPr algn="l">
              <a:lnSpc>
                <a:spcPct val="125000"/>
              </a:lnSpc>
              <a:spcAft>
                <a:spcPts val="0"/>
              </a:spcAft>
              <a:buClrTx/>
              <a:buSzTx/>
              <a:buFont typeface="Arial" panose="020B0604020202020204" pitchFamily="34" charset="0"/>
            </a:pPr>
            <a:r>
              <a:rPr lang="en-US" altLang="zh-CN" sz="2000">
                <a:latin typeface="腾讯字体包" panose="02010600010101010101" charset="-128"/>
                <a:ea typeface="腾讯字体包" panose="02010600010101010101" charset="-128"/>
              </a:rPr>
              <a:t>2) </a:t>
            </a:r>
            <a:r>
              <a:rPr lang="zh-CN" sz="2000">
                <a:latin typeface="腾讯字体包" panose="02010600010101010101" charset="-128"/>
                <a:ea typeface="腾讯字体包" panose="02010600010101010101" charset="-128"/>
              </a:rPr>
              <a:t>智能挖掘子系统:</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段落定位模块:</a:t>
            </a:r>
            <a:r>
              <a:rPr lang="zh-CN" sz="1600">
                <a:latin typeface="腾讯字体包" panose="02010600010101010101" charset="-128"/>
                <a:ea typeface="腾讯字体包" panose="02010600010101010101" charset="-128"/>
              </a:rPr>
              <a:t> 通过大型语言模型定位关键信息。</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实体识别模块:</a:t>
            </a:r>
            <a:r>
              <a:rPr lang="zh-CN" sz="1600">
                <a:latin typeface="腾讯字体包" panose="02010600010101010101" charset="-128"/>
                <a:ea typeface="腾讯字体包" panose="02010600010101010101" charset="-128"/>
              </a:rPr>
              <a:t> 精确识别文本中的关键实体。</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标注反馈模块:</a:t>
            </a:r>
            <a:r>
              <a:rPr lang="zh-CN" sz="1600">
                <a:latin typeface="腾讯字体包" panose="02010600010101010101" charset="-128"/>
                <a:ea typeface="腾讯字体包" panose="02010600010101010101" charset="-128"/>
              </a:rPr>
              <a:t> 收集用户反馈，持续优化模型。</a:t>
            </a:r>
          </a:p>
          <a:p>
            <a:pPr marL="285750" indent="-285750" algn="l">
              <a:lnSpc>
                <a:spcPct val="125000"/>
              </a:lnSpc>
              <a:spcAft>
                <a:spcPts val="0"/>
              </a:spcAft>
              <a:buClrTx/>
              <a:buSzTx/>
              <a:buFont typeface="Arial" panose="020B0604020202020204" pitchFamily="34" charset="0"/>
              <a:buChar char="•"/>
            </a:pPr>
            <a:r>
              <a:rPr lang="zh-CN" sz="1600">
                <a:solidFill>
                  <a:schemeClr val="accent1">
                    <a:lumMod val="75000"/>
                  </a:schemeClr>
                </a:solidFill>
                <a:latin typeface="腾讯字体包" panose="02010600010101010101" charset="-128"/>
                <a:ea typeface="腾讯字体包" panose="02010600010101010101" charset="-128"/>
              </a:rPr>
              <a:t>框架分享模块:</a:t>
            </a:r>
            <a:r>
              <a:rPr lang="zh-CN" sz="1600">
                <a:latin typeface="腾讯字体包" panose="02010600010101010101" charset="-128"/>
                <a:ea typeface="腾讯字体包" panose="02010600010101010101" charset="-128"/>
              </a:rPr>
              <a:t> 促进社区合作，共享定制框架和标注规则。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74735" y="700015"/>
            <a:ext cx="3281155" cy="572075"/>
            <a:chOff x="582710" y="712715"/>
            <a:chExt cx="3281155" cy="572075"/>
          </a:xfrm>
        </p:grpSpPr>
        <p:sp>
          <p:nvSpPr>
            <p:cNvPr id="9" name="矩形 8"/>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字体包" panose="02010600010101010101" charset="-128"/>
                <a:ea typeface="腾讯字体包" panose="02010600010101010101" charset="-128"/>
              </a:endParaRPr>
            </a:p>
          </p:txBody>
        </p:sp>
        <p:sp>
          <p:nvSpPr>
            <p:cNvPr id="10" name="文本框 9"/>
            <p:cNvSpPr txBox="1"/>
            <p:nvPr/>
          </p:nvSpPr>
          <p:spPr>
            <a:xfrm>
              <a:off x="676165" y="712715"/>
              <a:ext cx="3187700"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数据流图</a:t>
              </a:r>
            </a:p>
          </p:txBody>
        </p:sp>
      </p:grpSp>
      <p:sp>
        <p:nvSpPr>
          <p:cNvPr id="163" name="矩形 162"/>
          <p:cNvSpPr/>
          <p:nvPr/>
        </p:nvSpPr>
        <p:spPr>
          <a:xfrm>
            <a:off x="569376" y="2156746"/>
            <a:ext cx="974317" cy="621436"/>
          </a:xfrm>
          <a:prstGeom prst="rect">
            <a:avLst/>
          </a:prstGeom>
          <a:solidFill>
            <a:srgbClr val="F44336">
              <a:alpha val="19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腾讯字体包" panose="02010600010101010101" charset="-128"/>
                <a:ea typeface="腾讯字体包" panose="02010600010101010101" charset="-128"/>
              </a:rPr>
              <a:t>管理用户</a:t>
            </a:r>
          </a:p>
        </p:txBody>
      </p:sp>
      <p:sp>
        <p:nvSpPr>
          <p:cNvPr id="164" name="椭圆 163"/>
          <p:cNvSpPr/>
          <p:nvPr/>
        </p:nvSpPr>
        <p:spPr>
          <a:xfrm>
            <a:off x="2515797" y="2168356"/>
            <a:ext cx="1837677"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rPr>
              <a:t>1.1</a:t>
            </a:r>
          </a:p>
          <a:p>
            <a:pPr algn="ctr"/>
            <a:r>
              <a:rPr lang="zh-CN" altLang="en-US" sz="1400" dirty="0">
                <a:solidFill>
                  <a:schemeClr val="tx1"/>
                </a:solidFill>
                <a:latin typeface="腾讯字体包" panose="02010600010101010101" charset="-128"/>
                <a:ea typeface="腾讯字体包" panose="02010600010101010101" charset="-128"/>
                <a:cs typeface="腾讯字体包" panose="02010600010101010101" charset="-128"/>
              </a:rPr>
              <a:t>系统登陆</a:t>
            </a:r>
          </a:p>
        </p:txBody>
      </p:sp>
      <p:cxnSp>
        <p:nvCxnSpPr>
          <p:cNvPr id="165" name="直接箭头连接符 164"/>
          <p:cNvCxnSpPr>
            <a:stCxn id="163" idx="3"/>
            <a:endCxn id="164" idx="2"/>
          </p:cNvCxnSpPr>
          <p:nvPr/>
        </p:nvCxnSpPr>
        <p:spPr>
          <a:xfrm>
            <a:off x="1543693" y="2467464"/>
            <a:ext cx="972104" cy="1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6" name="文本框 165"/>
          <p:cNvSpPr txBox="1"/>
          <p:nvPr/>
        </p:nvSpPr>
        <p:spPr>
          <a:xfrm>
            <a:off x="1654664" y="2156747"/>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用户账号</a:t>
            </a:r>
          </a:p>
        </p:txBody>
      </p:sp>
      <p:grpSp>
        <p:nvGrpSpPr>
          <p:cNvPr id="167" name="组合 166"/>
          <p:cNvGrpSpPr/>
          <p:nvPr/>
        </p:nvGrpSpPr>
        <p:grpSpPr>
          <a:xfrm>
            <a:off x="3004068" y="1393266"/>
            <a:ext cx="861134" cy="319596"/>
            <a:chOff x="2352583" y="355107"/>
            <a:chExt cx="861134" cy="319596"/>
          </a:xfrm>
        </p:grpSpPr>
        <p:cxnSp>
          <p:nvCxnSpPr>
            <p:cNvPr id="168" name="直接连接符 167"/>
            <p:cNvCxnSpPr/>
            <p:nvPr/>
          </p:nvCxnSpPr>
          <p:spPr>
            <a:xfrm>
              <a:off x="2352583" y="35510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a:off x="2352583" y="674703"/>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a:off x="2352583" y="355107"/>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1" name="文本框 170"/>
          <p:cNvSpPr txBox="1"/>
          <p:nvPr/>
        </p:nvSpPr>
        <p:spPr>
          <a:xfrm>
            <a:off x="3004067" y="1414565"/>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账号数据库</a:t>
            </a:r>
          </a:p>
        </p:txBody>
      </p:sp>
      <p:cxnSp>
        <p:nvCxnSpPr>
          <p:cNvPr id="172" name="直接箭头连接符 171"/>
          <p:cNvCxnSpPr>
            <a:stCxn id="164" idx="0"/>
          </p:cNvCxnSpPr>
          <p:nvPr/>
        </p:nvCxnSpPr>
        <p:spPr>
          <a:xfrm flipV="1">
            <a:off x="3434636" y="1702213"/>
            <a:ext cx="0" cy="4661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3" name="文本框 172"/>
          <p:cNvSpPr txBox="1"/>
          <p:nvPr/>
        </p:nvSpPr>
        <p:spPr>
          <a:xfrm>
            <a:off x="3425756" y="1791932"/>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读取账号</a:t>
            </a:r>
          </a:p>
        </p:txBody>
      </p:sp>
      <p:cxnSp>
        <p:nvCxnSpPr>
          <p:cNvPr id="174" name="直接箭头连接符 173"/>
          <p:cNvCxnSpPr>
            <a:stCxn id="164" idx="6"/>
            <a:endCxn id="175" idx="2"/>
          </p:cNvCxnSpPr>
          <p:nvPr/>
        </p:nvCxnSpPr>
        <p:spPr>
          <a:xfrm>
            <a:off x="4353474" y="2479074"/>
            <a:ext cx="6968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5" name="椭圆 174"/>
          <p:cNvSpPr/>
          <p:nvPr/>
        </p:nvSpPr>
        <p:spPr>
          <a:xfrm>
            <a:off x="5050373" y="2168356"/>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1.2</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创建标注项目</a:t>
            </a:r>
          </a:p>
        </p:txBody>
      </p:sp>
      <p:sp>
        <p:nvSpPr>
          <p:cNvPr id="176" name="文本框 175"/>
          <p:cNvSpPr txBox="1"/>
          <p:nvPr/>
        </p:nvSpPr>
        <p:spPr>
          <a:xfrm>
            <a:off x="4286889" y="2202075"/>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创建命令</a:t>
            </a:r>
          </a:p>
        </p:txBody>
      </p:sp>
      <p:sp>
        <p:nvSpPr>
          <p:cNvPr id="177" name="文本框 176"/>
          <p:cNvSpPr txBox="1"/>
          <p:nvPr/>
        </p:nvSpPr>
        <p:spPr>
          <a:xfrm>
            <a:off x="5593570" y="1374216"/>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文档数据库</a:t>
            </a:r>
          </a:p>
        </p:txBody>
      </p:sp>
      <p:grpSp>
        <p:nvGrpSpPr>
          <p:cNvPr id="178" name="组合 177"/>
          <p:cNvGrpSpPr/>
          <p:nvPr/>
        </p:nvGrpSpPr>
        <p:grpSpPr>
          <a:xfrm>
            <a:off x="5600049" y="1350669"/>
            <a:ext cx="861134" cy="319596"/>
            <a:chOff x="2352583" y="355107"/>
            <a:chExt cx="861134" cy="319596"/>
          </a:xfrm>
        </p:grpSpPr>
        <p:cxnSp>
          <p:nvCxnSpPr>
            <p:cNvPr id="179" name="直接连接符 178"/>
            <p:cNvCxnSpPr/>
            <p:nvPr/>
          </p:nvCxnSpPr>
          <p:spPr>
            <a:xfrm>
              <a:off x="2352583" y="35510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flipH="1">
              <a:off x="2352583" y="674703"/>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H="1">
              <a:off x="2352583" y="355107"/>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2" name="直接箭头连接符 181"/>
          <p:cNvCxnSpPr>
            <a:stCxn id="175" idx="0"/>
          </p:cNvCxnSpPr>
          <p:nvPr/>
        </p:nvCxnSpPr>
        <p:spPr>
          <a:xfrm flipV="1">
            <a:off x="6030616" y="1712861"/>
            <a:ext cx="0" cy="4554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3" name="文本框 182"/>
          <p:cNvSpPr txBox="1"/>
          <p:nvPr/>
        </p:nvSpPr>
        <p:spPr>
          <a:xfrm>
            <a:off x="6017299" y="1822598"/>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上传文档</a:t>
            </a:r>
          </a:p>
        </p:txBody>
      </p:sp>
      <p:cxnSp>
        <p:nvCxnSpPr>
          <p:cNvPr id="184" name="直接箭头连接符 183"/>
          <p:cNvCxnSpPr>
            <a:stCxn id="175" idx="6"/>
            <a:endCxn id="186" idx="2"/>
          </p:cNvCxnSpPr>
          <p:nvPr/>
        </p:nvCxnSpPr>
        <p:spPr>
          <a:xfrm>
            <a:off x="7010859" y="2479074"/>
            <a:ext cx="6184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5" name="文本框 184"/>
          <p:cNvSpPr txBox="1"/>
          <p:nvPr/>
        </p:nvSpPr>
        <p:spPr>
          <a:xfrm>
            <a:off x="6949453" y="2185216"/>
            <a:ext cx="937331"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标注任务</a:t>
            </a:r>
          </a:p>
        </p:txBody>
      </p:sp>
      <p:sp>
        <p:nvSpPr>
          <p:cNvPr id="186" name="椭圆 185"/>
          <p:cNvSpPr/>
          <p:nvPr/>
        </p:nvSpPr>
        <p:spPr>
          <a:xfrm>
            <a:off x="7629330" y="2168356"/>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1.3</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段落提取标注</a:t>
            </a:r>
          </a:p>
        </p:txBody>
      </p:sp>
      <p:cxnSp>
        <p:nvCxnSpPr>
          <p:cNvPr id="187" name="直接连接符 186"/>
          <p:cNvCxnSpPr/>
          <p:nvPr/>
        </p:nvCxnSpPr>
        <p:spPr>
          <a:xfrm>
            <a:off x="8179006" y="137196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flipH="1">
            <a:off x="8179006" y="1691563"/>
            <a:ext cx="13686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8179006" y="1371967"/>
            <a:ext cx="13686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箭头连接符 189"/>
          <p:cNvCxnSpPr/>
          <p:nvPr/>
        </p:nvCxnSpPr>
        <p:spPr>
          <a:xfrm flipV="1">
            <a:off x="8622890" y="1711391"/>
            <a:ext cx="0" cy="4554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1" name="文本框 190"/>
          <p:cNvSpPr txBox="1"/>
          <p:nvPr/>
        </p:nvSpPr>
        <p:spPr>
          <a:xfrm>
            <a:off x="8609573" y="1821128"/>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标注段落</a:t>
            </a:r>
          </a:p>
        </p:txBody>
      </p:sp>
      <p:sp>
        <p:nvSpPr>
          <p:cNvPr id="192" name="文本框 191"/>
          <p:cNvSpPr txBox="1"/>
          <p:nvPr/>
        </p:nvSpPr>
        <p:spPr>
          <a:xfrm>
            <a:off x="8188619" y="1398750"/>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标注段落数据库</a:t>
            </a:r>
          </a:p>
        </p:txBody>
      </p:sp>
      <p:sp>
        <p:nvSpPr>
          <p:cNvPr id="193" name="椭圆 192"/>
          <p:cNvSpPr/>
          <p:nvPr/>
        </p:nvSpPr>
        <p:spPr>
          <a:xfrm>
            <a:off x="10159471" y="2151497"/>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1.4</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验收标注</a:t>
            </a:r>
          </a:p>
        </p:txBody>
      </p:sp>
      <p:cxnSp>
        <p:nvCxnSpPr>
          <p:cNvPr id="194" name="连接符: 肘形 193"/>
          <p:cNvCxnSpPr/>
          <p:nvPr/>
        </p:nvCxnSpPr>
        <p:spPr>
          <a:xfrm rot="16200000" flipH="1">
            <a:off x="9654730" y="640127"/>
            <a:ext cx="752747" cy="2233484"/>
          </a:xfrm>
          <a:prstGeom prst="bentConnector3">
            <a:avLst>
              <a:gd name="adj1" fmla="val -3036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p:cNvSpPr txBox="1"/>
          <p:nvPr/>
        </p:nvSpPr>
        <p:spPr>
          <a:xfrm>
            <a:off x="10506435" y="3161403"/>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标注数据数据库</a:t>
            </a:r>
          </a:p>
        </p:txBody>
      </p:sp>
      <p:cxnSp>
        <p:nvCxnSpPr>
          <p:cNvPr id="196" name="直接连接符 195"/>
          <p:cNvCxnSpPr/>
          <p:nvPr/>
        </p:nvCxnSpPr>
        <p:spPr>
          <a:xfrm>
            <a:off x="10506435" y="3118806"/>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H="1">
            <a:off x="10506435" y="3438402"/>
            <a:ext cx="13686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10506435" y="3118806"/>
            <a:ext cx="13686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a:stCxn id="193" idx="4"/>
          </p:cNvCxnSpPr>
          <p:nvPr/>
        </p:nvCxnSpPr>
        <p:spPr>
          <a:xfrm>
            <a:off x="11139714" y="2772933"/>
            <a:ext cx="0" cy="3302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0" name="文本框 199"/>
          <p:cNvSpPr txBox="1"/>
          <p:nvPr/>
        </p:nvSpPr>
        <p:spPr>
          <a:xfrm>
            <a:off x="11125649" y="2785203"/>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标注数据</a:t>
            </a:r>
          </a:p>
        </p:txBody>
      </p:sp>
      <p:sp>
        <p:nvSpPr>
          <p:cNvPr id="201" name="椭圆 200"/>
          <p:cNvSpPr/>
          <p:nvPr/>
        </p:nvSpPr>
        <p:spPr>
          <a:xfrm>
            <a:off x="7694421" y="3614903"/>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2.1</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导入训练数据</a:t>
            </a:r>
          </a:p>
        </p:txBody>
      </p:sp>
      <p:cxnSp>
        <p:nvCxnSpPr>
          <p:cNvPr id="202" name="连接符: 肘形 201"/>
          <p:cNvCxnSpPr>
            <a:stCxn id="193" idx="2"/>
            <a:endCxn id="201" idx="6"/>
          </p:cNvCxnSpPr>
          <p:nvPr/>
        </p:nvCxnSpPr>
        <p:spPr>
          <a:xfrm rot="10800000" flipV="1">
            <a:off x="9654907" y="2462215"/>
            <a:ext cx="504564" cy="146340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3" name="文本框 202"/>
          <p:cNvSpPr txBox="1"/>
          <p:nvPr/>
        </p:nvSpPr>
        <p:spPr>
          <a:xfrm rot="5400000">
            <a:off x="9573371" y="3055418"/>
            <a:ext cx="923330" cy="276999"/>
          </a:xfrm>
          <a:prstGeom prst="rect">
            <a:avLst/>
          </a:prstGeom>
          <a:noFill/>
        </p:spPr>
        <p:txBody>
          <a:bodyPr vert="vert270" wrap="square" rtlCol="0">
            <a:spAutoFit/>
          </a:bodyPr>
          <a:lstStyle/>
          <a:p>
            <a:r>
              <a:rPr lang="zh-CN" altLang="en-US" sz="1200" dirty="0">
                <a:latin typeface="腾讯字体包" panose="02010600010101010101" charset="-128"/>
                <a:ea typeface="腾讯字体包" panose="02010600010101010101" charset="-128"/>
              </a:rPr>
              <a:t>标注文本</a:t>
            </a:r>
          </a:p>
        </p:txBody>
      </p:sp>
      <p:sp>
        <p:nvSpPr>
          <p:cNvPr id="204" name="文本框 203"/>
          <p:cNvSpPr txBox="1"/>
          <p:nvPr/>
        </p:nvSpPr>
        <p:spPr>
          <a:xfrm>
            <a:off x="8479739" y="4784451"/>
            <a:ext cx="1282822" cy="276999"/>
          </a:xfrm>
          <a:prstGeom prst="rect">
            <a:avLst/>
          </a:prstGeom>
          <a:noFill/>
        </p:spPr>
        <p:txBody>
          <a:bodyPr wrap="square" rtlCol="0">
            <a:spAutoFit/>
          </a:bodyPr>
          <a:lstStyle/>
          <a:p>
            <a:r>
              <a:rPr lang="en-US" altLang="zh-CN" sz="1200" dirty="0">
                <a:latin typeface="腾讯字体包" panose="02010600010101010101" charset="-128"/>
                <a:ea typeface="腾讯字体包" panose="02010600010101010101" charset="-128"/>
                <a:cs typeface="腾讯字体包" panose="02010600010101010101" charset="-128"/>
              </a:rPr>
              <a:t>AI</a:t>
            </a:r>
            <a:r>
              <a:rPr lang="zh-CN" altLang="en-US" sz="1200" dirty="0">
                <a:latin typeface="腾讯字体包" panose="02010600010101010101" charset="-128"/>
                <a:ea typeface="腾讯字体包" panose="02010600010101010101" charset="-128"/>
                <a:cs typeface="腾讯字体包" panose="02010600010101010101" charset="-128"/>
              </a:rPr>
              <a:t>模型</a:t>
            </a:r>
          </a:p>
        </p:txBody>
      </p:sp>
      <p:grpSp>
        <p:nvGrpSpPr>
          <p:cNvPr id="205" name="组合 204"/>
          <p:cNvGrpSpPr/>
          <p:nvPr/>
        </p:nvGrpSpPr>
        <p:grpSpPr>
          <a:xfrm>
            <a:off x="8328447" y="4741854"/>
            <a:ext cx="861134" cy="319596"/>
            <a:chOff x="2352583" y="355107"/>
            <a:chExt cx="861134" cy="319596"/>
          </a:xfrm>
        </p:grpSpPr>
        <p:cxnSp>
          <p:nvCxnSpPr>
            <p:cNvPr id="206" name="直接连接符 205"/>
            <p:cNvCxnSpPr/>
            <p:nvPr/>
          </p:nvCxnSpPr>
          <p:spPr>
            <a:xfrm>
              <a:off x="2352583" y="35510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H="1">
              <a:off x="2352583" y="674703"/>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flipH="1">
              <a:off x="2352583" y="355107"/>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 name="直接箭头连接符 208"/>
          <p:cNvCxnSpPr>
            <a:endCxn id="201" idx="4"/>
          </p:cNvCxnSpPr>
          <p:nvPr/>
        </p:nvCxnSpPr>
        <p:spPr>
          <a:xfrm flipV="1">
            <a:off x="8674664" y="4236339"/>
            <a:ext cx="0" cy="5055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0" name="文本框 209"/>
          <p:cNvSpPr txBox="1"/>
          <p:nvPr/>
        </p:nvSpPr>
        <p:spPr>
          <a:xfrm>
            <a:off x="8652485" y="4350597"/>
            <a:ext cx="937331"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模型</a:t>
            </a:r>
          </a:p>
        </p:txBody>
      </p:sp>
      <p:sp>
        <p:nvSpPr>
          <p:cNvPr id="211" name="椭圆 210"/>
          <p:cNvSpPr/>
          <p:nvPr/>
        </p:nvSpPr>
        <p:spPr>
          <a:xfrm>
            <a:off x="5043705" y="3614903"/>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2.2</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模型训练</a:t>
            </a:r>
          </a:p>
        </p:txBody>
      </p:sp>
      <p:cxnSp>
        <p:nvCxnSpPr>
          <p:cNvPr id="212" name="直接箭头连接符 211"/>
          <p:cNvCxnSpPr>
            <a:stCxn id="201" idx="2"/>
            <a:endCxn id="211" idx="6"/>
          </p:cNvCxnSpPr>
          <p:nvPr/>
        </p:nvCxnSpPr>
        <p:spPr>
          <a:xfrm flipH="1">
            <a:off x="7004191" y="3925621"/>
            <a:ext cx="6902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文本框 212"/>
          <p:cNvSpPr txBox="1"/>
          <p:nvPr/>
        </p:nvSpPr>
        <p:spPr>
          <a:xfrm>
            <a:off x="7004191" y="3598043"/>
            <a:ext cx="937331"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训练命令</a:t>
            </a:r>
          </a:p>
        </p:txBody>
      </p:sp>
      <p:grpSp>
        <p:nvGrpSpPr>
          <p:cNvPr id="214" name="组合 213"/>
          <p:cNvGrpSpPr/>
          <p:nvPr/>
        </p:nvGrpSpPr>
        <p:grpSpPr>
          <a:xfrm>
            <a:off x="5600049" y="4741854"/>
            <a:ext cx="861134" cy="319596"/>
            <a:chOff x="2352583" y="355107"/>
            <a:chExt cx="861134" cy="319596"/>
          </a:xfrm>
        </p:grpSpPr>
        <p:cxnSp>
          <p:nvCxnSpPr>
            <p:cNvPr id="215" name="直接连接符 214"/>
            <p:cNvCxnSpPr/>
            <p:nvPr/>
          </p:nvCxnSpPr>
          <p:spPr>
            <a:xfrm>
              <a:off x="2352583" y="35510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H="1">
              <a:off x="2352583" y="674703"/>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H="1">
              <a:off x="2352583" y="355107"/>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8" name="文本框 217"/>
          <p:cNvSpPr txBox="1"/>
          <p:nvPr/>
        </p:nvSpPr>
        <p:spPr>
          <a:xfrm>
            <a:off x="5648507" y="4784450"/>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标注模型</a:t>
            </a:r>
          </a:p>
        </p:txBody>
      </p:sp>
      <p:cxnSp>
        <p:nvCxnSpPr>
          <p:cNvPr id="219" name="直接箭头连接符 218"/>
          <p:cNvCxnSpPr/>
          <p:nvPr/>
        </p:nvCxnSpPr>
        <p:spPr>
          <a:xfrm>
            <a:off x="6015812" y="4283587"/>
            <a:ext cx="6668" cy="4125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0" name="文本框 219"/>
          <p:cNvSpPr txBox="1"/>
          <p:nvPr/>
        </p:nvSpPr>
        <p:spPr>
          <a:xfrm>
            <a:off x="5993998" y="4305058"/>
            <a:ext cx="937331"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模型</a:t>
            </a:r>
          </a:p>
        </p:txBody>
      </p:sp>
      <p:sp>
        <p:nvSpPr>
          <p:cNvPr id="221" name="文本框 220"/>
          <p:cNvSpPr txBox="1"/>
          <p:nvPr/>
        </p:nvSpPr>
        <p:spPr>
          <a:xfrm>
            <a:off x="3004067" y="2993275"/>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待提取文本</a:t>
            </a:r>
          </a:p>
        </p:txBody>
      </p:sp>
      <p:grpSp>
        <p:nvGrpSpPr>
          <p:cNvPr id="222" name="组合 221"/>
          <p:cNvGrpSpPr/>
          <p:nvPr/>
        </p:nvGrpSpPr>
        <p:grpSpPr>
          <a:xfrm>
            <a:off x="3016651" y="2955123"/>
            <a:ext cx="861134" cy="319596"/>
            <a:chOff x="2352583" y="355107"/>
            <a:chExt cx="861134" cy="319596"/>
          </a:xfrm>
        </p:grpSpPr>
        <p:cxnSp>
          <p:nvCxnSpPr>
            <p:cNvPr id="223" name="直接连接符 222"/>
            <p:cNvCxnSpPr/>
            <p:nvPr/>
          </p:nvCxnSpPr>
          <p:spPr>
            <a:xfrm>
              <a:off x="2352583" y="35510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flipH="1">
              <a:off x="2352583" y="674703"/>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flipH="1">
              <a:off x="2352583" y="355107"/>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6" name="椭圆 225"/>
          <p:cNvSpPr/>
          <p:nvPr/>
        </p:nvSpPr>
        <p:spPr>
          <a:xfrm>
            <a:off x="2445513" y="3615799"/>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2.3</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实体提取</a:t>
            </a:r>
          </a:p>
        </p:txBody>
      </p:sp>
      <p:cxnSp>
        <p:nvCxnSpPr>
          <p:cNvPr id="227" name="直接箭头连接符 226"/>
          <p:cNvCxnSpPr/>
          <p:nvPr/>
        </p:nvCxnSpPr>
        <p:spPr>
          <a:xfrm flipH="1">
            <a:off x="3434634" y="3312377"/>
            <a:ext cx="5564" cy="2938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8" name="文本框 227"/>
          <p:cNvSpPr txBox="1"/>
          <p:nvPr/>
        </p:nvSpPr>
        <p:spPr>
          <a:xfrm>
            <a:off x="3459398" y="3320344"/>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文本</a:t>
            </a:r>
          </a:p>
        </p:txBody>
      </p:sp>
      <p:cxnSp>
        <p:nvCxnSpPr>
          <p:cNvPr id="229" name="连接符: 肘形 228"/>
          <p:cNvCxnSpPr/>
          <p:nvPr/>
        </p:nvCxnSpPr>
        <p:spPr>
          <a:xfrm rot="10800000">
            <a:off x="3463476" y="4253199"/>
            <a:ext cx="2097159" cy="68571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0" name="文本框 229"/>
          <p:cNvSpPr txBox="1"/>
          <p:nvPr/>
        </p:nvSpPr>
        <p:spPr>
          <a:xfrm>
            <a:off x="4069402" y="4696143"/>
            <a:ext cx="937331"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标注模型</a:t>
            </a:r>
          </a:p>
        </p:txBody>
      </p:sp>
      <p:sp>
        <p:nvSpPr>
          <p:cNvPr id="231" name="椭圆 230"/>
          <p:cNvSpPr/>
          <p:nvPr/>
        </p:nvSpPr>
        <p:spPr>
          <a:xfrm>
            <a:off x="34268" y="3614007"/>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2.4</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结果校正</a:t>
            </a:r>
          </a:p>
        </p:txBody>
      </p:sp>
      <p:cxnSp>
        <p:nvCxnSpPr>
          <p:cNvPr id="232" name="直接箭头连接符 231"/>
          <p:cNvCxnSpPr>
            <a:stCxn id="226" idx="2"/>
            <a:endCxn id="231" idx="6"/>
          </p:cNvCxnSpPr>
          <p:nvPr/>
        </p:nvCxnSpPr>
        <p:spPr>
          <a:xfrm flipH="1" flipV="1">
            <a:off x="1994754" y="3924725"/>
            <a:ext cx="450759" cy="17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3" name="文本框 232"/>
          <p:cNvSpPr txBox="1"/>
          <p:nvPr/>
        </p:nvSpPr>
        <p:spPr>
          <a:xfrm>
            <a:off x="1990313" y="3657500"/>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实体</a:t>
            </a:r>
          </a:p>
        </p:txBody>
      </p:sp>
      <p:sp>
        <p:nvSpPr>
          <p:cNvPr id="234" name="椭圆 233"/>
          <p:cNvSpPr/>
          <p:nvPr/>
        </p:nvSpPr>
        <p:spPr>
          <a:xfrm>
            <a:off x="40156" y="5283864"/>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2.5</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模型微调</a:t>
            </a:r>
          </a:p>
        </p:txBody>
      </p:sp>
      <p:cxnSp>
        <p:nvCxnSpPr>
          <p:cNvPr id="235" name="直接箭头连接符 234"/>
          <p:cNvCxnSpPr>
            <a:stCxn id="231" idx="4"/>
            <a:endCxn id="234" idx="0"/>
          </p:cNvCxnSpPr>
          <p:nvPr/>
        </p:nvCxnSpPr>
        <p:spPr>
          <a:xfrm>
            <a:off x="1014511" y="4235443"/>
            <a:ext cx="5888" cy="10484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6" name="文本框 235"/>
          <p:cNvSpPr txBox="1"/>
          <p:nvPr/>
        </p:nvSpPr>
        <p:spPr>
          <a:xfrm rot="5400000">
            <a:off x="881850" y="4557644"/>
            <a:ext cx="553998" cy="276999"/>
          </a:xfrm>
          <a:prstGeom prst="rect">
            <a:avLst/>
          </a:prstGeom>
          <a:noFill/>
        </p:spPr>
        <p:txBody>
          <a:bodyPr vert="vert270" wrap="square" rtlCol="0">
            <a:spAutoFit/>
          </a:bodyPr>
          <a:lstStyle/>
          <a:p>
            <a:r>
              <a:rPr lang="zh-CN" altLang="en-US" sz="1200" dirty="0">
                <a:latin typeface="腾讯字体包" panose="02010600010101010101" charset="-128"/>
                <a:ea typeface="腾讯字体包" panose="02010600010101010101" charset="-128"/>
              </a:rPr>
              <a:t>反馈</a:t>
            </a:r>
          </a:p>
        </p:txBody>
      </p:sp>
      <p:sp>
        <p:nvSpPr>
          <p:cNvPr id="237" name="椭圆 236"/>
          <p:cNvSpPr/>
          <p:nvPr/>
        </p:nvSpPr>
        <p:spPr>
          <a:xfrm>
            <a:off x="2577581" y="5283864"/>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2.6</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模型更新</a:t>
            </a:r>
          </a:p>
        </p:txBody>
      </p:sp>
      <p:cxnSp>
        <p:nvCxnSpPr>
          <p:cNvPr id="238" name="直接箭头连接符 237"/>
          <p:cNvCxnSpPr>
            <a:stCxn id="234" idx="6"/>
            <a:endCxn id="237" idx="2"/>
          </p:cNvCxnSpPr>
          <p:nvPr/>
        </p:nvCxnSpPr>
        <p:spPr>
          <a:xfrm>
            <a:off x="2000642" y="5594582"/>
            <a:ext cx="57693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9" name="文本框 238"/>
          <p:cNvSpPr txBox="1"/>
          <p:nvPr/>
        </p:nvSpPr>
        <p:spPr>
          <a:xfrm rot="5400000">
            <a:off x="2182268" y="5032926"/>
            <a:ext cx="369332" cy="855245"/>
          </a:xfrm>
          <a:prstGeom prst="rect">
            <a:avLst/>
          </a:prstGeom>
          <a:noFill/>
        </p:spPr>
        <p:txBody>
          <a:bodyPr vert="vert270" wrap="square" rtlCol="0">
            <a:spAutoFit/>
          </a:bodyPr>
          <a:lstStyle/>
          <a:p>
            <a:r>
              <a:rPr lang="zh-CN" altLang="en-US" sz="1200" dirty="0">
                <a:latin typeface="腾讯字体包" panose="02010600010101010101" charset="-128"/>
                <a:ea typeface="腾讯字体包" panose="02010600010101010101" charset="-128"/>
              </a:rPr>
              <a:t>优化方向</a:t>
            </a:r>
          </a:p>
        </p:txBody>
      </p:sp>
      <p:cxnSp>
        <p:nvCxnSpPr>
          <p:cNvPr id="240" name="连接符: 肘形 239"/>
          <p:cNvCxnSpPr>
            <a:stCxn id="237" idx="6"/>
          </p:cNvCxnSpPr>
          <p:nvPr/>
        </p:nvCxnSpPr>
        <p:spPr>
          <a:xfrm flipV="1">
            <a:off x="4538067" y="5061449"/>
            <a:ext cx="1485442" cy="533133"/>
          </a:xfrm>
          <a:prstGeom prst="bentConnector3">
            <a:avLst>
              <a:gd name="adj1" fmla="val 10020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1" name="文本框 240"/>
          <p:cNvSpPr txBox="1"/>
          <p:nvPr/>
        </p:nvSpPr>
        <p:spPr>
          <a:xfrm rot="5400000">
            <a:off x="5692152" y="4880239"/>
            <a:ext cx="369332" cy="855245"/>
          </a:xfrm>
          <a:prstGeom prst="rect">
            <a:avLst/>
          </a:prstGeom>
          <a:noFill/>
        </p:spPr>
        <p:txBody>
          <a:bodyPr vert="vert270" wrap="square" rtlCol="0">
            <a:spAutoFit/>
          </a:bodyPr>
          <a:lstStyle/>
          <a:p>
            <a:r>
              <a:rPr lang="zh-CN" altLang="en-US" sz="1200" dirty="0">
                <a:latin typeface="腾讯字体包" panose="02010600010101010101" charset="-128"/>
                <a:ea typeface="腾讯字体包" panose="02010600010101010101" charset="-128"/>
              </a:rPr>
              <a:t>新模型</a:t>
            </a:r>
          </a:p>
        </p:txBody>
      </p:sp>
      <p:sp>
        <p:nvSpPr>
          <p:cNvPr id="242" name="椭圆 241"/>
          <p:cNvSpPr/>
          <p:nvPr/>
        </p:nvSpPr>
        <p:spPr>
          <a:xfrm>
            <a:off x="6714178" y="5275882"/>
            <a:ext cx="1960486" cy="621436"/>
          </a:xfrm>
          <a:prstGeom prst="ellipse">
            <a:avLst/>
          </a:prstGeom>
          <a:solidFill>
            <a:srgbClr val="3F51B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2.7</a:t>
            </a:r>
          </a:p>
          <a:p>
            <a:pPr lvl="0" algn="ctr">
              <a:buClrTx/>
              <a:buSzTx/>
              <a:buFontTx/>
            </a:pPr>
            <a:r>
              <a:rPr lang="en-US" altLang="zh-CN" sz="1400" dirty="0">
                <a:solidFill>
                  <a:schemeClr val="tx1"/>
                </a:solidFill>
                <a:latin typeface="腾讯字体包" panose="02010600010101010101" charset="-128"/>
                <a:ea typeface="腾讯字体包" panose="02010600010101010101" charset="-128"/>
                <a:cs typeface="腾讯字体包" panose="02010600010101010101" charset="-128"/>
                <a:sym typeface="+mn-ea"/>
              </a:rPr>
              <a:t>标注提取</a:t>
            </a:r>
          </a:p>
        </p:txBody>
      </p:sp>
      <p:sp>
        <p:nvSpPr>
          <p:cNvPr id="243" name="文本框 242"/>
          <p:cNvSpPr txBox="1"/>
          <p:nvPr/>
        </p:nvSpPr>
        <p:spPr>
          <a:xfrm>
            <a:off x="7251270" y="6362074"/>
            <a:ext cx="1282822"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待标注段落</a:t>
            </a:r>
          </a:p>
        </p:txBody>
      </p:sp>
      <p:grpSp>
        <p:nvGrpSpPr>
          <p:cNvPr id="244" name="组合 243"/>
          <p:cNvGrpSpPr/>
          <p:nvPr/>
        </p:nvGrpSpPr>
        <p:grpSpPr>
          <a:xfrm>
            <a:off x="7263854" y="6319477"/>
            <a:ext cx="861134" cy="319596"/>
            <a:chOff x="2352583" y="355107"/>
            <a:chExt cx="861134" cy="319596"/>
          </a:xfrm>
        </p:grpSpPr>
        <p:cxnSp>
          <p:nvCxnSpPr>
            <p:cNvPr id="245" name="直接连接符 244"/>
            <p:cNvCxnSpPr/>
            <p:nvPr/>
          </p:nvCxnSpPr>
          <p:spPr>
            <a:xfrm>
              <a:off x="2352583" y="355107"/>
              <a:ext cx="0" cy="319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flipH="1">
              <a:off x="2352583" y="674703"/>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flipH="1">
              <a:off x="2352583" y="355107"/>
              <a:ext cx="8611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8" name="文本框 247"/>
          <p:cNvSpPr txBox="1"/>
          <p:nvPr/>
        </p:nvSpPr>
        <p:spPr>
          <a:xfrm>
            <a:off x="7697193" y="5969898"/>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段落</a:t>
            </a:r>
          </a:p>
        </p:txBody>
      </p:sp>
      <p:cxnSp>
        <p:nvCxnSpPr>
          <p:cNvPr id="249" name="直接箭头连接符 248"/>
          <p:cNvCxnSpPr/>
          <p:nvPr/>
        </p:nvCxnSpPr>
        <p:spPr>
          <a:xfrm flipV="1">
            <a:off x="7694421" y="5905300"/>
            <a:ext cx="0" cy="414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连接符: 肘形 249"/>
          <p:cNvCxnSpPr>
            <a:stCxn id="218" idx="2"/>
            <a:endCxn id="242" idx="2"/>
          </p:cNvCxnSpPr>
          <p:nvPr/>
        </p:nvCxnSpPr>
        <p:spPr>
          <a:xfrm rot="16200000" flipH="1">
            <a:off x="6239473" y="5111894"/>
            <a:ext cx="525151" cy="42426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1" name="文本框 250"/>
          <p:cNvSpPr txBox="1"/>
          <p:nvPr/>
        </p:nvSpPr>
        <p:spPr>
          <a:xfrm>
            <a:off x="6231818" y="5172864"/>
            <a:ext cx="937331"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cs typeface="腾讯字体包" panose="02010600010101010101" charset="-128"/>
              </a:rPr>
              <a:t>调用</a:t>
            </a:r>
            <a:r>
              <a:rPr lang="en-US" altLang="zh-CN" sz="1200" dirty="0">
                <a:latin typeface="腾讯字体包" panose="02010600010101010101" charset="-128"/>
                <a:ea typeface="腾讯字体包" panose="02010600010101010101" charset="-128"/>
                <a:cs typeface="腾讯字体包" panose="02010600010101010101" charset="-128"/>
              </a:rPr>
              <a:t>API</a:t>
            </a:r>
            <a:endParaRPr lang="zh-CN" altLang="en-US" sz="1200" dirty="0">
              <a:latin typeface="腾讯字体包" panose="02010600010101010101" charset="-128"/>
              <a:ea typeface="腾讯字体包" panose="02010600010101010101" charset="-128"/>
              <a:cs typeface="腾讯字体包" panose="02010600010101010101" charset="-128"/>
            </a:endParaRPr>
          </a:p>
        </p:txBody>
      </p:sp>
      <p:sp>
        <p:nvSpPr>
          <p:cNvPr id="252" name="矩形 251"/>
          <p:cNvSpPr/>
          <p:nvPr/>
        </p:nvSpPr>
        <p:spPr>
          <a:xfrm>
            <a:off x="9526425" y="5283864"/>
            <a:ext cx="861133" cy="621436"/>
          </a:xfrm>
          <a:prstGeom prst="rect">
            <a:avLst/>
          </a:prstGeom>
          <a:solidFill>
            <a:srgbClr val="F44336">
              <a:alpha val="19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1"/>
                </a:solidFill>
                <a:latin typeface="腾讯字体包" panose="02010600010101010101" charset="-128"/>
                <a:ea typeface="腾讯字体包" panose="02010600010101010101" charset="-128"/>
                <a:sym typeface="+mn-ea"/>
              </a:rPr>
              <a:t>客户</a:t>
            </a:r>
          </a:p>
        </p:txBody>
      </p:sp>
      <p:cxnSp>
        <p:nvCxnSpPr>
          <p:cNvPr id="253" name="直接箭头连接符 252"/>
          <p:cNvCxnSpPr>
            <a:stCxn id="242" idx="6"/>
            <a:endCxn id="252" idx="1"/>
          </p:cNvCxnSpPr>
          <p:nvPr/>
        </p:nvCxnSpPr>
        <p:spPr>
          <a:xfrm>
            <a:off x="8674664" y="5586600"/>
            <a:ext cx="851761" cy="79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4" name="文本框 253"/>
          <p:cNvSpPr txBox="1"/>
          <p:nvPr/>
        </p:nvSpPr>
        <p:spPr>
          <a:xfrm>
            <a:off x="8665292" y="5275881"/>
            <a:ext cx="861133" cy="276999"/>
          </a:xfrm>
          <a:prstGeom prst="rect">
            <a:avLst/>
          </a:prstGeom>
          <a:noFill/>
        </p:spPr>
        <p:txBody>
          <a:bodyPr wrap="square" rtlCol="0">
            <a:spAutoFit/>
          </a:bodyPr>
          <a:lstStyle/>
          <a:p>
            <a:r>
              <a:rPr lang="zh-CN" altLang="en-US" sz="1200" dirty="0">
                <a:latin typeface="腾讯字体包" panose="02010600010101010101" charset="-128"/>
                <a:ea typeface="腾讯字体包" panose="02010600010101010101" charset="-128"/>
              </a:rPr>
              <a:t>标注结果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03310" y="700015"/>
            <a:ext cx="3281155" cy="572075"/>
            <a:chOff x="582710" y="712715"/>
            <a:chExt cx="3281155" cy="572075"/>
          </a:xfrm>
        </p:grpSpPr>
        <p:sp>
          <p:nvSpPr>
            <p:cNvPr id="9" name="矩形 8"/>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76165" y="712715"/>
              <a:ext cx="3187700"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数据字典</a:t>
              </a:r>
            </a:p>
          </p:txBody>
        </p:sp>
      </p:grpSp>
      <p:sp>
        <p:nvSpPr>
          <p:cNvPr id="2" name="矩形 1"/>
          <p:cNvSpPr/>
          <p:nvPr>
            <p:custDataLst>
              <p:tags r:id="rId1"/>
            </p:custDataLst>
          </p:nvPr>
        </p:nvSpPr>
        <p:spPr>
          <a:xfrm>
            <a:off x="1292013" y="1842136"/>
            <a:ext cx="2490809" cy="16380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字体包" panose="02010600010101010101" charset="-128"/>
              <a:ea typeface="腾讯字体包" panose="02010600010101010101" charset="-128"/>
            </a:endParaRPr>
          </a:p>
        </p:txBody>
      </p:sp>
      <p:cxnSp>
        <p:nvCxnSpPr>
          <p:cNvPr id="4" name="直接连接符 3"/>
          <p:cNvCxnSpPr/>
          <p:nvPr>
            <p:custDataLst>
              <p:tags r:id="rId2"/>
            </p:custDataLst>
          </p:nvPr>
        </p:nvCxnSpPr>
        <p:spPr>
          <a:xfrm>
            <a:off x="1292013" y="2281953"/>
            <a:ext cx="2490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3"/>
            </p:custDataLst>
          </p:nvPr>
        </p:nvSpPr>
        <p:spPr>
          <a:xfrm>
            <a:off x="1292013" y="1853325"/>
            <a:ext cx="2086894" cy="368300"/>
          </a:xfrm>
          <a:prstGeom prst="rect">
            <a:avLst/>
          </a:prstGeom>
          <a:noFill/>
        </p:spPr>
        <p:txBody>
          <a:bodyPr wrap="square" rtlCol="0">
            <a:spAutoFit/>
          </a:bodyPr>
          <a:lstStyle/>
          <a:p>
            <a:r>
              <a:rPr lang="zh-CN" altLang="en-US" dirty="0">
                <a:latin typeface="腾讯字体包" panose="02010600010101010101" charset="-128"/>
                <a:ea typeface="腾讯字体包" panose="02010600010101010101" charset="-128"/>
                <a:cs typeface="腾讯字体包" panose="02010600010101010101" charset="-128"/>
              </a:rPr>
              <a:t>对象</a:t>
            </a:r>
            <a:r>
              <a:rPr lang="en-US" altLang="zh-CN" dirty="0">
                <a:latin typeface="腾讯字体包" panose="02010600010101010101" charset="-128"/>
                <a:ea typeface="腾讯字体包" panose="02010600010101010101" charset="-128"/>
                <a:cs typeface="腾讯字体包" panose="02010600010101010101" charset="-128"/>
              </a:rPr>
              <a:t>: </a:t>
            </a:r>
            <a:r>
              <a:rPr lang="zh-CN" altLang="en-US" dirty="0">
                <a:latin typeface="腾讯字体包" panose="02010600010101010101" charset="-128"/>
                <a:ea typeface="腾讯字体包" panose="02010600010101010101" charset="-128"/>
                <a:cs typeface="腾讯字体包" panose="02010600010101010101" charset="-128"/>
              </a:rPr>
              <a:t>标注</a:t>
            </a:r>
            <a:r>
              <a:rPr lang="en-US" altLang="zh-CN" dirty="0">
                <a:latin typeface="腾讯字体包" panose="02010600010101010101" charset="-128"/>
                <a:ea typeface="腾讯字体包" panose="02010600010101010101" charset="-128"/>
                <a:cs typeface="腾讯字体包" panose="02010600010101010101" charset="-128"/>
              </a:rPr>
              <a:t> </a:t>
            </a:r>
            <a:endParaRPr lang="zh-CN" altLang="en-US" dirty="0">
              <a:latin typeface="腾讯字体包" panose="02010600010101010101" charset="-128"/>
              <a:ea typeface="腾讯字体包" panose="02010600010101010101" charset="-128"/>
              <a:cs typeface="腾讯字体包" panose="02010600010101010101" charset="-128"/>
            </a:endParaRPr>
          </a:p>
        </p:txBody>
      </p:sp>
      <p:sp>
        <p:nvSpPr>
          <p:cNvPr id="102" name="文本框 101"/>
          <p:cNvSpPr txBox="1"/>
          <p:nvPr>
            <p:custDataLst>
              <p:tags r:id="rId4"/>
            </p:custDataLst>
          </p:nvPr>
        </p:nvSpPr>
        <p:spPr>
          <a:xfrm>
            <a:off x="1292013" y="2329255"/>
            <a:ext cx="2490809" cy="737235"/>
          </a:xfrm>
          <a:prstGeom prst="rect">
            <a:avLst/>
          </a:prstGeom>
          <a:noFill/>
        </p:spPr>
        <p:txBody>
          <a:bodyPr wrap="square" rtlCol="0">
            <a:spAutoFit/>
          </a:bodyPr>
          <a:lstStyle/>
          <a:p>
            <a:r>
              <a:rPr lang="zh-CN" altLang="en-US" sz="1400" dirty="0">
                <a:latin typeface="腾讯字体包" panose="02010600010101010101" charset="-128"/>
                <a:ea typeface="腾讯字体包" panose="02010600010101010101" charset="-128"/>
                <a:cs typeface="腾讯字体包" panose="02010600010101010101" charset="-128"/>
              </a:rPr>
              <a:t>描述</a:t>
            </a:r>
            <a:r>
              <a:rPr lang="en-US" altLang="zh-CN" sz="1400" dirty="0">
                <a:latin typeface="腾讯字体包" panose="02010600010101010101" charset="-128"/>
                <a:ea typeface="腾讯字体包" panose="02010600010101010101" charset="-128"/>
                <a:cs typeface="腾讯字体包" panose="02010600010101010101" charset="-128"/>
              </a:rPr>
              <a:t>:  </a:t>
            </a:r>
            <a:r>
              <a:rPr lang="zh-CN" altLang="en-US" sz="1400" dirty="0">
                <a:latin typeface="腾讯字体包" panose="02010600010101010101" charset="-128"/>
                <a:ea typeface="腾讯字体包" panose="02010600010101010101" charset="-128"/>
                <a:cs typeface="腾讯字体包" panose="02010600010101010101" charset="-128"/>
              </a:rPr>
              <a:t>在文本数据中识别并显式地标记出特定信息或实体的过程。</a:t>
            </a:r>
          </a:p>
        </p:txBody>
      </p:sp>
      <p:sp>
        <p:nvSpPr>
          <p:cNvPr id="104" name="矩形 103"/>
          <p:cNvSpPr/>
          <p:nvPr>
            <p:custDataLst>
              <p:tags r:id="rId5"/>
            </p:custDataLst>
          </p:nvPr>
        </p:nvSpPr>
        <p:spPr>
          <a:xfrm>
            <a:off x="4563724" y="1853842"/>
            <a:ext cx="2490809" cy="16380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字体包" panose="02010600010101010101" charset="-128"/>
              <a:ea typeface="腾讯字体包" panose="02010600010101010101" charset="-128"/>
            </a:endParaRPr>
          </a:p>
        </p:txBody>
      </p:sp>
      <p:cxnSp>
        <p:nvCxnSpPr>
          <p:cNvPr id="105" name="直接连接符 104"/>
          <p:cNvCxnSpPr/>
          <p:nvPr>
            <p:custDataLst>
              <p:tags r:id="rId6"/>
            </p:custDataLst>
          </p:nvPr>
        </p:nvCxnSpPr>
        <p:spPr>
          <a:xfrm>
            <a:off x="4563724" y="2293659"/>
            <a:ext cx="2490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文本框 105"/>
          <p:cNvSpPr txBox="1"/>
          <p:nvPr>
            <p:custDataLst>
              <p:tags r:id="rId7"/>
            </p:custDataLst>
          </p:nvPr>
        </p:nvSpPr>
        <p:spPr>
          <a:xfrm>
            <a:off x="4563724" y="1865031"/>
            <a:ext cx="2086894" cy="368300"/>
          </a:xfrm>
          <a:prstGeom prst="rect">
            <a:avLst/>
          </a:prstGeom>
          <a:noFill/>
        </p:spPr>
        <p:txBody>
          <a:bodyPr wrap="square" rtlCol="0">
            <a:spAutoFit/>
          </a:bodyPr>
          <a:lstStyle/>
          <a:p>
            <a:r>
              <a:rPr lang="zh-CN" altLang="en-US" dirty="0">
                <a:latin typeface="腾讯字体包" panose="02010600010101010101" charset="-128"/>
                <a:ea typeface="腾讯字体包" panose="02010600010101010101" charset="-128"/>
                <a:cs typeface="腾讯字体包" panose="02010600010101010101" charset="-128"/>
              </a:rPr>
              <a:t>对象</a:t>
            </a:r>
            <a:r>
              <a:rPr lang="en-US" altLang="zh-CN" dirty="0">
                <a:latin typeface="腾讯字体包" panose="02010600010101010101" charset="-128"/>
                <a:ea typeface="腾讯字体包" panose="02010600010101010101" charset="-128"/>
                <a:cs typeface="腾讯字体包" panose="02010600010101010101" charset="-128"/>
              </a:rPr>
              <a:t>: </a:t>
            </a:r>
            <a:r>
              <a:rPr lang="zh-CN" altLang="en-US" dirty="0">
                <a:latin typeface="腾讯字体包" panose="02010600010101010101" charset="-128"/>
                <a:ea typeface="腾讯字体包" panose="02010600010101010101" charset="-128"/>
                <a:cs typeface="腾讯字体包" panose="02010600010101010101" charset="-128"/>
              </a:rPr>
              <a:t>实体</a:t>
            </a:r>
          </a:p>
        </p:txBody>
      </p:sp>
      <p:sp>
        <p:nvSpPr>
          <p:cNvPr id="107" name="文本框 106"/>
          <p:cNvSpPr txBox="1"/>
          <p:nvPr>
            <p:custDataLst>
              <p:tags r:id="rId8"/>
            </p:custDataLst>
          </p:nvPr>
        </p:nvSpPr>
        <p:spPr>
          <a:xfrm>
            <a:off x="4576515" y="2277681"/>
            <a:ext cx="2490809" cy="1168400"/>
          </a:xfrm>
          <a:prstGeom prst="rect">
            <a:avLst/>
          </a:prstGeom>
          <a:noFill/>
        </p:spPr>
        <p:txBody>
          <a:bodyPr wrap="square" rtlCol="0">
            <a:spAutoFit/>
          </a:bodyPr>
          <a:lstStyle/>
          <a:p>
            <a:r>
              <a:rPr lang="zh-CN" altLang="en-US" sz="1400" dirty="0">
                <a:latin typeface="腾讯字体包" panose="02010600010101010101" charset="-128"/>
                <a:ea typeface="腾讯字体包" panose="02010600010101010101" charset="-128"/>
                <a:cs typeface="腾讯字体包" panose="02010600010101010101" charset="-128"/>
              </a:rPr>
              <a:t>描述</a:t>
            </a:r>
            <a:r>
              <a:rPr lang="en-US" altLang="zh-CN" sz="1400" dirty="0">
                <a:latin typeface="腾讯字体包" panose="02010600010101010101" charset="-128"/>
                <a:ea typeface="腾讯字体包" panose="02010600010101010101" charset="-128"/>
                <a:cs typeface="腾讯字体包" panose="02010600010101010101" charset="-128"/>
              </a:rPr>
              <a:t>:  </a:t>
            </a:r>
            <a:r>
              <a:rPr lang="zh-CN" altLang="en-US" sz="1400" dirty="0">
                <a:latin typeface="腾讯字体包" panose="02010600010101010101" charset="-128"/>
                <a:ea typeface="腾讯字体包" panose="02010600010101010101" charset="-128"/>
                <a:cs typeface="腾讯字体包" panose="02010600010101010101" charset="-128"/>
              </a:rPr>
              <a:t>不同领域内在标注段落范围内进一步提取的目标对象。对于稀土催化材料文献，实体可包括MOFs化学式、金属前驱体等。</a:t>
            </a:r>
          </a:p>
        </p:txBody>
      </p:sp>
      <p:sp>
        <p:nvSpPr>
          <p:cNvPr id="116" name="矩形 115"/>
          <p:cNvSpPr/>
          <p:nvPr>
            <p:custDataLst>
              <p:tags r:id="rId9"/>
            </p:custDataLst>
          </p:nvPr>
        </p:nvSpPr>
        <p:spPr>
          <a:xfrm>
            <a:off x="7835435" y="1853842"/>
            <a:ext cx="2490809" cy="16380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字体包" panose="02010600010101010101" charset="-128"/>
              <a:ea typeface="腾讯字体包" panose="02010600010101010101" charset="-128"/>
            </a:endParaRPr>
          </a:p>
        </p:txBody>
      </p:sp>
      <p:cxnSp>
        <p:nvCxnSpPr>
          <p:cNvPr id="117" name="直接连接符 116"/>
          <p:cNvCxnSpPr/>
          <p:nvPr>
            <p:custDataLst>
              <p:tags r:id="rId10"/>
            </p:custDataLst>
          </p:nvPr>
        </p:nvCxnSpPr>
        <p:spPr>
          <a:xfrm>
            <a:off x="7835435" y="2293659"/>
            <a:ext cx="2490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文本框 117"/>
          <p:cNvSpPr txBox="1"/>
          <p:nvPr>
            <p:custDataLst>
              <p:tags r:id="rId11"/>
            </p:custDataLst>
          </p:nvPr>
        </p:nvSpPr>
        <p:spPr>
          <a:xfrm>
            <a:off x="7835435" y="1865031"/>
            <a:ext cx="2086894" cy="368300"/>
          </a:xfrm>
          <a:prstGeom prst="rect">
            <a:avLst/>
          </a:prstGeom>
          <a:noFill/>
        </p:spPr>
        <p:txBody>
          <a:bodyPr wrap="square" rtlCol="0">
            <a:spAutoFit/>
          </a:bodyPr>
          <a:lstStyle/>
          <a:p>
            <a:r>
              <a:rPr lang="zh-CN" altLang="en-US" dirty="0">
                <a:latin typeface="腾讯字体包" panose="02010600010101010101" charset="-128"/>
                <a:ea typeface="腾讯字体包" panose="02010600010101010101" charset="-128"/>
                <a:cs typeface="腾讯字体包" panose="02010600010101010101" charset="-128"/>
              </a:rPr>
              <a:t>对象</a:t>
            </a:r>
            <a:r>
              <a:rPr lang="en-US" altLang="zh-CN" dirty="0">
                <a:latin typeface="腾讯字体包" panose="02010600010101010101" charset="-128"/>
                <a:ea typeface="腾讯字体包" panose="02010600010101010101" charset="-128"/>
                <a:cs typeface="腾讯字体包" panose="02010600010101010101" charset="-128"/>
              </a:rPr>
              <a:t>: </a:t>
            </a:r>
            <a:r>
              <a:rPr lang="zh-CN" altLang="en-US" dirty="0">
                <a:latin typeface="腾讯字体包" panose="02010600010101010101" charset="-128"/>
                <a:ea typeface="腾讯字体包" panose="02010600010101010101" charset="-128"/>
                <a:cs typeface="腾讯字体包" panose="02010600010101010101" charset="-128"/>
              </a:rPr>
              <a:t>段落模型</a:t>
            </a:r>
          </a:p>
        </p:txBody>
      </p:sp>
      <p:sp>
        <p:nvSpPr>
          <p:cNvPr id="119" name="文本框 118"/>
          <p:cNvSpPr txBox="1"/>
          <p:nvPr>
            <p:custDataLst>
              <p:tags r:id="rId12"/>
            </p:custDataLst>
          </p:nvPr>
        </p:nvSpPr>
        <p:spPr>
          <a:xfrm>
            <a:off x="7835435" y="2340961"/>
            <a:ext cx="2490809" cy="737235"/>
          </a:xfrm>
          <a:prstGeom prst="rect">
            <a:avLst/>
          </a:prstGeom>
          <a:noFill/>
        </p:spPr>
        <p:txBody>
          <a:bodyPr wrap="square" rtlCol="0">
            <a:spAutoFit/>
          </a:bodyPr>
          <a:lstStyle/>
          <a:p>
            <a:r>
              <a:rPr lang="zh-CN" altLang="en-US" sz="1400" dirty="0">
                <a:latin typeface="腾讯字体包" panose="02010600010101010101" charset="-128"/>
                <a:ea typeface="腾讯字体包" panose="02010600010101010101" charset="-128"/>
                <a:cs typeface="腾讯字体包" panose="02010600010101010101" charset="-128"/>
              </a:rPr>
              <a:t>描述</a:t>
            </a:r>
            <a:r>
              <a:rPr lang="en-US" altLang="zh-CN" sz="1400" dirty="0">
                <a:latin typeface="腾讯字体包" panose="02010600010101010101" charset="-128"/>
                <a:ea typeface="腾讯字体包" panose="02010600010101010101" charset="-128"/>
                <a:cs typeface="腾讯字体包" panose="02010600010101010101" charset="-128"/>
              </a:rPr>
              <a:t>:  </a:t>
            </a:r>
            <a:r>
              <a:rPr sz="1400" dirty="0">
                <a:latin typeface="腾讯字体包" panose="02010600010101010101" charset="-128"/>
                <a:ea typeface="腾讯字体包" panose="02010600010101010101" charset="-128"/>
                <a:cs typeface="腾讯字体包" panose="02010600010101010101" charset="-128"/>
              </a:rPr>
              <a:t>专门用于处理和理解文本中特定段落或内容类型的机器学习模型。</a:t>
            </a:r>
          </a:p>
        </p:txBody>
      </p:sp>
      <p:sp>
        <p:nvSpPr>
          <p:cNvPr id="3" name="矩形 2"/>
          <p:cNvSpPr/>
          <p:nvPr>
            <p:custDataLst>
              <p:tags r:id="rId13"/>
            </p:custDataLst>
          </p:nvPr>
        </p:nvSpPr>
        <p:spPr>
          <a:xfrm>
            <a:off x="1312882" y="4291880"/>
            <a:ext cx="2490809" cy="16380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字体包" panose="02010600010101010101" charset="-128"/>
              <a:ea typeface="腾讯字体包" panose="02010600010101010101" charset="-128"/>
            </a:endParaRPr>
          </a:p>
        </p:txBody>
      </p:sp>
      <p:cxnSp>
        <p:nvCxnSpPr>
          <p:cNvPr id="5" name="直接连接符 4"/>
          <p:cNvCxnSpPr/>
          <p:nvPr>
            <p:custDataLst>
              <p:tags r:id="rId14"/>
            </p:custDataLst>
          </p:nvPr>
        </p:nvCxnSpPr>
        <p:spPr>
          <a:xfrm>
            <a:off x="1312882" y="4731697"/>
            <a:ext cx="2490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custDataLst>
              <p:tags r:id="rId15"/>
            </p:custDataLst>
          </p:nvPr>
        </p:nvSpPr>
        <p:spPr>
          <a:xfrm>
            <a:off x="1312882" y="4303069"/>
            <a:ext cx="2086894" cy="368300"/>
          </a:xfrm>
          <a:prstGeom prst="rect">
            <a:avLst/>
          </a:prstGeom>
          <a:noFill/>
        </p:spPr>
        <p:txBody>
          <a:bodyPr wrap="square" rtlCol="0">
            <a:spAutoFit/>
          </a:bodyPr>
          <a:lstStyle/>
          <a:p>
            <a:r>
              <a:rPr lang="zh-CN" altLang="en-US" dirty="0">
                <a:latin typeface="腾讯字体包" panose="02010600010101010101" charset="-128"/>
                <a:ea typeface="腾讯字体包" panose="02010600010101010101" charset="-128"/>
                <a:cs typeface="腾讯字体包" panose="02010600010101010101" charset="-128"/>
              </a:rPr>
              <a:t>对象</a:t>
            </a:r>
            <a:r>
              <a:rPr lang="en-US" altLang="zh-CN" dirty="0">
                <a:latin typeface="腾讯字体包" panose="02010600010101010101" charset="-128"/>
                <a:ea typeface="腾讯字体包" panose="02010600010101010101" charset="-128"/>
                <a:cs typeface="腾讯字体包" panose="02010600010101010101" charset="-128"/>
              </a:rPr>
              <a:t>: </a:t>
            </a:r>
            <a:r>
              <a:rPr dirty="0">
                <a:latin typeface="腾讯字体包" panose="02010600010101010101" charset="-128"/>
                <a:ea typeface="腾讯字体包" panose="02010600010101010101" charset="-128"/>
                <a:cs typeface="腾讯字体包" panose="02010600010101010101" charset="-128"/>
              </a:rPr>
              <a:t>段落</a:t>
            </a:r>
          </a:p>
        </p:txBody>
      </p:sp>
      <p:sp>
        <p:nvSpPr>
          <p:cNvPr id="11" name="文本框 10"/>
          <p:cNvSpPr txBox="1"/>
          <p:nvPr>
            <p:custDataLst>
              <p:tags r:id="rId16"/>
            </p:custDataLst>
          </p:nvPr>
        </p:nvSpPr>
        <p:spPr>
          <a:xfrm>
            <a:off x="1312882" y="4768902"/>
            <a:ext cx="2490809" cy="1168400"/>
          </a:xfrm>
          <a:prstGeom prst="rect">
            <a:avLst/>
          </a:prstGeom>
          <a:noFill/>
        </p:spPr>
        <p:txBody>
          <a:bodyPr wrap="square" rtlCol="0">
            <a:spAutoFit/>
          </a:bodyPr>
          <a:lstStyle/>
          <a:p>
            <a:r>
              <a:rPr lang="zh-CN" altLang="en-US" sz="1400" dirty="0">
                <a:latin typeface="腾讯字体包" panose="02010600010101010101" charset="-128"/>
                <a:ea typeface="腾讯字体包" panose="02010600010101010101" charset="-128"/>
                <a:cs typeface="腾讯字体包" panose="02010600010101010101" charset="-128"/>
              </a:rPr>
              <a:t>描述</a:t>
            </a:r>
            <a:r>
              <a:rPr lang="en-US" altLang="zh-CN" sz="1400" dirty="0">
                <a:latin typeface="腾讯字体包" panose="02010600010101010101" charset="-128"/>
                <a:ea typeface="腾讯字体包" panose="02010600010101010101" charset="-128"/>
                <a:cs typeface="腾讯字体包" panose="02010600010101010101" charset="-128"/>
              </a:rPr>
              <a:t>:  </a:t>
            </a:r>
            <a:r>
              <a:rPr lang="zh-CN" altLang="en-US" sz="1400" dirty="0">
                <a:latin typeface="腾讯字体包" panose="02010600010101010101" charset="-128"/>
                <a:ea typeface="腾讯字体包" panose="02010600010101010101" charset="-128"/>
                <a:cs typeface="腾讯字体包" panose="02010600010101010101" charset="-128"/>
              </a:rPr>
              <a:t>文本中按照逻辑、主题或格式分隔的连续句子组。在文档结构中，段落作为基本单位，承载特定的信息或论点。</a:t>
            </a:r>
          </a:p>
        </p:txBody>
      </p:sp>
      <p:sp>
        <p:nvSpPr>
          <p:cNvPr id="12" name="矩形 11"/>
          <p:cNvSpPr/>
          <p:nvPr>
            <p:custDataLst>
              <p:tags r:id="rId17"/>
            </p:custDataLst>
          </p:nvPr>
        </p:nvSpPr>
        <p:spPr>
          <a:xfrm>
            <a:off x="4584593" y="4303586"/>
            <a:ext cx="2490809" cy="16380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字体包" panose="02010600010101010101" charset="-128"/>
              <a:ea typeface="腾讯字体包" panose="02010600010101010101" charset="-128"/>
            </a:endParaRPr>
          </a:p>
        </p:txBody>
      </p:sp>
      <p:cxnSp>
        <p:nvCxnSpPr>
          <p:cNvPr id="13" name="直接连接符 12"/>
          <p:cNvCxnSpPr/>
          <p:nvPr>
            <p:custDataLst>
              <p:tags r:id="rId18"/>
            </p:custDataLst>
          </p:nvPr>
        </p:nvCxnSpPr>
        <p:spPr>
          <a:xfrm>
            <a:off x="4584593" y="4743403"/>
            <a:ext cx="2490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9"/>
            </p:custDataLst>
          </p:nvPr>
        </p:nvSpPr>
        <p:spPr>
          <a:xfrm>
            <a:off x="4584593" y="4314775"/>
            <a:ext cx="2086894" cy="368300"/>
          </a:xfrm>
          <a:prstGeom prst="rect">
            <a:avLst/>
          </a:prstGeom>
          <a:noFill/>
        </p:spPr>
        <p:txBody>
          <a:bodyPr wrap="square" rtlCol="0">
            <a:spAutoFit/>
          </a:bodyPr>
          <a:lstStyle/>
          <a:p>
            <a:r>
              <a:rPr lang="zh-CN" altLang="en-US" dirty="0">
                <a:latin typeface="腾讯字体包" panose="02010600010101010101" charset="-128"/>
                <a:ea typeface="腾讯字体包" panose="02010600010101010101" charset="-128"/>
                <a:cs typeface="腾讯字体包" panose="02010600010101010101" charset="-128"/>
              </a:rPr>
              <a:t>对象</a:t>
            </a:r>
            <a:r>
              <a:rPr lang="en-US" altLang="zh-CN" dirty="0">
                <a:latin typeface="腾讯字体包" panose="02010600010101010101" charset="-128"/>
                <a:ea typeface="腾讯字体包" panose="02010600010101010101" charset="-128"/>
                <a:cs typeface="腾讯字体包" panose="02010600010101010101" charset="-128"/>
              </a:rPr>
              <a:t>: </a:t>
            </a:r>
            <a:r>
              <a:rPr lang="zh-CN" altLang="en-US" dirty="0">
                <a:latin typeface="腾讯字体包" panose="02010600010101010101" charset="-128"/>
                <a:ea typeface="腾讯字体包" panose="02010600010101010101" charset="-128"/>
                <a:cs typeface="腾讯字体包" panose="02010600010101010101" charset="-128"/>
              </a:rPr>
              <a:t>预设</a:t>
            </a:r>
          </a:p>
        </p:txBody>
      </p:sp>
      <p:sp>
        <p:nvSpPr>
          <p:cNvPr id="15" name="文本框 14"/>
          <p:cNvSpPr txBox="1"/>
          <p:nvPr>
            <p:custDataLst>
              <p:tags r:id="rId20"/>
            </p:custDataLst>
          </p:nvPr>
        </p:nvSpPr>
        <p:spPr>
          <a:xfrm>
            <a:off x="4584593" y="4790706"/>
            <a:ext cx="2490809" cy="953135"/>
          </a:xfrm>
          <a:prstGeom prst="rect">
            <a:avLst/>
          </a:prstGeom>
          <a:noFill/>
        </p:spPr>
        <p:txBody>
          <a:bodyPr wrap="square" rtlCol="0">
            <a:spAutoFit/>
          </a:bodyPr>
          <a:lstStyle/>
          <a:p>
            <a:r>
              <a:rPr lang="zh-CN" altLang="en-US" sz="1400" dirty="0">
                <a:latin typeface="腾讯字体包" panose="02010600010101010101" charset="-128"/>
                <a:ea typeface="腾讯字体包" panose="02010600010101010101" charset="-128"/>
                <a:cs typeface="腾讯字体包" panose="02010600010101010101" charset="-128"/>
              </a:rPr>
              <a:t>描述</a:t>
            </a:r>
            <a:r>
              <a:rPr lang="en-US" altLang="zh-CN" sz="1400" dirty="0">
                <a:latin typeface="腾讯字体包" panose="02010600010101010101" charset="-128"/>
                <a:ea typeface="腾讯字体包" panose="02010600010101010101" charset="-128"/>
                <a:cs typeface="腾讯字体包" panose="02010600010101010101" charset="-128"/>
              </a:rPr>
              <a:t>:  </a:t>
            </a:r>
            <a:r>
              <a:rPr lang="zh-CN" altLang="en-US" sz="1400" dirty="0">
                <a:latin typeface="腾讯字体包" panose="02010600010101010101" charset="-128"/>
                <a:ea typeface="腾讯字体包" panose="02010600010101010101" charset="-128"/>
                <a:cs typeface="腾讯字体包" panose="02010600010101010101" charset="-128"/>
              </a:rPr>
              <a:t>一套预定义的规则和模板，旨在指导标注和抽取过程中的实体识别、分类及相关属性的提取。</a:t>
            </a:r>
          </a:p>
        </p:txBody>
      </p:sp>
      <p:sp>
        <p:nvSpPr>
          <p:cNvPr id="16" name="矩形 15"/>
          <p:cNvSpPr/>
          <p:nvPr>
            <p:custDataLst>
              <p:tags r:id="rId21"/>
            </p:custDataLst>
          </p:nvPr>
        </p:nvSpPr>
        <p:spPr>
          <a:xfrm>
            <a:off x="7856304" y="4303586"/>
            <a:ext cx="2490809" cy="16380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字体包" panose="02010600010101010101" charset="-128"/>
              <a:ea typeface="腾讯字体包" panose="02010600010101010101" charset="-128"/>
            </a:endParaRPr>
          </a:p>
        </p:txBody>
      </p:sp>
      <p:cxnSp>
        <p:nvCxnSpPr>
          <p:cNvPr id="17" name="直接连接符 16"/>
          <p:cNvCxnSpPr/>
          <p:nvPr>
            <p:custDataLst>
              <p:tags r:id="rId22"/>
            </p:custDataLst>
          </p:nvPr>
        </p:nvCxnSpPr>
        <p:spPr>
          <a:xfrm>
            <a:off x="7856304" y="4743403"/>
            <a:ext cx="2490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23"/>
            </p:custDataLst>
          </p:nvPr>
        </p:nvSpPr>
        <p:spPr>
          <a:xfrm>
            <a:off x="7856304" y="4314775"/>
            <a:ext cx="2086894" cy="368300"/>
          </a:xfrm>
          <a:prstGeom prst="rect">
            <a:avLst/>
          </a:prstGeom>
          <a:noFill/>
        </p:spPr>
        <p:txBody>
          <a:bodyPr wrap="square" rtlCol="0">
            <a:spAutoFit/>
          </a:bodyPr>
          <a:lstStyle/>
          <a:p>
            <a:r>
              <a:rPr lang="zh-CN" altLang="en-US" dirty="0">
                <a:latin typeface="腾讯字体包" panose="02010600010101010101" charset="-128"/>
                <a:ea typeface="腾讯字体包" panose="02010600010101010101" charset="-128"/>
                <a:cs typeface="腾讯字体包" panose="02010600010101010101" charset="-128"/>
              </a:rPr>
              <a:t>对象</a:t>
            </a:r>
            <a:r>
              <a:rPr lang="en-US" altLang="zh-CN" dirty="0">
                <a:latin typeface="腾讯字体包" panose="02010600010101010101" charset="-128"/>
                <a:ea typeface="腾讯字体包" panose="02010600010101010101" charset="-128"/>
                <a:cs typeface="腾讯字体包" panose="02010600010101010101" charset="-128"/>
              </a:rPr>
              <a:t>: </a:t>
            </a:r>
            <a:r>
              <a:rPr lang="zh-CN" altLang="en-US" dirty="0">
                <a:latin typeface="腾讯字体包" panose="02010600010101010101" charset="-128"/>
                <a:ea typeface="腾讯字体包" panose="02010600010101010101" charset="-128"/>
                <a:cs typeface="腾讯字体包" panose="02010600010101010101" charset="-128"/>
              </a:rPr>
              <a:t>实体模型</a:t>
            </a:r>
          </a:p>
        </p:txBody>
      </p:sp>
      <p:sp>
        <p:nvSpPr>
          <p:cNvPr id="19" name="文本框 18"/>
          <p:cNvSpPr txBox="1"/>
          <p:nvPr>
            <p:custDataLst>
              <p:tags r:id="rId24"/>
            </p:custDataLst>
          </p:nvPr>
        </p:nvSpPr>
        <p:spPr>
          <a:xfrm>
            <a:off x="7856304" y="4790706"/>
            <a:ext cx="2490809" cy="953135"/>
          </a:xfrm>
          <a:prstGeom prst="rect">
            <a:avLst/>
          </a:prstGeom>
          <a:noFill/>
        </p:spPr>
        <p:txBody>
          <a:bodyPr wrap="square" rtlCol="0">
            <a:spAutoFit/>
          </a:bodyPr>
          <a:lstStyle/>
          <a:p>
            <a:r>
              <a:rPr lang="zh-CN" altLang="en-US" sz="1400" dirty="0">
                <a:latin typeface="腾讯字体包" panose="02010600010101010101" charset="-128"/>
                <a:ea typeface="腾讯字体包" panose="02010600010101010101" charset="-128"/>
                <a:cs typeface="腾讯字体包" panose="02010600010101010101" charset="-128"/>
              </a:rPr>
              <a:t>描述</a:t>
            </a:r>
            <a:r>
              <a:rPr lang="en-US" altLang="zh-CN" sz="1400" dirty="0">
                <a:latin typeface="腾讯字体包" panose="02010600010101010101" charset="-128"/>
                <a:ea typeface="腾讯字体包" panose="02010600010101010101" charset="-128"/>
                <a:cs typeface="腾讯字体包" panose="02010600010101010101" charset="-128"/>
              </a:rPr>
              <a:t>:  </a:t>
            </a:r>
            <a:r>
              <a:rPr sz="1400" dirty="0">
                <a:latin typeface="腾讯字体包" panose="02010600010101010101" charset="-128"/>
                <a:ea typeface="腾讯字体包" panose="02010600010101010101" charset="-128"/>
                <a:cs typeface="腾讯字体包" panose="02010600010101010101" charset="-128"/>
              </a:rPr>
              <a:t>专门设计用于识别和提取文本中的具体实体 (如人名、地名、日期、事件等)的机器学习模型。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00437" y="758328"/>
            <a:ext cx="9436736" cy="584775"/>
            <a:chOff x="582710" y="700015"/>
            <a:chExt cx="7297890" cy="584775"/>
          </a:xfrm>
        </p:grpSpPr>
        <p:sp>
          <p:nvSpPr>
            <p:cNvPr id="18" name="矩形 1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具体需求</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sym typeface="+mn-ea"/>
                </a:rPr>
                <a:t>外部接口需求</a:t>
              </a:r>
              <a:endParaRPr kumimoji="1" lang="zh-CN" altLang="en-US" sz="2000" dirty="0">
                <a:latin typeface="腾讯字体包" panose="02010600010101010101" charset="-128"/>
                <a:ea typeface="腾讯字体包" panose="02010600010101010101" charset="-128"/>
                <a:sym typeface="+mn-ea"/>
              </a:endParaRPr>
            </a:p>
          </p:txBody>
        </p:sp>
      </p:grpSp>
      <p:grpSp>
        <p:nvGrpSpPr>
          <p:cNvPr id="5" name="组合 4"/>
          <p:cNvGrpSpPr/>
          <p:nvPr>
            <p:custDataLst>
              <p:tags r:id="rId1"/>
            </p:custDataLst>
          </p:nvPr>
        </p:nvGrpSpPr>
        <p:grpSpPr>
          <a:xfrm>
            <a:off x="898273" y="1440180"/>
            <a:ext cx="10279884" cy="4889500"/>
            <a:chOff x="1025908" y="1358900"/>
            <a:chExt cx="10279884" cy="4889500"/>
          </a:xfrm>
        </p:grpSpPr>
        <p:sp>
          <p:nvSpPr>
            <p:cNvPr id="6" name="矩形 5"/>
            <p:cNvSpPr/>
            <p:nvPr>
              <p:custDataLst>
                <p:tags r:id="rId19"/>
              </p:custDataLst>
            </p:nvPr>
          </p:nvSpPr>
          <p:spPr>
            <a:xfrm>
              <a:off x="1025908" y="13589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7" name="矩形 6"/>
            <p:cNvSpPr/>
            <p:nvPr>
              <p:custDataLst>
                <p:tags r:id="rId20"/>
              </p:custDataLst>
            </p:nvPr>
          </p:nvSpPr>
          <p:spPr>
            <a:xfrm>
              <a:off x="6213092" y="13589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20" name="矩形 19"/>
            <p:cNvSpPr/>
            <p:nvPr>
              <p:custDataLst>
                <p:tags r:id="rId21"/>
              </p:custDataLst>
            </p:nvPr>
          </p:nvSpPr>
          <p:spPr>
            <a:xfrm>
              <a:off x="1025908" y="38481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21" name="矩形 20"/>
            <p:cNvSpPr/>
            <p:nvPr>
              <p:custDataLst>
                <p:tags r:id="rId22"/>
              </p:custDataLst>
            </p:nvPr>
          </p:nvSpPr>
          <p:spPr>
            <a:xfrm>
              <a:off x="6213092" y="38481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grpSp>
      <p:sp>
        <p:nvSpPr>
          <p:cNvPr id="28" name="任意多边形: 形状 14"/>
          <p:cNvSpPr/>
          <p:nvPr>
            <p:custDataLst>
              <p:tags r:id="rId2"/>
            </p:custDataLst>
          </p:nvPr>
        </p:nvSpPr>
        <p:spPr>
          <a:xfrm>
            <a:off x="5306417" y="3151038"/>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31" name="任意多边形: 形状 15"/>
          <p:cNvSpPr/>
          <p:nvPr>
            <p:custDataLst>
              <p:tags r:id="rId3"/>
            </p:custDataLst>
          </p:nvPr>
        </p:nvSpPr>
        <p:spPr>
          <a:xfrm flipH="1">
            <a:off x="6085457" y="3151038"/>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2" name="任意多边形: 形状 16"/>
          <p:cNvSpPr/>
          <p:nvPr>
            <p:custDataLst>
              <p:tags r:id="rId4"/>
            </p:custDataLst>
          </p:nvPr>
        </p:nvSpPr>
        <p:spPr>
          <a:xfrm flipV="1">
            <a:off x="5306417" y="3929379"/>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3" name="任意多边形: 形状 17"/>
          <p:cNvSpPr/>
          <p:nvPr>
            <p:custDataLst>
              <p:tags r:id="rId5"/>
            </p:custDataLst>
          </p:nvPr>
        </p:nvSpPr>
        <p:spPr>
          <a:xfrm flipH="1" flipV="1">
            <a:off x="6085457" y="3929379"/>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4" name="文本框 33"/>
          <p:cNvSpPr txBox="1"/>
          <p:nvPr>
            <p:custDataLst>
              <p:tags r:id="rId6"/>
            </p:custDataLst>
          </p:nvPr>
        </p:nvSpPr>
        <p:spPr>
          <a:xfrm>
            <a:off x="5571885" y="3317261"/>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1</a:t>
            </a:r>
          </a:p>
        </p:txBody>
      </p:sp>
      <p:sp>
        <p:nvSpPr>
          <p:cNvPr id="35" name="文本框 34"/>
          <p:cNvSpPr txBox="1"/>
          <p:nvPr>
            <p:custDataLst>
              <p:tags r:id="rId7"/>
            </p:custDataLst>
          </p:nvPr>
        </p:nvSpPr>
        <p:spPr>
          <a:xfrm>
            <a:off x="6205641" y="3317261"/>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2</a:t>
            </a:r>
          </a:p>
        </p:txBody>
      </p:sp>
      <p:sp>
        <p:nvSpPr>
          <p:cNvPr id="36" name="文本框 35"/>
          <p:cNvSpPr txBox="1"/>
          <p:nvPr>
            <p:custDataLst>
              <p:tags r:id="rId8"/>
            </p:custDataLst>
          </p:nvPr>
        </p:nvSpPr>
        <p:spPr>
          <a:xfrm>
            <a:off x="6205641" y="3935728"/>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4</a:t>
            </a:r>
          </a:p>
        </p:txBody>
      </p:sp>
      <p:sp>
        <p:nvSpPr>
          <p:cNvPr id="37" name="文本框 36"/>
          <p:cNvSpPr txBox="1"/>
          <p:nvPr>
            <p:custDataLst>
              <p:tags r:id="rId9"/>
            </p:custDataLst>
          </p:nvPr>
        </p:nvSpPr>
        <p:spPr>
          <a:xfrm>
            <a:off x="5571885" y="3935728"/>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3</a:t>
            </a:r>
          </a:p>
        </p:txBody>
      </p:sp>
      <p:sp>
        <p:nvSpPr>
          <p:cNvPr id="38" name="矩形: 圆角 21"/>
          <p:cNvSpPr/>
          <p:nvPr>
            <p:custDataLst>
              <p:tags r:id="rId10"/>
            </p:custDataLst>
          </p:nvPr>
        </p:nvSpPr>
        <p:spPr>
          <a:xfrm>
            <a:off x="1094506" y="1630472"/>
            <a:ext cx="1875390" cy="439690"/>
          </a:xfrm>
          <a:prstGeom prst="roundRect">
            <a:avLst>
              <a:gd name="adj" fmla="val 50000"/>
            </a:avLst>
          </a:prstGeom>
          <a:solidFill>
            <a:srgbClr val="3F51B6"/>
          </a:solidFill>
          <a:ln w="12700">
            <a:noFill/>
            <a:prstDash val="solid"/>
            <a:miter/>
          </a:ln>
        </p:spPr>
        <p:txBody>
          <a:bodyPr anchor="ctr"/>
          <a:lstStyle/>
          <a:p>
            <a:pPr algn="ct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用户界面</a:t>
            </a:r>
            <a:r>
              <a:rPr lang="en-US">
                <a:solidFill>
                  <a:schemeClr val="lt1"/>
                </a:solidFill>
                <a:latin typeface="腾讯字体包" panose="02010600010101010101" charset="-128"/>
                <a:ea typeface="腾讯字体包" panose="02010600010101010101" charset="-128"/>
                <a:cs typeface="腾讯字体包" panose="02010600010101010101" charset="-128"/>
              </a:rPr>
              <a:t>    </a:t>
            </a:r>
            <a:endParaRPr lang="zh-CN">
              <a:solidFill>
                <a:schemeClr val="lt1"/>
              </a:solidFill>
              <a:latin typeface="腾讯字体包" panose="02010600010101010101" charset="-128"/>
              <a:ea typeface="腾讯字体包" panose="02010600010101010101" charset="-128"/>
              <a:cs typeface="腾讯字体包" panose="02010600010101010101" charset="-128"/>
            </a:endParaRPr>
          </a:p>
        </p:txBody>
      </p:sp>
      <p:sp>
        <p:nvSpPr>
          <p:cNvPr id="39" name="矩形: 圆角 25"/>
          <p:cNvSpPr/>
          <p:nvPr>
            <p:custDataLst>
              <p:tags r:id="rId11"/>
            </p:custDataLst>
          </p:nvPr>
        </p:nvSpPr>
        <p:spPr>
          <a:xfrm>
            <a:off x="9105031" y="1630472"/>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硬件接口    </a:t>
            </a:r>
          </a:p>
        </p:txBody>
      </p:sp>
      <p:sp>
        <p:nvSpPr>
          <p:cNvPr id="40" name="矩形: 圆角 26"/>
          <p:cNvSpPr/>
          <p:nvPr>
            <p:custDataLst>
              <p:tags r:id="rId12"/>
            </p:custDataLst>
          </p:nvPr>
        </p:nvSpPr>
        <p:spPr>
          <a:xfrm>
            <a:off x="1094506" y="4127207"/>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软件接口    </a:t>
            </a:r>
          </a:p>
        </p:txBody>
      </p:sp>
      <p:sp>
        <p:nvSpPr>
          <p:cNvPr id="41" name="矩形: 圆角 27"/>
          <p:cNvSpPr/>
          <p:nvPr>
            <p:custDataLst>
              <p:tags r:id="rId13"/>
            </p:custDataLst>
          </p:nvPr>
        </p:nvSpPr>
        <p:spPr>
          <a:xfrm>
            <a:off x="9105031" y="4127207"/>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通信接口   </a:t>
            </a:r>
          </a:p>
        </p:txBody>
      </p:sp>
      <p:sp>
        <p:nvSpPr>
          <p:cNvPr id="43" name="文本框 42"/>
          <p:cNvSpPr txBox="1"/>
          <p:nvPr>
            <p:custDataLst>
              <p:tags r:id="rId14"/>
            </p:custDataLst>
          </p:nvPr>
        </p:nvSpPr>
        <p:spPr>
          <a:xfrm>
            <a:off x="1005840" y="2070100"/>
            <a:ext cx="4578350" cy="1866265"/>
          </a:xfrm>
          <a:prstGeom prst="rect">
            <a:avLst/>
          </a:prstGeom>
          <a:noFill/>
        </p:spPr>
        <p:txBody>
          <a:bodyPr wrap="square">
            <a:noAutofit/>
          </a:bodyPr>
          <a:lstStyle/>
          <a:p>
            <a:pPr marL="285750" indent="-285750" fontAlgn="auto">
              <a:lnSpc>
                <a:spcPct val="130000"/>
              </a:lnSpc>
              <a:spcAft>
                <a:spcPts val="600"/>
              </a:spcAft>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界面友好性</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：直观、简洁的用户界面设计，便于用户快速上手。</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fontAlgn="auto">
              <a:spcAft>
                <a:spcPts val="600"/>
              </a:spcAft>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标注任务界面:用户可以领取、提交标注任务,查看任务完成进度。</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fontAlgn="auto">
              <a:spcAft>
                <a:spcPts val="600"/>
              </a:spcAft>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智能挖掘界面:用户可以上传新的文档,系统自动标注实体,用户可以检查和修正结果。</a:t>
            </a:r>
            <a:endParaRPr lang="zh-CN" altLang="en-US" sz="1400" dirty="0">
              <a:solidFill>
                <a:schemeClr val="tx1">
                  <a:lumMod val="75000"/>
                  <a:lumOff val="25000"/>
                </a:schemeClr>
              </a:solidFill>
              <a:latin typeface="腾讯字体包" panose="02010600010101010101" charset="-128"/>
              <a:ea typeface="腾讯字体包" panose="02010600010101010101" charset="-128"/>
              <a:cs typeface="Times New Roman Regular" panose="02020603050405020304" charset="0"/>
            </a:endParaRPr>
          </a:p>
        </p:txBody>
      </p:sp>
      <p:sp>
        <p:nvSpPr>
          <p:cNvPr id="60" name="文本框 59"/>
          <p:cNvSpPr txBox="1"/>
          <p:nvPr>
            <p:custDataLst>
              <p:tags r:id="rId15"/>
            </p:custDataLst>
          </p:nvPr>
        </p:nvSpPr>
        <p:spPr>
          <a:xfrm>
            <a:off x="6856095" y="2303780"/>
            <a:ext cx="4171315" cy="1029970"/>
          </a:xfrm>
          <a:prstGeom prst="rect">
            <a:avLst/>
          </a:prstGeom>
          <a:noFill/>
        </p:spPr>
        <p:txBody>
          <a:bodyPr wrap="square" rtlCol="0" anchor="t">
            <a:spAutoFit/>
          </a:bodyPr>
          <a:lstStyle/>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系统对硬件接口需求较低,无特殊硬件接口需求,支持常见的计算机和网络设备，主要用于存储和显示。</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系统运行在</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通用服务器</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和</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PC端Web浏览器</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环境。</a:t>
            </a:r>
          </a:p>
        </p:txBody>
      </p:sp>
      <p:sp>
        <p:nvSpPr>
          <p:cNvPr id="62" name="文本框 61"/>
          <p:cNvSpPr txBox="1"/>
          <p:nvPr>
            <p:custDataLst>
              <p:tags r:id="rId16"/>
            </p:custDataLst>
          </p:nvPr>
        </p:nvSpPr>
        <p:spPr>
          <a:xfrm>
            <a:off x="6765925" y="4642485"/>
            <a:ext cx="4299585" cy="1830070"/>
          </a:xfrm>
          <a:prstGeom prst="rect">
            <a:avLst/>
          </a:prstGeom>
          <a:noFill/>
        </p:spPr>
        <p:txBody>
          <a:bodyPr wrap="square" rtlCol="0" anchor="t">
            <a:spAutoFit/>
          </a:bodyPr>
          <a:lstStyle/>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系统前后端通过</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HTTP/HTTPS协议</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通信,使用</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RESTful API</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进行数据交互。</a:t>
            </a:r>
          </a:p>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后端服务间也通过</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HTTP协议</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通信。用户使用Web浏览器访问系统。</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系统考虑提供</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第三方认证</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和</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Open API</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等外部通信接口,方便与其他系统集成。</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p:txBody>
      </p:sp>
      <p:sp>
        <p:nvSpPr>
          <p:cNvPr id="63" name="文本框 62"/>
          <p:cNvSpPr txBox="1"/>
          <p:nvPr>
            <p:custDataLst>
              <p:tags r:id="rId17"/>
            </p:custDataLst>
          </p:nvPr>
        </p:nvSpPr>
        <p:spPr>
          <a:xfrm>
            <a:off x="1094740" y="4853940"/>
            <a:ext cx="4361180" cy="1106805"/>
          </a:xfrm>
          <a:prstGeom prst="rect">
            <a:avLst/>
          </a:prstGeom>
          <a:noFill/>
        </p:spPr>
        <p:txBody>
          <a:bodyPr wrap="square" rtlCol="0" anchor="t">
            <a:spAutoFit/>
          </a:bodyPr>
          <a:lstStyle/>
          <a:p>
            <a:pPr marL="285750" indent="-285750">
              <a:spcAft>
                <a:spcPts val="600"/>
              </a:spcAft>
              <a:buClrTx/>
              <a:buSzTx/>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数据库接口</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：系统后端与数据库进行数据交互。</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文件存储接口</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：系统需要将PDF文件存储。</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机器学习接口</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：系统需要调用机器学习库进行模型训练和推理。</a:t>
            </a:r>
          </a:p>
        </p:txBody>
      </p:sp>
      <p:pic>
        <p:nvPicPr>
          <p:cNvPr id="66" name="图片 65"/>
          <p:cNvPicPr>
            <a:picLocks noChangeAspect="1"/>
          </p:cNvPicPr>
          <p:nvPr>
            <p:custDataLst>
              <p:tags r:id="rId18"/>
            </p:custDataLst>
          </p:nvPr>
        </p:nvPicPr>
        <p:blipFill>
          <a:blip r:embed="rId24"/>
          <a:srcRect b="819"/>
          <a:stretch>
            <a:fillRect/>
          </a:stretch>
        </p:blipFill>
        <p:spPr>
          <a:xfrm>
            <a:off x="6769735" y="1530350"/>
            <a:ext cx="4341495" cy="4568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00437" y="758328"/>
            <a:ext cx="9436736" cy="584775"/>
            <a:chOff x="582710" y="700015"/>
            <a:chExt cx="7297890" cy="584775"/>
          </a:xfrm>
        </p:grpSpPr>
        <p:sp>
          <p:nvSpPr>
            <p:cNvPr id="18" name="矩形 1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具体需求</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sym typeface="+mn-ea"/>
                </a:rPr>
                <a:t>外部接口需求</a:t>
              </a:r>
              <a:endParaRPr kumimoji="1" lang="zh-CN" altLang="en-US" sz="2000" dirty="0">
                <a:latin typeface="腾讯字体包" panose="02010600010101010101" charset="-128"/>
                <a:ea typeface="腾讯字体包" panose="02010600010101010101" charset="-128"/>
                <a:sym typeface="+mn-ea"/>
              </a:endParaRPr>
            </a:p>
          </p:txBody>
        </p:sp>
      </p:grpSp>
      <p:grpSp>
        <p:nvGrpSpPr>
          <p:cNvPr id="5" name="组合 4"/>
          <p:cNvGrpSpPr/>
          <p:nvPr>
            <p:custDataLst>
              <p:tags r:id="rId1"/>
            </p:custDataLst>
          </p:nvPr>
        </p:nvGrpSpPr>
        <p:grpSpPr>
          <a:xfrm>
            <a:off x="898273" y="1440180"/>
            <a:ext cx="10279884" cy="4889500"/>
            <a:chOff x="1025908" y="1358900"/>
            <a:chExt cx="10279884" cy="4889500"/>
          </a:xfrm>
        </p:grpSpPr>
        <p:sp>
          <p:nvSpPr>
            <p:cNvPr id="6" name="矩形 5"/>
            <p:cNvSpPr/>
            <p:nvPr>
              <p:custDataLst>
                <p:tags r:id="rId19"/>
              </p:custDataLst>
            </p:nvPr>
          </p:nvSpPr>
          <p:spPr>
            <a:xfrm>
              <a:off x="1025908" y="13589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7" name="矩形 6"/>
            <p:cNvSpPr/>
            <p:nvPr>
              <p:custDataLst>
                <p:tags r:id="rId20"/>
              </p:custDataLst>
            </p:nvPr>
          </p:nvSpPr>
          <p:spPr>
            <a:xfrm>
              <a:off x="6213092" y="13589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20" name="矩形 19"/>
            <p:cNvSpPr/>
            <p:nvPr>
              <p:custDataLst>
                <p:tags r:id="rId21"/>
              </p:custDataLst>
            </p:nvPr>
          </p:nvSpPr>
          <p:spPr>
            <a:xfrm>
              <a:off x="1025908" y="38481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21" name="矩形 20"/>
            <p:cNvSpPr/>
            <p:nvPr>
              <p:custDataLst>
                <p:tags r:id="rId22"/>
              </p:custDataLst>
            </p:nvPr>
          </p:nvSpPr>
          <p:spPr>
            <a:xfrm>
              <a:off x="6213092" y="38481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grpSp>
      <p:sp>
        <p:nvSpPr>
          <p:cNvPr id="28" name="任意多边形: 形状 14"/>
          <p:cNvSpPr/>
          <p:nvPr>
            <p:custDataLst>
              <p:tags r:id="rId2"/>
            </p:custDataLst>
          </p:nvPr>
        </p:nvSpPr>
        <p:spPr>
          <a:xfrm>
            <a:off x="5306417" y="3151038"/>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31" name="任意多边形: 形状 15"/>
          <p:cNvSpPr/>
          <p:nvPr>
            <p:custDataLst>
              <p:tags r:id="rId3"/>
            </p:custDataLst>
          </p:nvPr>
        </p:nvSpPr>
        <p:spPr>
          <a:xfrm flipH="1">
            <a:off x="6085457" y="3151038"/>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2" name="任意多边形: 形状 16"/>
          <p:cNvSpPr/>
          <p:nvPr>
            <p:custDataLst>
              <p:tags r:id="rId4"/>
            </p:custDataLst>
          </p:nvPr>
        </p:nvSpPr>
        <p:spPr>
          <a:xfrm flipV="1">
            <a:off x="5306417" y="3929379"/>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3" name="任意多边形: 形状 17"/>
          <p:cNvSpPr/>
          <p:nvPr>
            <p:custDataLst>
              <p:tags r:id="rId5"/>
            </p:custDataLst>
          </p:nvPr>
        </p:nvSpPr>
        <p:spPr>
          <a:xfrm flipH="1" flipV="1">
            <a:off x="6085457" y="3929379"/>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4" name="文本框 33"/>
          <p:cNvSpPr txBox="1"/>
          <p:nvPr>
            <p:custDataLst>
              <p:tags r:id="rId6"/>
            </p:custDataLst>
          </p:nvPr>
        </p:nvSpPr>
        <p:spPr>
          <a:xfrm>
            <a:off x="5571885" y="3317261"/>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1</a:t>
            </a:r>
          </a:p>
        </p:txBody>
      </p:sp>
      <p:sp>
        <p:nvSpPr>
          <p:cNvPr id="35" name="文本框 34"/>
          <p:cNvSpPr txBox="1"/>
          <p:nvPr>
            <p:custDataLst>
              <p:tags r:id="rId7"/>
            </p:custDataLst>
          </p:nvPr>
        </p:nvSpPr>
        <p:spPr>
          <a:xfrm>
            <a:off x="6205641" y="3317261"/>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2</a:t>
            </a:r>
          </a:p>
        </p:txBody>
      </p:sp>
      <p:sp>
        <p:nvSpPr>
          <p:cNvPr id="36" name="文本框 35"/>
          <p:cNvSpPr txBox="1"/>
          <p:nvPr>
            <p:custDataLst>
              <p:tags r:id="rId8"/>
            </p:custDataLst>
          </p:nvPr>
        </p:nvSpPr>
        <p:spPr>
          <a:xfrm>
            <a:off x="6205641" y="3935728"/>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4</a:t>
            </a:r>
          </a:p>
        </p:txBody>
      </p:sp>
      <p:sp>
        <p:nvSpPr>
          <p:cNvPr id="37" name="文本框 36"/>
          <p:cNvSpPr txBox="1"/>
          <p:nvPr>
            <p:custDataLst>
              <p:tags r:id="rId9"/>
            </p:custDataLst>
          </p:nvPr>
        </p:nvSpPr>
        <p:spPr>
          <a:xfrm>
            <a:off x="5571885" y="3935728"/>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3</a:t>
            </a:r>
          </a:p>
        </p:txBody>
      </p:sp>
      <p:sp>
        <p:nvSpPr>
          <p:cNvPr id="38" name="矩形: 圆角 21"/>
          <p:cNvSpPr/>
          <p:nvPr>
            <p:custDataLst>
              <p:tags r:id="rId10"/>
            </p:custDataLst>
          </p:nvPr>
        </p:nvSpPr>
        <p:spPr>
          <a:xfrm>
            <a:off x="1094506" y="1630472"/>
            <a:ext cx="1875390" cy="439690"/>
          </a:xfrm>
          <a:prstGeom prst="roundRect">
            <a:avLst>
              <a:gd name="adj" fmla="val 50000"/>
            </a:avLst>
          </a:prstGeom>
          <a:solidFill>
            <a:srgbClr val="3F51B6"/>
          </a:solidFill>
          <a:ln w="12700">
            <a:noFill/>
            <a:prstDash val="solid"/>
            <a:miter/>
          </a:ln>
        </p:spPr>
        <p:txBody>
          <a:bodyPr anchor="ctr"/>
          <a:lstStyle/>
          <a:p>
            <a:pPr algn="ct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用户界面</a:t>
            </a:r>
            <a:r>
              <a:rPr lang="en-US">
                <a:solidFill>
                  <a:schemeClr val="lt1"/>
                </a:solidFill>
                <a:latin typeface="腾讯字体包" panose="02010600010101010101" charset="-128"/>
                <a:ea typeface="腾讯字体包" panose="02010600010101010101" charset="-128"/>
                <a:cs typeface="腾讯字体包" panose="02010600010101010101" charset="-128"/>
              </a:rPr>
              <a:t>    </a:t>
            </a:r>
            <a:endParaRPr lang="zh-CN">
              <a:solidFill>
                <a:schemeClr val="lt1"/>
              </a:solidFill>
              <a:latin typeface="腾讯字体包" panose="02010600010101010101" charset="-128"/>
              <a:ea typeface="腾讯字体包" panose="02010600010101010101" charset="-128"/>
              <a:cs typeface="腾讯字体包" panose="02010600010101010101" charset="-128"/>
            </a:endParaRPr>
          </a:p>
        </p:txBody>
      </p:sp>
      <p:sp>
        <p:nvSpPr>
          <p:cNvPr id="39" name="矩形: 圆角 25"/>
          <p:cNvSpPr/>
          <p:nvPr>
            <p:custDataLst>
              <p:tags r:id="rId11"/>
            </p:custDataLst>
          </p:nvPr>
        </p:nvSpPr>
        <p:spPr>
          <a:xfrm>
            <a:off x="9105031" y="1630472"/>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硬件接口    </a:t>
            </a:r>
          </a:p>
        </p:txBody>
      </p:sp>
      <p:sp>
        <p:nvSpPr>
          <p:cNvPr id="40" name="矩形: 圆角 26"/>
          <p:cNvSpPr/>
          <p:nvPr>
            <p:custDataLst>
              <p:tags r:id="rId12"/>
            </p:custDataLst>
          </p:nvPr>
        </p:nvSpPr>
        <p:spPr>
          <a:xfrm>
            <a:off x="1094506" y="4127207"/>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软件接口    </a:t>
            </a:r>
          </a:p>
        </p:txBody>
      </p:sp>
      <p:sp>
        <p:nvSpPr>
          <p:cNvPr id="41" name="矩形: 圆角 27"/>
          <p:cNvSpPr/>
          <p:nvPr>
            <p:custDataLst>
              <p:tags r:id="rId13"/>
            </p:custDataLst>
          </p:nvPr>
        </p:nvSpPr>
        <p:spPr>
          <a:xfrm>
            <a:off x="9105031" y="4127207"/>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通信接口   </a:t>
            </a:r>
          </a:p>
        </p:txBody>
      </p:sp>
      <p:sp>
        <p:nvSpPr>
          <p:cNvPr id="43" name="文本框 42"/>
          <p:cNvSpPr txBox="1"/>
          <p:nvPr>
            <p:custDataLst>
              <p:tags r:id="rId14"/>
            </p:custDataLst>
          </p:nvPr>
        </p:nvSpPr>
        <p:spPr>
          <a:xfrm>
            <a:off x="1005840" y="2070100"/>
            <a:ext cx="4578350" cy="1866265"/>
          </a:xfrm>
          <a:prstGeom prst="rect">
            <a:avLst/>
          </a:prstGeom>
          <a:noFill/>
        </p:spPr>
        <p:txBody>
          <a:bodyPr wrap="square">
            <a:noAutofit/>
          </a:bodyPr>
          <a:lstStyle/>
          <a:p>
            <a:pPr marL="285750" indent="-285750" fontAlgn="auto">
              <a:lnSpc>
                <a:spcPct val="130000"/>
              </a:lnSpc>
              <a:spcAft>
                <a:spcPts val="600"/>
              </a:spcAft>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界面友好性</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：直观、简洁的用户界面设计，便于用户快速上手。</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fontAlgn="auto">
              <a:spcAft>
                <a:spcPts val="600"/>
              </a:spcAft>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标注任务界面:用户可以领取、提交标注任务,查看任务完成进度。</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fontAlgn="auto">
              <a:spcAft>
                <a:spcPts val="600"/>
              </a:spcAft>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智能挖掘界面:用户可以上传新的文档,系统自动标注实体,用户可以检查和修正结果。</a:t>
            </a:r>
            <a:endParaRPr lang="zh-CN" altLang="en-US" sz="1400" dirty="0">
              <a:solidFill>
                <a:schemeClr val="tx1">
                  <a:lumMod val="75000"/>
                  <a:lumOff val="25000"/>
                </a:schemeClr>
              </a:solidFill>
              <a:latin typeface="腾讯字体包" panose="02010600010101010101" charset="-128"/>
              <a:ea typeface="腾讯字体包" panose="02010600010101010101" charset="-128"/>
              <a:cs typeface="Times New Roman Regular" panose="02020603050405020304" charset="0"/>
            </a:endParaRPr>
          </a:p>
        </p:txBody>
      </p:sp>
      <p:sp>
        <p:nvSpPr>
          <p:cNvPr id="60" name="文本框 59"/>
          <p:cNvSpPr txBox="1"/>
          <p:nvPr>
            <p:custDataLst>
              <p:tags r:id="rId15"/>
            </p:custDataLst>
          </p:nvPr>
        </p:nvSpPr>
        <p:spPr>
          <a:xfrm>
            <a:off x="6856095" y="2303780"/>
            <a:ext cx="4171315" cy="1029970"/>
          </a:xfrm>
          <a:prstGeom prst="rect">
            <a:avLst/>
          </a:prstGeom>
          <a:noFill/>
        </p:spPr>
        <p:txBody>
          <a:bodyPr wrap="square" rtlCol="0" anchor="t">
            <a:spAutoFit/>
          </a:bodyPr>
          <a:lstStyle/>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系统对硬件接口需求较低,无特殊硬件接口需求,支持常见的计算机和网络设备，主要用于存储和显示。</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系统运行在</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通用服务器</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和</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PC端Web浏览器</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环境。</a:t>
            </a:r>
          </a:p>
        </p:txBody>
      </p:sp>
      <p:sp>
        <p:nvSpPr>
          <p:cNvPr id="62" name="文本框 61"/>
          <p:cNvSpPr txBox="1"/>
          <p:nvPr>
            <p:custDataLst>
              <p:tags r:id="rId16"/>
            </p:custDataLst>
          </p:nvPr>
        </p:nvSpPr>
        <p:spPr>
          <a:xfrm>
            <a:off x="6765925" y="4642485"/>
            <a:ext cx="4299585" cy="1830070"/>
          </a:xfrm>
          <a:prstGeom prst="rect">
            <a:avLst/>
          </a:prstGeom>
          <a:noFill/>
        </p:spPr>
        <p:txBody>
          <a:bodyPr wrap="square" rtlCol="0" anchor="t">
            <a:spAutoFit/>
          </a:bodyPr>
          <a:lstStyle/>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系统前后端通过</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HTTP/HTTPS协议</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通信,使用</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RESTful API</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进行数据交互。</a:t>
            </a:r>
          </a:p>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后端服务间也通过</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HTTP协议</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通信。用户使用Web浏览器访问系统。</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系统考虑提供</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第三方认证</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和</a:t>
            </a: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Open API</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等外部通信接口,方便与其他系统集成。</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p:txBody>
      </p:sp>
      <p:sp>
        <p:nvSpPr>
          <p:cNvPr id="63" name="文本框 62"/>
          <p:cNvSpPr txBox="1"/>
          <p:nvPr>
            <p:custDataLst>
              <p:tags r:id="rId17"/>
            </p:custDataLst>
          </p:nvPr>
        </p:nvSpPr>
        <p:spPr>
          <a:xfrm>
            <a:off x="1094740" y="4853940"/>
            <a:ext cx="4361180" cy="1106805"/>
          </a:xfrm>
          <a:prstGeom prst="rect">
            <a:avLst/>
          </a:prstGeom>
          <a:noFill/>
        </p:spPr>
        <p:txBody>
          <a:bodyPr wrap="square" rtlCol="0" anchor="t">
            <a:spAutoFit/>
          </a:bodyPr>
          <a:lstStyle/>
          <a:p>
            <a:pPr marL="285750" indent="-285750">
              <a:spcAft>
                <a:spcPts val="600"/>
              </a:spcAft>
              <a:buClrTx/>
              <a:buSzTx/>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数据库接口</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：系统后端与数据库进行数据交互。</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文件存储接口</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：系统需要将PDF文件存储。</a:t>
            </a:r>
            <a:endParaRPr lang="zh-CN" sz="1400" dirty="0">
              <a:solidFill>
                <a:srgbClr val="060607"/>
              </a:solidFill>
              <a:latin typeface="腾讯字体包" panose="02010600010101010101" charset="-128"/>
              <a:ea typeface="腾讯字体包" panose="02010600010101010101" charset="-128"/>
              <a:cs typeface="腾讯字体包" panose="02010600010101010101" charset="-128"/>
            </a:endParaRPr>
          </a:p>
          <a:p>
            <a:pPr marL="285750" indent="-285750">
              <a:spcAft>
                <a:spcPts val="600"/>
              </a:spcAft>
              <a:buClrTx/>
              <a:buSzTx/>
              <a:buFont typeface="Arial" panose="020B0604020202020204" pitchFamily="34" charset="0"/>
              <a:buChar char="•"/>
            </a:pPr>
            <a:r>
              <a:rPr lang="zh-CN" sz="1400" dirty="0">
                <a:solidFill>
                  <a:srgbClr val="3D5CE8"/>
                </a:solidFill>
                <a:latin typeface="腾讯字体包" panose="02010600010101010101" charset="-128"/>
                <a:ea typeface="腾讯字体包" panose="02010600010101010101" charset="-128"/>
                <a:cs typeface="腾讯字体包" panose="02010600010101010101" charset="-128"/>
                <a:sym typeface="+mn-ea"/>
              </a:rPr>
              <a:t>机器学习接口</a:t>
            </a:r>
            <a:r>
              <a:rPr lang="zh-CN" sz="1400" dirty="0">
                <a:solidFill>
                  <a:srgbClr val="060607"/>
                </a:solidFill>
                <a:latin typeface="腾讯字体包" panose="02010600010101010101" charset="-128"/>
                <a:ea typeface="腾讯字体包" panose="02010600010101010101" charset="-128"/>
                <a:cs typeface="腾讯字体包" panose="02010600010101010101" charset="-128"/>
                <a:sym typeface="+mn-ea"/>
              </a:rPr>
              <a:t>：系统需要调用机器学习库进行模型训练和推理。</a:t>
            </a:r>
          </a:p>
        </p:txBody>
      </p:sp>
      <p:pic>
        <p:nvPicPr>
          <p:cNvPr id="67" name="图片 66"/>
          <p:cNvPicPr>
            <a:picLocks noChangeAspect="1"/>
          </p:cNvPicPr>
          <p:nvPr>
            <p:custDataLst>
              <p:tags r:id="rId18"/>
            </p:custDataLst>
          </p:nvPr>
        </p:nvPicPr>
        <p:blipFill>
          <a:blip r:embed="rId24"/>
          <a:stretch>
            <a:fillRect/>
          </a:stretch>
        </p:blipFill>
        <p:spPr>
          <a:xfrm>
            <a:off x="1070610" y="3150870"/>
            <a:ext cx="4385310" cy="29641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00437" y="758328"/>
            <a:ext cx="4242787" cy="584775"/>
            <a:chOff x="582710" y="700015"/>
            <a:chExt cx="3281155" cy="584775"/>
          </a:xfrm>
        </p:grpSpPr>
        <p:sp>
          <p:nvSpPr>
            <p:cNvPr id="6" name="矩形 5"/>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76165" y="700015"/>
              <a:ext cx="3187700"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具体需求</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功能需求</a:t>
              </a:r>
            </a:p>
          </p:txBody>
        </p:sp>
      </p:grpSp>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zh-CN" altLang="en-US" sz="2000" dirty="0"/>
          </a:p>
        </p:txBody>
      </p:sp>
      <p:sp>
        <p:nvSpPr>
          <p:cNvPr id="3" name="文本框 2"/>
          <p:cNvSpPr txBox="1"/>
          <p:nvPr/>
        </p:nvSpPr>
        <p:spPr>
          <a:xfrm>
            <a:off x="4694555" y="6066790"/>
            <a:ext cx="2450465" cy="337185"/>
          </a:xfrm>
          <a:prstGeom prst="rect">
            <a:avLst/>
          </a:prstGeom>
          <a:noFill/>
        </p:spPr>
        <p:txBody>
          <a:bodyPr wrap="square">
            <a:spAutoFit/>
          </a:bodyPr>
          <a:lstStyle/>
          <a:p>
            <a:r>
              <a:rPr lang="en-US" altLang="zh-CN" sz="1600" dirty="0">
                <a:latin typeface="腾讯字体包" panose="02010600010101010101" charset="-128"/>
                <a:ea typeface="腾讯字体包" panose="02010600010101010101" charset="-128"/>
                <a:cs typeface="腾讯字体包" panose="02010600010101010101" charset="-128"/>
              </a:rPr>
              <a:t>ITAS系统总体用例图</a:t>
            </a:r>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p:nvPr/>
        </p:nvGraphicFramePr>
        <p:xfrm>
          <a:off x="1665605" y="1412875"/>
          <a:ext cx="8606155" cy="4874260"/>
        </p:xfrm>
        <a:graphic>
          <a:graphicData uri="http://schemas.openxmlformats.org/presentationml/2006/ole">
            <mc:AlternateContent xmlns:mc="http://schemas.openxmlformats.org/markup-compatibility/2006">
              <mc:Choice xmlns:v="urn:schemas-microsoft-com:vml" Requires="v">
                <p:oleObj r:id="rId3" imgW="10026015" imgH="5428615" progId="Visio.Drawing.15">
                  <p:embed/>
                </p:oleObj>
              </mc:Choice>
              <mc:Fallback>
                <p:oleObj r:id="rId3" imgW="10026015" imgH="5428615" progId="Visio.Drawing.15">
                  <p:embed/>
                  <p:pic>
                    <p:nvPicPr>
                      <p:cNvPr id="0" name="Object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5605" y="1412875"/>
                        <a:ext cx="8606155" cy="4874260"/>
                      </a:xfrm>
                      <a:prstGeom prst="rect">
                        <a:avLst/>
                      </a:prstGeom>
                      <a:noFill/>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en-US" altLang="zh-CN" sz="2000" dirty="0"/>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1991360" y="6177915"/>
            <a:ext cx="5080000" cy="275590"/>
          </a:xfrm>
          <a:prstGeom prst="rect">
            <a:avLst/>
          </a:prstGeom>
          <a:noFill/>
          <a:ln w="9525">
            <a:noFill/>
          </a:ln>
        </p:spPr>
        <p:txBody>
          <a:bodyPr>
            <a:spAutoFit/>
          </a:bodyPr>
          <a:lstStyle/>
          <a:p>
            <a:pPr algn="l">
              <a:buClrTx/>
              <a:buSzTx/>
              <a:buFontTx/>
              <a:buNone/>
            </a:pPr>
            <a:r>
              <a:rPr lang="en-US" altLang="zh-CN" sz="1200" b="0" dirty="0">
                <a:latin typeface="腾讯字体包" panose="02010600010101010101" charset="-128"/>
                <a:ea typeface="腾讯字体包" panose="02010600010101010101" charset="-128"/>
                <a:cs typeface="腾讯字体包" panose="02010600010101010101" charset="-128"/>
              </a:rPr>
              <a:t>表 1 RUCM-</a:t>
            </a:r>
            <a:r>
              <a:rPr lang="en-US" altLang="zh-CN" sz="1200" dirty="0">
                <a:latin typeface="腾讯字体包" panose="02010600010101010101" charset="-128"/>
                <a:ea typeface="腾讯字体包" panose="02010600010101010101" charset="-128"/>
                <a:cs typeface="腾讯字体包" panose="02010600010101010101" charset="-128"/>
                <a:sym typeface="+mn-ea"/>
              </a:rPr>
              <a:t>数据标注员注册</a:t>
            </a:r>
            <a:endParaRPr lang="en-US" altLang="zh-CN" sz="1200" b="0" dirty="0">
              <a:latin typeface="腾讯字体包" panose="02010600010101010101" charset="-128"/>
              <a:ea typeface="腾讯字体包" panose="02010600010101010101" charset="-128"/>
              <a:cs typeface="腾讯字体包" panose="02010600010101010101" charset="-128"/>
            </a:endParaRPr>
          </a:p>
        </p:txBody>
      </p:sp>
      <p:sp>
        <p:nvSpPr>
          <p:cNvPr id="11" name="文本框 10"/>
          <p:cNvSpPr txBox="1"/>
          <p:nvPr/>
        </p:nvSpPr>
        <p:spPr>
          <a:xfrm>
            <a:off x="9047480" y="5497195"/>
            <a:ext cx="2394585" cy="275590"/>
          </a:xfrm>
          <a:prstGeom prst="rect">
            <a:avLst/>
          </a:prstGeom>
          <a:noFill/>
          <a:ln w="9525">
            <a:noFill/>
          </a:ln>
        </p:spPr>
        <p:txBody>
          <a:bodyPr wrap="square">
            <a:spAutoFit/>
          </a:bodyPr>
          <a:lstStyle/>
          <a:p>
            <a:pPr algn="l">
              <a:buClrTx/>
              <a:buSzTx/>
              <a:buFontTx/>
            </a:pPr>
            <a:r>
              <a:rPr lang="en-US" altLang="zh-CN" sz="1200" b="0" dirty="0">
                <a:latin typeface="腾讯字体包" panose="02010600010101010101" charset="-128"/>
                <a:ea typeface="腾讯字体包" panose="02010600010101010101" charset="-128"/>
                <a:cs typeface="腾讯字体包" panose="02010600010101010101" charset="-128"/>
              </a:rPr>
              <a:t>流程图1-</a:t>
            </a:r>
            <a:r>
              <a:rPr lang="en-US" altLang="zh-CN" sz="1200" dirty="0">
                <a:latin typeface="腾讯字体包" panose="02010600010101010101" charset="-128"/>
                <a:ea typeface="腾讯字体包" panose="02010600010101010101" charset="-128"/>
                <a:cs typeface="腾讯字体包" panose="02010600010101010101" charset="-128"/>
                <a:sym typeface="+mn-ea"/>
              </a:rPr>
              <a:t>数据标注员注册</a:t>
            </a:r>
            <a:endParaRPr lang="en-US" altLang="zh-CN" sz="1200" b="0" dirty="0">
              <a:latin typeface="腾讯字体包" panose="02010600010101010101" charset="-128"/>
              <a:ea typeface="腾讯字体包" panose="02010600010101010101" charset="-128"/>
              <a:cs typeface="腾讯字体包" panose="02010600010101010101" charset="-128"/>
            </a:endParaRPr>
          </a:p>
        </p:txBody>
      </p:sp>
      <p:graphicFrame>
        <p:nvGraphicFramePr>
          <p:cNvPr id="12" name="表格 11"/>
          <p:cNvGraphicFramePr/>
          <p:nvPr>
            <p:custDataLst>
              <p:tags r:id="rId1"/>
            </p:custDataLst>
          </p:nvPr>
        </p:nvGraphicFramePr>
        <p:xfrm>
          <a:off x="1033145" y="1471295"/>
          <a:ext cx="5782310" cy="4515485"/>
        </p:xfrm>
        <a:graphic>
          <a:graphicData uri="http://schemas.openxmlformats.org/drawingml/2006/table">
            <a:tbl>
              <a:tblPr/>
              <a:tblGrid>
                <a:gridCol w="1104900">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3626485">
                  <a:extLst>
                    <a:ext uri="{9D8B030D-6E8A-4147-A177-3AD203B41FA5}">
                      <a16:colId xmlns:a16="http://schemas.microsoft.com/office/drawing/2014/main" val="20002"/>
                    </a:ext>
                  </a:extLst>
                </a:gridCol>
              </a:tblGrid>
              <a:tr h="32956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用例名</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a:t>
                      </a:r>
                      <a:r>
                        <a:rPr lang="en-US" sz="1000">
                          <a:latin typeface="腾讯字体包" panose="02010600010101010101" charset="-128"/>
                          <a:ea typeface="腾讯字体包" panose="02010600010101010101" charset="-128"/>
                          <a:cs typeface="宋体" panose="02010600030101010101" pitchFamily="2" charset="-122"/>
                          <a:sym typeface="+mn-ea"/>
                        </a:rPr>
                        <a:t>注册</a:t>
                      </a:r>
                      <a:endParaRPr lang="en-US" sz="1000" b="0">
                        <a:latin typeface="腾讯字体包" panose="02010600010101010101" charset="-128"/>
                        <a:ea typeface="腾讯字体包" panose="02010600010101010101" charset="-128"/>
                        <a:cs typeface="宋体" panose="02010600030101010101" pitchFamily="2" charset="-122"/>
                      </a:endParaRP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2956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用例描述</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数据标注员注册账户</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32956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参与者</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2"/>
                  </a:ext>
                </a:extLst>
              </a:tr>
              <a:tr h="330200">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涉众</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None</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3"/>
                  </a:ext>
                </a:extLst>
              </a:tr>
              <a:tr h="32956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前置条件</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 </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4"/>
                  </a:ext>
                </a:extLst>
              </a:tr>
              <a:tr h="32956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后置条件</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a:latin typeface="腾讯字体包" panose="02010600010101010101" charset="-128"/>
                          <a:ea typeface="腾讯字体包" panose="02010600010101010101" charset="-128"/>
                          <a:cs typeface="宋体" panose="02010600030101010101" pitchFamily="2" charset="-122"/>
                          <a:sym typeface="+mn-ea"/>
                        </a:rPr>
                        <a:t>创建数据标注员账户并跳转登录页面</a:t>
                      </a:r>
                      <a:endParaRPr lang="en-US" sz="1000" b="0">
                        <a:latin typeface="腾讯字体包" panose="02010600010101010101" charset="-128"/>
                        <a:ea typeface="腾讯字体包" panose="02010600010101010101" charset="-128"/>
                        <a:cs typeface="宋体" panose="02010600030101010101" pitchFamily="2" charset="-122"/>
                        <a:sym typeface="+mn-ea"/>
                      </a:endParaRP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r h="329565">
                <a:tc rowSpan="5">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基本事件流</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Steps</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6"/>
                  </a:ext>
                </a:extLst>
              </a:tr>
              <a:tr h="297815">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INCLUDE USE CASE 设置数据库连接</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0355">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2</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数据标注员输入注册账户和密码</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7180">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3</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系统VALIDATE THAT账户名称合法</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0830">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4</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系统VALIDATE THAT账户密码强度符合要求</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9565">
                <a:tc rowSpan="3">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备选事件流</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RFS Basic Flow </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11"/>
                  </a:ext>
                </a:extLst>
              </a:tr>
              <a:tr h="329565">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系统提示账户名称非法</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9565">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Postcondition</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系统回到账户设置界面</a:t>
                      </a:r>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pic>
        <p:nvPicPr>
          <p:cNvPr id="1577651795" name="图片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7071360" y="1906905"/>
            <a:ext cx="4887595" cy="3483610"/>
          </a:xfrm>
          <a:prstGeom prst="rect">
            <a:avLst/>
          </a:prstGeom>
          <a:noFill/>
          <a:ln>
            <a:noFill/>
          </a:ln>
        </p:spPr>
      </p:pic>
      <p:grpSp>
        <p:nvGrpSpPr>
          <p:cNvPr id="2" name="组合 1"/>
          <p:cNvGrpSpPr/>
          <p:nvPr/>
        </p:nvGrpSpPr>
        <p:grpSpPr>
          <a:xfrm>
            <a:off x="300437" y="758328"/>
            <a:ext cx="9436736" cy="584775"/>
            <a:chOff x="582710" y="700015"/>
            <a:chExt cx="7297890" cy="584775"/>
          </a:xfrm>
        </p:grpSpPr>
        <p:sp>
          <p:nvSpPr>
            <p:cNvPr id="3" name="矩形 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sym typeface="+mn-ea"/>
                </a:rPr>
                <a:t>功能需求：</a:t>
              </a:r>
              <a:r>
                <a:rPr kumimoji="1" lang="zh-CN" altLang="en-US" sz="2000" dirty="0">
                  <a:ln w="15875">
                    <a:solidFill>
                      <a:schemeClr val="accent1"/>
                    </a:solidFill>
                  </a:ln>
                  <a:noFill/>
                  <a:effectLst/>
                  <a:latin typeface="腾讯字体包" panose="02010600010101010101" charset="-128"/>
                  <a:ea typeface="腾讯字体包" panose="02010600010101010101" charset="-128"/>
                  <a:sym typeface="+mn-ea"/>
                </a:rPr>
                <a:t>文本标注子系统</a:t>
              </a:r>
              <a:r>
                <a:rPr kumimoji="1" lang="en-US" altLang="zh-CN" sz="2000" dirty="0">
                  <a:latin typeface="腾讯字体包" panose="02010600010101010101" charset="-128"/>
                  <a:ea typeface="腾讯字体包" panose="02010600010101010101" charset="-128"/>
                  <a:sym typeface="+mn-ea"/>
                </a:rPr>
                <a:t>——(1) </a:t>
              </a:r>
              <a:r>
                <a:rPr kumimoji="1" lang="zh-CN" altLang="en-US" sz="2000" dirty="0">
                  <a:latin typeface="腾讯字体包" panose="02010600010101010101" charset="-128"/>
                  <a:ea typeface="腾讯字体包" panose="02010600010101010101" charset="-128"/>
                  <a:sym typeface="+mn-ea"/>
                </a:rPr>
                <a:t>数据标注员注册</a:t>
              </a:r>
              <a:endParaRPr kumimoji="1" lang="zh-CN" altLang="en-US" sz="2000" dirty="0">
                <a:latin typeface="腾讯字体包" panose="02010600010101010101" charset="-128"/>
                <a:ea typeface="腾讯字体包" panose="02010600010101010101" charset="-128"/>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en-US" altLang="zh-CN" sz="2000" dirty="0"/>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表格 8"/>
          <p:cNvGraphicFramePr/>
          <p:nvPr>
            <p:custDataLst>
              <p:tags r:id="rId1"/>
            </p:custDataLst>
          </p:nvPr>
        </p:nvGraphicFramePr>
        <p:xfrm>
          <a:off x="1086485" y="1449070"/>
          <a:ext cx="6593205" cy="5009515"/>
        </p:xfrm>
        <a:graphic>
          <a:graphicData uri="http://schemas.openxmlformats.org/drawingml/2006/table">
            <a:tbl>
              <a:tblPr/>
              <a:tblGrid>
                <a:gridCol w="1066165">
                  <a:extLst>
                    <a:ext uri="{9D8B030D-6E8A-4147-A177-3AD203B41FA5}">
                      <a16:colId xmlns:a16="http://schemas.microsoft.com/office/drawing/2014/main" val="20000"/>
                    </a:ext>
                  </a:extLst>
                </a:gridCol>
                <a:gridCol w="7264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用例名</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创建标注项目</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9116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用例描述</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标注管理员创建标注项目，为数据标注员分配标注任务。</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2"/>
                  </a:ext>
                </a:extLst>
              </a:tr>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涉众</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数据标注员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3"/>
                  </a:ext>
                </a:extLst>
              </a:tr>
              <a:tr h="3937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前置条件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标注管理员已经注册并登录到文本标注系统中，并拥有标注管理员权限。</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4"/>
                  </a:ext>
                </a:extLst>
              </a:tr>
              <a:tr h="39116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后置条件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无</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r h="304800">
                <a:tc rowSpan="6">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基本事件流</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Steps</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6"/>
                  </a:ext>
                </a:extLst>
              </a:tr>
              <a:tr h="52197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标注管理员选择新建标注项目，填写项目名称和项目简介以及上传任务书。</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4335">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2</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标注管理员选择加入标注文本，上传具体的待标注文本。</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116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3</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标注管理员选择加入新的标注人员。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370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4</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腾讯字体包" panose="02010600010101010101" charset="-128"/>
                        </a:rPr>
                        <a:t>标注管理员选择新建标签，填入标签Key和标签名称。</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521335">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5</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标注管理员选择任务分配，填入标注人员数量、标注文本数量和标注标签数量。</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1795">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备选事件流</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无</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12"/>
                  </a:ext>
                </a:extLst>
              </a:tr>
            </a:tbl>
          </a:graphicData>
        </a:graphic>
      </p:graphicFrame>
      <p:sp>
        <p:nvSpPr>
          <p:cNvPr id="10" name="文本框 9"/>
          <p:cNvSpPr txBox="1"/>
          <p:nvPr/>
        </p:nvSpPr>
        <p:spPr>
          <a:xfrm>
            <a:off x="1086485" y="6489065"/>
            <a:ext cx="5080000" cy="275590"/>
          </a:xfrm>
          <a:prstGeom prst="rect">
            <a:avLst/>
          </a:prstGeom>
          <a:noFill/>
          <a:ln w="9525">
            <a:noFill/>
          </a:ln>
        </p:spPr>
        <p:txBody>
          <a:bodyPr>
            <a:spAutoFit/>
          </a:bodyPr>
          <a:lstStyle/>
          <a:p>
            <a:pPr indent="0" algn="ctr"/>
            <a:r>
              <a:rPr lang="en-US" altLang="zh-CN" sz="1200" b="0" dirty="0">
                <a:latin typeface="腾讯字体包" panose="02010600010101010101" charset="-128"/>
                <a:ea typeface="腾讯字体包" panose="02010600010101010101" charset="-128"/>
                <a:cs typeface="腾讯字体包" panose="02010600010101010101" charset="-128"/>
              </a:rPr>
              <a:t>表 2 RUCM-创建标注项目</a:t>
            </a:r>
          </a:p>
        </p:txBody>
      </p:sp>
      <p:sp>
        <p:nvSpPr>
          <p:cNvPr id="11" name="文本框 10"/>
          <p:cNvSpPr txBox="1"/>
          <p:nvPr/>
        </p:nvSpPr>
        <p:spPr>
          <a:xfrm>
            <a:off x="9035415" y="6200140"/>
            <a:ext cx="5080000" cy="275590"/>
          </a:xfrm>
          <a:prstGeom prst="rect">
            <a:avLst/>
          </a:prstGeom>
          <a:noFill/>
          <a:ln w="9525">
            <a:noFill/>
          </a:ln>
        </p:spPr>
        <p:txBody>
          <a:bodyPr>
            <a:spAutoFit/>
          </a:bodyPr>
          <a:lstStyle/>
          <a:p>
            <a:pPr indent="0"/>
            <a:r>
              <a:rPr lang="en-US" altLang="zh-CN" sz="1200" b="0" dirty="0">
                <a:latin typeface="腾讯字体包" panose="02010600010101010101" charset="-128"/>
                <a:ea typeface="腾讯字体包" panose="02010600010101010101" charset="-128"/>
                <a:cs typeface="腾讯字体包" panose="02010600010101010101" charset="-128"/>
              </a:rPr>
              <a:t>流程图2-创建标注项目</a:t>
            </a:r>
          </a:p>
        </p:txBody>
      </p:sp>
      <p:pic>
        <p:nvPicPr>
          <p:cNvPr id="842646246" name="图片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8634730" y="1129665"/>
            <a:ext cx="2583815" cy="5003800"/>
          </a:xfrm>
          <a:prstGeom prst="rect">
            <a:avLst/>
          </a:prstGeom>
          <a:noFill/>
          <a:ln>
            <a:noFill/>
          </a:ln>
        </p:spPr>
      </p:pic>
      <p:grpSp>
        <p:nvGrpSpPr>
          <p:cNvPr id="12" name="组合 11"/>
          <p:cNvGrpSpPr/>
          <p:nvPr/>
        </p:nvGrpSpPr>
        <p:grpSpPr>
          <a:xfrm>
            <a:off x="300437" y="758328"/>
            <a:ext cx="9436736" cy="584775"/>
            <a:chOff x="582710" y="700015"/>
            <a:chExt cx="7297890" cy="584775"/>
          </a:xfrm>
        </p:grpSpPr>
        <p:sp>
          <p:nvSpPr>
            <p:cNvPr id="13" name="矩形 1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sym typeface="+mn-ea"/>
                </a:rPr>
                <a:t>功能需求：</a:t>
              </a:r>
              <a:r>
                <a:rPr kumimoji="1" lang="zh-CN" altLang="en-US" sz="2000" dirty="0">
                  <a:ln w="15875">
                    <a:solidFill>
                      <a:schemeClr val="accent1"/>
                    </a:solidFill>
                  </a:ln>
                  <a:noFill/>
                  <a:effectLst/>
                  <a:latin typeface="腾讯字体包" panose="02010600010101010101" charset="-128"/>
                  <a:ea typeface="腾讯字体包" panose="02010600010101010101" charset="-128"/>
                  <a:sym typeface="+mn-ea"/>
                </a:rPr>
                <a:t>文本标注子系统</a:t>
              </a:r>
              <a:r>
                <a:rPr kumimoji="1" lang="en-US" altLang="zh-CN" sz="2000" dirty="0">
                  <a:latin typeface="腾讯字体包" panose="02010600010101010101" charset="-128"/>
                  <a:ea typeface="腾讯字体包" panose="02010600010101010101" charset="-128"/>
                  <a:sym typeface="+mn-ea"/>
                </a:rPr>
                <a:t>——(2</a:t>
              </a:r>
              <a:r>
                <a:rPr kumimoji="1" lang="zh-CN" altLang="en-US" sz="2000" dirty="0">
                  <a:latin typeface="腾讯字体包" panose="02010600010101010101" charset="-128"/>
                  <a:ea typeface="腾讯字体包" panose="02010600010101010101" charset="-128"/>
                  <a:sym typeface="+mn-ea"/>
                </a:rPr>
                <a:t>)</a:t>
              </a:r>
              <a:r>
                <a:rPr kumimoji="1" lang="en-US" altLang="zh-CN" sz="2000" dirty="0">
                  <a:latin typeface="腾讯字体包" panose="02010600010101010101" charset="-128"/>
                  <a:ea typeface="腾讯字体包" panose="02010600010101010101" charset="-128"/>
                  <a:sym typeface="+mn-ea"/>
                </a:rPr>
                <a:t> </a:t>
              </a:r>
              <a:r>
                <a:rPr kumimoji="1" lang="zh-CN" altLang="en-US" sz="2000" dirty="0">
                  <a:latin typeface="腾讯字体包" panose="02010600010101010101" charset="-128"/>
                  <a:ea typeface="腾讯字体包" panose="02010600010101010101" charset="-128"/>
                  <a:sym typeface="+mn-ea"/>
                </a:rPr>
                <a:t>创建标注项目</a:t>
              </a:r>
              <a:endParaRPr kumimoji="1" lang="en-US" altLang="zh-CN" sz="2000" dirty="0">
                <a:latin typeface="腾讯字体包" panose="02010600010101010101" charset="-128"/>
                <a:ea typeface="腾讯字体包" panose="02010600010101010101" charset="-128"/>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692232"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en-US" altLang="zh-CN" sz="2000" dirty="0"/>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1086485" y="6273800"/>
            <a:ext cx="5080000" cy="275590"/>
          </a:xfrm>
          <a:prstGeom prst="rect">
            <a:avLst/>
          </a:prstGeom>
          <a:noFill/>
          <a:ln w="9525">
            <a:noFill/>
          </a:ln>
        </p:spPr>
        <p:txBody>
          <a:bodyPr>
            <a:spAutoFit/>
          </a:bodyPr>
          <a:lstStyle/>
          <a:p>
            <a:pPr indent="0" algn="ctr"/>
            <a:r>
              <a:rPr lang="en-US" altLang="zh-CN" sz="1200" b="0" dirty="0">
                <a:latin typeface="腾讯字体包" panose="02010600010101010101" charset="-128"/>
                <a:ea typeface="腾讯字体包" panose="02010600010101010101" charset="-128"/>
                <a:cs typeface="腾讯字体包" panose="02010600010101010101" charset="-128"/>
              </a:rPr>
              <a:t>表 3 R</a:t>
            </a:r>
            <a:r>
              <a:rPr lang="en-US" altLang="zh-CN" sz="1200" dirty="0">
                <a:latin typeface="腾讯字体包" panose="02010600010101010101" charset="-128"/>
                <a:ea typeface="腾讯字体包" panose="02010600010101010101" charset="-128"/>
                <a:cs typeface="腾讯字体包" panose="02010600010101010101" charset="-128"/>
              </a:rPr>
              <a:t>UC</a:t>
            </a:r>
            <a:r>
              <a:rPr lang="en-US" altLang="zh-CN" sz="1200" b="0" dirty="0">
                <a:latin typeface="腾讯字体包" panose="02010600010101010101" charset="-128"/>
                <a:ea typeface="腾讯字体包" panose="02010600010101010101" charset="-128"/>
                <a:cs typeface="腾讯字体包" panose="02010600010101010101" charset="-128"/>
              </a:rPr>
              <a:t>M</a:t>
            </a:r>
            <a:r>
              <a:rPr lang="en-US" altLang="zh-CN" sz="1200" dirty="0">
                <a:latin typeface="腾讯字体包" panose="02010600010101010101" charset="-128"/>
                <a:ea typeface="腾讯字体包" panose="02010600010101010101" charset="-128"/>
                <a:cs typeface="腾讯字体包" panose="02010600010101010101" charset="-128"/>
              </a:rPr>
              <a:t>-</a:t>
            </a:r>
            <a:r>
              <a:rPr lang="en-US" altLang="zh-CN" sz="1200" dirty="0">
                <a:latin typeface="腾讯字体包" panose="02010600010101010101" charset="-128"/>
                <a:ea typeface="腾讯字体包" panose="02010600010101010101" charset="-128"/>
                <a:cs typeface="腾讯字体包" panose="02010600010101010101" charset="-128"/>
                <a:sym typeface="+mn-ea"/>
              </a:rPr>
              <a:t>段落提取标注</a:t>
            </a:r>
            <a:endParaRPr lang="en-US" altLang="zh-CN" sz="1200" dirty="0">
              <a:latin typeface="腾讯字体包" panose="02010600010101010101" charset="-128"/>
              <a:ea typeface="腾讯字体包" panose="02010600010101010101" charset="-128"/>
              <a:cs typeface="腾讯字体包" panose="02010600010101010101" charset="-128"/>
            </a:endParaRPr>
          </a:p>
        </p:txBody>
      </p:sp>
      <p:sp>
        <p:nvSpPr>
          <p:cNvPr id="11" name="文本框 10"/>
          <p:cNvSpPr txBox="1"/>
          <p:nvPr/>
        </p:nvSpPr>
        <p:spPr>
          <a:xfrm>
            <a:off x="9035415" y="5826125"/>
            <a:ext cx="5080000" cy="275590"/>
          </a:xfrm>
          <a:prstGeom prst="rect">
            <a:avLst/>
          </a:prstGeom>
          <a:noFill/>
          <a:ln w="9525">
            <a:noFill/>
          </a:ln>
        </p:spPr>
        <p:txBody>
          <a:bodyPr>
            <a:spAutoFit/>
          </a:bodyPr>
          <a:lstStyle/>
          <a:p>
            <a:pPr indent="0"/>
            <a:r>
              <a:rPr lang="en-US" altLang="zh-CN" sz="1200" b="0" dirty="0">
                <a:latin typeface="腾讯字体包" panose="02010600010101010101" charset="-128"/>
                <a:ea typeface="腾讯字体包" panose="02010600010101010101" charset="-128"/>
                <a:cs typeface="腾讯字体包" panose="02010600010101010101" charset="-128"/>
              </a:rPr>
              <a:t>流程图3-</a:t>
            </a:r>
            <a:r>
              <a:rPr lang="en-US" altLang="zh-CN" sz="1200" dirty="0">
                <a:latin typeface="腾讯字体包" panose="02010600010101010101" charset="-128"/>
                <a:ea typeface="腾讯字体包" panose="02010600010101010101" charset="-128"/>
                <a:cs typeface="腾讯字体包" panose="02010600010101010101" charset="-128"/>
                <a:sym typeface="+mn-ea"/>
              </a:rPr>
              <a:t>段落提取标注</a:t>
            </a:r>
            <a:endParaRPr lang="en-US" altLang="zh-CN" sz="1200" b="0" dirty="0">
              <a:latin typeface="腾讯字体包" panose="02010600010101010101" charset="-128"/>
              <a:ea typeface="腾讯字体包" panose="02010600010101010101" charset="-128"/>
              <a:cs typeface="腾讯字体包" panose="02010600010101010101" charset="-128"/>
            </a:endParaRPr>
          </a:p>
        </p:txBody>
      </p:sp>
      <p:graphicFrame>
        <p:nvGraphicFramePr>
          <p:cNvPr id="2" name="表格 1"/>
          <p:cNvGraphicFramePr/>
          <p:nvPr>
            <p:custDataLst>
              <p:tags r:id="rId1"/>
            </p:custDataLst>
          </p:nvPr>
        </p:nvGraphicFramePr>
        <p:xfrm>
          <a:off x="1086485" y="1459865"/>
          <a:ext cx="6055995" cy="4724400"/>
        </p:xfrm>
        <a:graphic>
          <a:graphicData uri="http://schemas.openxmlformats.org/drawingml/2006/table">
            <a:tbl>
              <a:tblPr/>
              <a:tblGrid>
                <a:gridCol w="1104900">
                  <a:extLst>
                    <a:ext uri="{9D8B030D-6E8A-4147-A177-3AD203B41FA5}">
                      <a16:colId xmlns:a16="http://schemas.microsoft.com/office/drawing/2014/main" val="20000"/>
                    </a:ext>
                  </a:extLst>
                </a:gridCol>
                <a:gridCol w="1132840">
                  <a:extLst>
                    <a:ext uri="{9D8B030D-6E8A-4147-A177-3AD203B41FA5}">
                      <a16:colId xmlns:a16="http://schemas.microsoft.com/office/drawing/2014/main" val="20001"/>
                    </a:ext>
                  </a:extLst>
                </a:gridCol>
                <a:gridCol w="3818255">
                  <a:extLst>
                    <a:ext uri="{9D8B030D-6E8A-4147-A177-3AD203B41FA5}">
                      <a16:colId xmlns:a16="http://schemas.microsoft.com/office/drawing/2014/main" val="20002"/>
                    </a:ext>
                  </a:extLst>
                </a:gridCol>
              </a:tblGrid>
              <a:tr h="32575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用例名</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段落提取标注</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2575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用例描述</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数据标注员对段落进行标注</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32575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2"/>
                  </a:ext>
                </a:extLst>
              </a:tr>
              <a:tr h="32575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涉众</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None</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3"/>
                  </a:ext>
                </a:extLst>
              </a:tr>
              <a:tr h="325755">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前置条件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数据标注员已登录标注任务已创建</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4"/>
                  </a:ext>
                </a:extLst>
              </a:tr>
              <a:tr h="326390">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后置条件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段落标注任务完成</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r h="325120">
                <a:tc rowSpan="5">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基本事件流</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Steps</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6"/>
                  </a:ext>
                </a:extLst>
              </a:tr>
              <a:tr h="326390">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系统指引数据标注员进行标注</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5755">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2</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数据标注员对文档进行标注</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5120">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3</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INCLUDE USE CASE 设置数据库连接</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6390">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4</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保存标注信息</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5755">
                <a:tc rowSpan="3">
                  <a:txBody>
                    <a:bodyPr/>
                    <a:lstStyle/>
                    <a:p>
                      <a:pPr indent="0">
                        <a:buNone/>
                      </a:pPr>
                      <a:r>
                        <a:rPr lang="en-US" sz="1000" b="0">
                          <a:latin typeface="腾讯字体包" panose="02010600010101010101" charset="-128"/>
                          <a:ea typeface="腾讯字体包" panose="02010600010101010101" charset="-128"/>
                          <a:cs typeface="腾讯字体包" panose="02010600010101010101" charset="-128"/>
                        </a:rPr>
                        <a:t>备选事件流</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p>
                    <a:p>
                      <a:pPr indent="0">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RFS Basic Flow </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11"/>
                  </a:ext>
                </a:extLst>
              </a:tr>
              <a:tr h="325755">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系统提示标注错误</a:t>
                      </a:r>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488950">
                <a:tc vMerge="1">
                  <a:txBody>
                    <a:bodyPr/>
                    <a:lstStyle/>
                    <a:p>
                      <a:endParaRPr lang="zh-CN"/>
                    </a:p>
                  </a:txBody>
                  <a:tcPr marL="76200" marR="76200" marT="76200" marB="7620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Postcondition</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000" b="0">
                          <a:latin typeface="腾讯字体包" panose="02010600010101010101" charset="-128"/>
                          <a:ea typeface="腾讯字体包" panose="02010600010101010101" charset="-128"/>
                          <a:cs typeface="宋体" panose="02010600030101010101" pitchFamily="2" charset="-122"/>
                        </a:rPr>
                        <a:t>系统回到标注界面</a:t>
                      </a:r>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pic>
        <p:nvPicPr>
          <p:cNvPr id="1099089229" name="图片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8379460" y="2047875"/>
            <a:ext cx="2876550" cy="3498850"/>
          </a:xfrm>
          <a:prstGeom prst="rect">
            <a:avLst/>
          </a:prstGeom>
          <a:noFill/>
          <a:ln>
            <a:noFill/>
          </a:ln>
        </p:spPr>
      </p:pic>
      <p:grpSp>
        <p:nvGrpSpPr>
          <p:cNvPr id="12" name="组合 11"/>
          <p:cNvGrpSpPr/>
          <p:nvPr/>
        </p:nvGrpSpPr>
        <p:grpSpPr>
          <a:xfrm>
            <a:off x="300437" y="758328"/>
            <a:ext cx="9436736" cy="584775"/>
            <a:chOff x="582710" y="700015"/>
            <a:chExt cx="7297890" cy="584775"/>
          </a:xfrm>
        </p:grpSpPr>
        <p:sp>
          <p:nvSpPr>
            <p:cNvPr id="13" name="矩形 1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sym typeface="+mn-ea"/>
                </a:rPr>
                <a:t>功能需求：</a:t>
              </a:r>
              <a:r>
                <a:rPr kumimoji="1" lang="zh-CN" altLang="en-US" sz="2000" dirty="0">
                  <a:ln w="15875">
                    <a:solidFill>
                      <a:schemeClr val="accent1"/>
                    </a:solidFill>
                  </a:ln>
                  <a:noFill/>
                  <a:effectLst/>
                  <a:latin typeface="腾讯字体包" panose="02010600010101010101" charset="-128"/>
                  <a:ea typeface="腾讯字体包" panose="02010600010101010101" charset="-128"/>
                  <a:sym typeface="+mn-ea"/>
                </a:rPr>
                <a:t>文本标注子系统</a:t>
              </a:r>
              <a:r>
                <a:rPr kumimoji="1" lang="en-US" altLang="zh-CN" sz="2000" dirty="0">
                  <a:latin typeface="腾讯字体包" panose="02010600010101010101" charset="-128"/>
                  <a:ea typeface="腾讯字体包" panose="02010600010101010101" charset="-128"/>
                  <a:sym typeface="+mn-ea"/>
                </a:rPr>
                <a:t>——(3) </a:t>
              </a:r>
              <a:r>
                <a:rPr kumimoji="1" lang="zh-CN" altLang="en-US" sz="2000" dirty="0">
                  <a:latin typeface="腾讯字体包" panose="02010600010101010101" charset="-128"/>
                  <a:ea typeface="腾讯字体包" panose="02010600010101010101" charset="-128"/>
                  <a:sym typeface="+mn-ea"/>
                </a:rPr>
                <a:t>段落提取标注</a:t>
              </a:r>
              <a:endParaRPr kumimoji="1" lang="zh-CN" altLang="en-US" sz="2000" dirty="0">
                <a:latin typeface="腾讯字体包" panose="02010600010101010101" charset="-128"/>
                <a:ea typeface="腾讯字体包" panose="02010600010101010101" charset="-128"/>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692232"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en-US" altLang="zh-CN" sz="2000" dirty="0"/>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2298065" y="6499860"/>
            <a:ext cx="2628265" cy="275590"/>
          </a:xfrm>
          <a:prstGeom prst="rect">
            <a:avLst/>
          </a:prstGeom>
          <a:noFill/>
          <a:ln w="9525">
            <a:noFill/>
          </a:ln>
        </p:spPr>
        <p:txBody>
          <a:bodyPr wrap="square">
            <a:spAutoFit/>
          </a:bodyPr>
          <a:lstStyle/>
          <a:p>
            <a:pPr algn="l">
              <a:buClrTx/>
              <a:buSzTx/>
              <a:buFontTx/>
            </a:pPr>
            <a:r>
              <a:rPr lang="en-US" altLang="zh-CN" sz="1200" b="0" dirty="0">
                <a:latin typeface="腾讯字体包" panose="02010600010101010101" charset="-128"/>
                <a:ea typeface="腾讯字体包" panose="02010600010101010101" charset="-128"/>
                <a:cs typeface="腾讯字体包" panose="02010600010101010101" charset="-128"/>
              </a:rPr>
              <a:t>表 4 R</a:t>
            </a:r>
            <a:r>
              <a:rPr lang="en-US" altLang="zh-CN" sz="1200" dirty="0">
                <a:latin typeface="腾讯字体包" panose="02010600010101010101" charset="-128"/>
                <a:ea typeface="腾讯字体包" panose="02010600010101010101" charset="-128"/>
                <a:cs typeface="腾讯字体包" panose="02010600010101010101" charset="-128"/>
              </a:rPr>
              <a:t>UC</a:t>
            </a:r>
            <a:r>
              <a:rPr lang="en-US" altLang="zh-CN" sz="1200" b="0" dirty="0">
                <a:latin typeface="腾讯字体包" panose="02010600010101010101" charset="-128"/>
                <a:ea typeface="腾讯字体包" panose="02010600010101010101" charset="-128"/>
                <a:cs typeface="腾讯字体包" panose="02010600010101010101" charset="-128"/>
              </a:rPr>
              <a:t>M</a:t>
            </a:r>
            <a:r>
              <a:rPr lang="en-US" altLang="zh-CN" sz="1200" dirty="0">
                <a:latin typeface="腾讯字体包" panose="02010600010101010101" charset="-128"/>
                <a:ea typeface="腾讯字体包" panose="02010600010101010101" charset="-128"/>
                <a:cs typeface="腾讯字体包" panose="02010600010101010101" charset="-128"/>
              </a:rPr>
              <a:t>-</a:t>
            </a:r>
            <a:r>
              <a:rPr lang="en-US" altLang="zh-CN" sz="1200" dirty="0">
                <a:latin typeface="腾讯字体包" panose="02010600010101010101" charset="-128"/>
                <a:ea typeface="腾讯字体包" panose="02010600010101010101" charset="-128"/>
                <a:cs typeface="腾讯字体包" panose="02010600010101010101" charset="-128"/>
                <a:sym typeface="+mn-ea"/>
              </a:rPr>
              <a:t>验收标注数据</a:t>
            </a:r>
          </a:p>
        </p:txBody>
      </p:sp>
      <p:sp>
        <p:nvSpPr>
          <p:cNvPr id="11" name="文本框 10"/>
          <p:cNvSpPr txBox="1"/>
          <p:nvPr/>
        </p:nvSpPr>
        <p:spPr>
          <a:xfrm>
            <a:off x="8638540" y="5328285"/>
            <a:ext cx="5080000" cy="275590"/>
          </a:xfrm>
          <a:prstGeom prst="rect">
            <a:avLst/>
          </a:prstGeom>
          <a:noFill/>
          <a:ln w="9525">
            <a:noFill/>
          </a:ln>
        </p:spPr>
        <p:txBody>
          <a:bodyPr>
            <a:spAutoFit/>
          </a:bodyPr>
          <a:lstStyle/>
          <a:p>
            <a:pPr indent="0"/>
            <a:r>
              <a:rPr lang="en-US" altLang="zh-CN" sz="1200" b="0" dirty="0">
                <a:latin typeface="腾讯字体包" panose="02010600010101010101" charset="-128"/>
                <a:ea typeface="腾讯字体包" panose="02010600010101010101" charset="-128"/>
                <a:cs typeface="腾讯字体包" panose="02010600010101010101" charset="-128"/>
              </a:rPr>
              <a:t>流程图4-</a:t>
            </a:r>
            <a:r>
              <a:rPr lang="en-US" altLang="zh-CN" sz="1200" dirty="0">
                <a:latin typeface="腾讯字体包" panose="02010600010101010101" charset="-128"/>
                <a:ea typeface="腾讯字体包" panose="02010600010101010101" charset="-128"/>
                <a:cs typeface="腾讯字体包" panose="02010600010101010101" charset="-128"/>
                <a:sym typeface="+mn-ea"/>
              </a:rPr>
              <a:t>验收标注数据</a:t>
            </a:r>
          </a:p>
        </p:txBody>
      </p:sp>
      <p:graphicFrame>
        <p:nvGraphicFramePr>
          <p:cNvPr id="8" name="表格 7"/>
          <p:cNvGraphicFramePr/>
          <p:nvPr>
            <p:custDataLst>
              <p:tags r:id="rId1"/>
            </p:custDataLst>
          </p:nvPr>
        </p:nvGraphicFramePr>
        <p:xfrm>
          <a:off x="1031240" y="1490345"/>
          <a:ext cx="6546850" cy="4907280"/>
        </p:xfrm>
        <a:graphic>
          <a:graphicData uri="http://schemas.openxmlformats.org/drawingml/2006/table">
            <a:tbl>
              <a:tblPr/>
              <a:tblGrid>
                <a:gridCol w="1487170">
                  <a:extLst>
                    <a:ext uri="{9D8B030D-6E8A-4147-A177-3AD203B41FA5}">
                      <a16:colId xmlns:a16="http://schemas.microsoft.com/office/drawing/2014/main" val="20000"/>
                    </a:ext>
                  </a:extLst>
                </a:gridCol>
                <a:gridCol w="1017270">
                  <a:extLst>
                    <a:ext uri="{9D8B030D-6E8A-4147-A177-3AD203B41FA5}">
                      <a16:colId xmlns:a16="http://schemas.microsoft.com/office/drawing/2014/main" val="20001"/>
                    </a:ext>
                  </a:extLst>
                </a:gridCol>
                <a:gridCol w="4042410">
                  <a:extLst>
                    <a:ext uri="{9D8B030D-6E8A-4147-A177-3AD203B41FA5}">
                      <a16:colId xmlns:a16="http://schemas.microsoft.com/office/drawing/2014/main" val="20002"/>
                    </a:ext>
                  </a:extLst>
                </a:gridCol>
              </a:tblGrid>
              <a:tr h="38354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用例名</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验收标注数据</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8481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用例描述</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标注管理员对数据标注员完成的任务进行验收。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382905">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2"/>
                  </a:ext>
                </a:extLst>
              </a:tr>
              <a:tr h="384175">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涉众</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数据标注员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3"/>
                  </a:ext>
                </a:extLst>
              </a:tr>
              <a:tr h="38354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前置条件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数据标注员已完成标注任务。</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4"/>
                  </a:ext>
                </a:extLst>
              </a:tr>
              <a:tr h="38481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后置条件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无</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r h="383540">
                <a:tc rowSpan="3">
                  <a:txBody>
                    <a:bodyPr/>
                    <a:lstStyle/>
                    <a:p>
                      <a:pPr algn="l">
                        <a:buClrTx/>
                        <a:buSzTx/>
                        <a:buFontTx/>
                        <a:buNone/>
                      </a:pPr>
                      <a:r>
                        <a:rPr lang="en-US" sz="1000" b="0">
                          <a:latin typeface="腾讯字体包" panose="02010600010101010101" charset="-128"/>
                          <a:ea typeface="腾讯字体包" panose="02010600010101010101" charset="-128"/>
                          <a:cs typeface="腾讯字体包" panose="02010600010101010101" charset="-128"/>
                        </a:rPr>
                        <a:t>基本事件流</a:t>
                      </a:r>
                    </a:p>
                    <a:p>
                      <a:pPr algn="l">
                        <a:buClrTx/>
                        <a:buSzTx/>
                        <a:buFontTx/>
                        <a:buNone/>
                      </a:pPr>
                      <a:r>
                        <a:rPr lang="en-US"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Steps</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6"/>
                  </a:ext>
                </a:extLst>
              </a:tr>
              <a:tr h="48387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标注管理员选择查看标注，对数据标注员的标注任务进行验收。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387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2</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验收成功，标注管理员选择导出数据，下载已标注好的文本。</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4810">
                <a:tc rowSpan="3">
                  <a:txBody>
                    <a:bodyPr/>
                    <a:lstStyle/>
                    <a:p>
                      <a:pPr algn="l">
                        <a:buClrTx/>
                        <a:buSzTx/>
                        <a:buFontTx/>
                        <a:buNone/>
                      </a:pPr>
                      <a:r>
                        <a:rPr lang="en-US" sz="1000" b="0">
                          <a:latin typeface="腾讯字体包" panose="02010600010101010101" charset="-128"/>
                          <a:ea typeface="腾讯字体包" panose="02010600010101010101" charset="-128"/>
                          <a:cs typeface="腾讯字体包" panose="02010600010101010101" charset="-128"/>
                        </a:rPr>
                        <a:t>备选事件流</a:t>
                      </a:r>
                    </a:p>
                    <a:p>
                      <a:pPr algn="l">
                        <a:buClrTx/>
                        <a:buSzTx/>
                        <a:buFontTx/>
                        <a:buNone/>
                      </a:pPr>
                      <a:r>
                        <a:rPr lang="en-US"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RFS Basic Flow </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9"/>
                  </a:ext>
                </a:extLst>
              </a:tr>
              <a:tr h="38354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验收不成功</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8387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Postcondition</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标注管理员重新分配标注任务。</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pic>
        <p:nvPicPr>
          <p:cNvPr id="1544756222"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7744460" y="2620010"/>
            <a:ext cx="3714750" cy="2590800"/>
          </a:xfrm>
          <a:prstGeom prst="rect">
            <a:avLst/>
          </a:prstGeom>
          <a:noFill/>
          <a:ln>
            <a:noFill/>
          </a:ln>
        </p:spPr>
      </p:pic>
      <p:grpSp>
        <p:nvGrpSpPr>
          <p:cNvPr id="12" name="组合 11"/>
          <p:cNvGrpSpPr/>
          <p:nvPr/>
        </p:nvGrpSpPr>
        <p:grpSpPr>
          <a:xfrm>
            <a:off x="300437" y="758328"/>
            <a:ext cx="9436736" cy="584775"/>
            <a:chOff x="582710" y="700015"/>
            <a:chExt cx="7297890" cy="584775"/>
          </a:xfrm>
        </p:grpSpPr>
        <p:sp>
          <p:nvSpPr>
            <p:cNvPr id="13" name="矩形 1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sym typeface="+mn-ea"/>
                </a:rPr>
                <a:t>功能需求：</a:t>
              </a:r>
              <a:r>
                <a:rPr kumimoji="1" lang="zh-CN" altLang="en-US" sz="2000" dirty="0">
                  <a:ln w="15875">
                    <a:solidFill>
                      <a:schemeClr val="accent1"/>
                    </a:solidFill>
                  </a:ln>
                  <a:noFill/>
                  <a:effectLst/>
                  <a:latin typeface="腾讯字体包" panose="02010600010101010101" charset="-128"/>
                  <a:ea typeface="腾讯字体包" panose="02010600010101010101" charset="-128"/>
                  <a:sym typeface="+mn-ea"/>
                </a:rPr>
                <a:t>文本标注子系统</a:t>
              </a:r>
              <a:r>
                <a:rPr kumimoji="1" lang="en-US" altLang="zh-CN" sz="2000" dirty="0">
                  <a:latin typeface="腾讯字体包" panose="02010600010101010101" charset="-128"/>
                  <a:ea typeface="腾讯字体包" panose="02010600010101010101" charset="-128"/>
                  <a:sym typeface="+mn-ea"/>
                </a:rPr>
                <a:t>——(4) </a:t>
              </a:r>
              <a:r>
                <a:rPr kumimoji="1" lang="zh-CN" altLang="en-US" sz="2000" dirty="0">
                  <a:latin typeface="腾讯字体包" panose="02010600010101010101" charset="-128"/>
                  <a:ea typeface="腾讯字体包" panose="02010600010101010101" charset="-128"/>
                  <a:sym typeface="+mn-ea"/>
                </a:rPr>
                <a:t>验收标注数据</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zh-CN" altLang="en-US" sz="2000" dirty="0"/>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 name="表格 1"/>
          <p:cNvGraphicFramePr/>
          <p:nvPr>
            <p:custDataLst>
              <p:tags r:id="rId1"/>
            </p:custDataLst>
          </p:nvPr>
        </p:nvGraphicFramePr>
        <p:xfrm>
          <a:off x="1000125" y="1370330"/>
          <a:ext cx="7707630" cy="4944110"/>
        </p:xfrm>
        <a:graphic>
          <a:graphicData uri="http://schemas.openxmlformats.org/drawingml/2006/table">
            <a:tbl>
              <a:tblPr/>
              <a:tblGrid>
                <a:gridCol w="1406525">
                  <a:extLst>
                    <a:ext uri="{9D8B030D-6E8A-4147-A177-3AD203B41FA5}">
                      <a16:colId xmlns:a16="http://schemas.microsoft.com/office/drawing/2014/main" val="20000"/>
                    </a:ext>
                  </a:extLst>
                </a:gridCol>
                <a:gridCol w="1179195">
                  <a:extLst>
                    <a:ext uri="{9D8B030D-6E8A-4147-A177-3AD203B41FA5}">
                      <a16:colId xmlns:a16="http://schemas.microsoft.com/office/drawing/2014/main" val="20001"/>
                    </a:ext>
                  </a:extLst>
                </a:gridCol>
                <a:gridCol w="5121910">
                  <a:extLst>
                    <a:ext uri="{9D8B030D-6E8A-4147-A177-3AD203B41FA5}">
                      <a16:colId xmlns:a16="http://schemas.microsoft.com/office/drawing/2014/main" val="20002"/>
                    </a:ext>
                  </a:extLst>
                </a:gridCol>
              </a:tblGrid>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用例名</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文档上传</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45085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用例描述</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本用例允许科研人员上传文档到智能文本挖掘系统中，以进行后续的段落定位、实体识别和标注等处理。</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科研人员（主要参与者）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2"/>
                  </a:ext>
                </a:extLst>
              </a:tr>
              <a:tr h="38354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涉众</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系统管理员：负责维护和更新系统。开发者：负责开发和优化智能文本挖掘系统的功能。</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3"/>
                  </a:ext>
                </a:extLst>
              </a:tr>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前置条件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科研人员已经注册并登录到智能文本挖掘系统中。</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4"/>
                  </a:ext>
                </a:extLst>
              </a:tr>
              <a:tr h="304800">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后置条件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文档成功上传至系统，并准备好进行后续的处理和分析。</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r h="304800">
                <a:tc rowSpan="6">
                  <a:txBody>
                    <a:bodyPr/>
                    <a:lstStyle/>
                    <a:p>
                      <a:pPr algn="l">
                        <a:buClrTx/>
                        <a:buSzTx/>
                        <a:buFontTx/>
                        <a:buNone/>
                      </a:pPr>
                      <a:r>
                        <a:rPr lang="en-US" sz="1000" b="0">
                          <a:latin typeface="腾讯字体包" panose="02010600010101010101" charset="-128"/>
                          <a:ea typeface="腾讯字体包" panose="02010600010101010101" charset="-128"/>
                          <a:cs typeface="腾讯字体包" panose="02010600010101010101" charset="-128"/>
                        </a:rPr>
                        <a:t>基本事件流</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Steps</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6"/>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科研人员选择上传文档的功能。</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2</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系统允许科研人员选择文档文件。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1155">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3</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科研人员选择需要上传的文档，并确认上传。</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0995">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4</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腾讯字体包" panose="02010600010101010101" charset="-128"/>
                        </a:rPr>
                        <a:t>系统VALIDATE THAT文档的格式和大小是否符合要求。</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5</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系统保存文档，并准备进行后续处理。</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4800">
                <a:tc rowSpan="3">
                  <a:txBody>
                    <a:bodyPr/>
                    <a:lstStyle/>
                    <a:p>
                      <a:pPr algn="l">
                        <a:buClrTx/>
                        <a:buSzTx/>
                        <a:buFontTx/>
                        <a:buNone/>
                      </a:pPr>
                      <a:r>
                        <a:rPr lang="en-US" sz="1000" b="0">
                          <a:latin typeface="腾讯字体包" panose="02010600010101010101" charset="-128"/>
                          <a:ea typeface="腾讯字体包" panose="02010600010101010101" charset="-128"/>
                          <a:cs typeface="腾讯字体包" panose="02010600010101010101" charset="-128"/>
                        </a:rPr>
                        <a:t>备选事件流</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FontTx/>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RFS Basic Flow </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12"/>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系统展示错误信息，说明原因。</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957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Postcondition</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FontTx/>
                        <a:buNone/>
                      </a:pPr>
                      <a:r>
                        <a:rPr lang="en-US" sz="1000" b="0">
                          <a:latin typeface="腾讯字体包" panose="02010600010101010101" charset="-128"/>
                          <a:ea typeface="腾讯字体包" panose="02010600010101010101" charset="-128"/>
                          <a:cs typeface="宋体" panose="02010600030101010101" pitchFamily="2" charset="-122"/>
                        </a:rPr>
                        <a:t>科研人员可以选择重新上传或取消上传操作。</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11" name="文本框 10"/>
          <p:cNvSpPr txBox="1"/>
          <p:nvPr/>
        </p:nvSpPr>
        <p:spPr>
          <a:xfrm>
            <a:off x="9949815" y="5936615"/>
            <a:ext cx="5080000" cy="275590"/>
          </a:xfrm>
          <a:prstGeom prst="rect">
            <a:avLst/>
          </a:prstGeom>
          <a:noFill/>
          <a:ln w="9525">
            <a:noFill/>
          </a:ln>
        </p:spPr>
        <p:txBody>
          <a:bodyPr>
            <a:spAutoFit/>
          </a:bodyPr>
          <a:lstStyle/>
          <a:p>
            <a:pPr algn="l">
              <a:buClrTx/>
              <a:buSzTx/>
              <a:buFontTx/>
            </a:pPr>
            <a:r>
              <a:rPr lang="en-US" altLang="zh-CN" sz="1200" b="0" dirty="0">
                <a:latin typeface="腾讯字体包" panose="02010600010101010101" charset="-128"/>
                <a:ea typeface="腾讯字体包" panose="02010600010101010101" charset="-128"/>
                <a:cs typeface="腾讯字体包" panose="02010600010101010101" charset="-128"/>
              </a:rPr>
              <a:t>流程图5-</a:t>
            </a:r>
            <a:r>
              <a:rPr lang="en-US" altLang="zh-CN" sz="1200" dirty="0">
                <a:latin typeface="腾讯字体包" panose="02010600010101010101" charset="-128"/>
                <a:ea typeface="腾讯字体包" panose="02010600010101010101" charset="-128"/>
                <a:cs typeface="腾讯字体包" panose="02010600010101010101" charset="-128"/>
                <a:sym typeface="+mn-ea"/>
              </a:rPr>
              <a:t>文档上传</a:t>
            </a:r>
          </a:p>
        </p:txBody>
      </p:sp>
      <p:pic>
        <p:nvPicPr>
          <p:cNvPr id="785527506" name="图片 1"/>
          <p:cNvPicPr>
            <a:picLocks noChangeAspect="1"/>
          </p:cNvPicPr>
          <p:nvPr/>
        </p:nvPicPr>
        <p:blipFill>
          <a:blip r:embed="rId4"/>
          <a:stretch>
            <a:fillRect/>
          </a:stretch>
        </p:blipFill>
        <p:spPr>
          <a:xfrm>
            <a:off x="8851900" y="2038350"/>
            <a:ext cx="3340100" cy="3804285"/>
          </a:xfrm>
          <a:prstGeom prst="rect">
            <a:avLst/>
          </a:prstGeom>
        </p:spPr>
      </p:pic>
      <p:sp>
        <p:nvSpPr>
          <p:cNvPr id="10" name="文本框 9"/>
          <p:cNvSpPr txBox="1"/>
          <p:nvPr/>
        </p:nvSpPr>
        <p:spPr>
          <a:xfrm>
            <a:off x="1886585" y="6612890"/>
            <a:ext cx="5080000" cy="275590"/>
          </a:xfrm>
          <a:prstGeom prst="rect">
            <a:avLst/>
          </a:prstGeom>
          <a:noFill/>
          <a:ln w="9525">
            <a:noFill/>
          </a:ln>
        </p:spPr>
        <p:txBody>
          <a:bodyPr>
            <a:spAutoFit/>
          </a:bodyPr>
          <a:lstStyle/>
          <a:p>
            <a:pPr algn="ctr">
              <a:buClrTx/>
              <a:buSzTx/>
              <a:buFontTx/>
            </a:pPr>
            <a:r>
              <a:rPr lang="en-US" altLang="zh-CN" sz="1200" b="0" dirty="0">
                <a:latin typeface="腾讯字体包" panose="02010600010101010101" charset="-128"/>
                <a:ea typeface="腾讯字体包" panose="02010600010101010101" charset="-128"/>
                <a:cs typeface="腾讯字体包" panose="02010600010101010101" charset="-128"/>
              </a:rPr>
              <a:t>表 5 R</a:t>
            </a:r>
            <a:r>
              <a:rPr lang="en-US" altLang="zh-CN" sz="1200" dirty="0">
                <a:latin typeface="腾讯字体包" panose="02010600010101010101" charset="-128"/>
                <a:ea typeface="腾讯字体包" panose="02010600010101010101" charset="-128"/>
                <a:cs typeface="腾讯字体包" panose="02010600010101010101" charset="-128"/>
              </a:rPr>
              <a:t>UC</a:t>
            </a:r>
            <a:r>
              <a:rPr lang="en-US" altLang="zh-CN" sz="1200" b="0" dirty="0">
                <a:latin typeface="腾讯字体包" panose="02010600010101010101" charset="-128"/>
                <a:ea typeface="腾讯字体包" panose="02010600010101010101" charset="-128"/>
                <a:cs typeface="腾讯字体包" panose="02010600010101010101" charset="-128"/>
              </a:rPr>
              <a:t>M</a:t>
            </a:r>
            <a:r>
              <a:rPr lang="en-US" altLang="zh-CN" sz="1200" dirty="0">
                <a:latin typeface="腾讯字体包" panose="02010600010101010101" charset="-128"/>
                <a:ea typeface="腾讯字体包" panose="02010600010101010101" charset="-128"/>
                <a:cs typeface="腾讯字体包" panose="02010600010101010101" charset="-128"/>
              </a:rPr>
              <a:t>-</a:t>
            </a:r>
            <a:r>
              <a:rPr lang="en-US" altLang="zh-CN" sz="1200" dirty="0">
                <a:latin typeface="腾讯字体包" panose="02010600010101010101" charset="-128"/>
                <a:ea typeface="腾讯字体包" panose="02010600010101010101" charset="-128"/>
                <a:cs typeface="腾讯字体包" panose="02010600010101010101" charset="-128"/>
                <a:sym typeface="+mn-ea"/>
              </a:rPr>
              <a:t>文档上传</a:t>
            </a:r>
          </a:p>
        </p:txBody>
      </p:sp>
      <p:grpSp>
        <p:nvGrpSpPr>
          <p:cNvPr id="12" name="组合 11"/>
          <p:cNvGrpSpPr/>
          <p:nvPr/>
        </p:nvGrpSpPr>
        <p:grpSpPr>
          <a:xfrm>
            <a:off x="300437" y="758328"/>
            <a:ext cx="9436736" cy="584775"/>
            <a:chOff x="582710" y="700015"/>
            <a:chExt cx="7297890" cy="584775"/>
          </a:xfrm>
        </p:grpSpPr>
        <p:sp>
          <p:nvSpPr>
            <p:cNvPr id="13" name="矩形 1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sym typeface="+mn-ea"/>
                </a:rPr>
                <a:t>功能需求：</a:t>
              </a:r>
              <a:r>
                <a:rPr kumimoji="1" lang="zh-CN" altLang="en-US" sz="2000" dirty="0">
                  <a:ln w="15875">
                    <a:solidFill>
                      <a:srgbClr val="F44336"/>
                    </a:solidFill>
                  </a:ln>
                  <a:noFill/>
                  <a:effectLst/>
                  <a:latin typeface="腾讯字体包" panose="02010600010101010101" charset="-128"/>
                  <a:ea typeface="腾讯字体包" panose="02010600010101010101" charset="-128"/>
                  <a:sym typeface="+mn-ea"/>
                </a:rPr>
                <a:t>智能挖掘子系统</a:t>
              </a:r>
              <a:r>
                <a:rPr kumimoji="1" lang="en-US" altLang="zh-CN" sz="2000" dirty="0">
                  <a:latin typeface="腾讯字体包" panose="02010600010101010101" charset="-128"/>
                  <a:ea typeface="腾讯字体包" panose="02010600010101010101" charset="-128"/>
                  <a:sym typeface="+mn-ea"/>
                </a:rPr>
                <a:t>——(1) </a:t>
              </a:r>
              <a:r>
                <a:rPr kumimoji="1" lang="zh-CN" altLang="en-US" sz="2000" dirty="0">
                  <a:latin typeface="腾讯字体包" panose="02010600010101010101" charset="-128"/>
                  <a:ea typeface="腾讯字体包" panose="02010600010101010101" charset="-128"/>
                  <a:sym typeface="+mn-ea"/>
                </a:rPr>
                <a:t>文档上传</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zh-CN" altLang="en-US" sz="2000" dirty="0"/>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nvSpPr>
        <p:spPr>
          <a:xfrm>
            <a:off x="9921240" y="6210935"/>
            <a:ext cx="5080000" cy="275590"/>
          </a:xfrm>
          <a:prstGeom prst="rect">
            <a:avLst/>
          </a:prstGeom>
          <a:noFill/>
          <a:ln w="9525">
            <a:noFill/>
          </a:ln>
        </p:spPr>
        <p:txBody>
          <a:bodyPr>
            <a:spAutoFit/>
          </a:bodyPr>
          <a:lstStyle/>
          <a:p>
            <a:pPr algn="l">
              <a:buClrTx/>
              <a:buSzTx/>
              <a:buFontTx/>
            </a:pPr>
            <a:r>
              <a:rPr lang="en-US" altLang="zh-CN" sz="1200" b="0" dirty="0">
                <a:latin typeface="腾讯字体包" panose="02010600010101010101" charset="-128"/>
                <a:ea typeface="腾讯字体包" panose="02010600010101010101" charset="-128"/>
                <a:cs typeface="腾讯字体包" panose="02010600010101010101" charset="-128"/>
              </a:rPr>
              <a:t>流程图6-</a:t>
            </a:r>
            <a:r>
              <a:rPr lang="en-US" altLang="zh-CN" sz="1200" dirty="0">
                <a:latin typeface="腾讯字体包" panose="02010600010101010101" charset="-128"/>
                <a:ea typeface="腾讯字体包" panose="02010600010101010101" charset="-128"/>
                <a:cs typeface="腾讯字体包" panose="02010600010101010101" charset="-128"/>
                <a:sym typeface="+mn-ea"/>
              </a:rPr>
              <a:t>模型调用</a:t>
            </a:r>
          </a:p>
        </p:txBody>
      </p:sp>
      <p:graphicFrame>
        <p:nvGraphicFramePr>
          <p:cNvPr id="3" name="表格 2"/>
          <p:cNvGraphicFramePr/>
          <p:nvPr>
            <p:custDataLst>
              <p:tags r:id="rId1"/>
            </p:custDataLst>
          </p:nvPr>
        </p:nvGraphicFramePr>
        <p:xfrm>
          <a:off x="799465" y="1252855"/>
          <a:ext cx="8281035" cy="5486400"/>
        </p:xfrm>
        <a:graphic>
          <a:graphicData uri="http://schemas.openxmlformats.org/drawingml/2006/table">
            <a:tbl>
              <a:tblPr/>
              <a:tblGrid>
                <a:gridCol w="1312545">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5936615">
                  <a:extLst>
                    <a:ext uri="{9D8B030D-6E8A-4147-A177-3AD203B41FA5}">
                      <a16:colId xmlns:a16="http://schemas.microsoft.com/office/drawing/2014/main" val="20002"/>
                    </a:ext>
                  </a:extLst>
                </a:gridCol>
              </a:tblGrid>
              <a:tr h="304800">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用例名</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模型调用</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04800">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用例描述</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系统在格式转换完成之后，自动调用预训练的大模型进行实体识别和提取。</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304800">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系统（主要参与者），科研人员（次要参与者）</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2"/>
                  </a:ext>
                </a:extLst>
              </a:tr>
              <a:tr h="457200">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涉众</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科研人员：需要系统对文档进行实体识别和提取。</a:t>
                      </a:r>
                    </a:p>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系统管理员：负责维护和更新实体识别模型。</a:t>
                      </a:r>
                    </a:p>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开发者：负责优化实体识别模型的性能。</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3"/>
                  </a:ext>
                </a:extLst>
              </a:tr>
              <a:tr h="304800">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前置条件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腾讯字体包" panose="02010600010101010101" charset="-128"/>
                        </a:rPr>
                        <a:t>PDF文件已被转换成TXT格式，并已成功上传到系统中。</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4"/>
                  </a:ext>
                </a:extLst>
              </a:tr>
              <a:tr h="304800">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后置条件</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系统完成实体识别，并将识别结果准备好供后续的查看和编辑。</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r h="304800">
                <a:tc rowSpan="8">
                  <a:txBody>
                    <a:bodyPr/>
                    <a:lstStyle/>
                    <a:p>
                      <a:pPr algn="l">
                        <a:buClrTx/>
                        <a:buSzTx/>
                        <a:buNone/>
                      </a:pPr>
                      <a:r>
                        <a:rPr lang="en-US" sz="1000" b="0">
                          <a:latin typeface="腾讯字体包" panose="02010600010101010101" charset="-128"/>
                          <a:ea typeface="腾讯字体包" panose="02010600010101010101" charset="-128"/>
                          <a:cs typeface="腾讯字体包" panose="02010600010101010101" charset="-128"/>
                        </a:rPr>
                        <a:t>基本事件流</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Steps</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6"/>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腾讯字体包" panose="02010600010101010101" charset="-128"/>
                        </a:rPr>
                        <a:t>INCLUDE USE CASE：格式转换（将PDF转换成TXT）。</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2</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腾讯字体包" panose="02010600010101010101" charset="-128"/>
                        </a:rPr>
                        <a:t>系统确认TXT文件准备就绪并可供分析。</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3</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系统自动调用预训练的大模型进行实体识别。</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4</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腾讯字体包" panose="02010600010101010101" charset="-128"/>
                        </a:rPr>
                        <a:t>系统VALIDATE THAT实体识别过程是否顺利完成。</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5</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如果实体识别顺利完成，系统存储识别结果，并将其标记在文本中。</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6</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系统提供实体识别的结果预览给科研人员。</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Postcondition</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科研人员可以查看、编辑和确认实体识别的结果。</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04800">
                <a:tc rowSpan="3">
                  <a:txBody>
                    <a:bodyPr/>
                    <a:lstStyle/>
                    <a:p>
                      <a:pPr algn="l">
                        <a:buClrTx/>
                        <a:buSzTx/>
                        <a:buNone/>
                      </a:pPr>
                      <a:r>
                        <a:rPr lang="en-US" sz="1000" b="0">
                          <a:latin typeface="腾讯字体包" panose="02010600010101010101" charset="-128"/>
                          <a:ea typeface="腾讯字体包" panose="02010600010101010101" charset="-128"/>
                          <a:cs typeface="腾讯字体包" panose="02010600010101010101" charset="-128"/>
                        </a:rPr>
                        <a:t>备选事件流</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p>
                    <a:p>
                      <a:pPr algn="l">
                        <a:buClrTx/>
                        <a:buSzTx/>
                        <a:buNone/>
                      </a:pPr>
                      <a:r>
                        <a:rPr lang="en-US" altLang="zh-CN" sz="1000">
                          <a:latin typeface="腾讯字体包" panose="02010600010101010101" charset="-128"/>
                          <a:ea typeface="腾讯字体包" panose="02010600010101010101" charset="-128"/>
                          <a:cs typeface="腾讯字体包" panose="02010600010101010101" charset="-128"/>
                        </a:rPr>
                        <a:t> </a:t>
                      </a:r>
                      <a:endParaRPr lang="en-US" sz="1000" b="0">
                        <a:latin typeface="腾讯字体包" panose="02010600010101010101" charset="-128"/>
                        <a:ea typeface="腾讯字体包" panose="02010600010101010101" charset="-128"/>
                        <a:cs typeface="腾讯字体包" panose="02010600010101010101" charset="-128"/>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RFS Basic Flow </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14"/>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1</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系统记录错误和问题所在</a:t>
                      </a:r>
                      <a:r>
                        <a:rPr lang="zh-CN" altLang="en-US" sz="1000" b="0">
                          <a:latin typeface="腾讯字体包" panose="02010600010101010101" charset="-128"/>
                          <a:ea typeface="腾讯字体包" panose="02010600010101010101" charset="-128"/>
                          <a:cs typeface="宋体" panose="02010600030101010101" pitchFamily="2" charset="-122"/>
                        </a:rPr>
                        <a:t>并</a:t>
                      </a:r>
                      <a:r>
                        <a:rPr lang="en-US" sz="1000">
                          <a:latin typeface="腾讯字体包" panose="02010600010101010101" charset="-128"/>
                          <a:ea typeface="腾讯字体包" panose="02010600010101010101" charset="-128"/>
                          <a:cs typeface="宋体" panose="02010600030101010101" pitchFamily="2" charset="-122"/>
                          <a:sym typeface="+mn-ea"/>
                        </a:rPr>
                        <a:t>通知科研人员实体识别遇到问题，</a:t>
                      </a:r>
                      <a:endParaRPr lang="en-US" sz="1000" b="0">
                        <a:latin typeface="腾讯字体包" panose="02010600010101010101" charset="-128"/>
                        <a:ea typeface="腾讯字体包" panose="02010600010101010101" charset="-128"/>
                        <a:cs typeface="宋体" panose="02010600030101010101" pitchFamily="2" charset="-122"/>
                      </a:endParaRP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04800">
                <a:tc vMerge="1">
                  <a:txBody>
                    <a:bodyPr/>
                    <a:lstStyle/>
                    <a:p>
                      <a:endParaRPr lang="zh-CN"/>
                    </a:p>
                  </a:txBody>
                  <a:tcPr marL="9525" marR="9525" marT="9525" marB="9525"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Postcondition</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ClrTx/>
                        <a:buSzTx/>
                        <a:buNone/>
                      </a:pPr>
                      <a:r>
                        <a:rPr lang="en-US" sz="1000" b="0">
                          <a:latin typeface="腾讯字体包" panose="02010600010101010101" charset="-128"/>
                          <a:ea typeface="腾讯字体包" panose="02010600010101010101" charset="-128"/>
                          <a:cs typeface="宋体" panose="02010600030101010101" pitchFamily="2" charset="-122"/>
                        </a:rPr>
                        <a:t>系统管理员或开发者分析和解决问题，然后再次尝试实体识别过程。</a:t>
                      </a:r>
                    </a:p>
                  </a:txBody>
                  <a:tcPr marL="76200" marR="76200" marT="76200" marB="762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pic>
        <p:nvPicPr>
          <p:cNvPr id="1486921103" name="图片 1"/>
          <p:cNvPicPr>
            <a:picLocks noChangeAspect="1"/>
          </p:cNvPicPr>
          <p:nvPr/>
        </p:nvPicPr>
        <p:blipFill>
          <a:blip r:embed="rId4"/>
          <a:stretch>
            <a:fillRect/>
          </a:stretch>
        </p:blipFill>
        <p:spPr>
          <a:xfrm>
            <a:off x="9197975" y="1198880"/>
            <a:ext cx="2343785" cy="4908550"/>
          </a:xfrm>
          <a:prstGeom prst="rect">
            <a:avLst/>
          </a:prstGeom>
        </p:spPr>
      </p:pic>
      <p:grpSp>
        <p:nvGrpSpPr>
          <p:cNvPr id="10" name="组合 9"/>
          <p:cNvGrpSpPr/>
          <p:nvPr/>
        </p:nvGrpSpPr>
        <p:grpSpPr>
          <a:xfrm>
            <a:off x="300437" y="758328"/>
            <a:ext cx="9436736" cy="584775"/>
            <a:chOff x="582710" y="700015"/>
            <a:chExt cx="7297890" cy="584775"/>
          </a:xfrm>
        </p:grpSpPr>
        <p:sp>
          <p:nvSpPr>
            <p:cNvPr id="12" name="矩形 11"/>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sym typeface="+mn-ea"/>
                </a:rPr>
                <a:t>功能需求：</a:t>
              </a:r>
              <a:r>
                <a:rPr kumimoji="1" lang="zh-CN" altLang="en-US" sz="2000" dirty="0">
                  <a:ln w="15875">
                    <a:solidFill>
                      <a:srgbClr val="F44336"/>
                    </a:solidFill>
                  </a:ln>
                  <a:noFill/>
                  <a:effectLst/>
                  <a:latin typeface="腾讯字体包" panose="02010600010101010101" charset="-128"/>
                  <a:ea typeface="腾讯字体包" panose="02010600010101010101" charset="-128"/>
                  <a:sym typeface="+mn-ea"/>
                </a:rPr>
                <a:t>智能挖掘子系统</a:t>
              </a:r>
              <a:r>
                <a:rPr kumimoji="1" lang="en-US" altLang="zh-CN" sz="2000" dirty="0">
                  <a:latin typeface="腾讯字体包" panose="02010600010101010101" charset="-128"/>
                  <a:ea typeface="腾讯字体包" panose="02010600010101010101" charset="-128"/>
                  <a:sym typeface="+mn-ea"/>
                </a:rPr>
                <a:t>——(2) </a:t>
              </a:r>
              <a:r>
                <a:rPr kumimoji="1" lang="zh-CN" altLang="en-US" sz="2000" dirty="0">
                  <a:latin typeface="腾讯字体包" panose="02010600010101010101" charset="-128"/>
                  <a:ea typeface="腾讯字体包" panose="02010600010101010101" charset="-128"/>
                  <a:sym typeface="+mn-ea"/>
                </a:rPr>
                <a:t>模型调用</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00437" y="758328"/>
            <a:ext cx="9436736" cy="584775"/>
            <a:chOff x="582710" y="700015"/>
            <a:chExt cx="7297890" cy="584775"/>
          </a:xfrm>
        </p:grpSpPr>
        <p:sp>
          <p:nvSpPr>
            <p:cNvPr id="18" name="矩形 1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676015" y="700015"/>
              <a:ext cx="7204585"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具体需求</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非功能性需求</a:t>
              </a:r>
            </a:p>
          </p:txBody>
        </p:sp>
      </p:grpSp>
      <p:grpSp>
        <p:nvGrpSpPr>
          <p:cNvPr id="5" name="组合 4"/>
          <p:cNvGrpSpPr/>
          <p:nvPr>
            <p:custDataLst>
              <p:tags r:id="rId1"/>
            </p:custDataLst>
          </p:nvPr>
        </p:nvGrpSpPr>
        <p:grpSpPr>
          <a:xfrm>
            <a:off x="898273" y="1440180"/>
            <a:ext cx="10279884" cy="4889500"/>
            <a:chOff x="1025908" y="1358900"/>
            <a:chExt cx="10279884" cy="4889500"/>
          </a:xfrm>
        </p:grpSpPr>
        <p:sp>
          <p:nvSpPr>
            <p:cNvPr id="6" name="矩形 5"/>
            <p:cNvSpPr/>
            <p:nvPr>
              <p:custDataLst>
                <p:tags r:id="rId18"/>
              </p:custDataLst>
            </p:nvPr>
          </p:nvSpPr>
          <p:spPr>
            <a:xfrm>
              <a:off x="1025908" y="13589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7" name="矩形 6"/>
            <p:cNvSpPr/>
            <p:nvPr>
              <p:custDataLst>
                <p:tags r:id="rId19"/>
              </p:custDataLst>
            </p:nvPr>
          </p:nvSpPr>
          <p:spPr>
            <a:xfrm>
              <a:off x="6213092" y="13589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20" name="矩形 19"/>
            <p:cNvSpPr/>
            <p:nvPr>
              <p:custDataLst>
                <p:tags r:id="rId20"/>
              </p:custDataLst>
            </p:nvPr>
          </p:nvSpPr>
          <p:spPr>
            <a:xfrm>
              <a:off x="1025908" y="38481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21" name="矩形 20"/>
            <p:cNvSpPr/>
            <p:nvPr>
              <p:custDataLst>
                <p:tags r:id="rId21"/>
              </p:custDataLst>
            </p:nvPr>
          </p:nvSpPr>
          <p:spPr>
            <a:xfrm>
              <a:off x="6213092" y="3848100"/>
              <a:ext cx="5092700" cy="2400300"/>
            </a:xfrm>
            <a:prstGeom prst="rect">
              <a:avLst/>
            </a:prstGeom>
            <a:noFill/>
            <a:ln w="25400">
              <a:solidFill>
                <a:srgbClr val="BFBFBF"/>
              </a:solidFill>
              <a:prstDash val="solid"/>
              <a:miter/>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grpSp>
      <p:sp>
        <p:nvSpPr>
          <p:cNvPr id="28" name="任意多边形: 形状 14"/>
          <p:cNvSpPr/>
          <p:nvPr>
            <p:custDataLst>
              <p:tags r:id="rId2"/>
            </p:custDataLst>
          </p:nvPr>
        </p:nvSpPr>
        <p:spPr>
          <a:xfrm>
            <a:off x="5306417" y="3151038"/>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lstStyle/>
          <a:p>
            <a:pPr algn="ctr"/>
            <a:endParaRPr lang="zh-CN">
              <a:solidFill>
                <a:schemeClr val="lt1"/>
              </a:solidFill>
              <a:latin typeface="腾讯字体包" panose="02010600010101010101" charset="-128"/>
              <a:ea typeface="腾讯字体包" panose="02010600010101010101" charset="-128"/>
              <a:cs typeface="Times New Roman Regular" panose="02020603050405020304" charset="0"/>
            </a:endParaRPr>
          </a:p>
        </p:txBody>
      </p:sp>
      <p:sp>
        <p:nvSpPr>
          <p:cNvPr id="31" name="任意多边形: 形状 15"/>
          <p:cNvSpPr/>
          <p:nvPr>
            <p:custDataLst>
              <p:tags r:id="rId3"/>
            </p:custDataLst>
          </p:nvPr>
        </p:nvSpPr>
        <p:spPr>
          <a:xfrm flipH="1">
            <a:off x="6085457" y="3151038"/>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2" name="任意多边形: 形状 16"/>
          <p:cNvSpPr/>
          <p:nvPr>
            <p:custDataLst>
              <p:tags r:id="rId4"/>
            </p:custDataLst>
          </p:nvPr>
        </p:nvSpPr>
        <p:spPr>
          <a:xfrm flipV="1">
            <a:off x="5306417" y="3929379"/>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3" name="任意多边形: 形状 17"/>
          <p:cNvSpPr/>
          <p:nvPr>
            <p:custDataLst>
              <p:tags r:id="rId5"/>
            </p:custDataLst>
          </p:nvPr>
        </p:nvSpPr>
        <p:spPr>
          <a:xfrm flipH="1" flipV="1">
            <a:off x="6085457" y="3929379"/>
            <a:ext cx="684556" cy="689443"/>
          </a:xfrm>
          <a:custGeom>
            <a:avLst/>
            <a:gdLst/>
            <a:ahLst/>
            <a:cxnLst/>
            <a:rect l="l" t="t" r="r" b="b"/>
            <a:pathLst>
              <a:path w="684556" h="689443">
                <a:moveTo>
                  <a:pt x="684556" y="0"/>
                </a:moveTo>
                <a:lnTo>
                  <a:pt x="684556" y="689443"/>
                </a:lnTo>
                <a:lnTo>
                  <a:pt x="0" y="689443"/>
                </a:lnTo>
                <a:lnTo>
                  <a:pt x="10478" y="585507"/>
                </a:lnTo>
                <a:cubicBezTo>
                  <a:pt x="74229" y="273962"/>
                  <a:pt x="334748" y="34093"/>
                  <a:pt x="656518" y="1415"/>
                </a:cubicBezTo>
                <a:close/>
              </a:path>
            </a:pathLst>
          </a:custGeom>
          <a:solidFill>
            <a:srgbClr val="3F51B6"/>
          </a:solidFill>
          <a:ln>
            <a:noFill/>
          </a:ln>
        </p:spPr>
        <p:txBody>
          <a:bodyPr anchor="ctr">
            <a:noAutofit/>
          </a:bodyPr>
          <a:lstStyle/>
          <a:p>
            <a:pPr lvl="0" algn="ctr">
              <a:buClrTx/>
              <a:buSzTx/>
              <a:buFontTx/>
            </a:pPr>
            <a:endParaRPr lang="zh-CN">
              <a:solidFill>
                <a:schemeClr val="lt1"/>
              </a:solidFill>
              <a:latin typeface="腾讯字体包" panose="02010600010101010101" charset="-128"/>
              <a:ea typeface="腾讯字体包" panose="02010600010101010101" charset="-128"/>
              <a:cs typeface="Times New Roman Regular" panose="02020603050405020304" charset="0"/>
              <a:sym typeface="+mn-ea"/>
            </a:endParaRPr>
          </a:p>
        </p:txBody>
      </p:sp>
      <p:sp>
        <p:nvSpPr>
          <p:cNvPr id="34" name="文本框 33"/>
          <p:cNvSpPr txBox="1"/>
          <p:nvPr>
            <p:custDataLst>
              <p:tags r:id="rId6"/>
            </p:custDataLst>
          </p:nvPr>
        </p:nvSpPr>
        <p:spPr>
          <a:xfrm>
            <a:off x="5571885" y="3317261"/>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1</a:t>
            </a:r>
          </a:p>
        </p:txBody>
      </p:sp>
      <p:sp>
        <p:nvSpPr>
          <p:cNvPr id="35" name="文本框 34"/>
          <p:cNvSpPr txBox="1"/>
          <p:nvPr>
            <p:custDataLst>
              <p:tags r:id="rId7"/>
            </p:custDataLst>
          </p:nvPr>
        </p:nvSpPr>
        <p:spPr>
          <a:xfrm>
            <a:off x="6205641" y="3317261"/>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2</a:t>
            </a:r>
          </a:p>
        </p:txBody>
      </p:sp>
      <p:sp>
        <p:nvSpPr>
          <p:cNvPr id="36" name="文本框 35"/>
          <p:cNvSpPr txBox="1"/>
          <p:nvPr>
            <p:custDataLst>
              <p:tags r:id="rId8"/>
            </p:custDataLst>
          </p:nvPr>
        </p:nvSpPr>
        <p:spPr>
          <a:xfrm>
            <a:off x="6205641" y="3935728"/>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4</a:t>
            </a:r>
          </a:p>
        </p:txBody>
      </p:sp>
      <p:sp>
        <p:nvSpPr>
          <p:cNvPr id="37" name="文本框 36"/>
          <p:cNvSpPr txBox="1"/>
          <p:nvPr>
            <p:custDataLst>
              <p:tags r:id="rId9"/>
            </p:custDataLst>
          </p:nvPr>
        </p:nvSpPr>
        <p:spPr>
          <a:xfrm>
            <a:off x="5571885" y="3935728"/>
            <a:ext cx="298187" cy="521970"/>
          </a:xfrm>
          <a:prstGeom prst="rect">
            <a:avLst/>
          </a:prstGeom>
          <a:noFill/>
        </p:spPr>
        <p:txBody>
          <a:bodyPr wrap="square">
            <a:spAutoFit/>
          </a:bodyPr>
          <a:lstStyle/>
          <a:p>
            <a:pPr algn="ctr"/>
            <a:r>
              <a:rPr lang="en-US" sz="2800">
                <a:solidFill>
                  <a:schemeClr val="bg1"/>
                </a:solidFill>
                <a:latin typeface="腾讯字体包" panose="02010600010101010101" charset="-128"/>
                <a:ea typeface="腾讯字体包" panose="02010600010101010101" charset="-128"/>
                <a:cs typeface="Times New Roman Regular" panose="02020603050405020304" charset="0"/>
              </a:rPr>
              <a:t>3</a:t>
            </a:r>
          </a:p>
        </p:txBody>
      </p:sp>
      <p:sp>
        <p:nvSpPr>
          <p:cNvPr id="38" name="矩形: 圆角 21"/>
          <p:cNvSpPr/>
          <p:nvPr>
            <p:custDataLst>
              <p:tags r:id="rId10"/>
            </p:custDataLst>
          </p:nvPr>
        </p:nvSpPr>
        <p:spPr>
          <a:xfrm>
            <a:off x="1094506" y="1630472"/>
            <a:ext cx="1875390" cy="439690"/>
          </a:xfrm>
          <a:prstGeom prst="roundRect">
            <a:avLst>
              <a:gd name="adj" fmla="val 50000"/>
            </a:avLst>
          </a:prstGeom>
          <a:solidFill>
            <a:srgbClr val="3F51B6"/>
          </a:solidFill>
          <a:ln w="12700">
            <a:noFill/>
            <a:prstDash val="solid"/>
            <a:miter/>
          </a:ln>
        </p:spPr>
        <p:txBody>
          <a:bodyPr anchor="ctr"/>
          <a:lstStyle/>
          <a:p>
            <a:pPr algn="ct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性能需求</a:t>
            </a:r>
          </a:p>
        </p:txBody>
      </p:sp>
      <p:sp>
        <p:nvSpPr>
          <p:cNvPr id="39" name="矩形: 圆角 25"/>
          <p:cNvSpPr/>
          <p:nvPr>
            <p:custDataLst>
              <p:tags r:id="rId11"/>
            </p:custDataLst>
          </p:nvPr>
        </p:nvSpPr>
        <p:spPr>
          <a:xfrm>
            <a:off x="9105031" y="1630472"/>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交互需求</a:t>
            </a:r>
          </a:p>
        </p:txBody>
      </p:sp>
      <p:sp>
        <p:nvSpPr>
          <p:cNvPr id="40" name="矩形: 圆角 26"/>
          <p:cNvSpPr/>
          <p:nvPr>
            <p:custDataLst>
              <p:tags r:id="rId12"/>
            </p:custDataLst>
          </p:nvPr>
        </p:nvSpPr>
        <p:spPr>
          <a:xfrm>
            <a:off x="1094506" y="4127207"/>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安全性</a:t>
            </a:r>
          </a:p>
        </p:txBody>
      </p:sp>
      <p:sp>
        <p:nvSpPr>
          <p:cNvPr id="41" name="矩形: 圆角 27"/>
          <p:cNvSpPr/>
          <p:nvPr>
            <p:custDataLst>
              <p:tags r:id="rId13"/>
            </p:custDataLst>
          </p:nvPr>
        </p:nvSpPr>
        <p:spPr>
          <a:xfrm>
            <a:off x="9105031" y="4127207"/>
            <a:ext cx="1875390" cy="439690"/>
          </a:xfrm>
          <a:prstGeom prst="roundRect">
            <a:avLst>
              <a:gd name="adj" fmla="val 50000"/>
            </a:avLst>
          </a:prstGeom>
          <a:solidFill>
            <a:srgbClr val="3F51B6"/>
          </a:solidFill>
          <a:ln w="12700">
            <a:noFill/>
            <a:prstDash val="solid"/>
            <a:miter/>
          </a:ln>
        </p:spPr>
        <p:txBody>
          <a:bodyPr anchor="ctr">
            <a:noAutofit/>
          </a:bodyPr>
          <a:lstStyle/>
          <a:p>
            <a:pPr lvl="0" algn="ctr">
              <a:buClrTx/>
              <a:buSzTx/>
              <a:buFontTx/>
            </a:pPr>
            <a:r>
              <a:rPr lang="zh-CN" sz="2000">
                <a:solidFill>
                  <a:schemeClr val="lt1"/>
                </a:solidFill>
                <a:latin typeface="腾讯字体包" panose="02010600010101010101" charset="-128"/>
                <a:ea typeface="腾讯字体包" panose="02010600010101010101" charset="-128"/>
                <a:cs typeface="腾讯字体包" panose="02010600010101010101" charset="-128"/>
                <a:sym typeface="+mn-ea"/>
              </a:rPr>
              <a:t>健壮性</a:t>
            </a:r>
          </a:p>
        </p:txBody>
      </p:sp>
      <p:sp>
        <p:nvSpPr>
          <p:cNvPr id="43" name="文本框 42"/>
          <p:cNvSpPr txBox="1"/>
          <p:nvPr>
            <p:custDataLst>
              <p:tags r:id="rId14"/>
            </p:custDataLst>
          </p:nvPr>
        </p:nvSpPr>
        <p:spPr>
          <a:xfrm>
            <a:off x="910590" y="2165350"/>
            <a:ext cx="4758690" cy="1478915"/>
          </a:xfrm>
          <a:prstGeom prst="rect">
            <a:avLst/>
          </a:prstGeom>
          <a:noFill/>
        </p:spPr>
        <p:txBody>
          <a:bodyPr wrap="square">
            <a:noAutofit/>
          </a:bodyPr>
          <a:lstStyle/>
          <a:p>
            <a:pPr marL="285750" indent="-285750" fontAlgn="auto">
              <a:spcAft>
                <a:spcPts val="600"/>
              </a:spcAft>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响应时间：</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系统对于文本标注任务的响应时间不超过特定秒数，</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fontAlgn="auto">
              <a:spcAft>
                <a:spcPts val="600"/>
              </a:spcAft>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文本标注精度：</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系统在不同类型的文本上都能达到较高的标注精度。</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fontAlgn="auto">
              <a:spcAft>
                <a:spcPts val="600"/>
              </a:spcAft>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文档大小与数量：</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系统能处理不同大小和数量的文档。</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p:txBody>
      </p:sp>
      <p:sp>
        <p:nvSpPr>
          <p:cNvPr id="60" name="文本框 59"/>
          <p:cNvSpPr txBox="1"/>
          <p:nvPr>
            <p:custDataLst>
              <p:tags r:id="rId15"/>
            </p:custDataLst>
          </p:nvPr>
        </p:nvSpPr>
        <p:spPr>
          <a:xfrm>
            <a:off x="6516370" y="2065655"/>
            <a:ext cx="4653915" cy="1753235"/>
          </a:xfrm>
          <a:prstGeom prst="rect">
            <a:avLst/>
          </a:prstGeom>
          <a:noFill/>
        </p:spPr>
        <p:txBody>
          <a:bodyPr wrap="square" rtlCol="0" anchor="t">
            <a:spAutoFit/>
          </a:bodyPr>
          <a:lstStyle/>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易用性：</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系统提供直观、易用的图形化界面，并包含明确的操作提示和新用户指引。</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图形化界面提示：</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系统登陆和注册页面要设计合理，支持密码隐藏功能。</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反馈机制：</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系统提供实时反馈机制。对于异常情况或错误，系统应给出明确的提示和建议，帮助用户快速定位和解决问题。</a:t>
            </a:r>
          </a:p>
        </p:txBody>
      </p:sp>
      <p:sp>
        <p:nvSpPr>
          <p:cNvPr id="62" name="文本框 61"/>
          <p:cNvSpPr txBox="1"/>
          <p:nvPr>
            <p:custDataLst>
              <p:tags r:id="rId16"/>
            </p:custDataLst>
          </p:nvPr>
        </p:nvSpPr>
        <p:spPr>
          <a:xfrm>
            <a:off x="6522720" y="4642485"/>
            <a:ext cx="4624705" cy="1537970"/>
          </a:xfrm>
          <a:prstGeom prst="rect">
            <a:avLst/>
          </a:prstGeom>
          <a:noFill/>
        </p:spPr>
        <p:txBody>
          <a:bodyPr wrap="square" rtlCol="0" anchor="t">
            <a:spAutoFit/>
          </a:bodyPr>
          <a:lstStyle/>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代码风格一致性：</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系统代码要符合统一的编码规范和风格要求。Python统一使用PEP 8规范书写，TypeScript使用ESLint进行风格检查。</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功能模块解耦：</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系统功能模块之间的低耦合和高内聚。</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组件扩展与功能升级：</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系统支持多应用领域的功能可以纵向扩展。</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p:txBody>
      </p:sp>
      <p:sp>
        <p:nvSpPr>
          <p:cNvPr id="63" name="文本框 62"/>
          <p:cNvSpPr txBox="1"/>
          <p:nvPr>
            <p:custDataLst>
              <p:tags r:id="rId17"/>
            </p:custDataLst>
          </p:nvPr>
        </p:nvSpPr>
        <p:spPr>
          <a:xfrm>
            <a:off x="904240" y="4701540"/>
            <a:ext cx="4775200" cy="1537970"/>
          </a:xfrm>
          <a:prstGeom prst="rect">
            <a:avLst/>
          </a:prstGeom>
          <a:noFill/>
        </p:spPr>
        <p:txBody>
          <a:bodyPr wrap="square" rtlCol="0" anchor="t">
            <a:spAutoFit/>
          </a:bodyPr>
          <a:lstStyle/>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用户权限管理：</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系统建立完善的用户权限管理机制，防止未经授权的访问和数据泄露。</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操作日志记录：</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系统记录用户的所有操作日志，以方便对用户操作行为进行监控，保障系统的安全性。</a:t>
            </a:r>
            <a:endPar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endParaRPr>
          </a:p>
          <a:p>
            <a:pPr marL="285750" indent="-285750" algn="l">
              <a:spcAft>
                <a:spcPts val="600"/>
              </a:spcAft>
              <a:buClrTx/>
              <a:buSzTx/>
              <a:buFont typeface="Arial" panose="020B0604020202020204" pitchFamily="34" charset="0"/>
              <a:buChar char="•"/>
            </a:pPr>
            <a:r>
              <a:rPr lang="zh-CN" sz="1400" dirty="0">
                <a:solidFill>
                  <a:srgbClr val="3D5CE8"/>
                </a:solidFill>
                <a:effectLst/>
                <a:latin typeface="腾讯字体包" panose="02010600010101010101" charset="-128"/>
                <a:ea typeface="腾讯字体包" panose="02010600010101010101" charset="-128"/>
                <a:cs typeface="腾讯字体包" panose="02010600010101010101" charset="-128"/>
                <a:sym typeface="+mn-ea"/>
              </a:rPr>
              <a:t>用户信息安全：</a:t>
            </a:r>
            <a:r>
              <a:rPr lang="zh-CN" sz="1400" dirty="0">
                <a:solidFill>
                  <a:srgbClr val="060607"/>
                </a:solidFill>
                <a:effectLst/>
                <a:latin typeface="腾讯字体包" panose="02010600010101010101" charset="-128"/>
                <a:ea typeface="腾讯字体包" panose="02010600010101010101" charset="-128"/>
                <a:cs typeface="腾讯字体包" panose="02010600010101010101" charset="-128"/>
                <a:sym typeface="+mn-ea"/>
              </a:rPr>
              <a:t>系统采取加密存储用户密码、定期更换密码策略等措施。</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96240" y="1473200"/>
            <a:ext cx="3689350" cy="2798445"/>
          </a:xfrm>
          <a:prstGeom prst="rect">
            <a:avLst/>
          </a:prstGeom>
        </p:spPr>
      </p:pic>
      <p:grpSp>
        <p:nvGrpSpPr>
          <p:cNvPr id="10" name="组合 9"/>
          <p:cNvGrpSpPr/>
          <p:nvPr/>
        </p:nvGrpSpPr>
        <p:grpSpPr>
          <a:xfrm>
            <a:off x="287435" y="712715"/>
            <a:ext cx="5289172" cy="572075"/>
            <a:chOff x="582710" y="712715"/>
            <a:chExt cx="5289172" cy="572075"/>
          </a:xfrm>
        </p:grpSpPr>
        <p:sp>
          <p:nvSpPr>
            <p:cNvPr id="11" name="矩形 10"/>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文本框 11"/>
            <p:cNvSpPr txBox="1"/>
            <p:nvPr/>
          </p:nvSpPr>
          <p:spPr>
            <a:xfrm>
              <a:off x="676164" y="712715"/>
              <a:ext cx="5195718"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工作量统计</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week</a:t>
              </a:r>
              <a:r>
                <a:rPr kumimoji="1" lang="en-US" altLang="zh-CN" sz="2800" dirty="0">
                  <a:latin typeface="腾讯字体包" panose="02010600010101010101" charset="-128"/>
                  <a:ea typeface="腾讯字体包" panose="02010600010101010101" charset="-128"/>
                </a:rPr>
                <a:t>3</a:t>
              </a:r>
            </a:p>
          </p:txBody>
        </p:sp>
      </p:grpSp>
      <p:sp>
        <p:nvSpPr>
          <p:cNvPr id="15" name="文本框 14"/>
          <p:cNvSpPr txBox="1"/>
          <p:nvPr/>
        </p:nvSpPr>
        <p:spPr>
          <a:xfrm>
            <a:off x="4227830" y="3390900"/>
            <a:ext cx="2183130" cy="275590"/>
          </a:xfrm>
          <a:prstGeom prst="rect">
            <a:avLst/>
          </a:prstGeom>
          <a:noFill/>
        </p:spPr>
        <p:txBody>
          <a:bodyPr wrap="square" rtlCol="0" anchor="t">
            <a:spAutoFit/>
          </a:bodyPr>
          <a:lstStyle/>
          <a:p>
            <a:r>
              <a:rPr lang="zh-CN" sz="1200" dirty="0">
                <a:latin typeface="腾讯字体包" panose="02010600010101010101" charset="-128"/>
                <a:ea typeface="腾讯字体包" panose="02010600010101010101" charset="-128"/>
                <a:cs typeface="腾讯字体包" panose="02010600010101010101" charset="-128"/>
                <a:sym typeface="+mn-ea"/>
              </a:rPr>
              <a:t>工作</a:t>
            </a:r>
            <a:r>
              <a:rPr lang="zh-CN" altLang="en-US" sz="1200" dirty="0">
                <a:latin typeface="腾讯字体包" panose="02010600010101010101" charset="-128"/>
                <a:ea typeface="腾讯字体包" panose="02010600010101010101" charset="-128"/>
                <a:cs typeface="腾讯字体包" panose="02010600010101010101" charset="-128"/>
                <a:sym typeface="+mn-ea"/>
              </a:rPr>
              <a:t>花费时间分布柱状图</a:t>
            </a:r>
          </a:p>
        </p:txBody>
      </p:sp>
      <p:sp>
        <p:nvSpPr>
          <p:cNvPr id="17" name="文本框 16"/>
          <p:cNvSpPr txBox="1"/>
          <p:nvPr/>
        </p:nvSpPr>
        <p:spPr>
          <a:xfrm>
            <a:off x="4147185" y="1644650"/>
            <a:ext cx="2183130" cy="275590"/>
          </a:xfrm>
          <a:prstGeom prst="rect">
            <a:avLst/>
          </a:prstGeom>
          <a:noFill/>
        </p:spPr>
        <p:txBody>
          <a:bodyPr wrap="square" rtlCol="0" anchor="t">
            <a:spAutoFit/>
          </a:bodyPr>
          <a:lstStyle/>
          <a:p>
            <a:r>
              <a:rPr lang="zh-CN" sz="1200" dirty="0">
                <a:latin typeface="腾讯字体包" panose="02010600010101010101" charset="-128"/>
                <a:ea typeface="腾讯字体包" panose="02010600010101010101" charset="-128"/>
                <a:cs typeface="腾讯字体包" panose="02010600010101010101" charset="-128"/>
                <a:sym typeface="+mn-ea"/>
              </a:rPr>
              <a:t>工作量自评统计</a:t>
            </a:r>
          </a:p>
        </p:txBody>
      </p:sp>
      <p:pic>
        <p:nvPicPr>
          <p:cNvPr id="4" name="图片 3"/>
          <p:cNvPicPr>
            <a:picLocks noChangeAspect="1"/>
          </p:cNvPicPr>
          <p:nvPr/>
        </p:nvPicPr>
        <p:blipFill>
          <a:blip r:embed="rId3"/>
          <a:stretch>
            <a:fillRect/>
          </a:stretch>
        </p:blipFill>
        <p:spPr>
          <a:xfrm>
            <a:off x="728345" y="4339590"/>
            <a:ext cx="2848610" cy="2114550"/>
          </a:xfrm>
          <a:prstGeom prst="rect">
            <a:avLst/>
          </a:prstGeom>
        </p:spPr>
      </p:pic>
      <p:pic>
        <p:nvPicPr>
          <p:cNvPr id="5" name="图片 4"/>
          <p:cNvPicPr>
            <a:picLocks noChangeAspect="1"/>
          </p:cNvPicPr>
          <p:nvPr/>
        </p:nvPicPr>
        <p:blipFill>
          <a:blip r:embed="rId4"/>
          <a:stretch>
            <a:fillRect/>
          </a:stretch>
        </p:blipFill>
        <p:spPr>
          <a:xfrm>
            <a:off x="9098915" y="4531995"/>
            <a:ext cx="2827655" cy="1870710"/>
          </a:xfrm>
          <a:prstGeom prst="rect">
            <a:avLst/>
          </a:prstGeom>
        </p:spPr>
      </p:pic>
      <p:pic>
        <p:nvPicPr>
          <p:cNvPr id="9" name="图片 8"/>
          <p:cNvPicPr>
            <a:picLocks noChangeAspect="1"/>
          </p:cNvPicPr>
          <p:nvPr/>
        </p:nvPicPr>
        <p:blipFill>
          <a:blip r:embed="rId5"/>
          <a:stretch>
            <a:fillRect/>
          </a:stretch>
        </p:blipFill>
        <p:spPr>
          <a:xfrm>
            <a:off x="4147185" y="1920240"/>
            <a:ext cx="6341110" cy="1296670"/>
          </a:xfrm>
          <a:prstGeom prst="rect">
            <a:avLst/>
          </a:prstGeom>
        </p:spPr>
      </p:pic>
      <p:pic>
        <p:nvPicPr>
          <p:cNvPr id="18" name="图片 17"/>
          <p:cNvPicPr>
            <a:picLocks noChangeAspect="1"/>
          </p:cNvPicPr>
          <p:nvPr/>
        </p:nvPicPr>
        <p:blipFill>
          <a:blip r:embed="rId6"/>
          <a:srcRect t="12961"/>
          <a:stretch>
            <a:fillRect/>
          </a:stretch>
        </p:blipFill>
        <p:spPr>
          <a:xfrm>
            <a:off x="4147185" y="3767455"/>
            <a:ext cx="4943475" cy="2635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custDataLst>
              <p:tags r:id="rId1"/>
            </p:custDataLst>
          </p:nvPr>
        </p:nvGraphicFramePr>
        <p:xfrm>
          <a:off x="582930" y="1410970"/>
          <a:ext cx="4556760" cy="4609465"/>
        </p:xfrm>
        <a:graphic>
          <a:graphicData uri="http://schemas.openxmlformats.org/drawingml/2006/table">
            <a:tbl>
              <a:tblPr firstRow="1" bandRow="1">
                <a:tableStyleId>{5C22544A-7EE6-4342-B048-85BDC9FD1C3A}</a:tableStyleId>
              </a:tblPr>
              <a:tblGrid>
                <a:gridCol w="4556760">
                  <a:extLst>
                    <a:ext uri="{9D8B030D-6E8A-4147-A177-3AD203B41FA5}">
                      <a16:colId xmlns:a16="http://schemas.microsoft.com/office/drawing/2014/main" val="20000"/>
                    </a:ext>
                  </a:extLst>
                </a:gridCol>
              </a:tblGrid>
              <a:tr h="536575">
                <a:tc>
                  <a:txBody>
                    <a:bodyPr/>
                    <a:lstStyle/>
                    <a:p>
                      <a:pPr algn="ctr"/>
                      <a:r>
                        <a:rPr lang="zh-CN" altLang="en-US" sz="2800" dirty="0">
                          <a:solidFill>
                            <a:srgbClr val="3F51B6"/>
                          </a:solidFill>
                          <a:latin typeface="腾讯字体包" panose="02010600010101010101" charset="-128"/>
                          <a:ea typeface="腾讯字体包" panose="02010600010101010101" charset="-128"/>
                          <a:cs typeface="腾讯字体包" panose="02010600010101010101" charset="-128"/>
                        </a:rPr>
                        <a:t>已 完 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D5CE8">
                        <a:alpha val="36000"/>
                      </a:srgbClr>
                    </a:solidFill>
                  </a:tcPr>
                </a:tc>
                <a:extLst>
                  <a:ext uri="{0D108BD9-81ED-4DB2-BD59-A6C34878D82A}">
                    <a16:rowId xmlns:a16="http://schemas.microsoft.com/office/drawing/2014/main" val="10000"/>
                  </a:ext>
                </a:extLst>
              </a:tr>
              <a:tr h="4072890">
                <a:tc>
                  <a:txBody>
                    <a:bodyPr/>
                    <a:lstStyle/>
                    <a:p>
                      <a:pPr marL="800100" lvl="1" indent="-342900" algn="l">
                        <a:lnSpc>
                          <a:spcPct val="150000"/>
                        </a:lnSpc>
                        <a:buClrTx/>
                        <a:buSzTx/>
                        <a:buFont typeface="Wingdings" panose="05000000000000000000" charset="0"/>
                        <a:buChar char="Ø"/>
                      </a:pPr>
                      <a:endPar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endParaRP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目标用户分析</a:t>
                      </a: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使用场景分析</a:t>
                      </a: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系统工作流程分析</a:t>
                      </a: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总体需求概述</a:t>
                      </a: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功能性需求概述</a:t>
                      </a: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用户用例图</a:t>
                      </a:r>
                    </a:p>
                    <a:p>
                      <a:pPr marL="800100" lvl="1" indent="-342900" algn="l">
                        <a:lnSpc>
                          <a:spcPct val="150000"/>
                        </a:lnSpc>
                        <a:buClrTx/>
                        <a:buSzTx/>
                        <a:buFont typeface="Wingdings" panose="05000000000000000000" charset="0"/>
                        <a:buChar char="Ø"/>
                      </a:pPr>
                      <a:r>
                        <a:rPr lang="zh-CN" altLang="en-US" sz="1600" dirty="0">
                          <a:solidFill>
                            <a:schemeClr val="tx1"/>
                          </a:solidFill>
                          <a:latin typeface="腾讯字体包" panose="02010600010101010101" charset="-128"/>
                          <a:ea typeface="腾讯字体包" panose="02010600010101010101" charset="-128"/>
                          <a:cs typeface="腾讯字体包" panose="02010600010101010101" charset="-128"/>
                        </a:rPr>
                        <a:t>非功能性需求概述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13" name="组合 12"/>
          <p:cNvGrpSpPr/>
          <p:nvPr/>
        </p:nvGrpSpPr>
        <p:grpSpPr>
          <a:xfrm>
            <a:off x="582710" y="712715"/>
            <a:ext cx="5289172" cy="572075"/>
            <a:chOff x="582710" y="712715"/>
            <a:chExt cx="5289172" cy="572075"/>
          </a:xfrm>
        </p:grpSpPr>
        <p:sp>
          <p:nvSpPr>
            <p:cNvPr id="14" name="矩形 13"/>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5" name="文本框 14"/>
            <p:cNvSpPr txBox="1"/>
            <p:nvPr/>
          </p:nvSpPr>
          <p:spPr>
            <a:xfrm>
              <a:off x="676164" y="712715"/>
              <a:ext cx="5195718"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文档撰写</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进度情况</a:t>
              </a:r>
            </a:p>
          </p:txBody>
        </p:sp>
      </p:grpSp>
      <p:graphicFrame>
        <p:nvGraphicFramePr>
          <p:cNvPr id="10" name="内容占位符 3"/>
          <p:cNvGraphicFramePr>
            <a:graphicFrameLocks noGrp="1"/>
          </p:cNvGraphicFramePr>
          <p:nvPr>
            <p:ph idx="1"/>
            <p:custDataLst>
              <p:tags r:id="rId2"/>
            </p:custDataLst>
          </p:nvPr>
        </p:nvGraphicFramePr>
        <p:xfrm>
          <a:off x="6067425" y="1411844"/>
          <a:ext cx="5625129" cy="4609079"/>
        </p:xfrm>
        <a:graphic>
          <a:graphicData uri="http://schemas.openxmlformats.org/drawingml/2006/table">
            <a:tbl>
              <a:tblPr firstRow="1" bandRow="1">
                <a:tableStyleId>{5C22544A-7EE6-4342-B048-85BDC9FD1C3A}</a:tableStyleId>
              </a:tblPr>
              <a:tblGrid>
                <a:gridCol w="5625129">
                  <a:extLst>
                    <a:ext uri="{9D8B030D-6E8A-4147-A177-3AD203B41FA5}">
                      <a16:colId xmlns:a16="http://schemas.microsoft.com/office/drawing/2014/main" val="20000"/>
                    </a:ext>
                  </a:extLst>
                </a:gridCol>
              </a:tblGrid>
              <a:tr h="47865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dirty="0">
                          <a:solidFill>
                            <a:srgbClr val="3F51B6"/>
                          </a:solidFill>
                          <a:latin typeface="腾讯字体包" panose="02010600010101010101" charset="-128"/>
                          <a:ea typeface="腾讯字体包" panose="02010600010101010101" charset="-128"/>
                          <a:cs typeface="腾讯字体包" panose="02010600010101010101" charset="-128"/>
                        </a:rPr>
                        <a:t>已 完 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D5CE8">
                        <a:alpha val="36000"/>
                      </a:srgbClr>
                    </a:solidFill>
                  </a:tcPr>
                </a:tc>
                <a:extLst>
                  <a:ext uri="{0D108BD9-81ED-4DB2-BD59-A6C34878D82A}">
                    <a16:rowId xmlns:a16="http://schemas.microsoft.com/office/drawing/2014/main" val="10000"/>
                  </a:ext>
                </a:extLst>
              </a:tr>
              <a:tr h="4090919">
                <a:tc>
                  <a:txBody>
                    <a:bodyPr/>
                    <a:lstStyle/>
                    <a:p>
                      <a:endParaRPr lang="zh-CN" altLang="en-US" dirty="0">
                        <a:latin typeface="微软雅黑" panose="020B0503020204020204" charset="-122"/>
                        <a:ea typeface="微软雅黑" panose="020B050302020402020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1" name="文本框 4"/>
          <p:cNvSpPr txBox="1"/>
          <p:nvPr/>
        </p:nvSpPr>
        <p:spPr>
          <a:xfrm>
            <a:off x="6353811" y="1851263"/>
            <a:ext cx="5175458" cy="4387215"/>
          </a:xfrm>
          <a:prstGeom prst="rect">
            <a:avLst/>
          </a:prstGeom>
          <a:noFill/>
        </p:spPr>
        <p:txBody>
          <a:bodyPr wrap="square">
            <a:noAutofit/>
          </a:bodyPr>
          <a:lst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a:lstStyle>
          <a:p>
            <a:pPr marL="342900" indent="-342900">
              <a:lnSpc>
                <a:spcPct val="150000"/>
              </a:lnSpc>
              <a:buFont typeface="Arial" panose="020B0604020202020204" pitchFamily="34" charset="0"/>
              <a:buChar char="•"/>
            </a:pPr>
            <a:r>
              <a:rPr lang="zh-CN" sz="1600" dirty="0">
                <a:latin typeface="腾讯字体包" panose="02010600010101010101" charset="-128"/>
                <a:ea typeface="腾讯字体包" panose="02010600010101010101" charset="-128"/>
                <a:cs typeface="腾讯字体包" panose="02010600010101010101" charset="-128"/>
              </a:rPr>
              <a:t>引言</a:t>
            </a:r>
            <a:endParaRPr lang="en-US" altLang="zh-CN" sz="1600" dirty="0">
              <a:latin typeface="腾讯字体包" panose="02010600010101010101" charset="-128"/>
              <a:ea typeface="腾讯字体包" panose="02010600010101010101" charset="-128"/>
              <a:cs typeface="腾讯字体包" panose="02010600010101010101" charset="-128"/>
            </a:endParaRPr>
          </a:p>
          <a:p>
            <a:pPr marL="800100" lvl="1" indent="-342900">
              <a:lnSpc>
                <a:spcPct val="150000"/>
              </a:lnSpc>
              <a:buFont typeface="Wingdings" panose="05000000000000000000" charset="0"/>
              <a:buChar char="Ø"/>
            </a:pPr>
            <a:r>
              <a:rPr lang="zh-CN" altLang="en-US" sz="1600" dirty="0">
                <a:latin typeface="腾讯字体包" panose="02010600010101010101" charset="-128"/>
                <a:ea typeface="腾讯字体包" panose="02010600010101010101" charset="-128"/>
                <a:cs typeface="腾讯字体包" panose="02010600010101010101" charset="-128"/>
              </a:rPr>
              <a:t>文档说明</a:t>
            </a:r>
            <a:endParaRPr lang="en-US" altLang="zh-CN" sz="1600" dirty="0">
              <a:latin typeface="腾讯字体包" panose="02010600010101010101" charset="-128"/>
              <a:ea typeface="腾讯字体包" panose="02010600010101010101" charset="-128"/>
              <a:cs typeface="腾讯字体包" panose="02010600010101010101" charset="-128"/>
            </a:endParaRPr>
          </a:p>
          <a:p>
            <a:pPr marL="800100" lvl="1" indent="-342900">
              <a:lnSpc>
                <a:spcPct val="150000"/>
              </a:lnSpc>
              <a:buFont typeface="Wingdings" panose="05000000000000000000" charset="0"/>
              <a:buChar char="Ø"/>
            </a:pPr>
            <a:r>
              <a:rPr lang="zh-CN" altLang="en-US" sz="1600" dirty="0">
                <a:latin typeface="腾讯字体包" panose="02010600010101010101" charset="-128"/>
                <a:ea typeface="腾讯字体包" panose="02010600010101010101" charset="-128"/>
                <a:cs typeface="腾讯字体包" panose="02010600010101010101" charset="-128"/>
              </a:rPr>
              <a:t>术语与缩略语</a:t>
            </a:r>
            <a:endParaRPr lang="en-US" sz="1600" dirty="0">
              <a:latin typeface="腾讯字体包" panose="02010600010101010101" charset="-128"/>
              <a:ea typeface="腾讯字体包" panose="02010600010101010101" charset="-128"/>
              <a:cs typeface="腾讯字体包" panose="02010600010101010101" charset="-128"/>
            </a:endParaRPr>
          </a:p>
          <a:p>
            <a:pPr marL="342900" indent="-342900">
              <a:lnSpc>
                <a:spcPct val="150000"/>
              </a:lnSpc>
              <a:buFont typeface="Arial" panose="020B0604020202020204" pitchFamily="34" charset="0"/>
              <a:buChar char="•"/>
            </a:pPr>
            <a:r>
              <a:rPr lang="zh-CN" sz="1600" dirty="0">
                <a:latin typeface="腾讯字体包" panose="02010600010101010101" charset="-128"/>
                <a:ea typeface="腾讯字体包" panose="02010600010101010101" charset="-128"/>
                <a:cs typeface="腾讯字体包" panose="02010600010101010101" charset="-128"/>
              </a:rPr>
              <a:t>总体描述</a:t>
            </a:r>
            <a:endParaRPr lang="en-US" altLang="zh-CN" sz="1600" dirty="0">
              <a:latin typeface="腾讯字体包" panose="02010600010101010101" charset="-128"/>
              <a:ea typeface="腾讯字体包" panose="02010600010101010101" charset="-128"/>
              <a:cs typeface="腾讯字体包" panose="02010600010101010101" charset="-128"/>
            </a:endParaRPr>
          </a:p>
          <a:p>
            <a:pPr marL="800100" lvl="1" indent="-342900" algn="l">
              <a:lnSpc>
                <a:spcPct val="150000"/>
              </a:lnSpc>
              <a:buClrTx/>
              <a:buSzTx/>
              <a:buFont typeface="Wingdings" panose="05000000000000000000" charset="0"/>
              <a:buChar char="Ø"/>
            </a:pPr>
            <a:r>
              <a:rPr lang="zh-CN" altLang="en-US" sz="1600" dirty="0">
                <a:latin typeface="腾讯字体包" panose="02010600010101010101" charset="-128"/>
                <a:ea typeface="腾讯字体包" panose="02010600010101010101" charset="-128"/>
                <a:cs typeface="腾讯字体包" panose="02010600010101010101" charset="-128"/>
              </a:rPr>
              <a:t>进行系统的总体描述</a:t>
            </a:r>
          </a:p>
          <a:p>
            <a:pPr marL="342900" indent="-342900">
              <a:lnSpc>
                <a:spcPct val="150000"/>
              </a:lnSpc>
              <a:buFont typeface="Arial" panose="020B0604020202020204" pitchFamily="34" charset="0"/>
              <a:buChar char="•"/>
            </a:pPr>
            <a:r>
              <a:rPr lang="zh-CN" altLang="en-US" sz="1600" dirty="0">
                <a:latin typeface="腾讯字体包" panose="02010600010101010101" charset="-128"/>
                <a:ea typeface="腾讯字体包" panose="02010600010101010101" charset="-128"/>
                <a:cs typeface="腾讯字体包" panose="02010600010101010101" charset="-128"/>
              </a:rPr>
              <a:t>外部接口需求</a:t>
            </a:r>
            <a:endParaRPr lang="en-US" altLang="zh-CN" sz="1600" dirty="0">
              <a:latin typeface="腾讯字体包" panose="02010600010101010101" charset="-128"/>
              <a:ea typeface="腾讯字体包" panose="02010600010101010101" charset="-128"/>
              <a:cs typeface="腾讯字体包" panose="02010600010101010101" charset="-128"/>
            </a:endParaRPr>
          </a:p>
          <a:p>
            <a:pPr marL="800100" lvl="1" indent="-342900" algn="l">
              <a:lnSpc>
                <a:spcPct val="150000"/>
              </a:lnSpc>
              <a:buClrTx/>
              <a:buSzTx/>
              <a:buFont typeface="Wingdings" panose="05000000000000000000" charset="0"/>
              <a:buChar char="Ø"/>
            </a:pPr>
            <a:r>
              <a:rPr lang="zh-CN" altLang="en-US" sz="1600" dirty="0">
                <a:latin typeface="腾讯字体包" panose="02010600010101010101" charset="-128"/>
                <a:ea typeface="腾讯字体包" panose="02010600010101010101" charset="-128"/>
                <a:cs typeface="腾讯字体包" panose="02010600010101010101" charset="-128"/>
              </a:rPr>
              <a:t>给出软硬件接口定义</a:t>
            </a:r>
          </a:p>
          <a:p>
            <a:pPr marL="342900" indent="-342900">
              <a:lnSpc>
                <a:spcPct val="150000"/>
              </a:lnSpc>
              <a:buFont typeface="Arial" panose="020B0604020202020204" pitchFamily="34" charset="0"/>
              <a:buChar char="•"/>
            </a:pPr>
            <a:r>
              <a:rPr lang="zh-CN" altLang="en-US" sz="1600" dirty="0">
                <a:latin typeface="腾讯字体包" panose="02010600010101010101" charset="-128"/>
                <a:ea typeface="腾讯字体包" panose="02010600010101010101" charset="-128"/>
                <a:cs typeface="腾讯字体包" panose="02010600010101010101" charset="-128"/>
              </a:rPr>
              <a:t>功能性需求</a:t>
            </a:r>
            <a:endParaRPr lang="en-US" altLang="zh-CN" sz="1600" dirty="0">
              <a:latin typeface="腾讯字体包" panose="02010600010101010101" charset="-128"/>
              <a:ea typeface="腾讯字体包" panose="02010600010101010101" charset="-128"/>
              <a:cs typeface="腾讯字体包" panose="02010600010101010101" charset="-128"/>
            </a:endParaRPr>
          </a:p>
          <a:p>
            <a:pPr marL="800100" lvl="1" indent="-342900" algn="l">
              <a:lnSpc>
                <a:spcPct val="150000"/>
              </a:lnSpc>
              <a:buClrTx/>
              <a:buSzTx/>
              <a:buFont typeface="Wingdings" panose="05000000000000000000" charset="0"/>
              <a:buChar char="Ø"/>
            </a:pPr>
            <a:r>
              <a:rPr lang="zh-CN" altLang="en-US" sz="1600" dirty="0">
                <a:latin typeface="腾讯字体包" panose="02010600010101010101" charset="-128"/>
                <a:ea typeface="腾讯字体包" panose="02010600010101010101" charset="-128"/>
                <a:cs typeface="腾讯字体包" panose="02010600010101010101" charset="-128"/>
              </a:rPr>
              <a:t>针对各个功能点给出RUCM表</a:t>
            </a:r>
          </a:p>
          <a:p>
            <a:pPr marL="342900" indent="-342900">
              <a:lnSpc>
                <a:spcPct val="150000"/>
              </a:lnSpc>
              <a:buFont typeface="Arial" panose="020B0604020202020204" pitchFamily="34" charset="0"/>
              <a:buChar char="•"/>
            </a:pPr>
            <a:r>
              <a:rPr lang="zh-CN" altLang="en-US" sz="1600" dirty="0">
                <a:latin typeface="腾讯字体包" panose="02010600010101010101" charset="-128"/>
                <a:ea typeface="腾讯字体包" panose="02010600010101010101" charset="-128"/>
                <a:cs typeface="腾讯字体包" panose="02010600010101010101" charset="-128"/>
              </a:rPr>
              <a:t>非功能性需求</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82710" y="712715"/>
            <a:ext cx="5289172" cy="572075"/>
            <a:chOff x="582710" y="712715"/>
            <a:chExt cx="5289172" cy="572075"/>
          </a:xfrm>
        </p:grpSpPr>
        <p:sp>
          <p:nvSpPr>
            <p:cNvPr id="5" name="矩形 4"/>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6" name="文本框 5"/>
            <p:cNvSpPr txBox="1"/>
            <p:nvPr/>
          </p:nvSpPr>
          <p:spPr>
            <a:xfrm>
              <a:off x="676164" y="712715"/>
              <a:ext cx="5195718"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文档撰写</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具体分工</a:t>
              </a:r>
            </a:p>
          </p:txBody>
        </p:sp>
      </p:grpSp>
      <p:graphicFrame>
        <p:nvGraphicFramePr>
          <p:cNvPr id="8" name="Google Shape;392;p50"/>
          <p:cNvGraphicFramePr/>
          <p:nvPr>
            <p:extLst>
              <p:ext uri="{D42A27DB-BD31-4B8C-83A1-F6EECF244321}">
                <p14:modId xmlns:p14="http://schemas.microsoft.com/office/powerpoint/2010/main" val="3288942978"/>
              </p:ext>
            </p:extLst>
          </p:nvPr>
        </p:nvGraphicFramePr>
        <p:xfrm>
          <a:off x="1440622" y="1622853"/>
          <a:ext cx="9487521" cy="3245970"/>
        </p:xfrm>
        <a:graphic>
          <a:graphicData uri="http://schemas.openxmlformats.org/drawingml/2006/table">
            <a:tbl>
              <a:tblPr>
                <a:noFill/>
                <a:effectLst>
                  <a:outerShdw blurRad="50800" dist="38100" dir="2700000" algn="tl" rotWithShape="0">
                    <a:prstClr val="black">
                      <a:alpha val="40000"/>
                    </a:prstClr>
                  </a:outerShdw>
                </a:effectLst>
              </a:tblPr>
              <a:tblGrid>
                <a:gridCol w="1583923">
                  <a:extLst>
                    <a:ext uri="{9D8B030D-6E8A-4147-A177-3AD203B41FA5}">
                      <a16:colId xmlns:a16="http://schemas.microsoft.com/office/drawing/2014/main" val="20000"/>
                    </a:ext>
                  </a:extLst>
                </a:gridCol>
                <a:gridCol w="2721935">
                  <a:extLst>
                    <a:ext uri="{9D8B030D-6E8A-4147-A177-3AD203B41FA5}">
                      <a16:colId xmlns:a16="http://schemas.microsoft.com/office/drawing/2014/main" val="20001"/>
                    </a:ext>
                  </a:extLst>
                </a:gridCol>
                <a:gridCol w="5181663">
                  <a:extLst>
                    <a:ext uri="{9D8B030D-6E8A-4147-A177-3AD203B41FA5}">
                      <a16:colId xmlns:a16="http://schemas.microsoft.com/office/drawing/2014/main" val="20002"/>
                    </a:ext>
                  </a:extLst>
                </a:gridCol>
              </a:tblGrid>
              <a:tr h="461350">
                <a:tc gridSpan="2">
                  <a:txBody>
                    <a:bodyPr/>
                    <a:lstStyle/>
                    <a:p>
                      <a:pPr marL="0" lvl="0" indent="0" algn="ctr" rtl="0">
                        <a:lnSpc>
                          <a:spcPct val="115000"/>
                        </a:lnSpc>
                        <a:spcBef>
                          <a:spcPts val="0"/>
                        </a:spcBef>
                        <a:spcAft>
                          <a:spcPts val="0"/>
                        </a:spcAft>
                        <a:buNone/>
                      </a:pPr>
                      <a:r>
                        <a:rPr lang="zh-CN" sz="2000" b="1" dirty="0">
                          <a:solidFill>
                            <a:schemeClr val="tx1"/>
                          </a:solidFill>
                          <a:latin typeface="腾讯字体包" panose="02010600010101010101" charset="-128"/>
                          <a:ea typeface="腾讯字体包" panose="02010600010101010101" charset="-128"/>
                          <a:cs typeface="Montserrat"/>
                          <a:sym typeface="Montserrat"/>
                        </a:rPr>
                        <a:t>任务名称</a:t>
                      </a:r>
                    </a:p>
                  </a:txBody>
                  <a:tcPr marL="91425" marR="91425" marT="91425" marB="91425" anchor="ctr">
                    <a:solidFill>
                      <a:srgbClr val="3D5CE8">
                        <a:alpha val="36000"/>
                      </a:srgbClr>
                    </a:solidFill>
                  </a:tcPr>
                </a:tc>
                <a:tc hMerge="1">
                  <a:txBody>
                    <a:bodyPr/>
                    <a:lstStyle/>
                    <a:p>
                      <a:endParaRPr lang="zh-CN"/>
                    </a:p>
                  </a:txBody>
                  <a:tcPr/>
                </a:tc>
                <a:tc>
                  <a:txBody>
                    <a:bodyPr/>
                    <a:lstStyle/>
                    <a:p>
                      <a:pPr marL="0" lvl="0" indent="0" algn="ctr" rtl="0">
                        <a:lnSpc>
                          <a:spcPct val="115000"/>
                        </a:lnSpc>
                        <a:spcBef>
                          <a:spcPts val="0"/>
                        </a:spcBef>
                        <a:spcAft>
                          <a:spcPts val="0"/>
                        </a:spcAft>
                        <a:buNone/>
                      </a:pPr>
                      <a:r>
                        <a:rPr lang="zh-CN" sz="2000" b="1" dirty="0">
                          <a:solidFill>
                            <a:schemeClr val="tx1"/>
                          </a:solidFill>
                          <a:latin typeface="腾讯字体包" panose="02010600010101010101" charset="-128"/>
                          <a:ea typeface="腾讯字体包" panose="02010600010101010101" charset="-128"/>
                          <a:cs typeface="Montserrat"/>
                          <a:sym typeface="Montserrat"/>
                        </a:rPr>
                        <a:t>负责人</a:t>
                      </a:r>
                    </a:p>
                  </a:txBody>
                  <a:tcPr marL="91425" marR="91425" marT="91425" marB="91425" anchor="ctr">
                    <a:solidFill>
                      <a:srgbClr val="3D5CE8">
                        <a:alpha val="36000"/>
                      </a:srgbClr>
                    </a:solidFill>
                  </a:tcPr>
                </a:tc>
                <a:extLst>
                  <a:ext uri="{0D108BD9-81ED-4DB2-BD59-A6C34878D82A}">
                    <a16:rowId xmlns:a16="http://schemas.microsoft.com/office/drawing/2014/main" val="10000"/>
                  </a:ext>
                </a:extLst>
              </a:tr>
              <a:tr h="553293">
                <a:tc rowSpan="5">
                  <a:txBody>
                    <a:bodyPr/>
                    <a:lstStyle/>
                    <a:p>
                      <a:pPr marL="0" lvl="0" indent="0" algn="ctr" rtl="0">
                        <a:lnSpc>
                          <a:spcPct val="115000"/>
                        </a:lnSpc>
                        <a:spcBef>
                          <a:spcPts val="0"/>
                        </a:spcBef>
                        <a:spcAft>
                          <a:spcPts val="0"/>
                        </a:spcAft>
                        <a:buNone/>
                      </a:pPr>
                      <a:r>
                        <a:rPr lang="zh-CN" sz="1800">
                          <a:solidFill>
                            <a:schemeClr val="tx1"/>
                          </a:solidFill>
                          <a:latin typeface="腾讯字体包" panose="02010600010101010101" charset="-128"/>
                          <a:ea typeface="腾讯字体包" panose="02010600010101010101" charset="-128"/>
                          <a:cs typeface="Montserrat"/>
                          <a:sym typeface="Montserrat"/>
                        </a:rPr>
                        <a:t>文档撰写</a:t>
                      </a:r>
                    </a:p>
                  </a:txBody>
                  <a:tcPr marL="91425" marR="91425" marT="91425" marB="91425" anchor="ct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引言</a:t>
                      </a:r>
                    </a:p>
                  </a:txBody>
                  <a:tcPr marL="91425" marR="91425" marT="91425" marB="91425" anchor="ct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孙烨 </a:t>
                      </a:r>
                    </a:p>
                  </a:txBody>
                  <a:tcPr marL="91425" marR="91425" marT="91425" marB="91425" anchor="ctr"/>
                </a:tc>
                <a:extLst>
                  <a:ext uri="{0D108BD9-81ED-4DB2-BD59-A6C34878D82A}">
                    <a16:rowId xmlns:a16="http://schemas.microsoft.com/office/drawing/2014/main" val="10001"/>
                  </a:ext>
                </a:extLst>
              </a:tr>
              <a:tr h="553293">
                <a:tc vMerge="1">
                  <a:txBody>
                    <a:bodyPr/>
                    <a:lstStyle/>
                    <a:p>
                      <a:endParaRPr lang="zh-CN"/>
                    </a:p>
                  </a:txBody>
                  <a:tcP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总体描述</a:t>
                      </a:r>
                    </a:p>
                  </a:txBody>
                  <a:tcPr marL="91425" marR="91425" marT="91425" marB="91425" anchor="ct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孙烨、郭鑫、刘顺博、曾祥华</a:t>
                      </a:r>
                    </a:p>
                  </a:txBody>
                  <a:tcPr marL="91425" marR="91425" marT="91425" marB="91425" anchor="ctr"/>
                </a:tc>
                <a:extLst>
                  <a:ext uri="{0D108BD9-81ED-4DB2-BD59-A6C34878D82A}">
                    <a16:rowId xmlns:a16="http://schemas.microsoft.com/office/drawing/2014/main" val="10002"/>
                  </a:ext>
                </a:extLst>
              </a:tr>
              <a:tr h="553293">
                <a:tc vMerge="1">
                  <a:txBody>
                    <a:bodyPr/>
                    <a:lstStyle/>
                    <a:p>
                      <a:endParaRPr lang="zh-CN"/>
                    </a:p>
                  </a:txBody>
                  <a:tcP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外部接口需求</a:t>
                      </a:r>
                    </a:p>
                  </a:txBody>
                  <a:tcPr marL="91425" marR="91425" marT="91425" marB="91425" anchor="ctr"/>
                </a:tc>
                <a:tc>
                  <a:txBody>
                    <a:bodyPr/>
                    <a:lstStyle/>
                    <a:p>
                      <a:pPr marL="0" marR="0" lvl="0" indent="0" algn="ctr" defTabSz="914400" rtl="0" eaLnBrk="1" fontAlgn="auto" latinLnBrk="0" hangingPunct="1">
                        <a:lnSpc>
                          <a:spcPct val="115000"/>
                        </a:lnSpc>
                        <a:spcBef>
                          <a:spcPts val="0"/>
                        </a:spcBef>
                        <a:spcAft>
                          <a:spcPts val="0"/>
                        </a:spcAft>
                        <a:buClrTx/>
                        <a:buSzTx/>
                        <a:buFontTx/>
                        <a:buNone/>
                        <a:defRPr/>
                      </a:pPr>
                      <a:r>
                        <a:rPr lang="zh-CN" altLang="en-US" sz="1800" dirty="0">
                          <a:solidFill>
                            <a:schemeClr val="tx1"/>
                          </a:solidFill>
                          <a:latin typeface="腾讯字体包" panose="02010600010101010101" charset="-128"/>
                          <a:ea typeface="腾讯字体包" panose="02010600010101010101" charset="-128"/>
                          <a:cs typeface="Montserrat"/>
                          <a:sym typeface="Montserrat"/>
                        </a:rPr>
                        <a:t>苏丁力</a:t>
                      </a:r>
                    </a:p>
                  </a:txBody>
                  <a:tcPr marL="91425" marR="91425" marT="91425" marB="91425" anchor="ctr"/>
                </a:tc>
                <a:extLst>
                  <a:ext uri="{0D108BD9-81ED-4DB2-BD59-A6C34878D82A}">
                    <a16:rowId xmlns:a16="http://schemas.microsoft.com/office/drawing/2014/main" val="10003"/>
                  </a:ext>
                </a:extLst>
              </a:tr>
              <a:tr h="525145">
                <a:tc vMerge="1">
                  <a:txBody>
                    <a:bodyPr/>
                    <a:lstStyle/>
                    <a:p>
                      <a:endParaRPr lang="zh-CN"/>
                    </a:p>
                  </a:txBody>
                  <a:tcP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功能性需求</a:t>
                      </a:r>
                    </a:p>
                  </a:txBody>
                  <a:tcPr marL="91425" marR="91425" marT="91425" marB="91425" anchor="ctr"/>
                </a:tc>
                <a:tc>
                  <a:txBody>
                    <a:bodyPr/>
                    <a:lstStyle/>
                    <a:p>
                      <a:pPr marL="0" marR="0" lvl="0" indent="0" algn="ctr" defTabSz="914400" rtl="0" eaLnBrk="1" fontAlgn="auto" latinLnBrk="0" hangingPunct="1">
                        <a:lnSpc>
                          <a:spcPct val="115000"/>
                        </a:lnSpc>
                        <a:spcBef>
                          <a:spcPts val="0"/>
                        </a:spcBef>
                        <a:spcAft>
                          <a:spcPts val="0"/>
                        </a:spcAft>
                        <a:buClrTx/>
                        <a:buSzTx/>
                        <a:buFontTx/>
                        <a:buNone/>
                        <a:defRPr/>
                      </a:pPr>
                      <a:r>
                        <a:rPr lang="zh-CN" altLang="en-US" sz="1800" dirty="0">
                          <a:solidFill>
                            <a:schemeClr val="tx1"/>
                          </a:solidFill>
                          <a:latin typeface="腾讯字体包" panose="02010600010101010101" charset="-128"/>
                          <a:ea typeface="腾讯字体包" panose="02010600010101010101" charset="-128"/>
                          <a:cs typeface="Montserrat"/>
                          <a:sym typeface="Montserrat"/>
                        </a:rPr>
                        <a:t>刘顺博、魏家龙 、</a:t>
                      </a:r>
                      <a:r>
                        <a:rPr lang="zh-CN" altLang="en-US" sz="1800" dirty="0">
                          <a:latin typeface="腾讯字体包" panose="02010600010101010101" charset="-128"/>
                          <a:ea typeface="腾讯字体包" panose="02010600010101010101" charset="-128"/>
                        </a:rPr>
                        <a:t>张宸恺、窦建玲</a:t>
                      </a:r>
                    </a:p>
                  </a:txBody>
                  <a:tcPr marL="91425" marR="91425" marT="91425" marB="91425" anchor="ctr"/>
                </a:tc>
                <a:extLst>
                  <a:ext uri="{0D108BD9-81ED-4DB2-BD59-A6C34878D82A}">
                    <a16:rowId xmlns:a16="http://schemas.microsoft.com/office/drawing/2014/main" val="10004"/>
                  </a:ext>
                </a:extLst>
              </a:tr>
              <a:tr h="553293">
                <a:tc vMerge="1">
                  <a:txBody>
                    <a:bodyPr/>
                    <a:lstStyle/>
                    <a:p>
                      <a:endParaRPr lang="zh-CN"/>
                    </a:p>
                  </a:txBody>
                  <a:tcPr/>
                </a:tc>
                <a:tc>
                  <a:txBody>
                    <a:bodyPr/>
                    <a:lstStyle/>
                    <a:p>
                      <a:pPr marL="0" lvl="0" indent="0" algn="ctr" rtl="0">
                        <a:lnSpc>
                          <a:spcPct val="115000"/>
                        </a:lnSpc>
                        <a:spcBef>
                          <a:spcPts val="0"/>
                        </a:spcBef>
                        <a:spcAft>
                          <a:spcPts val="0"/>
                        </a:spcAft>
                        <a:buNone/>
                      </a:pPr>
                      <a:r>
                        <a:rPr lang="zh-CN" sz="1800" dirty="0">
                          <a:solidFill>
                            <a:schemeClr val="tx1"/>
                          </a:solidFill>
                          <a:latin typeface="腾讯字体包" panose="02010600010101010101" charset="-128"/>
                          <a:ea typeface="腾讯字体包" panose="02010600010101010101" charset="-128"/>
                          <a:cs typeface="Montserrat"/>
                          <a:sym typeface="Montserrat"/>
                        </a:rPr>
                        <a:t>非功能</a:t>
                      </a:r>
                      <a:r>
                        <a:rPr lang="zh-CN" altLang="en-US" sz="1800" dirty="0">
                          <a:solidFill>
                            <a:schemeClr val="tx1"/>
                          </a:solidFill>
                          <a:latin typeface="腾讯字体包" panose="02010600010101010101" charset="-128"/>
                          <a:ea typeface="腾讯字体包" panose="02010600010101010101" charset="-128"/>
                          <a:cs typeface="Montserrat"/>
                          <a:sym typeface="Montserrat"/>
                        </a:rPr>
                        <a:t>性</a:t>
                      </a:r>
                      <a:r>
                        <a:rPr lang="zh-CN" sz="1800" dirty="0">
                          <a:solidFill>
                            <a:schemeClr val="tx1"/>
                          </a:solidFill>
                          <a:latin typeface="腾讯字体包" panose="02010600010101010101" charset="-128"/>
                          <a:ea typeface="腾讯字体包" panose="02010600010101010101" charset="-128"/>
                          <a:cs typeface="Montserrat"/>
                          <a:sym typeface="Montserrat"/>
                        </a:rPr>
                        <a:t>需求</a:t>
                      </a:r>
                      <a:endParaRPr sz="1800" dirty="0">
                        <a:solidFill>
                          <a:schemeClr val="tx1"/>
                        </a:solidFill>
                        <a:latin typeface="腾讯字体包" panose="02010600010101010101" charset="-128"/>
                        <a:ea typeface="腾讯字体包" panose="02010600010101010101" charset="-128"/>
                        <a:cs typeface="Montserrat"/>
                        <a:sym typeface="Montserrat"/>
                      </a:endParaRPr>
                    </a:p>
                  </a:txBody>
                  <a:tcPr marL="91425" marR="91425" marT="91425" marB="91425" anchor="ctr"/>
                </a:tc>
                <a:tc>
                  <a:txBody>
                    <a:bodyPr/>
                    <a:lstStyle/>
                    <a:p>
                      <a:pPr marL="0" lvl="0" indent="0" algn="ctr" rtl="0">
                        <a:lnSpc>
                          <a:spcPct val="115000"/>
                        </a:lnSpc>
                        <a:spcBef>
                          <a:spcPts val="0"/>
                        </a:spcBef>
                        <a:spcAft>
                          <a:spcPts val="0"/>
                        </a:spcAft>
                        <a:buNone/>
                      </a:pPr>
                      <a:r>
                        <a:rPr lang="zh-CN" altLang="en-US" sz="1800" dirty="0">
                          <a:solidFill>
                            <a:schemeClr val="tx1"/>
                          </a:solidFill>
                          <a:latin typeface="腾讯字体包" panose="02010600010101010101" charset="-128"/>
                          <a:ea typeface="腾讯字体包" panose="02010600010101010101" charset="-128"/>
                          <a:cs typeface="Montserrat"/>
                          <a:sym typeface="Montserrat"/>
                        </a:rPr>
                        <a:t>侯越</a:t>
                      </a:r>
                    </a:p>
                  </a:txBody>
                  <a:tcPr marL="91425" marR="91425" marT="91425" marB="914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82710" y="712715"/>
            <a:ext cx="5289172" cy="572075"/>
            <a:chOff x="582710" y="712715"/>
            <a:chExt cx="5289172" cy="572075"/>
          </a:xfrm>
        </p:grpSpPr>
        <p:sp>
          <p:nvSpPr>
            <p:cNvPr id="6" name="矩形 5"/>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文本框 6"/>
            <p:cNvSpPr txBox="1"/>
            <p:nvPr/>
          </p:nvSpPr>
          <p:spPr>
            <a:xfrm>
              <a:off x="676164" y="712715"/>
              <a:ext cx="5195718"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文档撰写</a:t>
              </a:r>
              <a:r>
                <a:rPr kumimoji="1" lang="en-US" altLang="zh-CN" sz="2800" dirty="0">
                  <a:latin typeface="腾讯字体包" panose="02010600010101010101" charset="-128"/>
                  <a:ea typeface="腾讯字体包" panose="02010600010101010101" charset="-128"/>
                </a:rPr>
                <a:t>——</a:t>
              </a:r>
              <a:r>
                <a:rPr kumimoji="1" lang="zh-CN" altLang="en-US" sz="2800" dirty="0">
                  <a:latin typeface="腾讯字体包" panose="02010600010101010101" charset="-128"/>
                  <a:ea typeface="腾讯字体包" panose="02010600010101010101" charset="-128"/>
                </a:rPr>
                <a:t>具体分工</a:t>
              </a:r>
            </a:p>
          </p:txBody>
        </p:sp>
      </p:grpSp>
      <p:pic>
        <p:nvPicPr>
          <p:cNvPr id="10" name="图片 9"/>
          <p:cNvPicPr>
            <a:picLocks noChangeAspect="1"/>
          </p:cNvPicPr>
          <p:nvPr/>
        </p:nvPicPr>
        <p:blipFill>
          <a:blip r:embed="rId2"/>
          <a:stretch>
            <a:fillRect/>
          </a:stretch>
        </p:blipFill>
        <p:spPr>
          <a:xfrm>
            <a:off x="1496695" y="1285240"/>
            <a:ext cx="2842895" cy="5006340"/>
          </a:xfrm>
          <a:prstGeom prst="rect">
            <a:avLst/>
          </a:prstGeom>
        </p:spPr>
      </p:pic>
      <p:pic>
        <p:nvPicPr>
          <p:cNvPr id="12" name="图片 11"/>
          <p:cNvPicPr>
            <a:picLocks noChangeAspect="1"/>
          </p:cNvPicPr>
          <p:nvPr/>
        </p:nvPicPr>
        <p:blipFill>
          <a:blip r:embed="rId3"/>
          <a:stretch>
            <a:fillRect/>
          </a:stretch>
        </p:blipFill>
        <p:spPr>
          <a:xfrm>
            <a:off x="5086985" y="2058035"/>
            <a:ext cx="3956050" cy="41522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401240"/>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344691" y="3730563"/>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charset="-122"/>
              <a:cs typeface="汉仪君黑-45简" panose="020B0604020202020204" charset="-122"/>
            </a:endParaRPr>
          </a:p>
        </p:txBody>
      </p:sp>
      <p:sp>
        <p:nvSpPr>
          <p:cNvPr id="28" name="文本框 27"/>
          <p:cNvSpPr txBox="1"/>
          <p:nvPr/>
        </p:nvSpPr>
        <p:spPr>
          <a:xfrm>
            <a:off x="4561436" y="3771724"/>
            <a:ext cx="2455394" cy="368300"/>
          </a:xfrm>
          <a:prstGeom prst="rect">
            <a:avLst/>
          </a:prstGeom>
          <a:noFill/>
        </p:spPr>
        <p:txBody>
          <a:bodyPr wrap="square" rtlCol="0">
            <a:spAutoFit/>
          </a:bodyPr>
          <a:lstStyle/>
          <a:p>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汇报人：软件工程</a:t>
            </a:r>
            <a:r>
              <a:rPr lang="en-US" altLang="zh-CN" dirty="0">
                <a:solidFill>
                  <a:schemeClr val="bg1"/>
                </a:solidFill>
                <a:latin typeface="腾讯字体包" panose="02010600010101010101" charset="-128"/>
                <a:ea typeface="腾讯字体包" panose="02010600010101010101" charset="-128"/>
                <a:cs typeface="腾讯字体包" panose="02010600010101010101" charset="-128"/>
              </a:rPr>
              <a:t>A</a:t>
            </a:r>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组 </a:t>
            </a:r>
            <a:endParaRPr lang="en-US" altLang="zh-CN" dirty="0">
              <a:solidFill>
                <a:schemeClr val="bg1"/>
              </a:solidFill>
              <a:latin typeface="腾讯字体包" panose="02010600010101010101" charset="-128"/>
              <a:ea typeface="腾讯字体包" panose="02010600010101010101" charset="-128"/>
              <a:cs typeface="腾讯字体包" panose="02010600010101010101" charset="-128"/>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5197551"/>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233299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005BAC"/>
                </a:solidFill>
                <a:latin typeface="腾讯字体包" panose="02010600010101010101" charset="-128"/>
                <a:ea typeface="腾讯字体包" panose="02010600010101010101" charset="-128"/>
              </a:rPr>
              <a:t>请老师批评指正！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I2ODY4Mjc4MzcyZTA5OTVjNTdkOWI5NWI5OTQ2NzM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408*338"/>
  <p:tag name="TABLE_ENDDRAG_RECT" val="553*48*408*338"/>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8.3298425196851,&quot;left&quot;:101.73330708661415,&quot;top&quot;:145.0500787401575,&quot;width&quot;:713.0000000000002}"/>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8.3298425196851,&quot;left&quot;:101.73330708661415,&quot;top&quot;:145.0500787401575,&quot;width&quot;:713.000000000000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09.4396850393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09.3,&quot;left&quot;:70.73015748031496,&quot;top&quot;:113.4,&quot;width&quot;:821.119842519685}"/>
</p:tagLst>
</file>

<file path=ppt/tags/tag73.xml><?xml version="1.0" encoding="utf-8"?>
<p:tagLst xmlns:a="http://schemas.openxmlformats.org/drawingml/2006/main" xmlns:r="http://schemas.openxmlformats.org/officeDocument/2006/relationships" xmlns:p="http://schemas.openxmlformats.org/presentationml/2006/main">
  <p:tag name="TABLE_ENDDRAG_ORIGIN_RECT" val="435*386"/>
  <p:tag name="TABLE_ENDDRAG_RECT" val="117*116*435*386"/>
</p:tagLst>
</file>

<file path=ppt/tags/tag74.xml><?xml version="1.0" encoding="utf-8"?>
<p:tagLst xmlns:a="http://schemas.openxmlformats.org/drawingml/2006/main" xmlns:r="http://schemas.openxmlformats.org/officeDocument/2006/relationships" xmlns:p="http://schemas.openxmlformats.org/presentationml/2006/main">
  <p:tag name="TABLE_ENDDRAG_ORIGIN_RECT" val="455*381"/>
  <p:tag name="TABLE_ENDDRAG_RECT" val="167*204*455*381"/>
</p:tagLst>
</file>

<file path=ppt/tags/tag75.xml><?xml version="1.0" encoding="utf-8"?>
<p:tagLst xmlns:a="http://schemas.openxmlformats.org/drawingml/2006/main" xmlns:r="http://schemas.openxmlformats.org/officeDocument/2006/relationships" xmlns:p="http://schemas.openxmlformats.org/presentationml/2006/main">
  <p:tag name="TABLE_ENDDRAG_ORIGIN_RECT" val="476*372"/>
  <p:tag name="TABLE_ENDDRAG_RECT" val="85*114*476*372"/>
</p:tagLst>
</file>

<file path=ppt/tags/tag76.xml><?xml version="1.0" encoding="utf-8"?>
<p:tagLst xmlns:a="http://schemas.openxmlformats.org/drawingml/2006/main" xmlns:r="http://schemas.openxmlformats.org/officeDocument/2006/relationships" xmlns:p="http://schemas.openxmlformats.org/presentationml/2006/main">
  <p:tag name="TABLE_ENDDRAG_ORIGIN_RECT" val="471*386"/>
  <p:tag name="TABLE_ENDDRAG_RECT" val="81*117*471*386"/>
</p:tagLst>
</file>

<file path=ppt/tags/tag77.xml><?xml version="1.0" encoding="utf-8"?>
<p:tagLst xmlns:a="http://schemas.openxmlformats.org/drawingml/2006/main" xmlns:r="http://schemas.openxmlformats.org/officeDocument/2006/relationships" xmlns:p="http://schemas.openxmlformats.org/presentationml/2006/main">
  <p:tag name="TABLE_ENDDRAG_ORIGIN_RECT" val="606*408"/>
  <p:tag name="TABLE_ENDDRAG_RECT" val="78*104*606*408"/>
</p:tagLst>
</file>

<file path=ppt/tags/tag78.xml><?xml version="1.0" encoding="utf-8"?>
<p:tagLst xmlns:a="http://schemas.openxmlformats.org/drawingml/2006/main" xmlns:r="http://schemas.openxmlformats.org/officeDocument/2006/relationships" xmlns:p="http://schemas.openxmlformats.org/presentationml/2006/main">
  <p:tag name="TABLE_ENDDRAG_ORIGIN_RECT" val="652*409"/>
  <p:tag name="TABLE_ENDDRAG_RECT" val="77*143*652*409"/>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96.25,&quot;left&quot;:70.73015748031496,&quot;top&quot;:113.4,&quot;width&quot;:811.319842519685}"/>
</p:tagLst>
</file>

<file path=ppt/tags/tag100.xml><?xml version="1.0" encoding="utf-8"?>
<p:tagLst xmlns:a="http://schemas.openxmlformats.org/drawingml/2006/main" xmlns:r="http://schemas.openxmlformats.org/officeDocument/2006/relationships" xmlns:p="http://schemas.openxmlformats.org/presentationml/2006/main">
  <p:tag name="TABLE_ENDDRAG_ORIGIN_RECT" val="358*362"/>
  <p:tag name="TABLE_ENDDRAG_RECT" val="45*111*358*362"/>
</p:tagLst>
</file>

<file path=ppt/tags/tag101.xml><?xml version="1.0" encoding="utf-8"?>
<p:tagLst xmlns:a="http://schemas.openxmlformats.org/drawingml/2006/main" xmlns:r="http://schemas.openxmlformats.org/officeDocument/2006/relationships" xmlns:p="http://schemas.openxmlformats.org/presentationml/2006/main">
  <p:tag name="TABLE_ENDDRAG_ORIGIN_RECT" val="785*405"/>
  <p:tag name="TABLE_ENDDRAG_RECT" val="66*110*785*4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2438</Words>
  <Application>Microsoft Office PowerPoint</Application>
  <PresentationFormat>宽屏</PresentationFormat>
  <Paragraphs>463</Paragraphs>
  <Slides>20</Slides>
  <Notes>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30" baseType="lpstr">
      <vt:lpstr>Times New Roman</vt:lpstr>
      <vt:lpstr>微软雅黑</vt:lpstr>
      <vt:lpstr>等线</vt:lpstr>
      <vt:lpstr>Wingdings</vt:lpstr>
      <vt:lpstr>汉仪君黑-45简</vt:lpstr>
      <vt:lpstr>Arial</vt:lpstr>
      <vt:lpstr>腾讯字体包</vt:lpstr>
      <vt:lpstr>等线 Light</vt:lpstr>
      <vt:lpstr>Office 主题​​</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面向CI的自动评测系统</dc:title>
  <dc:creator>周雨飞</dc:creator>
  <cp:lastModifiedBy>jl d</cp:lastModifiedBy>
  <cp:revision>27</cp:revision>
  <dcterms:created xsi:type="dcterms:W3CDTF">2024-03-21T11:14:00Z</dcterms:created>
  <dcterms:modified xsi:type="dcterms:W3CDTF">2024-03-29T03:47:45Z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079F26B6A7DB40C78D9F27C1CC767289_13</vt:lpwstr>
  </property>
  <property fmtid="{D5CDD505-2E9C-101B-9397-08002B2CF9AE}" pid="3" name="KSOProductBuildVer">
    <vt:lpwstr>2052-12.1.0.16417</vt:lpwstr>
  </property>
</Properties>
</file>