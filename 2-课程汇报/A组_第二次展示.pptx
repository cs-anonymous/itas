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92" r:id="rId3"/>
    <p:sldId id="266" r:id="rId4"/>
    <p:sldId id="262" r:id="rId5"/>
    <p:sldId id="270" r:id="rId6"/>
    <p:sldId id="307" r:id="rId7"/>
    <p:sldId id="293" r:id="rId8"/>
    <p:sldId id="294" r:id="rId9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</p:sldIdLst>
  <p:sldSz cx="12192000" cy="6858000" type="screen4x3"/>
  <p:notesSz cx="6858000" cy="9144000"/>
  <p:embeddedFontLst>
    <p:embeddedFont>
      <p:font typeface="腾讯字体包" panose="02010600010101010101" charset="-128"/>
      <p:regular r:id="rId23"/>
    </p:embeddedFont>
    <p:embeddedFont>
      <p:font typeface="等线" panose="02010600030101010101" charset="-122"/>
      <p:regular r:id="rId24"/>
    </p:embeddedFont>
    <p:embeddedFont>
      <p:font typeface="等线 Light" panose="02010600030101010101" charset="-122"/>
      <p:regular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4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潘 叙辰" initials="潘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F51B6"/>
    <a:srgbClr val="3D5CE8"/>
    <a:srgbClr val="FFC107"/>
    <a:srgbClr val="F44336"/>
    <a:srgbClr val="035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 autoAdjust="0"/>
    <p:restoredTop sz="89774" autoAdjust="0"/>
  </p:normalViewPr>
  <p:slideViewPr>
    <p:cSldViewPr snapToGrid="0" snapToObjects="1" showGuides="1">
      <p:cViewPr>
        <p:scale>
          <a:sx n="66" d="100"/>
          <a:sy n="66" d="100"/>
        </p:scale>
        <p:origin x="1500" y="612"/>
      </p:cViewPr>
      <p:guideLst>
        <p:guide orient="horz" pos="2204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9.xml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7A47B-A0D5-DA41-900D-8BC3EE7823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3DA-7079-E949-9421-E14B70A684E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允许用户选择已有离线模型，和自定义领域给定数据训练的</a:t>
            </a:r>
            <a:r>
              <a:rPr lang="zh-CN" altLang="en-US"/>
              <a:t>在线模型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6966DED7-2298-EF44-BC75-CCD61101EBF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-13323"/>
            <a:ext cx="12192000" cy="610481"/>
          </a:xfrm>
          <a:prstGeom prst="rect">
            <a:avLst/>
          </a:prstGeom>
          <a:solidFill>
            <a:srgbClr val="3F51B6"/>
          </a:solidFill>
          <a:ln>
            <a:solidFill>
              <a:srgbClr val="3F5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标题占位符 1"/>
          <p:cNvSpPr/>
          <p:nvPr>
            <p:ph type="title"/>
          </p:nvPr>
        </p:nvSpPr>
        <p:spPr>
          <a:xfrm>
            <a:off x="838200" y="787078"/>
            <a:ext cx="10515600" cy="903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11074077" y="6492875"/>
            <a:ext cx="11063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198AB-6873-054A-AB06-26C5505BAFA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9556828" y="6492874"/>
            <a:ext cx="15056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11563109" y="96654"/>
            <a:ext cx="617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pPr algn="ctr"/>
            <a:fld id="{6966DED7-2298-EF44-BC75-CCD61101EBFF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14" name="Picture 4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8" y="21714"/>
            <a:ext cx="2977333" cy="56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620647" y="991340"/>
            <a:ext cx="7490619" cy="0"/>
          </a:xfrm>
          <a:prstGeom prst="line">
            <a:avLst/>
          </a:prstGeom>
          <a:ln w="19050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249894" y="756499"/>
            <a:ext cx="0" cy="3816888"/>
          </a:xfrm>
          <a:prstGeom prst="line">
            <a:avLst/>
          </a:prstGeom>
          <a:ln w="19050" cmpd="sng">
            <a:solidFill>
              <a:schemeClr val="accent5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411972" y="5086915"/>
            <a:ext cx="6254002" cy="0"/>
          </a:xfrm>
          <a:prstGeom prst="line">
            <a:avLst/>
          </a:prstGeom>
          <a:ln w="15875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1095703" y="2853976"/>
            <a:ext cx="0" cy="3642258"/>
          </a:xfrm>
          <a:prstGeom prst="line">
            <a:avLst/>
          </a:prstGeom>
          <a:ln w="19050" cmpd="sng">
            <a:solidFill>
              <a:schemeClr val="accent5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>
          <a:xfrm>
            <a:off x="3576920" y="3840434"/>
            <a:ext cx="5136774" cy="45165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09599" y="3879601"/>
            <a:ext cx="43808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汇报人：软件工程</a:t>
            </a:r>
            <a:r>
              <a:rPr lang="en-US" altLang="zh-CN" dirty="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组 </a:t>
            </a:r>
            <a:endParaRPr lang="en-US" altLang="zh-CN" dirty="0">
              <a:solidFill>
                <a:schemeClr val="bg1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1048355" y="1220494"/>
            <a:ext cx="7490619" cy="0"/>
          </a:xfrm>
          <a:prstGeom prst="line">
            <a:avLst/>
          </a:prstGeom>
          <a:ln w="15875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096540" y="4883226"/>
            <a:ext cx="6254002" cy="0"/>
          </a:xfrm>
          <a:prstGeom prst="line">
            <a:avLst/>
          </a:prstGeom>
          <a:ln w="19050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21995" y="2332990"/>
            <a:ext cx="10745470" cy="1108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rgbClr val="005BAC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智能文本标注系统（</a:t>
            </a:r>
            <a:r>
              <a:rPr lang="en-US" altLang="zh-CN" sz="4800" b="1" dirty="0">
                <a:solidFill>
                  <a:srgbClr val="005BAC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ITAS</a:t>
            </a:r>
            <a:r>
              <a:rPr lang="zh-CN" altLang="en-US" sz="4800" b="1" dirty="0">
                <a:solidFill>
                  <a:srgbClr val="005BAC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）</a:t>
            </a:r>
            <a:endParaRPr lang="zh-CN" altLang="en-US" sz="4800" b="1" dirty="0">
              <a:solidFill>
                <a:srgbClr val="005BAC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pic>
        <p:nvPicPr>
          <p:cNvPr id="3" name="图片 2" descr="图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340" y="546735"/>
            <a:ext cx="1899285" cy="1899285"/>
          </a:xfrm>
          <a:prstGeom prst="rect">
            <a:avLst/>
          </a:prstGeom>
        </p:spPr>
      </p:pic>
      <p:sp>
        <p:nvSpPr>
          <p:cNvPr id="121" name="TextBox 27"/>
          <p:cNvSpPr txBox="1"/>
          <p:nvPr/>
        </p:nvSpPr>
        <p:spPr>
          <a:xfrm>
            <a:off x="1478280" y="5165725"/>
            <a:ext cx="8943975" cy="1337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 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孙烨-BY2306093 </a:t>
            </a:r>
            <a:r>
              <a:rPr i="0" kern="1200" spc="0" baseline="0"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 苏丁力-BY2306092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  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曾祥华-BY2206062</a:t>
            </a:r>
            <a:r>
              <a:rPr i="0" kern="1200" spc="0" baseline="0"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</a:t>
            </a:r>
            <a:endParaRPr dirty="0">
              <a:solidFill>
                <a:srgbClr val="0070C0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ctr">
              <a:lnSpc>
                <a:spcPct val="150000"/>
              </a:lnSpc>
            </a:pPr>
            <a:r>
              <a:rPr i="0" kern="1200" spc="0" baseline="0"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侯越-BY2306087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    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郭鑫-BY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2306085</a:t>
            </a:r>
            <a:r>
              <a:rPr i="0" kern="1200" spc="0" baseline="0"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  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魏家龙-BY2306095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</a:t>
            </a:r>
            <a:endParaRPr dirty="0">
              <a:solidFill>
                <a:srgbClr val="0070C0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ctr">
              <a:lnSpc>
                <a:spcPct val="150000"/>
              </a:lnSpc>
            </a:pP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刘顺博-SY2306133</a:t>
            </a:r>
            <a:r>
              <a:rPr i="0" kern="1200" spc="0" baseline="0"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窦建玲-ZY2306321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  </a:t>
            </a:r>
            <a:r>
              <a:rPr dirty="0">
                <a:solidFill>
                  <a:srgbClr val="0070C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张宸恺-ZY2306342</a:t>
            </a:r>
            <a:endParaRPr i="0" kern="1200" spc="0" baseline="0" dirty="0">
              <a:solidFill>
                <a:srgbClr val="0070C0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内容占位符 4"/>
          <p:cNvSpPr/>
          <p:nvPr>
            <p:ph idx="1"/>
          </p:nvPr>
        </p:nvSpPr>
        <p:spPr>
          <a:xfrm>
            <a:off x="582930" y="1454785"/>
            <a:ext cx="7091680" cy="5173345"/>
          </a:xfrm>
        </p:spPr>
        <p:txBody>
          <a:bodyPr>
            <a:normAutofit lnSpcReduction="10000"/>
          </a:bodyPr>
          <a:p>
            <a:pPr marL="0" algn="l">
              <a:lnSpc>
                <a:spcPct val="125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2220" dirty="0">
                <a:solidFill>
                  <a:srgbClr val="3F51B6"/>
                </a:solidFill>
                <a:effectLst/>
                <a:uFillTx/>
                <a:latin typeface="腾讯字体包" panose="02010600010101010101" charset="-128"/>
                <a:ea typeface="腾讯字体包" panose="02010600010101010101" charset="-128"/>
              </a:rPr>
              <a:t>项目背景</a:t>
            </a:r>
            <a:endParaRPr lang="zh-CN" altLang="en-US" sz="2220" dirty="0">
              <a:solidFill>
                <a:srgbClr val="3F51B6"/>
              </a:solidFill>
              <a:effectLst/>
              <a:uFillTx/>
              <a:latin typeface="腾讯字体包" panose="02010600010101010101" charset="-128"/>
              <a:ea typeface="腾讯字体包" panose="02010600010101010101" charset="-128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  <a:buChar char="•"/>
            </a:pP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研究人员依赖于大量的文献资料来获取新的知识和数据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  <a:buChar char="•"/>
            </a:pP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文献（通常是PDF）难以直接进行标注与提取，手动耗时又易错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  <a:buChar char="•"/>
            </a:pP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第三方工具有标签无法定制、位置无法保存、质量不可控等问题</a:t>
            </a:r>
            <a:endParaRPr lang="zh-CN" altLang="en-US" sz="1600" dirty="0">
              <a:solidFill>
                <a:srgbClr val="0D0D0D"/>
              </a:solidFill>
              <a:effectLst/>
              <a:uFillTx/>
              <a:latin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2220" dirty="0">
                <a:solidFill>
                  <a:srgbClr val="3F51B6"/>
                </a:solidFill>
                <a:effectLst/>
                <a:uFillTx/>
                <a:latin typeface="腾讯字体包" panose="02010600010101010101" charset="-128"/>
                <a:ea typeface="腾讯字体包" panose="02010600010101010101" charset="-128"/>
              </a:rPr>
              <a:t>项目目标：可扩展多领域智能文本标注与挖掘系统</a:t>
            </a:r>
            <a:endParaRPr lang="zh-CN" altLang="en-US" sz="2400" dirty="0">
              <a:solidFill>
                <a:srgbClr val="0D0D0D"/>
              </a:solidFill>
              <a:effectLst/>
              <a:uFillTx/>
              <a:latin typeface="Times New Roman" panose="02020603050405020304" charset="0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  <a:buChar char="•"/>
            </a:pP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协助进行多个专业领域科学文献段落和实体的标注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  <a:buChar char="•"/>
            </a:pP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能够自动化提取和挖掘预设定义的关键信息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2220" dirty="0">
                <a:solidFill>
                  <a:srgbClr val="3F51B6"/>
                </a:solidFill>
                <a:effectLst/>
                <a:uFillTx/>
                <a:latin typeface="腾讯字体包" panose="02010600010101010101" charset="-128"/>
                <a:ea typeface="腾讯字体包" panose="02010600010101010101" charset="-128"/>
              </a:rPr>
              <a:t>已有基础：稀土催化材料文本标注工作区</a:t>
            </a:r>
            <a:endParaRPr lang="zh-CN" altLang="en-US" sz="2400" dirty="0">
              <a:solidFill>
                <a:srgbClr val="0D0D0D"/>
              </a:solidFill>
              <a:effectLst/>
              <a:uFillTx/>
              <a:latin typeface="Times New Roman" panose="02020603050405020304" charset="0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</a:pP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仅有文献展示与标注，数据导出功能，限制在稀土催化材料领域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</a:pP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待开发需求：可扩展多领域的标注，多人协作项目管理与配置，账号权限管理，模型训练和智能挖掘，预设共享与社区协作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</a:pP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从底层完全重构系统，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仅使用文献展示与标注模块代码</a:t>
            </a:r>
            <a:endParaRPr lang="zh-CN" altLang="en-US" sz="1600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82710" y="712715"/>
            <a:ext cx="11527790" cy="572075"/>
            <a:chOff x="582710" y="712715"/>
            <a:chExt cx="11527790" cy="572075"/>
          </a:xfrm>
        </p:grpSpPr>
        <p:sp>
          <p:nvSpPr>
            <p:cNvPr id="17" name="矩形 16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76055" y="712715"/>
              <a:ext cx="1143444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系统需求-项目简述</a:t>
              </a:r>
              <a:endParaRPr lang="zh-CN" altLang="en-US" sz="3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pic>
        <p:nvPicPr>
          <p:cNvPr id="11" name="图片 10" descr="upload_post_object_v2_14951267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0987" y="3498763"/>
            <a:ext cx="4469514" cy="3241112"/>
          </a:xfrm>
          <a:prstGeom prst="rect">
            <a:avLst/>
          </a:prstGeom>
        </p:spPr>
      </p:pic>
      <p:pic>
        <p:nvPicPr>
          <p:cNvPr id="12" name="图片 11" descr="upload_post_object_v2_1379730781"/>
          <p:cNvPicPr>
            <a:picLocks noChangeAspect="1"/>
          </p:cNvPicPr>
          <p:nvPr/>
        </p:nvPicPr>
        <p:blipFill>
          <a:blip r:embed="rId2"/>
          <a:srcRect l="34826"/>
          <a:stretch>
            <a:fillRect/>
          </a:stretch>
        </p:blipFill>
        <p:spPr>
          <a:xfrm>
            <a:off x="6970652" y="717966"/>
            <a:ext cx="5189775" cy="1343025"/>
          </a:xfrm>
          <a:prstGeom prst="rect">
            <a:avLst/>
          </a:prstGeom>
        </p:spPr>
      </p:pic>
      <p:pic>
        <p:nvPicPr>
          <p:cNvPr id="13" name="图片 12" descr="upload_post_object_v2_10852370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374" y="1973525"/>
            <a:ext cx="3098090" cy="15252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>
            <p:ph idx="1"/>
          </p:nvPr>
        </p:nvSpPr>
        <p:spPr>
          <a:xfrm>
            <a:off x="582930" y="1684655"/>
            <a:ext cx="11022330" cy="4785360"/>
          </a:xfrm>
        </p:spPr>
        <p:txBody>
          <a:bodyPr>
            <a:normAutofit/>
          </a:bodyPr>
          <a:lstStyle/>
          <a:p>
            <a:pPr marL="0" algn="l">
              <a:lnSpc>
                <a:spcPct val="125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2220" dirty="0">
                <a:solidFill>
                  <a:srgbClr val="3F51B6"/>
                </a:solidFill>
                <a:effectLst/>
                <a:uFillTx/>
                <a:latin typeface="腾讯字体包" panose="02010600010101010101" charset="-128"/>
                <a:ea typeface="腾讯字体包" panose="02010600010101010101" charset="-128"/>
              </a:rPr>
              <a:t>稀土催化材料领域</a:t>
            </a:r>
            <a:endParaRPr lang="zh-CN" altLang="en-US" sz="2220" dirty="0">
              <a:solidFill>
                <a:srgbClr val="0D0D0D"/>
              </a:solidFill>
              <a:effectLst/>
              <a:uFillTx/>
              <a:latin typeface="腾讯字体包" panose="02010600010101010101" charset="-128"/>
              <a:ea typeface="腾讯字体包" panose="02010600010101010101" charset="-128"/>
            </a:endParaRPr>
          </a:p>
          <a:p>
            <a:pPr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用例: 从科学文献中自动创建数据库。</a:t>
            </a:r>
            <a:endParaRPr lang="zh-CN" altLang="en-US" sz="14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需求: 提取和注释学术论文中的合成参数、化学化合物和过程描述。</a:t>
            </a:r>
            <a:endParaRPr lang="zh-CN" altLang="en-US" sz="14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示例: ITAS扫描一篇关于稀土催化剂的论文，自动提取如温度设置、化学反应和等数据，</a:t>
            </a:r>
            <a:endParaRPr lang="zh-CN" altLang="en-US" sz="14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0"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可以用于自动填充到一个结构化的数据库中。</a:t>
            </a:r>
            <a:endParaRPr lang="zh-CN" altLang="en-US" sz="1400" dirty="0">
              <a:solidFill>
                <a:srgbClr val="0D0D0D"/>
              </a:solidFill>
              <a:effectLst/>
              <a:uFillTx/>
              <a:latin typeface="Times New Roman" panose="02020603050405020304" charset="0"/>
            </a:endParaRPr>
          </a:p>
          <a:p>
            <a:pPr marL="0" algn="l">
              <a:lnSpc>
                <a:spcPct val="125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2220" dirty="0">
                <a:solidFill>
                  <a:srgbClr val="3F51B6"/>
                </a:solidFill>
                <a:effectLst/>
                <a:uFillTx/>
                <a:latin typeface="腾讯字体包" panose="02010600010101010101" charset="-128"/>
                <a:ea typeface="腾讯字体包" panose="02010600010101010101" charset="-128"/>
              </a:rPr>
              <a:t>图书馆学领域</a:t>
            </a:r>
            <a:endParaRPr lang="zh-CN" altLang="en-US" sz="2220" dirty="0">
              <a:solidFill>
                <a:srgbClr val="3F51B6"/>
              </a:solidFill>
              <a:effectLst/>
              <a:uFillTx/>
              <a:latin typeface="腾讯字体包" panose="02010600010101010101" charset="-128"/>
              <a:ea typeface="腾讯字体包" panose="02010600010101010101" charset="-128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用例: 数字图书馆文献元数据管理。</a:t>
            </a:r>
            <a:endParaRPr lang="zh-CN" altLang="en-US" sz="14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需求: 自动识别和处理图书馆数字化资料的元数据，如作者、出版年份、摘要等。</a:t>
            </a:r>
            <a:endParaRPr lang="zh-CN" altLang="en-US" sz="14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示例: ITAS分析数字化文档，自动提取并标注作者信息、出版时间及关键主题摘要，简化元数据管理流程。</a:t>
            </a:r>
            <a:endParaRPr lang="zh-CN" altLang="en-US" sz="1400" dirty="0">
              <a:solidFill>
                <a:srgbClr val="0D0D0D"/>
              </a:solidFill>
              <a:effectLst/>
              <a:uFillTx/>
              <a:latin typeface="腾讯字体包" panose="02010600010101010101" charset="-128"/>
              <a:ea typeface="腾讯字体包" panose="02010600010101010101" charset="-128"/>
            </a:endParaRPr>
          </a:p>
          <a:p>
            <a:pPr marL="0" algn="l">
              <a:lnSpc>
                <a:spcPct val="125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2220" dirty="0">
                <a:solidFill>
                  <a:srgbClr val="3F51B6"/>
                </a:solidFill>
                <a:effectLst/>
                <a:uFillTx/>
                <a:latin typeface="腾讯字体包" panose="02010600010101010101" charset="-128"/>
                <a:ea typeface="腾讯字体包" panose="02010600010101010101" charset="-128"/>
              </a:rPr>
              <a:t>生物医药科学领域</a:t>
            </a:r>
            <a:endParaRPr lang="zh-CN" altLang="en-US" sz="2220" dirty="0">
              <a:solidFill>
                <a:srgbClr val="3F51B6"/>
              </a:solidFill>
              <a:effectLst/>
              <a:uFillTx/>
              <a:latin typeface="腾讯字体包" panose="02010600010101010101" charset="-128"/>
              <a:ea typeface="腾讯字体包" panose="02010600010101010101" charset="-128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用例: 研究文献中的疾病-基因关联分析。</a:t>
            </a:r>
            <a:endParaRPr lang="zh-CN" altLang="en-US" sz="14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需求: 精准标注研究文献中涉及的疾病和相关基因信息。</a:t>
            </a:r>
            <a:endParaRPr lang="zh-CN" altLang="en-US" sz="14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示例: ITAS分析一篇关于心脏病的研究论文，识别并标注所有提及的相关基因及其与心脏病的关联，支持后续的数据分析和研究工作。</a:t>
            </a:r>
            <a:endParaRPr lang="zh-CN" altLang="en-US" sz="14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82710" y="712715"/>
            <a:ext cx="11527790" cy="922020"/>
            <a:chOff x="582710" y="712715"/>
            <a:chExt cx="11527790" cy="922020"/>
          </a:xfrm>
        </p:grpSpPr>
        <p:sp>
          <p:nvSpPr>
            <p:cNvPr id="17" name="矩形 16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76055" y="712715"/>
              <a:ext cx="11434445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dirty="0">
                  <a:latin typeface="腾讯字体包" panose="02010600010101010101" charset="-128"/>
                  <a:ea typeface="腾讯字体包" panose="02010600010101010101" charset="-128"/>
                  <a:cs typeface="+mn-cs"/>
                </a:rPr>
                <a:t>ITAS在多学科领域的应用案例分析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R="0" lvl="0" indent="0" algn="l" defTabSz="914400" rtl="0" fontAlgn="auto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dirty="0">
                  <a:effectLst/>
                  <a:latin typeface="腾讯字体包" panose="02010600010101010101" charset="-128"/>
                  <a:ea typeface="腾讯字体包" panose="02010600010101010101" charset="-128"/>
                  <a:cs typeface="腾讯字体包" panose="02010600010101010101" charset="-128"/>
                </a:rPr>
                <a:t>拟覆盖以下领域应用，并支持扩展到其他领域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78"/>
          <a:stretch>
            <a:fillRect/>
          </a:stretch>
        </p:blipFill>
        <p:spPr>
          <a:xfrm>
            <a:off x="6468745" y="1567180"/>
            <a:ext cx="5438775" cy="7054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55596" t="478" r="3349" b="57799"/>
          <a:stretch>
            <a:fillRect/>
          </a:stretch>
        </p:blipFill>
        <p:spPr>
          <a:xfrm>
            <a:off x="7820025" y="2718435"/>
            <a:ext cx="3636645" cy="1658620"/>
          </a:xfrm>
          <a:prstGeom prst="rect">
            <a:avLst/>
          </a:prstGeom>
        </p:spPr>
      </p:pic>
      <p:pic>
        <p:nvPicPr>
          <p:cNvPr id="6" name="图片 5" descr="216019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920000">
            <a:off x="11014075" y="2245360"/>
            <a:ext cx="1315085" cy="1315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582710" y="712715"/>
            <a:ext cx="11527790" cy="572075"/>
            <a:chOff x="582710" y="712715"/>
            <a:chExt cx="11527790" cy="572075"/>
          </a:xfrm>
        </p:grpSpPr>
        <p:sp>
          <p:nvSpPr>
            <p:cNvPr id="8" name="矩形 7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76055" y="712715"/>
              <a:ext cx="1143444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系统需求-整体设计</a:t>
              </a:r>
              <a:endParaRPr lang="zh-CN" altLang="en-US" sz="3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1" name="内容占位符 10"/>
          <p:cNvSpPr/>
          <p:nvPr>
            <p:ph idx="1"/>
          </p:nvPr>
        </p:nvSpPr>
        <p:spPr>
          <a:xfrm>
            <a:off x="447485" y="1321883"/>
            <a:ext cx="6294311" cy="5173345"/>
          </a:xfrm>
        </p:spPr>
        <p:txBody>
          <a:bodyPr>
            <a:noAutofit/>
          </a:bodyPr>
          <a:p>
            <a:pPr marL="0" indent="0" algn="l">
              <a:lnSpc>
                <a:spcPct val="125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2220" dirty="0">
                <a:solidFill>
                  <a:srgbClr val="3F51B6"/>
                </a:solidFill>
                <a:effectLst/>
                <a:uFillTx/>
                <a:latin typeface="腾讯字体包" panose="02010600010101010101" charset="-128"/>
                <a:ea typeface="腾讯字体包" panose="02010600010101010101" charset="-128"/>
                <a:sym typeface="+mn-ea"/>
              </a:rPr>
              <a:t>面向用户</a:t>
            </a:r>
            <a:endParaRPr lang="zh-CN" altLang="en-US" sz="2220" dirty="0">
              <a:solidFill>
                <a:srgbClr val="3F51B6"/>
              </a:solidFill>
              <a:effectLst/>
              <a:uFillTx/>
              <a:latin typeface="腾讯字体包" panose="02010600010101010101" charset="-128"/>
              <a:ea typeface="腾讯字体包" panose="02010600010101010101" charset="-128"/>
            </a:endParaRPr>
          </a:p>
          <a:p>
            <a:pPr marL="285750" indent="-285750" algn="l">
              <a:lnSpc>
                <a:spcPct val="125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用户 1：（系统标注管理员）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主要是科研机构、大学、以及从事领域研究的企业。需要高质量的数据来支持科研工作。</a:t>
            </a:r>
            <a:endParaRPr lang="zh-CN" sz="1600">
              <a:solidFill>
                <a:srgbClr val="3F51B6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 algn="l">
              <a:lnSpc>
                <a:spcPct val="125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用户 </a:t>
            </a:r>
            <a:r>
              <a:rPr lang="en-US" alt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2</a:t>
            </a: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：（数据标注员）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专业的数据标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注团队，或领域内的研究人员或学生。需要高效、直观的工具来完成大量的文本标注任务。</a:t>
            </a:r>
            <a:endParaRPr lang="zh-CN" sz="1600">
              <a:solidFill>
                <a:srgbClr val="3F51B6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 algn="l">
              <a:lnSpc>
                <a:spcPct val="125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用户 </a:t>
            </a:r>
            <a:r>
              <a:rPr lang="en-US" alt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3</a:t>
            </a: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：（科研人员）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包括研究人员、科学家、技术人员以及数据分析师等。使用系统来获取文献中的关键信息，如合成参数。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220" dirty="0">
                <a:solidFill>
                  <a:srgbClr val="3F51B6"/>
                </a:solidFill>
                <a:effectLst/>
                <a:uFillTx/>
                <a:latin typeface="腾讯字体包" panose="02010600010101010101" charset="-128"/>
                <a:ea typeface="腾讯字体包" panose="02010600010101010101" charset="-128"/>
              </a:rPr>
              <a:t>总体需求</a:t>
            </a:r>
            <a:endParaRPr lang="zh-CN" altLang="en-US" sz="2220" dirty="0">
              <a:solidFill>
                <a:srgbClr val="3F51B6"/>
              </a:solidFill>
              <a:effectLst/>
              <a:uFillTx/>
              <a:latin typeface="腾讯字体包" panose="02010600010101010101" charset="-128"/>
              <a:ea typeface="腾讯字体包" panose="02010600010101010101" charset="-128"/>
            </a:endParaRPr>
          </a:p>
          <a:p>
            <a:pPr marL="285750" indent="-285750" algn="l">
              <a:lnSpc>
                <a:spcPct val="125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模块化设计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：允许快速适配各种研究环境和工作需求。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lnSpc>
                <a:spcPct val="125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交互优化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：用户交互界面友好，配合详细操作指南，使得非技术背景用户也能高效地完成标注任务。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lnSpc>
                <a:spcPct val="125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智能标注：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智能标注功能，大幅提升标注效率并保证数据质量。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lnSpc>
                <a:spcPct val="125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6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预设共享与协作：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促进知识共享，通过社区的力量优化标注实践。</a:t>
            </a:r>
            <a:endParaRPr lang="zh-CN" altLang="en-US" sz="1600" dirty="0">
              <a:solidFill>
                <a:srgbClr val="FF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855460" y="643890"/>
            <a:ext cx="5078730" cy="5984240"/>
            <a:chOff x="10796" y="1014"/>
            <a:chExt cx="7998" cy="9424"/>
          </a:xfrm>
        </p:grpSpPr>
        <p:pic>
          <p:nvPicPr>
            <p:cNvPr id="6" name="图片 5" descr="upload_post_object_v2_3965015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96" y="1014"/>
              <a:ext cx="7999" cy="9425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13967" y="2140"/>
              <a:ext cx="2018" cy="39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r>
                <a:rPr lang="zh-CN" sz="1200">
                  <a:solidFill>
                    <a:srgbClr val="3F51B6"/>
                  </a:solidFill>
                  <a:latin typeface="腾讯字体包" panose="02010600010101010101" charset="-128"/>
                  <a:ea typeface="腾讯字体包" panose="02010600010101010101" charset="-128"/>
                  <a:cs typeface="+mn-lt"/>
                  <a:sym typeface="+mn-ea"/>
                </a:rPr>
                <a:t>系统标注管理员</a:t>
              </a:r>
              <a:endParaRPr lang="zh-CN" altLang="en-US" sz="12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2"/>
              </p:custDataLst>
            </p:nvPr>
          </p:nvSpPr>
          <p:spPr>
            <a:xfrm>
              <a:off x="11631" y="2140"/>
              <a:ext cx="2018" cy="39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r>
                <a:rPr lang="zh-CN" sz="1200">
                  <a:solidFill>
                    <a:srgbClr val="3F51B6"/>
                  </a:solidFill>
                  <a:latin typeface="腾讯字体包" panose="02010600010101010101" charset="-128"/>
                  <a:ea typeface="腾讯字体包" panose="02010600010101010101" charset="-128"/>
                  <a:cs typeface="+mn-lt"/>
                  <a:sym typeface="+mn-ea"/>
                </a:rPr>
                <a:t>数据标注员</a:t>
              </a:r>
              <a:endParaRPr lang="zh-CN" altLang="en-US" sz="12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16623" y="2140"/>
              <a:ext cx="2018" cy="39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r>
                <a:rPr lang="zh-CN" sz="1200">
                  <a:solidFill>
                    <a:srgbClr val="3F51B6"/>
                  </a:solidFill>
                  <a:latin typeface="腾讯字体包" panose="02010600010101010101" charset="-128"/>
                  <a:ea typeface="腾讯字体包" panose="02010600010101010101" charset="-128"/>
                  <a:cs typeface="+mn-lt"/>
                  <a:sym typeface="+mn-ea"/>
                </a:rPr>
                <a:t>科研人员</a:t>
              </a:r>
              <a:endParaRPr lang="zh-CN" altLang="en-US" sz="12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16091" y="3022"/>
              <a:ext cx="1738" cy="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r>
                <a:rPr lang="zh-CN" sz="1000">
                  <a:solidFill>
                    <a:srgbClr val="3F51B6"/>
                  </a:solidFill>
                  <a:latin typeface="腾讯字体包" panose="02010600010101010101" charset="-128"/>
                  <a:ea typeface="腾讯字体包" panose="02010600010101010101" charset="-128"/>
                  <a:cs typeface="+mn-lt"/>
                  <a:sym typeface="+mn-ea"/>
                </a:rPr>
                <a:t>智能挖掘子系统</a:t>
              </a:r>
              <a:endParaRPr lang="zh-CN" altLang="en-US" sz="10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11714" y="3022"/>
              <a:ext cx="1738" cy="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r>
                <a:rPr lang="zh-CN" sz="1000">
                  <a:solidFill>
                    <a:srgbClr val="3F51B6"/>
                  </a:solidFill>
                  <a:latin typeface="腾讯字体包" panose="02010600010101010101" charset="-128"/>
                  <a:ea typeface="腾讯字体包" panose="02010600010101010101" charset="-128"/>
                  <a:cs typeface="+mn-lt"/>
                  <a:sym typeface="+mn-ea"/>
                </a:rPr>
                <a:t>文本标注子系统</a:t>
              </a:r>
              <a:endParaRPr lang="zh-CN" altLang="en-US" sz="100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0025" y="730885"/>
          <a:ext cx="11639550" cy="5939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" imgW="10927715" imgH="5576570" progId="Visio.Drawing.15">
                  <p:embed/>
                </p:oleObj>
              </mc:Choice>
              <mc:Fallback>
                <p:oleObj name="" r:id="rId1" imgW="10927715" imgH="5576570" progId="Visio.Drawing.15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025" y="730885"/>
                        <a:ext cx="11639550" cy="5939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6642735" y="1026160"/>
            <a:ext cx="2933700" cy="3416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200" dirty="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智能挖掘子系统</a:t>
            </a:r>
            <a:endParaRPr lang="en-US" altLang="zh-CN" sz="1200" dirty="0">
              <a:solidFill>
                <a:srgbClr val="3F51B6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21205" y="1026160"/>
            <a:ext cx="2933700" cy="3416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200" dirty="0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文本标注子系统</a:t>
            </a:r>
            <a:endParaRPr lang="en-US" altLang="zh-CN" sz="1200" dirty="0">
              <a:solidFill>
                <a:srgbClr val="3F51B6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6535" y="6202680"/>
            <a:ext cx="2933700" cy="3416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zh-CN" sz="1600" dirty="0">
                <a:solidFill>
                  <a:schemeClr val="tx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     ITAS</a:t>
            </a:r>
            <a:r>
              <a:rPr lang="zh-CN" altLang="en-US" sz="1600" dirty="0">
                <a:solidFill>
                  <a:schemeClr val="tx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用例图</a:t>
            </a:r>
            <a:endParaRPr lang="zh-CN" altLang="en-US" sz="1600" dirty="0">
              <a:solidFill>
                <a:schemeClr val="tx1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0910" y="700015"/>
            <a:ext cx="6189345" cy="572075"/>
            <a:chOff x="582710" y="712715"/>
            <a:chExt cx="6189345" cy="572075"/>
          </a:xfrm>
        </p:grpSpPr>
        <p:sp>
          <p:nvSpPr>
            <p:cNvPr id="9" name="矩形 8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76055" y="712715"/>
              <a:ext cx="6096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功能性需求</a:t>
              </a:r>
              <a:r>
                <a:rPr kumimoji="1" lang="en-US" altLang="zh-CN" sz="2800" dirty="0">
                  <a:latin typeface="腾讯字体包" panose="02010600010101010101" charset="-128"/>
                  <a:ea typeface="腾讯字体包" panose="02010600010101010101" charset="-128"/>
                </a:rPr>
                <a:t>——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  <a:sym typeface="+mn-ea"/>
                </a:rPr>
                <a:t>文本标注子系统</a:t>
              </a:r>
              <a:endParaRPr kumimoji="1" lang="zh-CN" altLang="en-US" sz="2800" dirty="0">
                <a:latin typeface="腾讯字体包" panose="02010600010101010101" charset="-128"/>
                <a:ea typeface="腾讯字体包" panose="02010600010101010101" charset="-128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71145" y="1329690"/>
            <a:ext cx="7891780" cy="4969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创建和管理标注项目</a:t>
            </a:r>
            <a:endParaRPr lang="zh-CN" altLang="en-US" sz="1800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需求定义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：确定标注项目的目标和需求，如标注类型、目标实体、段落类型等。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预设生成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：根据项目需求，创建标注预设。包括段落标注预设（如摘要、方法、结果等）和实体标注预设（如人名、地名、事件等</a:t>
            </a:r>
            <a:r>
              <a:rPr lang="en-US" alt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)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数据准备和预处理</a:t>
            </a:r>
            <a:endParaRPr lang="zh-CN" altLang="en-US" sz="1800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文档上传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：上传需要标注的文档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格式转换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：将文档转换为适合标注的格式，如</a:t>
            </a:r>
            <a:r>
              <a:rPr lang="en-US" altLang="zh-CN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PDF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转换为</a:t>
            </a:r>
            <a:r>
              <a:rPr lang="en-US" altLang="zh-CN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HTML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。</a:t>
            </a:r>
            <a:endParaRPr lang="zh-CN" altLang="en-US" sz="1600" b="1" dirty="0">
              <a:solidFill>
                <a:srgbClr val="C00000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执行标注任务</a:t>
            </a:r>
            <a:endParaRPr lang="zh-CN" altLang="en-US" sz="1800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分配标注任务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：将文档分配给标注人员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手工标注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：标注人员根据预设对文档进行手工标注，记录实体、段落等信息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质量控制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：通过交叉验证等方法确保标注质量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标注数据整理和导出</a:t>
            </a:r>
            <a:endParaRPr lang="zh-CN" altLang="en-US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数据整理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：整理和汇总标注数据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。</a:t>
            </a:r>
            <a:endParaRPr lang="zh-CN" altLang="en-US" sz="1600" dirty="0"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导出数据</a:t>
            </a:r>
            <a:r>
              <a:rPr lang="zh-CN" altLang="en-US" sz="1600" dirty="0"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：将标注数据导出，用于训练智能挖掘模型</a:t>
            </a:r>
            <a:r>
              <a:rPr lang="zh-CN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。</a:t>
            </a:r>
            <a:endParaRPr lang="zh-CN" altLang="en-US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pic>
        <p:nvPicPr>
          <p:cNvPr id="14" name="图形 13" descr="男人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9758" y="3128433"/>
            <a:ext cx="914400" cy="91440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163035" y="1007908"/>
            <a:ext cx="3784600" cy="51477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8221133" y="1075267"/>
            <a:ext cx="2933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文本标注子系统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7048081" y="3996950"/>
            <a:ext cx="732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User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24" name="椭圆 23"/>
          <p:cNvSpPr/>
          <p:nvPr/>
        </p:nvSpPr>
        <p:spPr>
          <a:xfrm>
            <a:off x="8390467" y="1951565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  <a:effectLst/>
              </a:rPr>
              <a:t>创建和管理  标注项目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8424333" y="2827866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  <a:effectLst/>
              </a:rPr>
              <a:t>数据准备和 预处理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424332" y="3753036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  <a:effectLst/>
              </a:rPr>
              <a:t>执行标注任务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8424333" y="4754032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  <a:effectLst/>
              </a:rPr>
              <a:t>标注数据整理和导出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10599608" y="1790732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effectLst/>
              </a:rPr>
              <a:t>需求定义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10599608" y="2249657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effectLst/>
              </a:rPr>
              <a:t>预设生成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0599608" y="2708582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effectLst/>
              </a:rPr>
              <a:t>文档上传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10599608" y="3167507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effectLst/>
              </a:rPr>
              <a:t>格式转换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0599608" y="3486732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00" dirty="0">
                <a:solidFill>
                  <a:schemeClr val="tx2">
                    <a:lumMod val="50000"/>
                  </a:schemeClr>
                </a:solidFill>
                <a:effectLst/>
              </a:rPr>
              <a:t>分配标注任务</a:t>
            </a:r>
            <a:endParaRPr lang="en-US" altLang="zh-CN" sz="8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599608" y="3916518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effectLst/>
              </a:rPr>
              <a:t>手工标注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10591141" y="4798968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effectLst/>
              </a:rPr>
              <a:t>数据整理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0616541" y="5238098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effectLst/>
              </a:rPr>
              <a:t>导出数据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10616541" y="4423928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effectLst/>
              </a:rPr>
              <a:t>质量控制</a:t>
            </a:r>
            <a:endParaRPr lang="en-US" altLang="zh-CN" sz="1200" b="1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cxnSp>
        <p:nvCxnSpPr>
          <p:cNvPr id="53" name="直接箭头连接符 52"/>
          <p:cNvCxnSpPr>
            <a:stCxn id="24" idx="6"/>
            <a:endCxn id="44" idx="2"/>
          </p:cNvCxnSpPr>
          <p:nvPr/>
        </p:nvCxnSpPr>
        <p:spPr>
          <a:xfrm flipV="1">
            <a:off x="9817100" y="1923739"/>
            <a:ext cx="782508" cy="32839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24" idx="6"/>
            <a:endCxn id="45" idx="2"/>
          </p:cNvCxnSpPr>
          <p:nvPr/>
        </p:nvCxnSpPr>
        <p:spPr>
          <a:xfrm>
            <a:off x="9817100" y="2252132"/>
            <a:ext cx="782508" cy="13053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25" idx="6"/>
            <a:endCxn id="46" idx="2"/>
          </p:cNvCxnSpPr>
          <p:nvPr/>
        </p:nvCxnSpPr>
        <p:spPr>
          <a:xfrm flipV="1">
            <a:off x="9850966" y="2841589"/>
            <a:ext cx="748642" cy="286844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25" idx="6"/>
            <a:endCxn id="47" idx="2"/>
          </p:cNvCxnSpPr>
          <p:nvPr/>
        </p:nvCxnSpPr>
        <p:spPr>
          <a:xfrm>
            <a:off x="9850966" y="3128433"/>
            <a:ext cx="748642" cy="17208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26" idx="6"/>
            <a:endCxn id="48" idx="2"/>
          </p:cNvCxnSpPr>
          <p:nvPr/>
        </p:nvCxnSpPr>
        <p:spPr>
          <a:xfrm flipV="1">
            <a:off x="9850965" y="3619739"/>
            <a:ext cx="748643" cy="433864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6" idx="6"/>
            <a:endCxn id="49" idx="2"/>
          </p:cNvCxnSpPr>
          <p:nvPr/>
        </p:nvCxnSpPr>
        <p:spPr>
          <a:xfrm flipV="1">
            <a:off x="9850965" y="4049525"/>
            <a:ext cx="748643" cy="4078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26" idx="6"/>
            <a:endCxn id="52" idx="2"/>
          </p:cNvCxnSpPr>
          <p:nvPr/>
        </p:nvCxnSpPr>
        <p:spPr>
          <a:xfrm>
            <a:off x="9850965" y="4053603"/>
            <a:ext cx="765576" cy="50333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27" idx="6"/>
            <a:endCxn id="50" idx="2"/>
          </p:cNvCxnSpPr>
          <p:nvPr/>
        </p:nvCxnSpPr>
        <p:spPr>
          <a:xfrm flipV="1">
            <a:off x="9850966" y="4931975"/>
            <a:ext cx="740175" cy="122624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27" idx="6"/>
            <a:endCxn id="51" idx="2"/>
          </p:cNvCxnSpPr>
          <p:nvPr/>
        </p:nvCxnSpPr>
        <p:spPr>
          <a:xfrm>
            <a:off x="9850966" y="5054599"/>
            <a:ext cx="765575" cy="31650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 rot="20188096">
            <a:off x="9765867" y="1788441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 rot="484704">
            <a:off x="9843495" y="229087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0021384" y="402228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 rot="20188096">
            <a:off x="9882298" y="3629887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 rot="20901759">
            <a:off x="9901696" y="4703534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 rot="759788">
            <a:off x="9906087" y="3213584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 rot="2042500">
            <a:off x="9834978" y="4314124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 rot="1311098">
            <a:off x="9907766" y="5223706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20188096">
            <a:off x="9786377" y="2727316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7834157" y="2252132"/>
            <a:ext cx="556309" cy="13335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7834157" y="3128433"/>
            <a:ext cx="590175" cy="457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834157" y="3585633"/>
            <a:ext cx="590174" cy="4679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34157" y="3585633"/>
            <a:ext cx="590175" cy="14689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0910" y="700015"/>
            <a:ext cx="5682615" cy="572075"/>
            <a:chOff x="582710" y="712715"/>
            <a:chExt cx="5682615" cy="572075"/>
          </a:xfrm>
        </p:grpSpPr>
        <p:sp>
          <p:nvSpPr>
            <p:cNvPr id="9" name="矩形 8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76055" y="712715"/>
              <a:ext cx="558927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功能性需求</a:t>
              </a:r>
              <a:r>
                <a:rPr kumimoji="1" lang="en-US" altLang="zh-CN" sz="2800" dirty="0">
                  <a:latin typeface="腾讯字体包" panose="02010600010101010101" charset="-128"/>
                  <a:ea typeface="腾讯字体包" panose="02010600010101010101" charset="-128"/>
                </a:rPr>
                <a:t>——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智能挖掘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子系统</a:t>
              </a:r>
              <a:endParaRPr kumimoji="1" lang="zh-CN" altLang="en-US" sz="2800" dirty="0">
                <a:latin typeface="腾讯字体包" panose="02010600010101010101" charset="-128"/>
                <a:ea typeface="腾讯字体包" panose="02010600010101010101" charset="-128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44475" y="1789430"/>
            <a:ext cx="7186930" cy="4107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1）调用离线模型的数据挖掘</a:t>
            </a:r>
            <a:endParaRPr lang="zh-CN" altLang="en-US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数据准备和预处理 </a:t>
            </a:r>
            <a:endParaRPr lang="zh-CN" altLang="en-US" sz="1800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文档上传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：上传需要标注的文档。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格式转换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  <a:sym typeface="+mn-ea"/>
              </a:rPr>
              <a:t>：将文档转换为适合标注的格式，如PDF转换为HTML。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endParaRPr lang="en-US" altLang="zh-CN" sz="1600" dirty="0"/>
          </a:p>
          <a:p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实体的提取（</a:t>
            </a:r>
            <a:r>
              <a:rPr lang="en-US" altLang="zh-CN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LLM</a:t>
            </a: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的调用）</a:t>
            </a:r>
            <a:r>
              <a:rPr lang="zh-CN" altLang="en-US" sz="1600" b="1" dirty="0">
                <a:solidFill>
                  <a:srgbClr val="C00000"/>
                </a:solidFill>
              </a:rPr>
              <a:t> </a:t>
            </a:r>
            <a:endParaRPr lang="zh-CN" altLang="en-US" sz="1600" b="1" dirty="0">
              <a:solidFill>
                <a:srgbClr val="C00000"/>
              </a:solidFill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使用实体标注数据进行</a:t>
            </a: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few-shot learning / 微调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endParaRPr lang="en-US" altLang="zh-CN" sz="1600" dirty="0"/>
          </a:p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预设共享和社区协作 </a:t>
            </a:r>
            <a:endParaRPr lang="zh-CN" altLang="en-US" sz="1800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共享预设库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：用户可以将自己创建的标注预设共享到系统的预设库中。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协作标注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：用户可以选择预设库中的预设，用于自己的标注项目，促进知识共享和协作。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14" name="图形 13" descr="男人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9758" y="3128433"/>
            <a:ext cx="914400" cy="91440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163035" y="1418167"/>
            <a:ext cx="3784600" cy="44958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8163035" y="1527838"/>
            <a:ext cx="2933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智能挖掘子系统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7048081" y="3996950"/>
            <a:ext cx="732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User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24" name="椭圆 23"/>
          <p:cNvSpPr/>
          <p:nvPr/>
        </p:nvSpPr>
        <p:spPr>
          <a:xfrm>
            <a:off x="8390467" y="2451098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</a:rPr>
              <a:t>数据准备和</a:t>
            </a:r>
            <a:r>
              <a:rPr lang="zh-CN" altLang="en-US" sz="1200" b="1" dirty="0">
                <a:solidFill>
                  <a:schemeClr val="tx1"/>
                </a:solidFill>
              </a:rPr>
              <a:t>预处理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8424333" y="3204632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</a:rPr>
              <a:t>实体</a:t>
            </a:r>
            <a:r>
              <a:rPr lang="zh-CN" altLang="en-US" sz="1200" b="1" dirty="0">
                <a:solidFill>
                  <a:schemeClr val="tx1"/>
                </a:solidFill>
              </a:rPr>
              <a:t>提取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424332" y="4023968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sym typeface="+mn-ea"/>
              </a:rPr>
              <a:t>预设共享和社区协作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10609768" y="2317571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文档上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传</a:t>
            </a:r>
            <a:endParaRPr lang="zh-CN" altLang="en-US" sz="1200" dirty="0">
              <a:solidFill>
                <a:schemeClr val="tx1"/>
              </a:solidFill>
              <a:effectLst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0599608" y="3258914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模型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调用</a:t>
            </a:r>
            <a:endParaRPr lang="zh-CN" altLang="en-US" sz="1200" dirty="0">
              <a:solidFill>
                <a:schemeClr val="tx1"/>
              </a:solidFill>
              <a:effectLst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10599608" y="3717839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模型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微调</a:t>
            </a:r>
            <a:endParaRPr lang="zh-CN" altLang="en-US" sz="1200" dirty="0">
              <a:solidFill>
                <a:schemeClr val="tx1"/>
              </a:solidFill>
              <a:effectLst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599420" y="4121150"/>
            <a:ext cx="1254760" cy="501015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  <a:sym typeface="+mn-ea"/>
              </a:rPr>
              <a:t>共享预设库</a:t>
            </a:r>
            <a:endParaRPr lang="zh-CN" altLang="en-US" sz="1200" b="1" dirty="0">
              <a:solidFill>
                <a:schemeClr val="tx1"/>
              </a:solidFill>
              <a:effectLst/>
              <a:sym typeface="+mn-ea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10616541" y="4758361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  <a:sym typeface="+mn-ea"/>
              </a:rPr>
              <a:t>协作标注</a:t>
            </a:r>
            <a:endParaRPr lang="zh-CN" altLang="en-US" sz="1200" b="1" dirty="0">
              <a:solidFill>
                <a:schemeClr val="tx1"/>
              </a:solidFill>
              <a:effectLst/>
              <a:sym typeface="+mn-ea"/>
            </a:endParaRPr>
          </a:p>
        </p:txBody>
      </p:sp>
      <p:cxnSp>
        <p:nvCxnSpPr>
          <p:cNvPr id="53" name="直接箭头连接符 52"/>
          <p:cNvCxnSpPr>
            <a:stCxn id="24" idx="6"/>
            <a:endCxn id="44" idx="2"/>
          </p:cNvCxnSpPr>
          <p:nvPr/>
        </p:nvCxnSpPr>
        <p:spPr>
          <a:xfrm flipV="1">
            <a:off x="9817100" y="2451310"/>
            <a:ext cx="792480" cy="30099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25" idx="6"/>
            <a:endCxn id="46" idx="2"/>
          </p:cNvCxnSpPr>
          <p:nvPr/>
        </p:nvCxnSpPr>
        <p:spPr>
          <a:xfrm flipV="1">
            <a:off x="9850966" y="3391921"/>
            <a:ext cx="748642" cy="113278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25" idx="6"/>
            <a:endCxn id="47" idx="2"/>
          </p:cNvCxnSpPr>
          <p:nvPr/>
        </p:nvCxnSpPr>
        <p:spPr>
          <a:xfrm>
            <a:off x="9850966" y="3505199"/>
            <a:ext cx="748642" cy="34564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6" idx="6"/>
            <a:endCxn id="49" idx="2"/>
          </p:cNvCxnSpPr>
          <p:nvPr/>
        </p:nvCxnSpPr>
        <p:spPr>
          <a:xfrm>
            <a:off x="9851600" y="4325170"/>
            <a:ext cx="748030" cy="4699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26" idx="6"/>
            <a:endCxn id="52" idx="2"/>
          </p:cNvCxnSpPr>
          <p:nvPr/>
        </p:nvCxnSpPr>
        <p:spPr>
          <a:xfrm>
            <a:off x="9850965" y="4324535"/>
            <a:ext cx="765576" cy="56683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 rot="20264633">
            <a:off x="9861843" y="2343094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 rot="1500395">
            <a:off x="9904264" y="3716819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 rot="20612771">
            <a:off x="9906087" y="3213584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491482">
            <a:off x="9899015" y="2807836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>
            <a:stCxn id="14" idx="3"/>
            <a:endCxn id="24" idx="2"/>
          </p:cNvCxnSpPr>
          <p:nvPr/>
        </p:nvCxnSpPr>
        <p:spPr>
          <a:xfrm flipV="1">
            <a:off x="7834158" y="2751665"/>
            <a:ext cx="556309" cy="8339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14" idx="3"/>
            <a:endCxn id="25" idx="2"/>
          </p:cNvCxnSpPr>
          <p:nvPr/>
        </p:nvCxnSpPr>
        <p:spPr>
          <a:xfrm flipV="1">
            <a:off x="7834158" y="3505199"/>
            <a:ext cx="590175" cy="804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14" idx="3"/>
            <a:endCxn id="26" idx="2"/>
          </p:cNvCxnSpPr>
          <p:nvPr/>
        </p:nvCxnSpPr>
        <p:spPr>
          <a:xfrm>
            <a:off x="7834158" y="3585633"/>
            <a:ext cx="590174" cy="7389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10605382" y="2727580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格式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转换</a:t>
            </a:r>
            <a:endParaRPr lang="zh-CN" altLang="en-US" sz="12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59" name="直接箭头连接符 58"/>
          <p:cNvCxnSpPr>
            <a:stCxn id="24" idx="6"/>
            <a:endCxn id="58" idx="2"/>
          </p:cNvCxnSpPr>
          <p:nvPr/>
        </p:nvCxnSpPr>
        <p:spPr>
          <a:xfrm>
            <a:off x="9817100" y="2751665"/>
            <a:ext cx="788282" cy="10892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 rot="2127104">
            <a:off x="9926063" y="472751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 rot="308513">
            <a:off x="9977970" y="4197033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0910" y="700015"/>
            <a:ext cx="6574155" cy="572075"/>
            <a:chOff x="582710" y="712715"/>
            <a:chExt cx="6574155" cy="572075"/>
          </a:xfrm>
        </p:grpSpPr>
        <p:sp>
          <p:nvSpPr>
            <p:cNvPr id="9" name="矩形 8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76055" y="712715"/>
              <a:ext cx="648081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功能性需求</a:t>
              </a:r>
              <a:r>
                <a:rPr kumimoji="1" lang="en-US" altLang="zh-CN" sz="2800" dirty="0">
                  <a:latin typeface="腾讯字体包" panose="02010600010101010101" charset="-128"/>
                  <a:ea typeface="腾讯字体包" panose="02010600010101010101" charset="-128"/>
                  <a:sym typeface="+mn-ea"/>
                </a:rPr>
                <a:t>——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  <a:sym typeface="+mn-ea"/>
                </a:rPr>
                <a:t>智能挖掘子系统</a:t>
              </a:r>
              <a:endParaRPr kumimoji="1" lang="zh-CN" altLang="en-US" sz="2800" dirty="0">
                <a:latin typeface="腾讯字体包" panose="02010600010101010101" charset="-128"/>
                <a:ea typeface="腾讯字体包" panose="02010600010101010101" charset="-128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44475" y="1725930"/>
            <a:ext cx="7431405" cy="423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sz="18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2）调用自定义数据训练</a:t>
            </a:r>
            <a:r>
              <a:rPr lang="zh-CN" sz="18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模型</a:t>
            </a:r>
            <a:endParaRPr lang="zh-CN" sz="18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模型训练和验证</a:t>
            </a:r>
            <a:endParaRPr lang="zh-CN" altLang="en-US" sz="1800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数据导入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：导入文本标注系统导出的标注数据。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模型训练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：使用标注数据训练机器学习模型，如自然语言处理（NLP）模型。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模型验证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：验证模型的效果，调整和优化模型参数。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endParaRPr lang="en-US" altLang="zh-CN" sz="1600" dirty="0"/>
          </a:p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模型应用和标注预测</a:t>
            </a:r>
            <a:endParaRPr lang="zh-CN" altLang="en-US" sz="1800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应用模型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：将训练好的模型应用于新的文档，进行自动标注预测。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结果校正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：用户对模型的标注结果进行校正和反馈。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endParaRPr lang="en-US" altLang="zh-CN" sz="1600" dirty="0"/>
          </a:p>
          <a:p>
            <a:pPr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 dirty="0">
                <a:solidFill>
                  <a:srgbClr val="C00000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模型迭代优化</a:t>
            </a:r>
            <a:endParaRPr lang="zh-CN" altLang="en-US" sz="1800" b="1" dirty="0">
              <a:solidFill>
                <a:srgbClr val="C00000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反馈学习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：根据用户的校正和反馈，对模型进行迭代学习和优化。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sz="1600" b="1">
                <a:solidFill>
                  <a:srgbClr val="3F51B6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模型更新</a:t>
            </a:r>
            <a:r>
              <a:rPr lang="zh-CN" sz="1600">
                <a:solidFill>
                  <a:srgbClr val="000000"/>
                </a:solidFill>
                <a:latin typeface="腾讯字体包" panose="02010600010101010101" charset="-128"/>
                <a:ea typeface="腾讯字体包" panose="02010600010101010101" charset="-128"/>
                <a:cs typeface="+mn-lt"/>
              </a:rPr>
              <a:t>：定期更新模型，以适应新的标注需求和数据变化。</a:t>
            </a:r>
            <a:endParaRPr lang="zh-CN" sz="1600">
              <a:solidFill>
                <a:srgbClr val="000000"/>
              </a:solidFill>
              <a:latin typeface="腾讯字体包" panose="02010600010101010101" charset="-128"/>
              <a:ea typeface="腾讯字体包" panose="02010600010101010101" charset="-128"/>
              <a:cs typeface="+mn-lt"/>
            </a:endParaRPr>
          </a:p>
          <a:p>
            <a:endParaRPr lang="zh-CN" altLang="en-US" dirty="0"/>
          </a:p>
        </p:txBody>
      </p:sp>
      <p:pic>
        <p:nvPicPr>
          <p:cNvPr id="14" name="图形 13" descr="男人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9758" y="3128433"/>
            <a:ext cx="914400" cy="91440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163035" y="1418167"/>
            <a:ext cx="3784600" cy="44958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8163035" y="1527838"/>
            <a:ext cx="2933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智能挖掘子系统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7048081" y="3996950"/>
            <a:ext cx="732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User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24" name="椭圆 23"/>
          <p:cNvSpPr/>
          <p:nvPr/>
        </p:nvSpPr>
        <p:spPr>
          <a:xfrm>
            <a:off x="8390467" y="2451098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</a:rPr>
              <a:t>模型训练和验证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8424333" y="3204632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</a:rPr>
              <a:t>模型应用和标注预测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424332" y="4023968"/>
            <a:ext cx="1426633" cy="60113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</a:rPr>
              <a:t>模型迭代优化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10599608" y="1794966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数据导入</a:t>
            </a:r>
            <a:endParaRPr lang="en-US" altLang="zh-CN" sz="1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10599608" y="2253891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模型训练</a:t>
            </a:r>
            <a:endParaRPr lang="en-US" altLang="zh-CN" sz="1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0599608" y="3258914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应用模型</a:t>
            </a:r>
            <a:endParaRPr lang="en-US" altLang="zh-CN" sz="1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10599608" y="3717839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结果校正</a:t>
            </a:r>
            <a:endParaRPr lang="en-US" altLang="zh-CN" sz="1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599608" y="4276351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反馈学习</a:t>
            </a:r>
            <a:endParaRPr lang="en-US" altLang="zh-CN" sz="1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10616541" y="4758361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模型更新</a:t>
            </a:r>
            <a:endParaRPr lang="en-US" altLang="zh-CN" sz="1200" b="1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53" name="直接箭头连接符 52"/>
          <p:cNvCxnSpPr>
            <a:stCxn id="24" idx="6"/>
            <a:endCxn id="44" idx="2"/>
          </p:cNvCxnSpPr>
          <p:nvPr/>
        </p:nvCxnSpPr>
        <p:spPr>
          <a:xfrm flipV="1">
            <a:off x="9817100" y="1927973"/>
            <a:ext cx="782508" cy="82369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24" idx="6"/>
            <a:endCxn id="45" idx="2"/>
          </p:cNvCxnSpPr>
          <p:nvPr/>
        </p:nvCxnSpPr>
        <p:spPr>
          <a:xfrm flipV="1">
            <a:off x="9817100" y="2386898"/>
            <a:ext cx="782508" cy="36476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25" idx="6"/>
            <a:endCxn id="46" idx="2"/>
          </p:cNvCxnSpPr>
          <p:nvPr/>
        </p:nvCxnSpPr>
        <p:spPr>
          <a:xfrm flipV="1">
            <a:off x="9850966" y="3391921"/>
            <a:ext cx="748642" cy="113278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25" idx="6"/>
            <a:endCxn id="47" idx="2"/>
          </p:cNvCxnSpPr>
          <p:nvPr/>
        </p:nvCxnSpPr>
        <p:spPr>
          <a:xfrm>
            <a:off x="9850966" y="3505199"/>
            <a:ext cx="748642" cy="34564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6" idx="6"/>
            <a:endCxn id="49" idx="2"/>
          </p:cNvCxnSpPr>
          <p:nvPr/>
        </p:nvCxnSpPr>
        <p:spPr>
          <a:xfrm>
            <a:off x="9850965" y="4324535"/>
            <a:ext cx="748643" cy="8482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26" idx="6"/>
            <a:endCxn id="52" idx="2"/>
          </p:cNvCxnSpPr>
          <p:nvPr/>
        </p:nvCxnSpPr>
        <p:spPr>
          <a:xfrm>
            <a:off x="9850965" y="4324535"/>
            <a:ext cx="765576" cy="56683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 rot="18464633">
            <a:off x="9731033" y="2042739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 rot="19841445">
            <a:off x="9933394" y="225603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 rot="1500395">
            <a:off x="9904264" y="3716819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 rot="20612771">
            <a:off x="9906087" y="3213584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491482">
            <a:off x="9899015" y="2807836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>
            <a:stCxn id="14" idx="3"/>
            <a:endCxn id="24" idx="2"/>
          </p:cNvCxnSpPr>
          <p:nvPr/>
        </p:nvCxnSpPr>
        <p:spPr>
          <a:xfrm flipV="1">
            <a:off x="7834158" y="2751665"/>
            <a:ext cx="556309" cy="8339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14" idx="3"/>
            <a:endCxn id="25" idx="2"/>
          </p:cNvCxnSpPr>
          <p:nvPr/>
        </p:nvCxnSpPr>
        <p:spPr>
          <a:xfrm flipV="1">
            <a:off x="7834158" y="3505199"/>
            <a:ext cx="590175" cy="804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14" idx="3"/>
            <a:endCxn id="26" idx="2"/>
          </p:cNvCxnSpPr>
          <p:nvPr/>
        </p:nvCxnSpPr>
        <p:spPr>
          <a:xfrm>
            <a:off x="7834158" y="3585633"/>
            <a:ext cx="590174" cy="7389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10605382" y="2727580"/>
            <a:ext cx="1234380" cy="266013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模型验证</a:t>
            </a:r>
            <a:endParaRPr lang="en-US" altLang="zh-CN" sz="1200" b="1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59" name="直接箭头连接符 58"/>
          <p:cNvCxnSpPr>
            <a:stCxn id="24" idx="6"/>
            <a:endCxn id="58" idx="2"/>
          </p:cNvCxnSpPr>
          <p:nvPr/>
        </p:nvCxnSpPr>
        <p:spPr>
          <a:xfrm>
            <a:off x="9817100" y="2751665"/>
            <a:ext cx="788282" cy="10892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 rot="2127104">
            <a:off x="9926063" y="472751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 rot="308513">
            <a:off x="9977970" y="4197033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0910" y="700015"/>
            <a:ext cx="3281155" cy="572075"/>
            <a:chOff x="582710" y="712715"/>
            <a:chExt cx="3281155" cy="572075"/>
          </a:xfrm>
        </p:grpSpPr>
        <p:sp>
          <p:nvSpPr>
            <p:cNvPr id="9" name="矩形 8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76165" y="712715"/>
              <a:ext cx="31877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非功能性需求</a:t>
              </a:r>
              <a:endParaRPr kumimoji="1" lang="zh-CN" altLang="en-US" sz="2800" dirty="0">
                <a:latin typeface="腾讯字体包" panose="02010600010101010101" charset="-128"/>
                <a:ea typeface="腾讯字体包" panose="02010600010101010101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98273" y="1440180"/>
            <a:ext cx="10279884" cy="4889500"/>
            <a:chOff x="1025908" y="1358900"/>
            <a:chExt cx="10279884" cy="4889500"/>
          </a:xfrm>
        </p:grpSpPr>
        <p:sp>
          <p:nvSpPr>
            <p:cNvPr id="6" name="矩形 5"/>
            <p:cNvSpPr/>
            <p:nvPr/>
          </p:nvSpPr>
          <p:spPr>
            <a:xfrm>
              <a:off x="1025908" y="1358900"/>
              <a:ext cx="5092700" cy="2400300"/>
            </a:xfrm>
            <a:prstGeom prst="rect">
              <a:avLst/>
            </a:prstGeom>
            <a:noFill/>
            <a:ln w="25400">
              <a:solidFill>
                <a:srgbClr val="BFBFBF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Times New Roman Regular" panose="02020603050405020304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213092" y="1358900"/>
              <a:ext cx="5092700" cy="2400300"/>
            </a:xfrm>
            <a:prstGeom prst="rect">
              <a:avLst/>
            </a:prstGeom>
            <a:noFill/>
            <a:ln w="25400">
              <a:solidFill>
                <a:srgbClr val="BFBFBF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Times New Roman Regular" panose="02020603050405020304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1025908" y="3848100"/>
              <a:ext cx="5092700" cy="2400300"/>
            </a:xfrm>
            <a:prstGeom prst="rect">
              <a:avLst/>
            </a:prstGeom>
            <a:noFill/>
            <a:ln w="25400">
              <a:solidFill>
                <a:srgbClr val="BFBFBF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Times New Roman Regular" panose="0202060305040502030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213092" y="3848100"/>
              <a:ext cx="5092700" cy="2400300"/>
            </a:xfrm>
            <a:prstGeom prst="rect">
              <a:avLst/>
            </a:prstGeom>
            <a:noFill/>
            <a:ln w="25400">
              <a:solidFill>
                <a:srgbClr val="BFBFBF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Times New Roman Regular" panose="02020603050405020304" charset="0"/>
              </a:endParaRPr>
            </a:p>
          </p:txBody>
        </p:sp>
      </p:grpSp>
      <p:sp>
        <p:nvSpPr>
          <p:cNvPr id="15" name="任意多边形: 形状 14"/>
          <p:cNvSpPr/>
          <p:nvPr/>
        </p:nvSpPr>
        <p:spPr>
          <a:xfrm>
            <a:off x="5306417" y="3151038"/>
            <a:ext cx="684556" cy="689443"/>
          </a:xfrm>
          <a:custGeom>
            <a:avLst/>
            <a:gdLst/>
            <a:ahLst/>
            <a:cxnLst/>
            <a:rect l="l" t="t" r="r" b="b"/>
            <a:pathLst>
              <a:path w="684556" h="689443">
                <a:moveTo>
                  <a:pt x="684556" y="0"/>
                </a:moveTo>
                <a:lnTo>
                  <a:pt x="684556" y="689443"/>
                </a:lnTo>
                <a:lnTo>
                  <a:pt x="0" y="689443"/>
                </a:lnTo>
                <a:lnTo>
                  <a:pt x="10478" y="585507"/>
                </a:lnTo>
                <a:cubicBezTo>
                  <a:pt x="74229" y="273962"/>
                  <a:pt x="334748" y="34093"/>
                  <a:pt x="656518" y="1415"/>
                </a:cubicBezTo>
                <a:close/>
              </a:path>
            </a:pathLst>
          </a:custGeom>
          <a:solidFill>
            <a:srgbClr val="3F51B6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4" name="任意多边形: 形状 15"/>
          <p:cNvSpPr/>
          <p:nvPr/>
        </p:nvSpPr>
        <p:spPr>
          <a:xfrm flipH="1">
            <a:off x="6085457" y="3151038"/>
            <a:ext cx="684556" cy="689443"/>
          </a:xfrm>
          <a:custGeom>
            <a:avLst/>
            <a:gdLst/>
            <a:ahLst/>
            <a:cxnLst/>
            <a:rect l="l" t="t" r="r" b="b"/>
            <a:pathLst>
              <a:path w="684556" h="689443">
                <a:moveTo>
                  <a:pt x="684556" y="0"/>
                </a:moveTo>
                <a:lnTo>
                  <a:pt x="684556" y="689443"/>
                </a:lnTo>
                <a:lnTo>
                  <a:pt x="0" y="689443"/>
                </a:lnTo>
                <a:lnTo>
                  <a:pt x="10478" y="585507"/>
                </a:lnTo>
                <a:cubicBezTo>
                  <a:pt x="74229" y="273962"/>
                  <a:pt x="334748" y="34093"/>
                  <a:pt x="656518" y="1415"/>
                </a:cubicBezTo>
                <a:close/>
              </a:path>
            </a:pathLst>
          </a:custGeom>
          <a:solidFill>
            <a:srgbClr val="3F51B6"/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  <a:sym typeface="+mn-ea"/>
            </a:endParaRPr>
          </a:p>
        </p:txBody>
      </p:sp>
      <p:sp>
        <p:nvSpPr>
          <p:cNvPr id="5" name="任意多边形: 形状 16"/>
          <p:cNvSpPr/>
          <p:nvPr/>
        </p:nvSpPr>
        <p:spPr>
          <a:xfrm flipV="1">
            <a:off x="5306417" y="3929379"/>
            <a:ext cx="684556" cy="689443"/>
          </a:xfrm>
          <a:custGeom>
            <a:avLst/>
            <a:gdLst/>
            <a:ahLst/>
            <a:cxnLst/>
            <a:rect l="l" t="t" r="r" b="b"/>
            <a:pathLst>
              <a:path w="684556" h="689443">
                <a:moveTo>
                  <a:pt x="684556" y="0"/>
                </a:moveTo>
                <a:lnTo>
                  <a:pt x="684556" y="689443"/>
                </a:lnTo>
                <a:lnTo>
                  <a:pt x="0" y="689443"/>
                </a:lnTo>
                <a:lnTo>
                  <a:pt x="10478" y="585507"/>
                </a:lnTo>
                <a:cubicBezTo>
                  <a:pt x="74229" y="273962"/>
                  <a:pt x="334748" y="34093"/>
                  <a:pt x="656518" y="1415"/>
                </a:cubicBezTo>
                <a:close/>
              </a:path>
            </a:pathLst>
          </a:custGeom>
          <a:solidFill>
            <a:srgbClr val="3F51B6"/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  <a:sym typeface="+mn-ea"/>
            </a:endParaRPr>
          </a:p>
        </p:txBody>
      </p:sp>
      <p:sp>
        <p:nvSpPr>
          <p:cNvPr id="18" name="任意多边形: 形状 17"/>
          <p:cNvSpPr/>
          <p:nvPr/>
        </p:nvSpPr>
        <p:spPr>
          <a:xfrm flipH="1" flipV="1">
            <a:off x="6085457" y="3929379"/>
            <a:ext cx="684556" cy="689443"/>
          </a:xfrm>
          <a:custGeom>
            <a:avLst/>
            <a:gdLst/>
            <a:ahLst/>
            <a:cxnLst/>
            <a:rect l="l" t="t" r="r" b="b"/>
            <a:pathLst>
              <a:path w="684556" h="689443">
                <a:moveTo>
                  <a:pt x="684556" y="0"/>
                </a:moveTo>
                <a:lnTo>
                  <a:pt x="684556" y="689443"/>
                </a:lnTo>
                <a:lnTo>
                  <a:pt x="0" y="689443"/>
                </a:lnTo>
                <a:lnTo>
                  <a:pt x="10478" y="585507"/>
                </a:lnTo>
                <a:cubicBezTo>
                  <a:pt x="74229" y="273962"/>
                  <a:pt x="334748" y="34093"/>
                  <a:pt x="656518" y="1415"/>
                </a:cubicBezTo>
                <a:close/>
              </a:path>
            </a:pathLst>
          </a:custGeom>
          <a:solidFill>
            <a:srgbClr val="3F51B6"/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71885" y="3317261"/>
            <a:ext cx="298187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Times New Roman Regular" panose="02020603050405020304" charset="0"/>
              </a:rPr>
              <a:t>1</a:t>
            </a:r>
            <a:endParaRPr lang="en-US" sz="2800">
              <a:solidFill>
                <a:schemeClr val="bg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05641" y="3317261"/>
            <a:ext cx="298187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Times New Roman Regular" panose="02020603050405020304" charset="0"/>
              </a:rPr>
              <a:t>2</a:t>
            </a:r>
            <a:endParaRPr lang="en-US" sz="2800">
              <a:solidFill>
                <a:schemeClr val="bg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05641" y="3935728"/>
            <a:ext cx="298187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Times New Roman Regular" panose="02020603050405020304" charset="0"/>
              </a:rPr>
              <a:t>3</a:t>
            </a:r>
            <a:endParaRPr lang="en-US" sz="2800">
              <a:solidFill>
                <a:schemeClr val="bg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71885" y="3935728"/>
            <a:ext cx="298187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Times New Roman Regular" panose="02020603050405020304" charset="0"/>
              </a:rPr>
              <a:t>4</a:t>
            </a:r>
            <a:endParaRPr lang="en-US" sz="2800">
              <a:solidFill>
                <a:schemeClr val="bg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27" name="矩形: 圆角 21"/>
          <p:cNvSpPr/>
          <p:nvPr/>
        </p:nvSpPr>
        <p:spPr>
          <a:xfrm>
            <a:off x="1094506" y="1630472"/>
            <a:ext cx="1875390" cy="439690"/>
          </a:xfrm>
          <a:prstGeom prst="roundRect">
            <a:avLst>
              <a:gd name="adj" fmla="val 50000"/>
            </a:avLst>
          </a:prstGeom>
          <a:solidFill>
            <a:srgbClr val="3F51B6"/>
          </a:solidFill>
          <a:ln w="12700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zh-CN" sz="2000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性能需求</a:t>
            </a:r>
            <a:r>
              <a:rPr lang="en-US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    </a:t>
            </a:r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sp>
        <p:nvSpPr>
          <p:cNvPr id="28" name="矩形: 圆角 25"/>
          <p:cNvSpPr/>
          <p:nvPr/>
        </p:nvSpPr>
        <p:spPr>
          <a:xfrm>
            <a:off x="9105031" y="1630472"/>
            <a:ext cx="1875390" cy="439690"/>
          </a:xfrm>
          <a:prstGeom prst="roundRect">
            <a:avLst>
              <a:gd name="adj" fmla="val 50000"/>
            </a:avLst>
          </a:prstGeom>
          <a:solidFill>
            <a:srgbClr val="3F51B6"/>
          </a:solidFill>
          <a:ln w="12700">
            <a:noFill/>
            <a:prstDash val="solid"/>
            <a:miter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2000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安全需求</a:t>
            </a:r>
            <a:r>
              <a:rPr lang="zh-CN" sz="2000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    </a:t>
            </a:r>
            <a:endParaRPr lang="zh-CN" sz="2000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  <p:sp>
        <p:nvSpPr>
          <p:cNvPr id="29" name="矩形: 圆角 26"/>
          <p:cNvSpPr/>
          <p:nvPr/>
        </p:nvSpPr>
        <p:spPr>
          <a:xfrm>
            <a:off x="1094506" y="4127207"/>
            <a:ext cx="1875390" cy="439690"/>
          </a:xfrm>
          <a:prstGeom prst="roundRect">
            <a:avLst>
              <a:gd name="adj" fmla="val 50000"/>
            </a:avLst>
          </a:prstGeom>
          <a:solidFill>
            <a:srgbClr val="3F51B6"/>
          </a:solidFill>
          <a:ln w="12700">
            <a:noFill/>
            <a:prstDash val="solid"/>
            <a:miter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2000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易用性需求</a:t>
            </a:r>
            <a:r>
              <a:rPr lang="zh-CN" sz="2000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    </a:t>
            </a:r>
            <a:endParaRPr lang="zh-CN" sz="2000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  <p:sp>
        <p:nvSpPr>
          <p:cNvPr id="30" name="矩形: 圆角 27"/>
          <p:cNvSpPr/>
          <p:nvPr/>
        </p:nvSpPr>
        <p:spPr>
          <a:xfrm>
            <a:off x="9105031" y="4127207"/>
            <a:ext cx="1875390" cy="439690"/>
          </a:xfrm>
          <a:prstGeom prst="roundRect">
            <a:avLst>
              <a:gd name="adj" fmla="val 50000"/>
            </a:avLst>
          </a:prstGeom>
          <a:solidFill>
            <a:srgbClr val="3F51B6"/>
          </a:solidFill>
          <a:ln w="12700">
            <a:noFill/>
            <a:prstDash val="solid"/>
            <a:miter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2000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可维护性</a:t>
            </a:r>
            <a:r>
              <a:rPr lang="zh-CN" sz="2000">
                <a:solidFill>
                  <a:schemeClr val="lt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    </a:t>
            </a:r>
            <a:endParaRPr lang="zh-CN" sz="2000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1111885" y="2411730"/>
            <a:ext cx="92710" cy="9334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 sz="1600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00929" y="2243685"/>
            <a:ext cx="415596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平台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全系统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响应时间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111776" y="2825606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 sz="1600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301115" y="2660015"/>
            <a:ext cx="397573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文本标注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精度</a:t>
            </a:r>
            <a:endParaRPr lang="zh-SG" altLang="en-US" sz="1600" b="0" i="0" dirty="0">
              <a:solidFill>
                <a:srgbClr val="060607"/>
              </a:solidFill>
              <a:effectLst/>
              <a:latin typeface="腾讯字体包" panose="02010600010101010101" charset="-128"/>
              <a:ea typeface="腾讯字体包" panose="02010600010101010101" charset="-128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6635303" y="2324846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824456" y="2166195"/>
            <a:ext cx="415596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数据保密（用户信息安全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等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）</a:t>
            </a:r>
            <a:endParaRPr lang="en-US" sz="1600" dirty="0">
              <a:solidFill>
                <a:srgbClr val="060607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1111776" y="4913255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300929" y="4732379"/>
            <a:ext cx="4422154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是否有图形化界面提示、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新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用户指引</a:t>
            </a:r>
            <a:endParaRPr lang="zh-SG" altLang="en-US" sz="1600" b="0" i="0" dirty="0">
              <a:solidFill>
                <a:srgbClr val="060607"/>
              </a:solidFill>
              <a:effectLst/>
              <a:latin typeface="腾讯字体包" panose="02010600010101010101" charset="-128"/>
              <a:ea typeface="腾讯字体包" panose="02010600010101010101" charset="-128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6635303" y="4913255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824456" y="4732379"/>
            <a:ext cx="4353701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代码风格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一致，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功能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模块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代码的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解耦性</a:t>
            </a:r>
            <a:endParaRPr lang="en-US" altLang="zh-SG" sz="1600" b="0" i="0" dirty="0">
              <a:solidFill>
                <a:srgbClr val="060607"/>
              </a:solidFill>
              <a:effectLst/>
              <a:latin typeface="腾讯字体包" panose="02010600010101010101" charset="-128"/>
              <a:ea typeface="腾讯字体包" panose="02010600010101010101" charset="-128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111776" y="3274536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 sz="1600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301115" y="3099420"/>
            <a:ext cx="397573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可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批量处理的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文档大小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宋体" panose="02010600030101010101" pitchFamily="2" charset="-122"/>
                <a:cs typeface="腾讯字体包" panose="02010600010101010101" charset="-128"/>
                <a:sym typeface="+mn-ea"/>
              </a:rPr>
              <a:t>、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数量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43172" y="2672501"/>
            <a:ext cx="3932143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用户权限管理</a:t>
            </a:r>
            <a:endParaRPr lang="zh-CN" sz="1600" dirty="0">
              <a:solidFill>
                <a:srgbClr val="060607"/>
              </a:solidFill>
              <a:effectLst/>
              <a:latin typeface="腾讯字体包" panose="02010600010101010101" charset="-128"/>
              <a:ea typeface="宋体" panose="02010600030101010101" pitchFamily="2" charset="-122"/>
              <a:cs typeface="腾讯字体包" panose="02010600010101010101" charset="-128"/>
              <a:sym typeface="+mn-ea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6635894" y="2785492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111776" y="5376844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6632719" y="5443964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821872" y="5263088"/>
            <a:ext cx="4353701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600" b="0" i="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多应用领域的场景</a:t>
            </a:r>
            <a:r>
              <a:rPr lang="zh-CN" sz="1600" b="0" i="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下组件扩展和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功能升级</a:t>
            </a:r>
            <a:endParaRPr lang="zh-CN" sz="1600" b="0" i="0" dirty="0">
              <a:solidFill>
                <a:srgbClr val="060607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300929" y="5214979"/>
            <a:ext cx="4422154" cy="4108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登陆注册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页面密码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可隐藏等</a:t>
            </a:r>
            <a:endParaRPr lang="zh-CN" sz="1600" dirty="0">
              <a:solidFill>
                <a:srgbClr val="060607"/>
              </a:solidFill>
              <a:effectLst/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839362" y="3144306"/>
            <a:ext cx="3932143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用户操作</a:t>
            </a:r>
            <a:r>
              <a:rPr lang="zh-CN"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时系统后台</a:t>
            </a:r>
            <a:r>
              <a:rPr sz="1600" dirty="0">
                <a:solidFill>
                  <a:srgbClr val="060607"/>
                </a:solidFill>
                <a:effectLst/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是否有日志</a:t>
            </a:r>
            <a:endParaRPr lang="zh-CN" sz="1600" dirty="0">
              <a:solidFill>
                <a:srgbClr val="060607"/>
              </a:solidFill>
              <a:effectLst/>
              <a:latin typeface="腾讯字体包" panose="02010600010101010101" charset="-128"/>
              <a:ea typeface="宋体" panose="02010600030101010101" pitchFamily="2" charset="-122"/>
              <a:cs typeface="腾讯字体包" panose="02010600010101010101" charset="-128"/>
              <a:sym typeface="+mn-ea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6632084" y="3257297"/>
            <a:ext cx="92992" cy="929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  <a:latin typeface="腾讯字体包" panose="02010600010101010101" charset="-128"/>
              <a:ea typeface="腾讯字体包" panose="02010600010101010101" charset="-128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82710" y="712715"/>
            <a:ext cx="5289172" cy="572075"/>
            <a:chOff x="582710" y="712715"/>
            <a:chExt cx="5289172" cy="572075"/>
          </a:xfrm>
        </p:grpSpPr>
        <p:sp>
          <p:nvSpPr>
            <p:cNvPr id="11" name="矩形 10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76164" y="712715"/>
              <a:ext cx="519571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工作量统计</a:t>
              </a:r>
              <a:r>
                <a:rPr kumimoji="1" lang="en-US" altLang="zh-CN" sz="2800" dirty="0">
                  <a:latin typeface="腾讯字体包" panose="02010600010101010101" charset="-128"/>
                  <a:ea typeface="腾讯字体包" panose="02010600010101010101" charset="-128"/>
                </a:rPr>
                <a:t>——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week2</a:t>
              </a:r>
              <a:endParaRPr lang="zh-CN" altLang="en-US" sz="3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260" y="1580515"/>
            <a:ext cx="3350260" cy="27387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4615180"/>
            <a:ext cx="2830830" cy="19856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b="43607"/>
          <a:stretch>
            <a:fillRect/>
          </a:stretch>
        </p:blipFill>
        <p:spPr>
          <a:xfrm>
            <a:off x="3886835" y="1604010"/>
            <a:ext cx="7779385" cy="2266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960" y="4881245"/>
            <a:ext cx="2588260" cy="17195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330" y="4338320"/>
            <a:ext cx="4162425" cy="21463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7895" y="4196080"/>
            <a:ext cx="3539490" cy="68516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598535" y="4824730"/>
            <a:ext cx="21831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2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工作</a:t>
            </a:r>
            <a:r>
              <a:rPr lang="zh-CN" altLang="en-US" sz="12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花费时间</a:t>
            </a:r>
            <a:r>
              <a:rPr lang="zh-CN" altLang="en-US" sz="12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分布柱状图</a:t>
            </a:r>
            <a:endParaRPr lang="zh-CN" altLang="en-US" sz="12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951220" y="1234440"/>
            <a:ext cx="21831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2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工作量统计问卷</a:t>
            </a:r>
            <a:r>
              <a:rPr lang="zh-CN" altLang="en-US" sz="12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台统计表</a:t>
            </a:r>
            <a:endParaRPr lang="zh-CN" altLang="en-US" sz="12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23765" y="4062730"/>
            <a:ext cx="21831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2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工作量自评</a:t>
            </a:r>
            <a:r>
              <a:rPr lang="zh-CN" sz="12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  <a:sym typeface="+mn-ea"/>
              </a:rPr>
              <a:t>统计</a:t>
            </a:r>
            <a:endParaRPr lang="zh-CN" sz="12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内容占位符 10"/>
          <p:cNvPicPr>
            <a:picLocks noGrp="1" noChangeAspect="1"/>
          </p:cNvPicPr>
          <p:nvPr>
            <p:ph idx="1"/>
          </p:nvPr>
        </p:nvPicPr>
        <p:blipFill>
          <a:blip r:embed="rId1"/>
          <a:srcRect l="1076" b="1036"/>
          <a:stretch>
            <a:fillRect/>
          </a:stretch>
        </p:blipFill>
        <p:spPr>
          <a:xfrm>
            <a:off x="7515225" y="1284605"/>
            <a:ext cx="3094355" cy="4306570"/>
          </a:xfrm>
          <a:ln>
            <a:solidFill>
              <a:schemeClr val="tx1"/>
            </a:solidFill>
          </a:ln>
        </p:spPr>
      </p:pic>
      <p:grpSp>
        <p:nvGrpSpPr>
          <p:cNvPr id="7" name="组合 6"/>
          <p:cNvGrpSpPr/>
          <p:nvPr/>
        </p:nvGrpSpPr>
        <p:grpSpPr>
          <a:xfrm>
            <a:off x="582710" y="712715"/>
            <a:ext cx="5289172" cy="572075"/>
            <a:chOff x="582710" y="712715"/>
            <a:chExt cx="5289172" cy="572075"/>
          </a:xfrm>
        </p:grpSpPr>
        <p:sp>
          <p:nvSpPr>
            <p:cNvPr id="8" name="矩形 7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76164" y="712715"/>
              <a:ext cx="519571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文档撰写</a:t>
              </a:r>
              <a:r>
                <a:rPr kumimoji="1" lang="en-US" altLang="zh-CN" sz="2800" dirty="0">
                  <a:latin typeface="腾讯字体包" panose="02010600010101010101" charset="-128"/>
                  <a:ea typeface="腾讯字体包" panose="02010600010101010101" charset="-128"/>
                </a:rPr>
                <a:t>——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参考规范</a:t>
              </a:r>
              <a:endParaRPr kumimoji="1" lang="zh-CN" altLang="en-US" sz="2800" dirty="0">
                <a:latin typeface="腾讯字体包" panose="02010600010101010101" charset="-128"/>
                <a:ea typeface="腾讯字体包" panose="02010600010101010101" charset="-128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174805" y="2599790"/>
            <a:ext cx="6102626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kumimoji="1" lang="zh-CN" altLang="en-US" sz="20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本项目需求文档参照</a:t>
            </a:r>
            <a:r>
              <a:rPr kumimoji="1" lang="en-US" altLang="zh-CN" sz="2000" b="1" dirty="0">
                <a:solidFill>
                  <a:srgbClr val="FF000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《GB/T 9385 </a:t>
            </a:r>
            <a:r>
              <a:rPr kumimoji="1" lang="zh-CN" altLang="en-US" sz="2000" b="1" dirty="0">
                <a:solidFill>
                  <a:srgbClr val="FF000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计算机软件需求规格说明规范</a:t>
            </a:r>
            <a:r>
              <a:rPr kumimoji="1" lang="en-US" altLang="zh-CN" sz="2000" b="1" dirty="0">
                <a:solidFill>
                  <a:srgbClr val="FF0000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》</a:t>
            </a:r>
            <a:r>
              <a:rPr kumimoji="1" lang="zh-CN" altLang="en-US" sz="20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撰写，使用国家标准中按照运行模式组织的</a:t>
            </a:r>
            <a:r>
              <a:rPr kumimoji="1" lang="en-US" altLang="zh-CN" sz="20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SRS</a:t>
            </a:r>
            <a:r>
              <a:rPr kumimoji="1" lang="zh-CN" altLang="en-US" sz="20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模板。</a:t>
            </a:r>
            <a:endParaRPr kumimoji="1" lang="en-US" altLang="zh-CN" sz="20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0875" y="1681480"/>
          <a:ext cx="4556760" cy="396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760"/>
              </a:tblGrid>
              <a:tr h="3054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3F51B6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已 完 成</a:t>
                      </a:r>
                      <a:endParaRPr lang="zh-CN" altLang="en-US" sz="2800" dirty="0">
                        <a:solidFill>
                          <a:srgbClr val="3F51B6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CE8">
                        <a:alpha val="36000"/>
                      </a:srgbClr>
                    </a:solidFill>
                  </a:tcPr>
                </a:tc>
              </a:tr>
              <a:tr h="3442970">
                <a:tc>
                  <a:txBody>
                    <a:bodyPr/>
                    <a:lstStyle/>
                    <a:p>
                      <a:pPr marL="800100" lvl="1" indent="-34290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Ø"/>
                      </a:pPr>
                      <a:endParaRPr lang="zh-CN" altLang="en-US" sz="16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目标用户分析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使用场景分析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系统工作流程分析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总体需求概述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功能性需求概述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用户用例图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非功能性需求概述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055" y="2150110"/>
            <a:ext cx="6180455" cy="34925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3" name="组合 12"/>
          <p:cNvGrpSpPr/>
          <p:nvPr/>
        </p:nvGrpSpPr>
        <p:grpSpPr>
          <a:xfrm>
            <a:off x="582710" y="712715"/>
            <a:ext cx="5289172" cy="572075"/>
            <a:chOff x="582710" y="712715"/>
            <a:chExt cx="5289172" cy="572075"/>
          </a:xfrm>
        </p:grpSpPr>
        <p:sp>
          <p:nvSpPr>
            <p:cNvPr id="14" name="矩形 13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76164" y="712715"/>
              <a:ext cx="519571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文档撰写</a:t>
              </a:r>
              <a:r>
                <a:rPr kumimoji="1" lang="en-US" altLang="zh-CN" sz="2800" dirty="0">
                  <a:latin typeface="腾讯字体包" panose="02010600010101010101" charset="-128"/>
                  <a:ea typeface="腾讯字体包" panose="02010600010101010101" charset="-128"/>
                </a:rPr>
                <a:t>——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进度情况</a:t>
              </a:r>
              <a:endParaRPr kumimoji="1" lang="zh-CN" altLang="en-US" sz="2800" dirty="0">
                <a:latin typeface="腾讯字体包" panose="02010600010101010101" charset="-128"/>
                <a:ea typeface="腾讯字体包" panose="02010600010101010101" charset="-128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397635"/>
          <a:ext cx="9980930" cy="5149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0930"/>
              </a:tblGrid>
              <a:tr h="541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>
                          <a:solidFill>
                            <a:srgbClr val="3F51B6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腾讯字体包" panose="02010600010101010101" charset="-128"/>
                        </a:rPr>
                        <a:t>待 完 成</a:t>
                      </a:r>
                      <a:endParaRPr lang="zh-CN" altLang="en-US" sz="2800" dirty="0">
                        <a:solidFill>
                          <a:srgbClr val="3F51B6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腾讯字体包" panose="02010600010101010101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CE8">
                        <a:alpha val="36000"/>
                      </a:srgbClr>
                    </a:solidFill>
                  </a:tcPr>
                </a:tc>
              </a:tr>
              <a:tr h="4608195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82710" y="712715"/>
            <a:ext cx="5289172" cy="572075"/>
            <a:chOff x="582710" y="712715"/>
            <a:chExt cx="5289172" cy="572075"/>
          </a:xfrm>
        </p:grpSpPr>
        <p:sp>
          <p:nvSpPr>
            <p:cNvPr id="6" name="矩形 5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76164" y="712715"/>
              <a:ext cx="519571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文档撰写</a:t>
              </a:r>
              <a:r>
                <a:rPr kumimoji="1" lang="en-US" altLang="zh-CN" sz="2800" dirty="0">
                  <a:latin typeface="腾讯字体包" panose="02010600010101010101" charset="-128"/>
                  <a:ea typeface="腾讯字体包" panose="02010600010101010101" charset="-128"/>
                </a:rPr>
                <a:t>——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进度情况</a:t>
              </a:r>
              <a:endParaRPr kumimoji="1" lang="zh-CN" altLang="en-US" sz="2800" dirty="0">
                <a:latin typeface="腾讯字体包" panose="02010600010101010101" charset="-128"/>
                <a:ea typeface="腾讯字体包" panose="02010600010101010101" charset="-128"/>
              </a:endParaRPr>
            </a:p>
          </p:txBody>
        </p:sp>
      </p:grpSp>
      <p:sp>
        <p:nvSpPr>
          <p:cNvPr id="8" name="文本框 4"/>
          <p:cNvSpPr txBox="1"/>
          <p:nvPr/>
        </p:nvSpPr>
        <p:spPr>
          <a:xfrm>
            <a:off x="1124585" y="1990090"/>
            <a:ext cx="9498965" cy="43872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软件需求规格说明书</a:t>
            </a: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撰写</a:t>
            </a:r>
            <a:endParaRPr lang="en-US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引言</a:t>
            </a:r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文档说明</a:t>
            </a:r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术语与缩略语</a:t>
            </a:r>
            <a:endParaRPr lang="en-US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总体描述</a:t>
            </a:r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进行系统的总体描述</a:t>
            </a:r>
            <a:endParaRPr lang="zh-CN" altLang="en-US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需求分析</a:t>
            </a:r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从使用者角度进行总体需求分析，给出用户用例图和总体用例图</a:t>
            </a:r>
            <a:endParaRPr lang="zh-CN" altLang="en-US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功能性需求</a:t>
            </a:r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针对各个功能点给出RUCM表</a:t>
            </a:r>
            <a:endParaRPr lang="zh-CN" altLang="en-US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非功能性需求</a:t>
            </a:r>
            <a:endParaRPr lang="en-US" altLang="zh-CN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运行环境规定</a:t>
            </a:r>
            <a:endParaRPr lang="en-US" sz="1600" dirty="0"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82710" y="712715"/>
            <a:ext cx="5289172" cy="572075"/>
            <a:chOff x="582710" y="712715"/>
            <a:chExt cx="5289172" cy="572075"/>
          </a:xfrm>
        </p:grpSpPr>
        <p:sp>
          <p:nvSpPr>
            <p:cNvPr id="5" name="矩形 4"/>
            <p:cNvSpPr/>
            <p:nvPr/>
          </p:nvSpPr>
          <p:spPr>
            <a:xfrm flipV="1">
              <a:off x="582710" y="717952"/>
              <a:ext cx="93455" cy="566838"/>
            </a:xfrm>
            <a:prstGeom prst="rect">
              <a:avLst/>
            </a:prstGeom>
            <a:solidFill>
              <a:srgbClr val="3F51B6"/>
            </a:solidFill>
            <a:ln>
              <a:solidFill>
                <a:srgbClr val="3F51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76164" y="712715"/>
              <a:ext cx="519571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文档撰写</a:t>
              </a:r>
              <a:r>
                <a:rPr kumimoji="1" lang="en-US" altLang="zh-CN" sz="2800" dirty="0">
                  <a:latin typeface="腾讯字体包" panose="02010600010101010101" charset="-128"/>
                  <a:ea typeface="腾讯字体包" panose="02010600010101010101" charset="-128"/>
                </a:rPr>
                <a:t>——</a:t>
              </a:r>
              <a:r>
                <a:rPr kumimoji="1" lang="zh-CN" altLang="en-US" sz="2800" dirty="0">
                  <a:latin typeface="腾讯字体包" panose="02010600010101010101" charset="-128"/>
                  <a:ea typeface="腾讯字体包" panose="02010600010101010101" charset="-128"/>
                </a:rPr>
                <a:t>具体分工</a:t>
              </a:r>
              <a:endParaRPr kumimoji="1" lang="zh-CN" altLang="en-US" sz="2800" dirty="0">
                <a:latin typeface="腾讯字体包" panose="02010600010101010101" charset="-128"/>
                <a:ea typeface="腾讯字体包" panose="02010600010101010101" charset="-128"/>
              </a:endParaRPr>
            </a:p>
          </p:txBody>
        </p:sp>
      </p:grpSp>
      <p:graphicFrame>
        <p:nvGraphicFramePr>
          <p:cNvPr id="8" name="Google Shape;392;p50"/>
          <p:cNvGraphicFramePr/>
          <p:nvPr/>
        </p:nvGraphicFramePr>
        <p:xfrm>
          <a:off x="1297500" y="1626257"/>
          <a:ext cx="9487535" cy="3824605"/>
        </p:xfrm>
        <a:graphic>
          <a:graphicData uri="http://schemas.openxmlformats.org/drawingml/2006/table">
            <a:tbl>
              <a:tblPr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978299"/>
                <a:gridCol w="3399155"/>
                <a:gridCol w="4110067"/>
              </a:tblGrid>
              <a:tr h="4613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 b="1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任务名称</a:t>
                      </a:r>
                      <a:endParaRPr lang="zh-CN" sz="2000" b="1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solidFill>
                      <a:srgbClr val="3D5CE8">
                        <a:alpha val="36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 b="1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负责人</a:t>
                      </a:r>
                      <a:endParaRPr lang="zh-CN" sz="2000" b="1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solidFill>
                      <a:srgbClr val="3D5CE8">
                        <a:alpha val="36000"/>
                      </a:srgbClr>
                    </a:solidFill>
                  </a:tcPr>
                </a:tc>
              </a:tr>
              <a:tr h="553293">
                <a:tc rowSpan="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80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文档撰写</a:t>
                      </a:r>
                      <a:endParaRPr lang="zh-CN" sz="180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引言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窦建玲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</a:tr>
              <a:tr h="553293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总体描述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孙烨、苏丁力、曾祥华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</a:tr>
              <a:tr h="553293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需求分析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孙烨、苏丁力、曾祥华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</a:tr>
              <a:tr h="525145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功能性需求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郭鑫、侯越、魏云龙、</a:t>
                      </a:r>
                      <a:r>
                        <a:rPr lang="zh-CN" altLang="en-US" sz="1800" dirty="0">
                          <a:latin typeface="腾讯字体包" panose="02010600010101010101" charset="-128"/>
                          <a:ea typeface="腾讯字体包" panose="02010600010101010101" charset="-128"/>
                        </a:rPr>
                        <a:t>张宸恺、窦建玲</a:t>
                      </a:r>
                      <a:endParaRPr lang="zh-CN" altLang="en-US" sz="1800" dirty="0">
                        <a:latin typeface="腾讯字体包" panose="02010600010101010101" charset="-128"/>
                        <a:ea typeface="腾讯字体包" panose="02010600010101010101" charset="-128"/>
                      </a:endParaRPr>
                    </a:p>
                  </a:txBody>
                  <a:tcPr marL="91425" marR="91425" marT="91425" marB="91425" anchor="ctr"/>
                </a:tc>
              </a:tr>
              <a:tr h="553293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非功能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性</a:t>
                      </a:r>
                      <a:r>
                        <a:rPr lang="zh-CN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需求</a:t>
                      </a:r>
                      <a:endParaRPr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孙烨、刘顺博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</a:tr>
              <a:tr h="553293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运行环境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规定</a:t>
                      </a:r>
                      <a:endParaRPr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腾讯字体包" panose="02010600010101010101" charset="-128"/>
                          <a:ea typeface="腾讯字体包" panose="02010600010101010101" charset="-128"/>
                          <a:cs typeface="Montserrat"/>
                          <a:sym typeface="Montserrat"/>
                        </a:rPr>
                        <a:t>窦建玲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腾讯字体包" panose="02010600010101010101" charset="-128"/>
                        <a:ea typeface="腾讯字体包" panose="02010600010101010101" charset="-128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620647" y="991340"/>
            <a:ext cx="7490619" cy="0"/>
          </a:xfrm>
          <a:prstGeom prst="line">
            <a:avLst/>
          </a:prstGeom>
          <a:ln w="19050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249894" y="756499"/>
            <a:ext cx="0" cy="3816888"/>
          </a:xfrm>
          <a:prstGeom prst="line">
            <a:avLst/>
          </a:prstGeom>
          <a:ln w="19050" cmpd="sng">
            <a:solidFill>
              <a:schemeClr val="accent5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411972" y="5401240"/>
            <a:ext cx="6254002" cy="0"/>
          </a:xfrm>
          <a:prstGeom prst="line">
            <a:avLst/>
          </a:prstGeom>
          <a:ln w="15875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1095703" y="2853976"/>
            <a:ext cx="0" cy="3642258"/>
          </a:xfrm>
          <a:prstGeom prst="line">
            <a:avLst/>
          </a:prstGeom>
          <a:ln w="19050" cmpd="sng">
            <a:solidFill>
              <a:schemeClr val="accent5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>
          <a:xfrm>
            <a:off x="3344691" y="3730563"/>
            <a:ext cx="5136774" cy="45165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61436" y="3771724"/>
            <a:ext cx="245539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汇报人：软件工程</a:t>
            </a:r>
            <a:r>
              <a:rPr lang="en-US" altLang="zh-CN" dirty="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腾讯字体包" panose="02010600010101010101" charset="-128"/>
                <a:ea typeface="腾讯字体包" panose="02010600010101010101" charset="-128"/>
                <a:cs typeface="腾讯字体包" panose="02010600010101010101" charset="-128"/>
              </a:rPr>
              <a:t>组 </a:t>
            </a:r>
            <a:endParaRPr lang="en-US" altLang="zh-CN" dirty="0">
              <a:solidFill>
                <a:schemeClr val="bg1"/>
              </a:solidFill>
              <a:latin typeface="腾讯字体包" panose="02010600010101010101" charset="-128"/>
              <a:ea typeface="腾讯字体包" panose="02010600010101010101" charset="-128"/>
              <a:cs typeface="腾讯字体包" panose="02010600010101010101" charset="-128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1048355" y="1220494"/>
            <a:ext cx="7490619" cy="0"/>
          </a:xfrm>
          <a:prstGeom prst="line">
            <a:avLst/>
          </a:prstGeom>
          <a:ln w="15875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096540" y="5197551"/>
            <a:ext cx="6254002" cy="0"/>
          </a:xfrm>
          <a:prstGeom prst="line">
            <a:avLst/>
          </a:prstGeom>
          <a:ln w="19050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21995" y="2332990"/>
            <a:ext cx="10745470" cy="1108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dirty="0">
                <a:solidFill>
                  <a:srgbClr val="005BAC"/>
                </a:solidFill>
                <a:latin typeface="腾讯字体包" panose="02010600010101010101" charset="-128"/>
                <a:ea typeface="腾讯字体包" panose="02010600010101010101" charset="-128"/>
              </a:rPr>
              <a:t>请老师批评指正！</a:t>
            </a:r>
            <a:endParaRPr lang="zh-CN" altLang="en-US" sz="4800" dirty="0">
              <a:solidFill>
                <a:srgbClr val="005BAC"/>
              </a:solidFill>
              <a:latin typeface="腾讯字体包" panose="02010600010101010101" charset="-128"/>
              <a:ea typeface="腾讯字体包" panose="02010600010101010101" charset="-128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TABLE_ENDDRAG_ORIGIN_RECT" val="358*311"/>
  <p:tag name="TABLE_ENDDRAG_RECT" val="53*132*358*311"/>
</p:tagLst>
</file>

<file path=ppt/tags/tag8.xml><?xml version="1.0" encoding="utf-8"?>
<p:tagLst xmlns:p="http://schemas.openxmlformats.org/presentationml/2006/main">
  <p:tag name="TABLE_ENDDRAG_ORIGIN_RECT" val="785*405"/>
  <p:tag name="TABLE_ENDDRAG_RECT" val="66*110*785*405"/>
</p:tagLst>
</file>

<file path=ppt/tags/tag9.xml><?xml version="1.0" encoding="utf-8"?>
<p:tagLst xmlns:p="http://schemas.openxmlformats.org/presentationml/2006/main">
  <p:tag name="commondata" val="eyJoZGlkIjoiZWI2ODY4Mjc4MzcyZTA5OTVjNTdkOWI5NWI5OTQ2Nz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2894</Words>
  <Application>WPS 演示</Application>
  <PresentationFormat>宽屏</PresentationFormat>
  <Paragraphs>372</Paragraphs>
  <Slides>15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汉仪君黑-45简</vt:lpstr>
      <vt:lpstr>微软雅黑</vt:lpstr>
      <vt:lpstr>腾讯字体包</vt:lpstr>
      <vt:lpstr>Times New Roman</vt:lpstr>
      <vt:lpstr>等线</vt:lpstr>
      <vt:lpstr>Times New Roman Regular</vt:lpstr>
      <vt:lpstr>Wingdings</vt:lpstr>
      <vt:lpstr>Arial</vt:lpstr>
      <vt:lpstr>Montserrat</vt:lpstr>
      <vt:lpstr>Segoe Print</vt:lpstr>
      <vt:lpstr>黑体</vt:lpstr>
      <vt:lpstr>Arial Unicode MS</vt:lpstr>
      <vt:lpstr>等线 Light</vt:lpstr>
      <vt:lpstr>Calibri</vt:lpstr>
      <vt:lpstr>Office 主题​​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面向CI的自动评测系统</dc:title>
  <dc:creator>周雨飞</dc:creator>
  <cp:lastModifiedBy>1130</cp:lastModifiedBy>
  <cp:revision>15</cp:revision>
  <dcterms:created xsi:type="dcterms:W3CDTF">2024-03-21T11:14:00Z</dcterms:created>
  <dcterms:modified xsi:type="dcterms:W3CDTF">2024-03-28T01:49:49Z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079F26B6A7DB40C78D9F27C1CC767289_13</vt:lpwstr>
  </property>
  <property fmtid="{D5CDD505-2E9C-101B-9397-08002B2CF9AE}" pid="3" name="KSOProductBuildVer">
    <vt:lpwstr>2052-12.1.0.16412</vt:lpwstr>
  </property>
</Properties>
</file>