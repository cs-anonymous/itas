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92" r:id="rId3"/>
    <p:sldId id="358" r:id="rId4"/>
    <p:sldId id="347" r:id="rId5"/>
    <p:sldId id="348" r:id="rId6"/>
    <p:sldId id="361" r:id="rId8"/>
    <p:sldId id="352" r:id="rId9"/>
    <p:sldId id="362" r:id="rId10"/>
    <p:sldId id="363" r:id="rId11"/>
    <p:sldId id="364" r:id="rId12"/>
    <p:sldId id="365" r:id="rId13"/>
    <p:sldId id="366" r:id="rId14"/>
    <p:sldId id="368" r:id="rId15"/>
    <p:sldId id="369" r:id="rId16"/>
    <p:sldId id="373" r:id="rId17"/>
    <p:sldId id="372" r:id="rId18"/>
    <p:sldId id="370" r:id="rId19"/>
  </p:sldIdLst>
  <p:sldSz cx="12192000" cy="6858000"/>
  <p:notesSz cx="6858000" cy="9144000"/>
  <p:embeddedFontLst>
    <p:embeddedFont>
      <p:font typeface="腾讯字体包" panose="02010600010101010101" charset="-128"/>
      <p:regular r:id="rId24"/>
    </p:embeddedFont>
    <p:embeddedFont>
      <p:font typeface="等线" panose="02010600030101010101" charset="-122"/>
      <p:regular r:id="rId25"/>
    </p:embeddedFont>
    <p:embeddedFont>
      <p:font typeface="等线 Light" panose="02010600030101010101" charset="-122"/>
      <p:regular r:id="rId26"/>
    </p:embeddedFont>
  </p:embeddedFontLst>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0" userDrawn="1">
          <p15:clr>
            <a:srgbClr val="A4A3A4"/>
          </p15:clr>
        </p15:guide>
        <p15:guide id="2" pos="380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潘 叙辰" initials="潘"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51B6"/>
    <a:srgbClr val="F44336"/>
    <a:srgbClr val="3D5CE8"/>
    <a:srgbClr val="FFC107"/>
    <a:srgbClr val="0353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85" autoAdjust="0"/>
    <p:restoredTop sz="89774" autoAdjust="0"/>
  </p:normalViewPr>
  <p:slideViewPr>
    <p:cSldViewPr snapToGrid="0" snapToObjects="1" showGuides="1">
      <p:cViewPr varScale="1">
        <p:scale>
          <a:sx n="94" d="100"/>
          <a:sy n="94" d="100"/>
        </p:scale>
        <p:origin x="78" y="90"/>
      </p:cViewPr>
      <p:guideLst>
        <p:guide orient="horz" pos="2250"/>
        <p:guide pos="380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gs" Target="tags/tag3.xml"/><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commentAuthors" Target="commen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97A47B-A0D5-DA41-900D-8BC3EE78233D}"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4EB3DA-7079-E949-9421-E14B70A684EB}"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lnSpc>
                <a:spcPct val="150000"/>
              </a:lnSpc>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系统划分为文本标注子系统与智能挖掘子系统。</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50000"/>
              </a:lnSpc>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文本标注子系统的功能目标为提供一个能够完成文本标注与管理的图形化界面平台，以直接提供可供科研使用的有效标注数据或为智能挖掘模型训练提供训练数据。</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智能挖掘子系统的功能目标为向用户提供一个可自动标注并提取有效信息的图形化界面平台。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lnSpc>
                <a:spcPct val="150000"/>
              </a:lnSpc>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系统划分为文本标注子系统与智能挖掘子系统。</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50000"/>
              </a:lnSpc>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文本标注子系统的功能目标为提供一个能够完成文本标注与管理的图形化界面平台，以直接提供可供科研使用的有效标注数据或为智能挖掘模型训练提供训练数据。</a:t>
            </a: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智能挖掘子系统的功能目标为向用户提供一个可自动标注并提取有效信息的图形化界面平台。</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24EB3DA-7079-E949-9421-E14B70A684EB}"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endParaRPr kumimoji="1"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355198AB-6873-054A-AB06-26C5505BAFA0}"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966DED7-2298-EF44-BC75-CCD61101EBFF}"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矩形 11"/>
          <p:cNvSpPr/>
          <p:nvPr userDrawn="1"/>
        </p:nvSpPr>
        <p:spPr>
          <a:xfrm>
            <a:off x="0" y="-13323"/>
            <a:ext cx="12192000" cy="610481"/>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 name="标题占位符 1"/>
          <p:cNvSpPr>
            <a:spLocks noGrp="1"/>
          </p:cNvSpPr>
          <p:nvPr>
            <p:ph type="title"/>
          </p:nvPr>
        </p:nvSpPr>
        <p:spPr>
          <a:xfrm>
            <a:off x="838200" y="787078"/>
            <a:ext cx="10515600" cy="903610"/>
          </a:xfrm>
          <a:prstGeom prst="rect">
            <a:avLst/>
          </a:prstGeom>
        </p:spPr>
        <p:txBody>
          <a:bodyPr vert="horz" lIns="91440" tIns="45720" rIns="91440" bIns="45720" rtlCol="0" anchor="ctr">
            <a:normAutofit/>
          </a:bodyPr>
          <a:lstStyle/>
          <a:p>
            <a:r>
              <a:rPr kumimoji="1" lang="zh-CN" altLang="en-US" dirty="0"/>
              <a:t>单击此处编辑母版标题样式</a:t>
            </a:r>
            <a:endParaRPr kumimoji="1"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endParaRPr kumimoji="1" lang="zh-CN" altLang="en-US" dirty="0"/>
          </a:p>
          <a:p>
            <a:pPr lvl="1"/>
            <a:r>
              <a:rPr kumimoji="1" lang="zh-CN" altLang="en-US" dirty="0"/>
              <a:t>二级</a:t>
            </a:r>
            <a:endParaRPr kumimoji="1" lang="zh-CN" altLang="en-US" dirty="0"/>
          </a:p>
          <a:p>
            <a:pPr lvl="2"/>
            <a:r>
              <a:rPr kumimoji="1" lang="zh-CN" altLang="en-US" dirty="0"/>
              <a:t>三级</a:t>
            </a:r>
            <a:endParaRPr kumimoji="1" lang="zh-CN" altLang="en-US" dirty="0"/>
          </a:p>
          <a:p>
            <a:pPr lvl="3"/>
            <a:r>
              <a:rPr kumimoji="1" lang="zh-CN" altLang="en-US" dirty="0"/>
              <a:t>四级</a:t>
            </a:r>
            <a:endParaRPr kumimoji="1" lang="zh-CN" altLang="en-US" dirty="0"/>
          </a:p>
          <a:p>
            <a:pPr lvl="4"/>
            <a:r>
              <a:rPr kumimoji="1" lang="zh-CN" altLang="en-US" dirty="0"/>
              <a:t>五级</a:t>
            </a:r>
            <a:endParaRPr kumimoji="1" lang="zh-CN" altLang="en-US" dirty="0"/>
          </a:p>
        </p:txBody>
      </p:sp>
      <p:sp>
        <p:nvSpPr>
          <p:cNvPr id="4" name="日期占位符 3"/>
          <p:cNvSpPr>
            <a:spLocks noGrp="1"/>
          </p:cNvSpPr>
          <p:nvPr>
            <p:ph type="dt" sz="half" idx="2"/>
          </p:nvPr>
        </p:nvSpPr>
        <p:spPr>
          <a:xfrm>
            <a:off x="11074077" y="6492875"/>
            <a:ext cx="110634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5198AB-6873-054A-AB06-26C5505BAFA0}" type="datetimeFigureOut">
              <a:rPr kumimoji="1" lang="zh-CN" altLang="en-US" smtClean="0"/>
            </a:fld>
            <a:endParaRPr kumimoji="1" lang="zh-CN" altLang="en-US"/>
          </a:p>
        </p:txBody>
      </p:sp>
      <p:sp>
        <p:nvSpPr>
          <p:cNvPr id="5" name="页脚占位符 4"/>
          <p:cNvSpPr>
            <a:spLocks noGrp="1"/>
          </p:cNvSpPr>
          <p:nvPr>
            <p:ph type="ftr" sz="quarter" idx="3"/>
          </p:nvPr>
        </p:nvSpPr>
        <p:spPr>
          <a:xfrm>
            <a:off x="9556828" y="6492874"/>
            <a:ext cx="1505674"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11563109" y="96654"/>
            <a:ext cx="617315" cy="365125"/>
          </a:xfrm>
          <a:prstGeom prst="rect">
            <a:avLst/>
          </a:prstGeom>
        </p:spPr>
        <p:txBody>
          <a:bodyPr vert="horz" lIns="91440" tIns="45720" rIns="91440" bIns="45720" rtlCol="0" anchor="ctr"/>
          <a:lstStyle>
            <a:lvl1pPr algn="r">
              <a:defRPr sz="2000">
                <a:solidFill>
                  <a:schemeClr val="bg1"/>
                </a:solidFill>
              </a:defRPr>
            </a:lvl1pPr>
          </a:lstStyle>
          <a:p>
            <a:pPr algn="ctr"/>
            <a:fld id="{6966DED7-2298-EF44-BC75-CCD61101EBFF}" type="slidenum">
              <a:rPr kumimoji="1" lang="zh-CN" altLang="en-US" smtClean="0"/>
            </a:fld>
            <a:endParaRPr kumimoji="1" lang="zh-CN" altLang="en-US" dirty="0"/>
          </a:p>
        </p:txBody>
      </p:sp>
      <p:pic>
        <p:nvPicPr>
          <p:cNvPr id="14" name="Picture 4"/>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52878" y="21714"/>
            <a:ext cx="2977333" cy="56611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tags" Target="../tags/tag1.xml"/><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7.emf"/><Relationship Id="rId2" Type="http://schemas.openxmlformats.org/officeDocument/2006/relationships/oleObject" Target="../embeddings/oleObject2.bin"/><Relationship Id="rId1" Type="http://schemas.openxmlformats.org/officeDocument/2006/relationships/image" Target="../media/image8.emf"/></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8.emf"/><Relationship Id="rId2" Type="http://schemas.openxmlformats.org/officeDocument/2006/relationships/image" Target="../media/image9.emf"/><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tags" Target="../tags/tag2.xml"/><Relationship Id="rId2" Type="http://schemas.openxmlformats.org/officeDocument/2006/relationships/image" Target="../media/image4.sv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620647" y="991340"/>
            <a:ext cx="7490619"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249894" y="756499"/>
            <a:ext cx="0" cy="381688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411972" y="5086915"/>
            <a:ext cx="6254002"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1095703" y="2853976"/>
            <a:ext cx="0" cy="364225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sp>
        <p:nvSpPr>
          <p:cNvPr id="27" name="矩形: 圆角 26"/>
          <p:cNvSpPr/>
          <p:nvPr/>
        </p:nvSpPr>
        <p:spPr>
          <a:xfrm>
            <a:off x="3576920" y="3840434"/>
            <a:ext cx="5136774" cy="45165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微软雅黑" panose="020B0503020204020204" charset="-122"/>
              <a:cs typeface="汉仪君黑-45简" panose="020B0604020202020204" charset="-122"/>
            </a:endParaRPr>
          </a:p>
        </p:txBody>
      </p:sp>
      <p:sp>
        <p:nvSpPr>
          <p:cNvPr id="28" name="文本框 27"/>
          <p:cNvSpPr txBox="1"/>
          <p:nvPr/>
        </p:nvSpPr>
        <p:spPr>
          <a:xfrm>
            <a:off x="4809599" y="3879601"/>
            <a:ext cx="4380827" cy="368300"/>
          </a:xfrm>
          <a:prstGeom prst="rect">
            <a:avLst/>
          </a:prstGeom>
          <a:noFill/>
        </p:spPr>
        <p:txBody>
          <a:bodyPr wrap="square" rtlCol="0">
            <a:spAutoFit/>
          </a:bodyPr>
          <a:lstStyle/>
          <a:p>
            <a:r>
              <a:rPr lang="zh-CN" altLang="en-US" dirty="0">
                <a:solidFill>
                  <a:schemeClr val="bg1"/>
                </a:solidFill>
                <a:latin typeface="腾讯字体包" panose="02010600010101010101" charset="-128"/>
                <a:ea typeface="腾讯字体包" panose="02010600010101010101" charset="-128"/>
                <a:cs typeface="腾讯字体包" panose="02010600010101010101" charset="-128"/>
              </a:rPr>
              <a:t>汇报人：软件工程</a:t>
            </a:r>
            <a:r>
              <a:rPr lang="en-US" altLang="zh-CN" dirty="0">
                <a:solidFill>
                  <a:schemeClr val="bg1"/>
                </a:solidFill>
                <a:latin typeface="腾讯字体包" panose="02010600010101010101" charset="-128"/>
                <a:ea typeface="腾讯字体包" panose="02010600010101010101" charset="-128"/>
                <a:cs typeface="腾讯字体包" panose="02010600010101010101" charset="-128"/>
              </a:rPr>
              <a:t>A</a:t>
            </a:r>
            <a:r>
              <a:rPr lang="zh-CN" altLang="en-US" dirty="0">
                <a:solidFill>
                  <a:schemeClr val="bg1"/>
                </a:solidFill>
                <a:latin typeface="腾讯字体包" panose="02010600010101010101" charset="-128"/>
                <a:ea typeface="腾讯字体包" panose="02010600010101010101" charset="-128"/>
                <a:cs typeface="腾讯字体包" panose="02010600010101010101" charset="-128"/>
              </a:rPr>
              <a:t>组 </a:t>
            </a:r>
            <a:endParaRPr lang="en-US" altLang="zh-CN" dirty="0">
              <a:solidFill>
                <a:schemeClr val="bg1"/>
              </a:solidFill>
              <a:latin typeface="腾讯字体包" panose="02010600010101010101" charset="-128"/>
              <a:ea typeface="腾讯字体包" panose="02010600010101010101" charset="-128"/>
              <a:cs typeface="腾讯字体包" panose="02010600010101010101" charset="-128"/>
            </a:endParaRPr>
          </a:p>
        </p:txBody>
      </p:sp>
      <p:cxnSp>
        <p:nvCxnSpPr>
          <p:cNvPr id="33" name="直接连接符 32"/>
          <p:cNvCxnSpPr/>
          <p:nvPr/>
        </p:nvCxnSpPr>
        <p:spPr>
          <a:xfrm>
            <a:off x="1048355" y="1220494"/>
            <a:ext cx="7490619"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5096540" y="4883226"/>
            <a:ext cx="6254002"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721995" y="1996440"/>
            <a:ext cx="10745470" cy="1108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400" b="1" dirty="0">
                <a:solidFill>
                  <a:srgbClr val="005BAC"/>
                </a:solidFill>
                <a:latin typeface="腾讯字体包" panose="02010600010101010101" charset="-128"/>
                <a:ea typeface="腾讯字体包" panose="02010600010101010101" charset="-128"/>
                <a:cs typeface="腾讯字体包" panose="02010600010101010101" charset="-128"/>
              </a:rPr>
              <a:t>智能文本标注系统（</a:t>
            </a:r>
            <a:r>
              <a:rPr lang="en-US" altLang="zh-CN" sz="4400" b="1" dirty="0">
                <a:solidFill>
                  <a:srgbClr val="005BAC"/>
                </a:solidFill>
                <a:latin typeface="腾讯字体包" panose="02010600010101010101" charset="-128"/>
                <a:ea typeface="腾讯字体包" panose="02010600010101010101" charset="-128"/>
                <a:cs typeface="腾讯字体包" panose="02010600010101010101" charset="-128"/>
              </a:rPr>
              <a:t>ITAS</a:t>
            </a:r>
            <a:r>
              <a:rPr lang="zh-CN" altLang="en-US" sz="4400" b="1" dirty="0">
                <a:solidFill>
                  <a:srgbClr val="005BAC"/>
                </a:solidFill>
                <a:latin typeface="腾讯字体包" panose="02010600010101010101" charset="-128"/>
                <a:ea typeface="腾讯字体包" panose="02010600010101010101" charset="-128"/>
                <a:cs typeface="腾讯字体包" panose="02010600010101010101" charset="-128"/>
              </a:rPr>
              <a:t>）</a:t>
            </a:r>
            <a:endParaRPr lang="zh-CN" altLang="en-US" sz="4400" b="1" dirty="0">
              <a:solidFill>
                <a:srgbClr val="005BAC"/>
              </a:solidFill>
              <a:latin typeface="腾讯字体包" panose="02010600010101010101" charset="-128"/>
              <a:ea typeface="腾讯字体包" panose="02010600010101010101" charset="-128"/>
              <a:cs typeface="腾讯字体包" panose="02010600010101010101" charset="-128"/>
            </a:endParaRPr>
          </a:p>
        </p:txBody>
      </p:sp>
      <p:pic>
        <p:nvPicPr>
          <p:cNvPr id="3" name="图片 2" descr="图标"/>
          <p:cNvPicPr>
            <a:picLocks noChangeAspect="1"/>
          </p:cNvPicPr>
          <p:nvPr/>
        </p:nvPicPr>
        <p:blipFill>
          <a:blip r:embed="rId1"/>
          <a:stretch>
            <a:fillRect/>
          </a:stretch>
        </p:blipFill>
        <p:spPr>
          <a:xfrm>
            <a:off x="9451340" y="546735"/>
            <a:ext cx="1899285" cy="1899285"/>
          </a:xfrm>
          <a:prstGeom prst="rect">
            <a:avLst/>
          </a:prstGeom>
        </p:spPr>
      </p:pic>
      <p:sp>
        <p:nvSpPr>
          <p:cNvPr id="121" name="TextBox 27"/>
          <p:cNvSpPr txBox="1"/>
          <p:nvPr/>
        </p:nvSpPr>
        <p:spPr>
          <a:xfrm>
            <a:off x="1478280" y="5165725"/>
            <a:ext cx="8943975" cy="1337945"/>
          </a:xfrm>
          <a:prstGeom prst="rect">
            <a:avLst/>
          </a:prstGeom>
          <a:noFill/>
        </p:spPr>
        <p:txBody>
          <a:bodyPr wrap="square">
            <a:spAutoFit/>
          </a:bodyPr>
          <a:lstStyle/>
          <a:p>
            <a:pPr algn="ctr">
              <a:lnSpc>
                <a:spcPct val="150000"/>
              </a:lnSpc>
            </a:pPr>
            <a:r>
              <a:rPr lang="en-US"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rPr>
              <a:t>孙烨-BY2306093 </a:t>
            </a: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   苏丁力-BY2306092</a:t>
            </a:r>
            <a:r>
              <a:rPr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曾祥华-BY2206062</a:t>
            </a: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rPr>
              <a:t> </a:t>
            </a:r>
            <a:endParaRPr dirty="0">
              <a:solidFill>
                <a:srgbClr val="0070C0"/>
              </a:solidFill>
              <a:latin typeface="腾讯字体包" panose="02010600010101010101" charset="-128"/>
              <a:ea typeface="腾讯字体包" panose="02010600010101010101" charset="-128"/>
              <a:cs typeface="腾讯字体包" panose="02010600010101010101" charset="-128"/>
            </a:endParaRPr>
          </a:p>
          <a:p>
            <a:pPr algn="ctr">
              <a:lnSpc>
                <a:spcPct val="150000"/>
              </a:lnSpc>
            </a:pP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侯越-BY2306087</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    </a:t>
            </a:r>
            <a:r>
              <a:rPr dirty="0">
                <a:solidFill>
                  <a:srgbClr val="0070C0"/>
                </a:solidFill>
                <a:latin typeface="腾讯字体包" panose="02010600010101010101" charset="-128"/>
                <a:ea typeface="腾讯字体包" panose="02010600010101010101" charset="-128"/>
                <a:cs typeface="腾讯字体包" panose="02010600010101010101" charset="-128"/>
              </a:rPr>
              <a:t>郭鑫-BY</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2306085</a:t>
            </a: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魏家龙-BY2306095</a:t>
            </a:r>
            <a:r>
              <a:rPr dirty="0">
                <a:solidFill>
                  <a:srgbClr val="0070C0"/>
                </a:solidFill>
                <a:latin typeface="腾讯字体包" panose="02010600010101010101" charset="-128"/>
                <a:ea typeface="腾讯字体包" panose="02010600010101010101" charset="-128"/>
                <a:cs typeface="腾讯字体包" panose="02010600010101010101" charset="-128"/>
              </a:rPr>
              <a:t>  </a:t>
            </a:r>
            <a:endParaRPr dirty="0">
              <a:solidFill>
                <a:srgbClr val="0070C0"/>
              </a:solidFill>
              <a:latin typeface="腾讯字体包" panose="02010600010101010101" charset="-128"/>
              <a:ea typeface="腾讯字体包" panose="02010600010101010101" charset="-128"/>
              <a:cs typeface="腾讯字体包" panose="02010600010101010101" charset="-128"/>
            </a:endParaRPr>
          </a:p>
          <a:p>
            <a:pPr algn="ctr">
              <a:lnSpc>
                <a:spcPct val="150000"/>
              </a:lnSpc>
            </a:pP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刘顺博-SY2306133</a:t>
            </a:r>
            <a:r>
              <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窦建玲-ZY2306321</a:t>
            </a:r>
            <a:r>
              <a:rPr dirty="0">
                <a:solidFill>
                  <a:srgbClr val="0070C0"/>
                </a:solidFill>
                <a:latin typeface="腾讯字体包" panose="02010600010101010101" charset="-128"/>
                <a:ea typeface="腾讯字体包" panose="02010600010101010101" charset="-128"/>
                <a:cs typeface="腾讯字体包" panose="02010600010101010101" charset="-128"/>
              </a:rPr>
              <a:t>    </a:t>
            </a:r>
            <a:r>
              <a:rPr dirty="0">
                <a:solidFill>
                  <a:srgbClr val="0070C0"/>
                </a:solidFill>
                <a:latin typeface="腾讯字体包" panose="02010600010101010101" charset="-128"/>
                <a:ea typeface="腾讯字体包" panose="02010600010101010101" charset="-128"/>
                <a:cs typeface="腾讯字体包" panose="02010600010101010101" charset="-128"/>
                <a:sym typeface="+mn-ea"/>
              </a:rPr>
              <a:t>张宸恺-ZY2306342</a:t>
            </a:r>
            <a:endParaRPr i="0" kern="1200" spc="0" baseline="0" dirty="0">
              <a:solidFill>
                <a:srgbClr val="0070C0"/>
              </a:solidFill>
              <a:latin typeface="腾讯字体包" panose="02010600010101010101" charset="-128"/>
              <a:ea typeface="腾讯字体包" panose="02010600010101010101" charset="-128"/>
              <a:cs typeface="腾讯字体包" panose="02010600010101010101" charset="-128"/>
              <a:sym typeface="+mn-ea"/>
            </a:endParaRPr>
          </a:p>
        </p:txBody>
      </p:sp>
      <p:sp>
        <p:nvSpPr>
          <p:cNvPr id="2" name="矩形 1"/>
          <p:cNvSpPr/>
          <p:nvPr/>
        </p:nvSpPr>
        <p:spPr>
          <a:xfrm>
            <a:off x="4565015" y="3088005"/>
            <a:ext cx="3215640" cy="5702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rgbClr val="005BAC"/>
                </a:solidFill>
                <a:latin typeface="腾讯字体包" panose="02010600010101010101" charset="-128"/>
                <a:ea typeface="腾讯字体包" panose="02010600010101010101" charset="-128"/>
                <a:cs typeface="腾讯字体包" panose="02010600010101010101" charset="-128"/>
              </a:rPr>
              <a:t>需求分析复评审</a:t>
            </a:r>
            <a:endParaRPr lang="zh-CN" altLang="en-US" sz="2800" dirty="0">
              <a:solidFill>
                <a:srgbClr val="005BAC"/>
              </a:solidFill>
              <a:latin typeface="腾讯字体包" panose="02010600010101010101" charset="-128"/>
              <a:ea typeface="腾讯字体包" panose="02010600010101010101" charset="-128"/>
              <a:cs typeface="腾讯字体包" panose="02010600010101010101"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283625" y="712715"/>
            <a:ext cx="11520000" cy="576000"/>
            <a:chOff x="582710" y="712715"/>
            <a:chExt cx="11527790"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76055"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sym typeface="+mn-ea"/>
                </a:rPr>
                <a:t>本周成员分工</a:t>
              </a:r>
              <a:endParaRPr kumimoji="1" lang="zh-CN" altLang="en-US" sz="2800" dirty="0">
                <a:latin typeface="腾讯字体包" panose="02010600010101010101" charset="-128"/>
                <a:ea typeface="腾讯字体包" panose="02010600010101010101" charset="-128"/>
                <a:sym typeface="+mn-ea"/>
              </a:endParaRPr>
            </a:p>
          </p:txBody>
        </p:sp>
      </p:grpSp>
      <p:grpSp>
        <p:nvGrpSpPr>
          <p:cNvPr id="10" name="组合 9"/>
          <p:cNvGrpSpPr/>
          <p:nvPr/>
        </p:nvGrpSpPr>
        <p:grpSpPr>
          <a:xfrm>
            <a:off x="588010" y="4661535"/>
            <a:ext cx="11093450" cy="1389380"/>
            <a:chOff x="926" y="8211"/>
            <a:chExt cx="17470" cy="2188"/>
          </a:xfrm>
        </p:grpSpPr>
        <p:sp>
          <p:nvSpPr>
            <p:cNvPr id="80" name="矩形: 圆角 20"/>
            <p:cNvSpPr/>
            <p:nvPr/>
          </p:nvSpPr>
          <p:spPr>
            <a:xfrm>
              <a:off x="13054" y="8211"/>
              <a:ext cx="5342" cy="218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81" name="文本框 80"/>
            <p:cNvSpPr txBox="1"/>
            <p:nvPr/>
          </p:nvSpPr>
          <p:spPr>
            <a:xfrm>
              <a:off x="13292" y="8847"/>
              <a:ext cx="5104" cy="1161"/>
            </a:xfrm>
            <a:prstGeom prst="rect">
              <a:avLst/>
            </a:prstGeom>
            <a:noFill/>
          </p:spPr>
          <p:txBody>
            <a:bodyPr wrap="square">
              <a:spAutoFit/>
            </a:bodyPr>
            <a:lstStyle/>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功能需求结构调整</a:t>
              </a:r>
              <a:endParaRPr lang="en-US" altLang="zh-CN" sz="1400" dirty="0">
                <a:latin typeface="腾讯字体包" panose="02010600010101010101" charset="-128"/>
                <a:ea typeface="腾讯字体包" panose="02010600010101010101" charset="-128"/>
                <a:cs typeface="腾讯字体包" panose="02010600010101010101" charset="-128"/>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对</a:t>
              </a:r>
              <a:r>
                <a:rPr lang="en-US" altLang="zh-CN" sz="1400" dirty="0">
                  <a:latin typeface="腾讯字体包" panose="02010600010101010101" charset="-128"/>
                  <a:ea typeface="腾讯字体包" panose="02010600010101010101" charset="-128"/>
                  <a:cs typeface="腾讯字体包" panose="02010600010101010101" charset="-128"/>
                </a:rPr>
                <a:t>B</a:t>
              </a:r>
              <a:r>
                <a:rPr lang="zh-CN" altLang="en-US" sz="1400" dirty="0">
                  <a:latin typeface="腾讯字体包" panose="02010600010101010101" charset="-128"/>
                  <a:ea typeface="腾讯字体包" panose="02010600010101010101" charset="-128"/>
                  <a:cs typeface="腾讯字体包" panose="02010600010101010101" charset="-128"/>
                </a:rPr>
                <a:t>组的评审进行回复</a:t>
              </a:r>
              <a:endParaRPr lang="zh-CN" altLang="en-US" sz="1400" dirty="0">
                <a:latin typeface="腾讯字体包" panose="02010600010101010101" charset="-128"/>
                <a:ea typeface="腾讯字体包" panose="02010600010101010101" charset="-128"/>
                <a:cs typeface="腾讯字体包" panose="02010600010101010101" charset="-128"/>
              </a:endParaRPr>
            </a:p>
          </p:txBody>
        </p:sp>
        <p:sp>
          <p:nvSpPr>
            <p:cNvPr id="82" name="文本框 81"/>
            <p:cNvSpPr txBox="1"/>
            <p:nvPr/>
          </p:nvSpPr>
          <p:spPr>
            <a:xfrm>
              <a:off x="13292" y="8347"/>
              <a:ext cx="3818"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张宸恺</a:t>
              </a:r>
              <a:r>
                <a:rPr lang="en-US" dirty="0">
                  <a:solidFill>
                    <a:srgbClr val="00468E"/>
                  </a:solidFill>
                  <a:latin typeface="腾讯字体包" panose="02010600010101010101" charset="-128"/>
                  <a:ea typeface="腾讯字体包" panose="02010600010101010101" charset="-128"/>
                  <a:cs typeface="腾讯字体包" panose="02010600010101010101" charset="-128"/>
                </a:rPr>
                <a:t> </a:t>
              </a:r>
              <a:endParaRPr 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sp>
          <p:nvSpPr>
            <p:cNvPr id="92" name="矩形: 圆角 20"/>
            <p:cNvSpPr/>
            <p:nvPr/>
          </p:nvSpPr>
          <p:spPr>
            <a:xfrm>
              <a:off x="6990" y="8211"/>
              <a:ext cx="5342" cy="218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93" name="文本框 92"/>
            <p:cNvSpPr txBox="1"/>
            <p:nvPr/>
          </p:nvSpPr>
          <p:spPr>
            <a:xfrm>
              <a:off x="7228" y="8847"/>
              <a:ext cx="5104" cy="1105"/>
            </a:xfrm>
            <a:prstGeom prst="rect">
              <a:avLst/>
            </a:prstGeom>
            <a:noFill/>
          </p:spPr>
          <p:txBody>
            <a:bodyPr wrap="square">
              <a:spAutoFit/>
            </a:bodyPr>
            <a:lstStyle/>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执行标注任务流程图合并</a:t>
              </a:r>
              <a:endParaRPr lang="en-US" altLang="zh-CN" sz="1400" dirty="0">
                <a:latin typeface="腾讯字体包" panose="02010600010101010101" charset="-128"/>
                <a:ea typeface="腾讯字体包" panose="02010600010101010101" charset="-128"/>
                <a:cs typeface="腾讯字体包" panose="02010600010101010101" charset="-128"/>
                <a:sym typeface="+mn-ea"/>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对</a:t>
              </a:r>
              <a:r>
                <a:rPr lang="en-US" altLang="zh-CN" sz="1400" dirty="0">
                  <a:latin typeface="腾讯字体包" panose="02010600010101010101" charset="-128"/>
                  <a:ea typeface="腾讯字体包" panose="02010600010101010101" charset="-128"/>
                  <a:cs typeface="腾讯字体包" panose="02010600010101010101" charset="-128"/>
                </a:rPr>
                <a:t>I</a:t>
              </a:r>
              <a:r>
                <a:rPr lang="zh-CN" altLang="en-US" sz="1400" dirty="0">
                  <a:latin typeface="腾讯字体包" panose="02010600010101010101" charset="-128"/>
                  <a:ea typeface="腾讯字体包" panose="02010600010101010101" charset="-128"/>
                  <a:cs typeface="腾讯字体包" panose="02010600010101010101" charset="-128"/>
                </a:rPr>
                <a:t>组进行评审</a:t>
              </a:r>
              <a:endParaRPr lang="zh-CN" altLang="zh-CN" sz="1400" dirty="0">
                <a:latin typeface="腾讯字体包" panose="02010600010101010101" charset="-128"/>
                <a:ea typeface="腾讯字体包" panose="02010600010101010101" charset="-128"/>
                <a:cs typeface="腾讯字体包" panose="02010600010101010101" charset="-128"/>
              </a:endParaRPr>
            </a:p>
          </p:txBody>
        </p:sp>
        <p:sp>
          <p:nvSpPr>
            <p:cNvPr id="94" name="文本框 93"/>
            <p:cNvSpPr txBox="1"/>
            <p:nvPr/>
          </p:nvSpPr>
          <p:spPr>
            <a:xfrm>
              <a:off x="7228" y="8347"/>
              <a:ext cx="3516"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窦建玲</a:t>
              </a:r>
              <a:endParaRPr lang="zh-CN" alt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sp>
          <p:nvSpPr>
            <p:cNvPr id="101" name="矩形: 圆角 20"/>
            <p:cNvSpPr/>
            <p:nvPr/>
          </p:nvSpPr>
          <p:spPr>
            <a:xfrm>
              <a:off x="926" y="8211"/>
              <a:ext cx="5342" cy="218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102" name="文本框 101"/>
            <p:cNvSpPr txBox="1"/>
            <p:nvPr/>
          </p:nvSpPr>
          <p:spPr>
            <a:xfrm>
              <a:off x="1164" y="8847"/>
              <a:ext cx="5104" cy="1105"/>
            </a:xfrm>
            <a:prstGeom prst="rect">
              <a:avLst/>
            </a:prstGeom>
            <a:noFill/>
          </p:spPr>
          <p:txBody>
            <a:bodyPr wrap="square">
              <a:spAutoFit/>
            </a:bodyPr>
            <a:lstStyle/>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总体用例图及相关描述修改</a:t>
              </a:r>
              <a:endParaRPr lang="en-US" altLang="zh-CN" sz="1400" dirty="0">
                <a:latin typeface="腾讯字体包" panose="02010600010101010101" charset="-128"/>
                <a:ea typeface="腾讯字体包" panose="02010600010101010101" charset="-128"/>
                <a:cs typeface="腾讯字体包" panose="02010600010101010101" charset="-128"/>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对</a:t>
              </a:r>
              <a:r>
                <a:rPr lang="en-US" altLang="zh-CN" sz="1400" dirty="0">
                  <a:latin typeface="腾讯字体包" panose="02010600010101010101" charset="-128"/>
                  <a:ea typeface="腾讯字体包" panose="02010600010101010101" charset="-128"/>
                  <a:cs typeface="腾讯字体包" panose="02010600010101010101" charset="-128"/>
                </a:rPr>
                <a:t>I</a:t>
              </a:r>
              <a:r>
                <a:rPr lang="zh-CN" altLang="en-US" sz="1400" dirty="0">
                  <a:latin typeface="腾讯字体包" panose="02010600010101010101" charset="-128"/>
                  <a:ea typeface="腾讯字体包" panose="02010600010101010101" charset="-128"/>
                  <a:cs typeface="腾讯字体包" panose="02010600010101010101" charset="-128"/>
                </a:rPr>
                <a:t>组进行评审</a:t>
              </a:r>
              <a:endParaRPr lang="zh-CN" altLang="zh-CN" sz="1400" dirty="0">
                <a:latin typeface="腾讯字体包" panose="02010600010101010101" charset="-128"/>
                <a:ea typeface="腾讯字体包" panose="02010600010101010101" charset="-128"/>
                <a:cs typeface="腾讯字体包" panose="02010600010101010101" charset="-128"/>
              </a:endParaRPr>
            </a:p>
          </p:txBody>
        </p:sp>
        <p:sp>
          <p:nvSpPr>
            <p:cNvPr id="103" name="文本框 102"/>
            <p:cNvSpPr txBox="1"/>
            <p:nvPr/>
          </p:nvSpPr>
          <p:spPr>
            <a:xfrm>
              <a:off x="1164" y="8347"/>
              <a:ext cx="3696"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刘顺博 </a:t>
              </a:r>
              <a:endParaRPr 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pic>
          <p:nvPicPr>
            <p:cNvPr id="13"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73" y="8372"/>
              <a:ext cx="482" cy="482"/>
            </a:xfrm>
            <a:prstGeom prst="rect">
              <a:avLst/>
            </a:prstGeom>
          </p:spPr>
        </p:pic>
        <p:pic>
          <p:nvPicPr>
            <p:cNvPr id="15"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571" y="8357"/>
              <a:ext cx="482" cy="482"/>
            </a:xfrm>
            <a:prstGeom prst="rect">
              <a:avLst/>
            </a:prstGeom>
          </p:spPr>
        </p:pic>
      </p:grpSp>
      <p:grpSp>
        <p:nvGrpSpPr>
          <p:cNvPr id="4" name="组合 3"/>
          <p:cNvGrpSpPr/>
          <p:nvPr/>
        </p:nvGrpSpPr>
        <p:grpSpPr>
          <a:xfrm>
            <a:off x="588010" y="1616075"/>
            <a:ext cx="11093450" cy="1281430"/>
            <a:chOff x="996" y="2545"/>
            <a:chExt cx="17470" cy="2018"/>
          </a:xfrm>
        </p:grpSpPr>
        <p:sp>
          <p:nvSpPr>
            <p:cNvPr id="72" name="矩形: 圆角 20"/>
            <p:cNvSpPr/>
            <p:nvPr/>
          </p:nvSpPr>
          <p:spPr>
            <a:xfrm>
              <a:off x="13124" y="2545"/>
              <a:ext cx="5342" cy="201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73" name="文本框 72"/>
            <p:cNvSpPr txBox="1"/>
            <p:nvPr/>
          </p:nvSpPr>
          <p:spPr>
            <a:xfrm>
              <a:off x="13362" y="3180"/>
              <a:ext cx="5104" cy="1105"/>
            </a:xfrm>
            <a:prstGeom prst="rect">
              <a:avLst/>
            </a:prstGeom>
            <a:noFill/>
          </p:spPr>
          <p:txBody>
            <a:bodyPr wrap="square">
              <a:spAutoFit/>
            </a:bodyPr>
            <a:lstStyle/>
            <a:p>
              <a:pPr marL="171450" indent="-171450" algn="l">
                <a:lnSpc>
                  <a:spcPct val="150000"/>
                </a:lnSpc>
                <a:buClrTx/>
                <a:buSzTx/>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语句描述优化，结构内容调整</a:t>
              </a:r>
              <a:endParaRPr lang="en-US" altLang="zh-CN" sz="1400" dirty="0">
                <a:latin typeface="腾讯字体包" panose="02010600010101010101" charset="-128"/>
                <a:ea typeface="腾讯字体包" panose="02010600010101010101" charset="-128"/>
                <a:cs typeface="腾讯字体包" panose="02010600010101010101" charset="-128"/>
                <a:sym typeface="+mn-ea"/>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对</a:t>
              </a:r>
              <a:r>
                <a:rPr lang="en-US" altLang="zh-CN" sz="1400" dirty="0">
                  <a:latin typeface="腾讯字体包" panose="02010600010101010101" charset="-128"/>
                  <a:ea typeface="腾讯字体包" panose="02010600010101010101" charset="-128"/>
                  <a:cs typeface="腾讯字体包" panose="02010600010101010101" charset="-128"/>
                </a:rPr>
                <a:t>H</a:t>
              </a:r>
              <a:r>
                <a:rPr lang="zh-CN" altLang="en-US" sz="1400" dirty="0">
                  <a:latin typeface="腾讯字体包" panose="02010600010101010101" charset="-128"/>
                  <a:ea typeface="腾讯字体包" panose="02010600010101010101" charset="-128"/>
                  <a:cs typeface="腾讯字体包" panose="02010600010101010101" charset="-128"/>
                </a:rPr>
                <a:t>组进行评审</a:t>
              </a:r>
              <a:endParaRPr lang="zh-CN" altLang="zh-CN" sz="1400" dirty="0">
                <a:latin typeface="腾讯字体包" panose="02010600010101010101" charset="-128"/>
                <a:ea typeface="腾讯字体包" panose="02010600010101010101" charset="-128"/>
                <a:cs typeface="腾讯字体包" panose="02010600010101010101" charset="-128"/>
              </a:endParaRPr>
            </a:p>
          </p:txBody>
        </p:sp>
        <p:sp>
          <p:nvSpPr>
            <p:cNvPr id="74" name="文本框 73"/>
            <p:cNvSpPr txBox="1"/>
            <p:nvPr/>
          </p:nvSpPr>
          <p:spPr>
            <a:xfrm>
              <a:off x="13362" y="2680"/>
              <a:ext cx="3818"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曾祥华</a:t>
              </a:r>
              <a:endParaRPr lang="zh-CN" alt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sp>
          <p:nvSpPr>
            <p:cNvPr id="84" name="矩形: 圆角 20"/>
            <p:cNvSpPr/>
            <p:nvPr/>
          </p:nvSpPr>
          <p:spPr>
            <a:xfrm>
              <a:off x="7060" y="2545"/>
              <a:ext cx="5342" cy="201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85" name="文本框 84"/>
            <p:cNvSpPr txBox="1"/>
            <p:nvPr/>
          </p:nvSpPr>
          <p:spPr>
            <a:xfrm>
              <a:off x="7298" y="3180"/>
              <a:ext cx="5104" cy="1105"/>
            </a:xfrm>
            <a:prstGeom prst="rect">
              <a:avLst/>
            </a:prstGeom>
            <a:noFill/>
          </p:spPr>
          <p:txBody>
            <a:bodyPr wrap="square">
              <a:spAutoFit/>
            </a:bodyPr>
            <a:lstStyle/>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总体约束修改</a:t>
              </a:r>
              <a:endParaRPr lang="en-US" altLang="zh-CN" sz="1400" dirty="0">
                <a:latin typeface="腾讯字体包" panose="02010600010101010101" charset="-128"/>
                <a:ea typeface="腾讯字体包" panose="02010600010101010101" charset="-128"/>
                <a:cs typeface="腾讯字体包" panose="02010600010101010101" charset="-128"/>
                <a:sym typeface="+mn-ea"/>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功能模块描述补全</a:t>
              </a:r>
              <a:endParaRPr lang="zh-CN" altLang="en-US" sz="1400" dirty="0">
                <a:latin typeface="腾讯字体包" panose="02010600010101010101" charset="-128"/>
                <a:ea typeface="腾讯字体包" panose="02010600010101010101" charset="-128"/>
                <a:cs typeface="腾讯字体包" panose="02010600010101010101" charset="-128"/>
                <a:sym typeface="+mn-ea"/>
              </a:endParaRPr>
            </a:p>
          </p:txBody>
        </p:sp>
        <p:sp>
          <p:nvSpPr>
            <p:cNvPr id="86" name="文本框 85"/>
            <p:cNvSpPr txBox="1"/>
            <p:nvPr/>
          </p:nvSpPr>
          <p:spPr>
            <a:xfrm>
              <a:off x="7298" y="2680"/>
              <a:ext cx="3934"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苏丁力 </a:t>
              </a:r>
              <a:endParaRPr 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sp>
          <p:nvSpPr>
            <p:cNvPr id="107" name="矩形: 圆角 20"/>
            <p:cNvSpPr/>
            <p:nvPr/>
          </p:nvSpPr>
          <p:spPr>
            <a:xfrm>
              <a:off x="996" y="2545"/>
              <a:ext cx="5342" cy="201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108" name="文本框 107"/>
            <p:cNvSpPr txBox="1"/>
            <p:nvPr/>
          </p:nvSpPr>
          <p:spPr>
            <a:xfrm>
              <a:off x="1022" y="3180"/>
              <a:ext cx="5331" cy="1105"/>
            </a:xfrm>
            <a:prstGeom prst="rect">
              <a:avLst/>
            </a:prstGeom>
            <a:noFill/>
          </p:spPr>
          <p:txBody>
            <a:bodyPr wrap="square">
              <a:spAutoFit/>
            </a:bodyPr>
            <a:lstStyle/>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参考文献格式修改、术语和缩略语增加</a:t>
              </a:r>
              <a:endParaRPr lang="zh-CN" altLang="en-US" sz="1400" dirty="0">
                <a:latin typeface="腾讯字体包" panose="02010600010101010101" charset="-128"/>
                <a:ea typeface="腾讯字体包" panose="02010600010101010101" charset="-128"/>
                <a:cs typeface="腾讯字体包" panose="02010600010101010101" charset="-128"/>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对</a:t>
              </a:r>
              <a:r>
                <a:rPr lang="en-US" altLang="zh-CN" sz="1400" dirty="0">
                  <a:latin typeface="腾讯字体包" panose="02010600010101010101" charset="-128"/>
                  <a:ea typeface="腾讯字体包" panose="02010600010101010101" charset="-128"/>
                  <a:cs typeface="腾讯字体包" panose="02010600010101010101" charset="-128"/>
                </a:rPr>
                <a:t>H</a:t>
              </a:r>
              <a:r>
                <a:rPr lang="zh-CN" altLang="en-US" sz="1400" dirty="0">
                  <a:latin typeface="腾讯字体包" panose="02010600010101010101" charset="-128"/>
                  <a:ea typeface="腾讯字体包" panose="02010600010101010101" charset="-128"/>
                  <a:cs typeface="腾讯字体包" panose="02010600010101010101" charset="-128"/>
                </a:rPr>
                <a:t>组进行评审</a:t>
              </a:r>
              <a:endParaRPr lang="zh-CN" sz="1400" dirty="0">
                <a:latin typeface="腾讯字体包" panose="02010600010101010101" charset="-128"/>
                <a:ea typeface="腾讯字体包" panose="02010600010101010101" charset="-128"/>
                <a:cs typeface="腾讯字体包" panose="02010600010101010101" charset="-128"/>
              </a:endParaRPr>
            </a:p>
          </p:txBody>
        </p:sp>
        <p:sp>
          <p:nvSpPr>
            <p:cNvPr id="109" name="文本框 108"/>
            <p:cNvSpPr txBox="1"/>
            <p:nvPr/>
          </p:nvSpPr>
          <p:spPr>
            <a:xfrm>
              <a:off x="1234" y="2680"/>
              <a:ext cx="3851"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孙烨</a:t>
              </a:r>
              <a:endParaRPr lang="zh-CN" alt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pic>
          <p:nvPicPr>
            <p:cNvPr id="6"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43" y="2698"/>
              <a:ext cx="482" cy="482"/>
            </a:xfrm>
            <a:prstGeom prst="rect">
              <a:avLst/>
            </a:prstGeom>
          </p:spPr>
        </p:pic>
        <p:pic>
          <p:nvPicPr>
            <p:cNvPr id="9"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609" y="2698"/>
              <a:ext cx="482" cy="482"/>
            </a:xfrm>
            <a:prstGeom prst="rect">
              <a:avLst/>
            </a:prstGeom>
          </p:spPr>
        </p:pic>
      </p:grpSp>
      <p:grpSp>
        <p:nvGrpSpPr>
          <p:cNvPr id="8" name="组合 7"/>
          <p:cNvGrpSpPr/>
          <p:nvPr/>
        </p:nvGrpSpPr>
        <p:grpSpPr>
          <a:xfrm>
            <a:off x="588010" y="3164205"/>
            <a:ext cx="11093450" cy="1281430"/>
            <a:chOff x="926" y="4983"/>
            <a:chExt cx="17470" cy="2018"/>
          </a:xfrm>
        </p:grpSpPr>
        <p:sp>
          <p:nvSpPr>
            <p:cNvPr id="76" name="矩形: 圆角 20"/>
            <p:cNvSpPr/>
            <p:nvPr/>
          </p:nvSpPr>
          <p:spPr>
            <a:xfrm>
              <a:off x="13054" y="4983"/>
              <a:ext cx="5342" cy="201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77" name="文本框 76"/>
            <p:cNvSpPr txBox="1"/>
            <p:nvPr/>
          </p:nvSpPr>
          <p:spPr>
            <a:xfrm>
              <a:off x="13292" y="5619"/>
              <a:ext cx="5104" cy="1161"/>
            </a:xfrm>
            <a:prstGeom prst="rect">
              <a:avLst/>
            </a:prstGeom>
            <a:noFill/>
          </p:spPr>
          <p:txBody>
            <a:bodyPr wrap="square">
              <a:spAutoFit/>
            </a:bodyPr>
            <a:lstStyle/>
            <a:p>
              <a:pPr marL="171450" indent="-171450" algn="l">
                <a:lnSpc>
                  <a:spcPct val="150000"/>
                </a:lnSpc>
                <a:buClrTx/>
                <a:buSzTx/>
                <a:buFont typeface="Arial" panose="020B0604020202020204" pitchFamily="34" charset="0"/>
                <a:buChar char="•"/>
              </a:pPr>
              <a:r>
                <a:rPr lang="en-US" altLang="zh-CN" sz="1400" dirty="0">
                  <a:latin typeface="腾讯字体包" panose="02010600010101010101" charset="-128"/>
                  <a:ea typeface="腾讯字体包" panose="02010600010101010101" charset="-128"/>
                  <a:cs typeface="腾讯字体包" panose="02010600010101010101" charset="-128"/>
                  <a:sym typeface="+mn-ea"/>
                </a:rPr>
                <a:t>RUCM</a:t>
              </a:r>
              <a:r>
                <a:rPr lang="zh-CN" altLang="en-US" sz="1400" dirty="0">
                  <a:latin typeface="腾讯字体包" panose="02010600010101010101" charset="-128"/>
                  <a:ea typeface="腾讯字体包" panose="02010600010101010101" charset="-128"/>
                  <a:cs typeface="腾讯字体包" panose="02010600010101010101" charset="-128"/>
                  <a:sym typeface="+mn-ea"/>
                </a:rPr>
                <a:t>表增加备选事件流</a:t>
              </a:r>
              <a:endParaRPr lang="en-US" altLang="zh-CN" sz="1400" dirty="0">
                <a:latin typeface="腾讯字体包" panose="02010600010101010101" charset="-128"/>
                <a:ea typeface="腾讯字体包" panose="02010600010101010101" charset="-128"/>
                <a:cs typeface="腾讯字体包" panose="02010600010101010101" charset="-128"/>
                <a:sym typeface="+mn-ea"/>
              </a:endParaRPr>
            </a:p>
            <a:p>
              <a:pPr marL="171450" indent="-171450" algn="l">
                <a:lnSpc>
                  <a:spcPct val="150000"/>
                </a:lnSpc>
                <a:buClrTx/>
                <a:buSzTx/>
                <a:buFont typeface="Arial" panose="020B0604020202020204" pitchFamily="34" charset="0"/>
                <a:buChar char="•"/>
              </a:pPr>
              <a:r>
                <a:rPr lang="zh-CN" altLang="en-US" sz="1400" spc="120" dirty="0">
                  <a:latin typeface="腾讯字体包" panose="02010600010101010101" charset="-128"/>
                  <a:ea typeface="腾讯字体包" panose="02010600010101010101" charset="-128"/>
                  <a:cs typeface="腾讯字体包" panose="02010600010101010101" charset="-128"/>
                  <a:sym typeface="+mn-ea"/>
                </a:rPr>
                <a:t>对</a:t>
              </a:r>
              <a:r>
                <a:rPr lang="en-US" altLang="zh-CN" sz="1400" spc="120" dirty="0">
                  <a:latin typeface="腾讯字体包" panose="02010600010101010101" charset="-128"/>
                  <a:ea typeface="腾讯字体包" panose="02010600010101010101" charset="-128"/>
                  <a:cs typeface="腾讯字体包" panose="02010600010101010101" charset="-128"/>
                  <a:sym typeface="+mn-ea"/>
                </a:rPr>
                <a:t>B</a:t>
              </a:r>
              <a:r>
                <a:rPr lang="zh-CN" altLang="en-US" sz="1400" spc="120" dirty="0">
                  <a:latin typeface="腾讯字体包" panose="02010600010101010101" charset="-128"/>
                  <a:ea typeface="腾讯字体包" panose="02010600010101010101" charset="-128"/>
                  <a:cs typeface="腾讯字体包" panose="02010600010101010101" charset="-128"/>
                  <a:sym typeface="+mn-ea"/>
                </a:rPr>
                <a:t>组的</a:t>
              </a:r>
              <a:r>
                <a:rPr lang="zh-CN" altLang="en-US" sz="1400" spc="120" dirty="0">
                  <a:latin typeface="腾讯字体包" panose="02010600010101010101" charset="-128"/>
                  <a:ea typeface="腾讯字体包" panose="02010600010101010101" charset="-128"/>
                  <a:cs typeface="腾讯字体包" panose="02010600010101010101" charset="-128"/>
                  <a:sym typeface="+mn-ea"/>
                </a:rPr>
                <a:t>评审进行回复</a:t>
              </a:r>
              <a:endParaRPr lang="zh-CN" altLang="en-US" sz="1400" spc="120" dirty="0">
                <a:latin typeface="腾讯字体包" panose="02010600010101010101" charset="-128"/>
                <a:ea typeface="腾讯字体包" panose="02010600010101010101" charset="-128"/>
                <a:cs typeface="腾讯字体包" panose="02010600010101010101" charset="-128"/>
                <a:sym typeface="+mn-ea"/>
              </a:endParaRPr>
            </a:p>
          </p:txBody>
        </p:sp>
        <p:sp>
          <p:nvSpPr>
            <p:cNvPr id="78" name="文本框 77"/>
            <p:cNvSpPr txBox="1"/>
            <p:nvPr/>
          </p:nvSpPr>
          <p:spPr>
            <a:xfrm>
              <a:off x="13292" y="5119"/>
              <a:ext cx="3818"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魏家龙</a:t>
              </a:r>
              <a:endParaRPr lang="zh-CN" alt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sp>
          <p:nvSpPr>
            <p:cNvPr id="88" name="矩形: 圆角 20"/>
            <p:cNvSpPr/>
            <p:nvPr/>
          </p:nvSpPr>
          <p:spPr>
            <a:xfrm>
              <a:off x="6990" y="4983"/>
              <a:ext cx="5342" cy="201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90" name="文本框 89"/>
            <p:cNvSpPr txBox="1"/>
            <p:nvPr/>
          </p:nvSpPr>
          <p:spPr>
            <a:xfrm>
              <a:off x="7228" y="5119"/>
              <a:ext cx="3516"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郭鑫</a:t>
              </a:r>
              <a:endParaRPr lang="zh-CN" alt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sp>
          <p:nvSpPr>
            <p:cNvPr id="104" name="矩形: 圆角 20"/>
            <p:cNvSpPr/>
            <p:nvPr/>
          </p:nvSpPr>
          <p:spPr>
            <a:xfrm>
              <a:off x="926" y="4983"/>
              <a:ext cx="5342" cy="201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105" name="文本框 104"/>
            <p:cNvSpPr txBox="1"/>
            <p:nvPr/>
          </p:nvSpPr>
          <p:spPr>
            <a:xfrm>
              <a:off x="1164" y="5619"/>
              <a:ext cx="5104" cy="1161"/>
            </a:xfrm>
            <a:prstGeom prst="rect">
              <a:avLst/>
            </a:prstGeom>
            <a:noFill/>
          </p:spPr>
          <p:txBody>
            <a:bodyPr wrap="square">
              <a:spAutoFit/>
            </a:bodyPr>
            <a:lstStyle/>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非功能需求修改</a:t>
              </a:r>
              <a:endParaRPr lang="en-US" altLang="zh-CN" sz="1400" dirty="0">
                <a:latin typeface="腾讯字体包" panose="02010600010101010101" charset="-128"/>
                <a:ea typeface="腾讯字体包" panose="02010600010101010101" charset="-128"/>
                <a:cs typeface="腾讯字体包" panose="02010600010101010101" charset="-128"/>
                <a:sym typeface="+mn-ea"/>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对</a:t>
              </a:r>
              <a:r>
                <a:rPr lang="en-US" altLang="zh-CN" sz="1400" dirty="0">
                  <a:latin typeface="腾讯字体包" panose="02010600010101010101" charset="-128"/>
                  <a:ea typeface="腾讯字体包" panose="02010600010101010101" charset="-128"/>
                  <a:cs typeface="腾讯字体包" panose="02010600010101010101" charset="-128"/>
                </a:rPr>
                <a:t>C</a:t>
              </a:r>
              <a:r>
                <a:rPr lang="zh-CN" altLang="en-US" sz="1400" dirty="0">
                  <a:latin typeface="腾讯字体包" panose="02010600010101010101" charset="-128"/>
                  <a:ea typeface="腾讯字体包" panose="02010600010101010101" charset="-128"/>
                  <a:cs typeface="腾讯字体包" panose="02010600010101010101" charset="-128"/>
                </a:rPr>
                <a:t>组的评审进行回复</a:t>
              </a:r>
              <a:endParaRPr lang="zh-CN" altLang="en-US" sz="1400" dirty="0">
                <a:latin typeface="腾讯字体包" panose="02010600010101010101" charset="-128"/>
                <a:ea typeface="腾讯字体包" panose="02010600010101010101" charset="-128"/>
                <a:cs typeface="腾讯字体包" panose="02010600010101010101" charset="-128"/>
              </a:endParaRPr>
            </a:p>
          </p:txBody>
        </p:sp>
        <p:sp>
          <p:nvSpPr>
            <p:cNvPr id="106" name="文本框 105"/>
            <p:cNvSpPr txBox="1"/>
            <p:nvPr/>
          </p:nvSpPr>
          <p:spPr>
            <a:xfrm>
              <a:off x="1164" y="5119"/>
              <a:ext cx="3303"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侯越</a:t>
              </a:r>
              <a:endParaRPr lang="zh-CN" alt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pic>
          <p:nvPicPr>
            <p:cNvPr id="11"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539" y="5140"/>
              <a:ext cx="482" cy="482"/>
            </a:xfrm>
            <a:prstGeom prst="rect">
              <a:avLst/>
            </a:prstGeom>
          </p:spPr>
        </p:pic>
        <p:pic>
          <p:nvPicPr>
            <p:cNvPr id="12"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617" y="5116"/>
              <a:ext cx="482" cy="482"/>
            </a:xfrm>
            <a:prstGeom prst="rect">
              <a:avLst/>
            </a:prstGeom>
          </p:spPr>
        </p:pic>
        <p:sp>
          <p:nvSpPr>
            <p:cNvPr id="20" name="文本框 19"/>
            <p:cNvSpPr txBox="1"/>
            <p:nvPr>
              <p:custDataLst>
                <p:tags r:id="rId3"/>
              </p:custDataLst>
            </p:nvPr>
          </p:nvSpPr>
          <p:spPr>
            <a:xfrm>
              <a:off x="7228" y="5619"/>
              <a:ext cx="5104" cy="1161"/>
            </a:xfrm>
            <a:prstGeom prst="rect">
              <a:avLst/>
            </a:prstGeom>
            <a:noFill/>
          </p:spPr>
          <p:txBody>
            <a:bodyPr wrap="square">
              <a:spAutoFit/>
            </a:bodyPr>
            <a:lstStyle/>
            <a:p>
              <a:pPr marL="171450" indent="-171450" algn="l">
                <a:lnSpc>
                  <a:spcPct val="150000"/>
                </a:lnSpc>
                <a:buClrTx/>
                <a:buSzTx/>
                <a:buFont typeface="Arial" panose="020B0604020202020204" pitchFamily="34" charset="0"/>
                <a:buChar char="•"/>
              </a:pPr>
              <a:r>
                <a:rPr lang="zh-CN" altLang="en-US" sz="1400" spc="120" dirty="0">
                  <a:latin typeface="腾讯字体包" panose="02010600010101010101" charset="-128"/>
                  <a:ea typeface="腾讯字体包" panose="02010600010101010101" charset="-128"/>
                  <a:cs typeface="腾讯字体包" panose="02010600010101010101" charset="-128"/>
                  <a:sym typeface="+mn-ea"/>
                </a:rPr>
                <a:t>数据流图修改更新</a:t>
              </a:r>
              <a:endParaRPr lang="en-US" altLang="zh-CN" sz="1400" spc="120" dirty="0">
                <a:latin typeface="腾讯字体包" panose="02010600010101010101" charset="-128"/>
                <a:ea typeface="腾讯字体包" panose="02010600010101010101" charset="-128"/>
                <a:cs typeface="腾讯字体包" panose="02010600010101010101" charset="-128"/>
                <a:sym typeface="+mn-ea"/>
              </a:endParaRPr>
            </a:p>
            <a:p>
              <a:pPr marL="171450" indent="-171450" algn="l">
                <a:lnSpc>
                  <a:spcPct val="150000"/>
                </a:lnSpc>
                <a:buClrTx/>
                <a:buSzTx/>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对</a:t>
              </a:r>
              <a:r>
                <a:rPr lang="en-US" altLang="zh-CN" sz="1400" dirty="0">
                  <a:latin typeface="腾讯字体包" panose="02010600010101010101" charset="-128"/>
                  <a:ea typeface="腾讯字体包" panose="02010600010101010101" charset="-128"/>
                  <a:cs typeface="腾讯字体包" panose="02010600010101010101" charset="-128"/>
                  <a:sym typeface="+mn-ea"/>
                </a:rPr>
                <a:t>C</a:t>
              </a:r>
              <a:r>
                <a:rPr lang="zh-CN" altLang="en-US" sz="1400" dirty="0">
                  <a:latin typeface="腾讯字体包" panose="02010600010101010101" charset="-128"/>
                  <a:ea typeface="腾讯字体包" panose="02010600010101010101" charset="-128"/>
                  <a:cs typeface="腾讯字体包" panose="02010600010101010101" charset="-128"/>
                  <a:sym typeface="+mn-ea"/>
                </a:rPr>
                <a:t>组的评审进行回复</a:t>
              </a:r>
              <a:endParaRPr lang="zh-CN" altLang="en-US" sz="1400" dirty="0">
                <a:latin typeface="腾讯字体包" panose="02010600010101010101" charset="-128"/>
                <a:ea typeface="腾讯字体包" panose="02010600010101010101" charset="-128"/>
                <a:cs typeface="腾讯字体包" panose="02010600010101010101" charset="-128"/>
                <a:sym typeface="+mn-ea"/>
              </a:endParaRPr>
            </a:p>
          </p:txBody>
        </p:sp>
      </p:grpSp>
      <p:pic>
        <p:nvPicPr>
          <p:cNvPr id="22" name="图片 5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52665" y="4755515"/>
            <a:ext cx="306070" cy="306070"/>
          </a:xfrm>
          <a:prstGeom prst="rect">
            <a:avLst/>
          </a:prstGeom>
        </p:spPr>
      </p:pic>
      <p:pic>
        <p:nvPicPr>
          <p:cNvPr id="23"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67735" y="3265170"/>
            <a:ext cx="306070" cy="306070"/>
          </a:xfrm>
          <a:prstGeom prst="rect">
            <a:avLst/>
          </a:prstGeom>
        </p:spPr>
      </p:pic>
      <p:pic>
        <p:nvPicPr>
          <p:cNvPr id="24"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179175" y="1704975"/>
            <a:ext cx="306070" cy="3060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2147482621"/>
          <p:cNvGraphicFramePr/>
          <p:nvPr/>
        </p:nvGraphicFramePr>
        <p:xfrm>
          <a:off x="3919854" y="1288715"/>
          <a:ext cx="8272145" cy="5273041"/>
        </p:xfrm>
        <a:graphic>
          <a:graphicData uri="http://schemas.openxmlformats.org/presentationml/2006/ole">
            <mc:AlternateContent xmlns:mc="http://schemas.openxmlformats.org/markup-compatibility/2006">
              <mc:Choice xmlns:v="urn:schemas-microsoft-com:vml" Requires="v">
                <p:oleObj spid="_x0000_s3" name="" r:id="rId1" imgW="10026015" imgH="5428615" progId="Visio.Drawing.15">
                  <p:embed/>
                </p:oleObj>
              </mc:Choice>
              <mc:Fallback>
                <p:oleObj name="" r:id="rId1" imgW="10026015" imgH="5428615" progId="Visio.Drawing.15">
                  <p:embed/>
                  <p:pic>
                    <p:nvPicPr>
                      <p:cNvPr id="0" name="图片 3075"/>
                      <p:cNvPicPr/>
                      <p:nvPr/>
                    </p:nvPicPr>
                    <p:blipFill>
                      <a:blip r:embed="rId2"/>
                      <a:stretch>
                        <a:fillRect/>
                      </a:stretch>
                    </p:blipFill>
                    <p:spPr>
                      <a:xfrm>
                        <a:off x="3919854" y="1288715"/>
                        <a:ext cx="8272145" cy="5273041"/>
                      </a:xfrm>
                      <a:prstGeom prst="rect">
                        <a:avLst/>
                      </a:prstGeom>
                      <a:noFill/>
                      <a:ln w="38100">
                        <a:noFill/>
                        <a:miter/>
                      </a:ln>
                    </p:spPr>
                  </p:pic>
                </p:oleObj>
              </mc:Fallback>
            </mc:AlternateContent>
          </a:graphicData>
        </a:graphic>
      </p:graphicFrame>
      <p:sp>
        <p:nvSpPr>
          <p:cNvPr id="5" name="内容占位符 4"/>
          <p:cNvSpPr>
            <a:spLocks noGrp="1"/>
          </p:cNvSpPr>
          <p:nvPr>
            <p:ph idx="1"/>
          </p:nvPr>
        </p:nvSpPr>
        <p:spPr>
          <a:xfrm>
            <a:off x="283845" y="1097915"/>
            <a:ext cx="3636010" cy="5273040"/>
          </a:xfrm>
        </p:spPr>
        <p:txBody>
          <a:bodyPr>
            <a:normAutofit/>
          </a:bodyPr>
          <a:lstStyle/>
          <a:p>
            <a:pPr marL="0" algn="l">
              <a:lnSpc>
                <a:spcPct val="125000"/>
              </a:lnSpc>
              <a:spcAft>
                <a:spcPts val="0"/>
              </a:spcAft>
              <a:buClrTx/>
              <a:buSzTx/>
              <a:buNone/>
            </a:pPr>
            <a:endParaRPr lang="zh-CN" altLang="en-US" sz="1800" dirty="0">
              <a:effectLst/>
              <a:latin typeface="腾讯字体包" panose="02010600010101010101" charset="-128"/>
              <a:ea typeface="腾讯字体包" panose="02010600010101010101" charset="-128"/>
              <a:cs typeface="腾讯字体包" panose="02010600010101010101" charset="-128"/>
            </a:endParaRPr>
          </a:p>
          <a:p>
            <a:pPr algn="l">
              <a:lnSpc>
                <a:spcPct val="125000"/>
              </a:lnSpc>
              <a:spcAft>
                <a:spcPts val="0"/>
              </a:spcAft>
              <a:buClrTx/>
              <a:buSzTx/>
              <a:buChar char="•"/>
            </a:pPr>
            <a:r>
              <a:rPr lang="en-US" altLang="zh-CN" sz="2220" dirty="0">
                <a:solidFill>
                  <a:srgbClr val="3F51B6"/>
                </a:solidFill>
                <a:effectLst/>
                <a:uFillTx/>
                <a:latin typeface="腾讯字体包" panose="02010600010101010101" charset="-128"/>
                <a:ea typeface="腾讯字体包" panose="02010600010101010101" charset="-128"/>
              </a:rPr>
              <a:t>1</a:t>
            </a:r>
            <a:r>
              <a:rPr lang="zh-CN" altLang="en-US" sz="2220" dirty="0">
                <a:solidFill>
                  <a:srgbClr val="3F51B6"/>
                </a:solidFill>
                <a:effectLst/>
                <a:uFillTx/>
                <a:latin typeface="腾讯字体包" panose="02010600010101010101" charset="-128"/>
                <a:ea typeface="腾讯字体包" panose="02010600010101010101" charset="-128"/>
              </a:rPr>
              <a:t>：问题阐述</a:t>
            </a:r>
            <a:endParaRPr lang="zh-CN" altLang="en-US" sz="2220" dirty="0">
              <a:solidFill>
                <a:srgbClr val="3F51B6"/>
              </a:solidFill>
              <a:effectLst/>
              <a:uFillTx/>
              <a:latin typeface="腾讯字体包" panose="02010600010101010101" charset="-128"/>
              <a:ea typeface="腾讯字体包" panose="02010600010101010101" charset="-128"/>
            </a:endParaRPr>
          </a:p>
          <a:p>
            <a:pPr algn="l">
              <a:lnSpc>
                <a:spcPct val="125000"/>
              </a:lnSpc>
              <a:spcAft>
                <a:spcPts val="0"/>
              </a:spcAft>
              <a:buClrTx/>
              <a:buSzTx/>
            </a:pPr>
            <a:r>
              <a:rPr lang="zh-CN" sz="1800" dirty="0">
                <a:effectLst/>
                <a:latin typeface="腾讯字体包" panose="02010600010101010101" charset="-128"/>
                <a:ea typeface="腾讯字体包" panose="02010600010101010101" charset="-128"/>
                <a:cs typeface="腾讯字体包" panose="02010600010101010101" charset="-128"/>
                <a:sym typeface="+mn-ea"/>
              </a:rPr>
              <a:t>箭头指意不明确。</a:t>
            </a:r>
            <a:endParaRPr lang="zh-CN"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zh-CN" sz="1800" dirty="0">
                <a:effectLst/>
                <a:latin typeface="腾讯字体包" panose="02010600010101010101" charset="-128"/>
                <a:ea typeface="腾讯字体包" panose="02010600010101010101" charset="-128"/>
                <a:cs typeface="腾讯字体包" panose="02010600010101010101" charset="-128"/>
                <a:sym typeface="+mn-ea"/>
              </a:rPr>
              <a:t>部分功能在具体需求中未体现。</a:t>
            </a:r>
            <a:endParaRPr lang="zh-CN"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zh-CN" sz="1800" dirty="0">
                <a:effectLst/>
                <a:latin typeface="腾讯字体包" panose="02010600010101010101" charset="-128"/>
                <a:ea typeface="腾讯字体包" panose="02010600010101010101" charset="-128"/>
                <a:cs typeface="腾讯字体包" panose="02010600010101010101" charset="-128"/>
                <a:sym typeface="+mn-ea"/>
              </a:rPr>
              <a:t>三种抽取方式在图中未体现。</a:t>
            </a:r>
            <a:endParaRPr lang="zh-CN"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zh-CN" sz="1800" dirty="0">
                <a:effectLst/>
                <a:latin typeface="腾讯字体包" panose="02010600010101010101" charset="-128"/>
                <a:ea typeface="腾讯字体包" panose="02010600010101010101" charset="-128"/>
                <a:cs typeface="腾讯字体包" panose="02010600010101010101" charset="-128"/>
                <a:sym typeface="+mn-ea"/>
              </a:rPr>
              <a:t>模型预设、社区协作、框架共享在图中未体现。</a:t>
            </a:r>
            <a:endParaRPr lang="zh-CN"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en-US" altLang="zh-CN" sz="1800" dirty="0">
                <a:effectLst/>
                <a:latin typeface="腾讯字体包" panose="02010600010101010101" charset="-128"/>
                <a:ea typeface="腾讯字体包" panose="02010600010101010101" charset="-128"/>
                <a:cs typeface="腾讯字体包" panose="02010600010101010101" charset="-128"/>
                <a:sym typeface="+mn-ea"/>
              </a:rPr>
              <a:t>ChatGPT</a:t>
            </a: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大写。</a:t>
            </a:r>
            <a:endParaRPr lang="zh-CN" sz="1800" dirty="0">
              <a:effectLst/>
              <a:latin typeface="腾讯字体包" panose="02010600010101010101" charset="-128"/>
              <a:ea typeface="腾讯字体包" panose="02010600010101010101" charset="-128"/>
              <a:cs typeface="腾讯字体包" panose="02010600010101010101" charset="-128"/>
              <a:sym typeface="+mn-ea"/>
            </a:endParaRPr>
          </a:p>
          <a:p>
            <a:pPr marL="0" indent="0" algn="l">
              <a:lnSpc>
                <a:spcPct val="125000"/>
              </a:lnSpc>
              <a:spcAft>
                <a:spcPts val="0"/>
              </a:spcAft>
              <a:buClrTx/>
              <a:buSzTx/>
              <a:buNone/>
            </a:pPr>
            <a:r>
              <a:rPr lang="en-US" altLang="zh-CN" sz="2220" dirty="0">
                <a:solidFill>
                  <a:srgbClr val="3F51B6"/>
                </a:solidFill>
                <a:effectLst/>
                <a:uFillTx/>
                <a:latin typeface="腾讯字体包" panose="02010600010101010101" charset="-128"/>
                <a:ea typeface="腾讯字体包" panose="02010600010101010101" charset="-128"/>
                <a:sym typeface="+mn-ea"/>
              </a:rPr>
              <a:t>2</a:t>
            </a:r>
            <a:r>
              <a:rPr lang="zh-CN" altLang="en-US" sz="2220" dirty="0">
                <a:solidFill>
                  <a:srgbClr val="3F51B6"/>
                </a:solidFill>
                <a:effectLst/>
                <a:uFillTx/>
                <a:latin typeface="腾讯字体包" panose="02010600010101010101" charset="-128"/>
                <a:ea typeface="腾讯字体包" panose="02010600010101010101" charset="-128"/>
                <a:sym typeface="+mn-ea"/>
              </a:rPr>
              <a:t>：解决方案</a:t>
            </a:r>
            <a:endParaRPr lang="zh-CN" altLang="en-US" sz="2220" dirty="0">
              <a:solidFill>
                <a:srgbClr val="3F51B6"/>
              </a:solidFill>
              <a:effectLst/>
              <a:uFillTx/>
              <a:latin typeface="腾讯字体包" panose="02010600010101010101" charset="-128"/>
              <a:ea typeface="腾讯字体包" panose="02010600010101010101" charset="-128"/>
            </a:endParaRPr>
          </a:p>
          <a:p>
            <a:pPr algn="l">
              <a:lnSpc>
                <a:spcPct val="125000"/>
              </a:lnSpc>
              <a:spcAft>
                <a:spcPts val="0"/>
              </a:spcAft>
              <a:buClrTx/>
              <a:buSzTx/>
              <a:buChar char="•"/>
            </a:pP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用例图调整。</a:t>
            </a:r>
            <a:endParaRPr lang="zh-CN" altLang="en-US" sz="180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buChar char="•"/>
            </a:pPr>
            <a:r>
              <a:rPr lang="zh-CN" altLang="en-US" sz="1800" dirty="0">
                <a:effectLst/>
                <a:latin typeface="腾讯字体包" panose="02010600010101010101" charset="-128"/>
                <a:ea typeface="腾讯字体包" panose="02010600010101010101" charset="-128"/>
                <a:cs typeface="腾讯字体包" panose="02010600010101010101" charset="-128"/>
                <a:sym typeface="+mn-ea"/>
              </a:rPr>
              <a:t>丰富对总体功能的描述。</a:t>
            </a:r>
            <a:endParaRPr lang="zh-CN" altLang="en-US" sz="1800" dirty="0">
              <a:effectLst/>
              <a:latin typeface="腾讯字体包" panose="02010600010101010101" charset="-128"/>
              <a:ea typeface="腾讯字体包" panose="02010600010101010101" charset="-128"/>
              <a:cs typeface="腾讯字体包" panose="02010600010101010101" charset="-128"/>
              <a:sym typeface="+mn-ea"/>
            </a:endParaRPr>
          </a:p>
        </p:txBody>
      </p:sp>
      <p:grpSp>
        <p:nvGrpSpPr>
          <p:cNvPr id="16" name="组合 15"/>
          <p:cNvGrpSpPr/>
          <p:nvPr/>
        </p:nvGrpSpPr>
        <p:grpSpPr>
          <a:xfrm>
            <a:off x="283625" y="712715"/>
            <a:ext cx="11520000" cy="576000"/>
            <a:chOff x="582710" y="712715"/>
            <a:chExt cx="11527790"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76055"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rPr>
                <a:t>总体需求：总体用例图</a:t>
              </a:r>
              <a:endParaRPr kumimoji="1" lang="zh-CN" altLang="en-US" sz="2800" dirty="0">
                <a:latin typeface="腾讯字体包" panose="02010600010101010101" charset="-128"/>
                <a:ea typeface="腾讯字体包" panose="02010600010101010101" charset="-128"/>
              </a:endParaRPr>
            </a:p>
          </p:txBody>
        </p:sp>
      </p:grpSp>
      <p:sp>
        <p:nvSpPr>
          <p:cNvPr id="4" name="文本框 3"/>
          <p:cNvSpPr txBox="1"/>
          <p:nvPr/>
        </p:nvSpPr>
        <p:spPr>
          <a:xfrm>
            <a:off x="7887335" y="6410960"/>
            <a:ext cx="1082040" cy="337185"/>
          </a:xfrm>
          <a:prstGeom prst="rect">
            <a:avLst/>
          </a:prstGeom>
          <a:noFill/>
        </p:spPr>
        <p:txBody>
          <a:bodyPr wrap="square">
            <a:spAutoFit/>
          </a:bodyPr>
          <a:lstStyle/>
          <a:p>
            <a:r>
              <a:rPr lang="zh-CN" altLang="en-US" sz="1600" dirty="0">
                <a:latin typeface="腾讯字体包" panose="02010600010101010101" charset="-128"/>
                <a:ea typeface="腾讯字体包" panose="02010600010101010101" charset="-128"/>
                <a:cs typeface="腾讯字体包" panose="02010600010101010101" charset="-128"/>
              </a:rPr>
              <a:t>原</a:t>
            </a:r>
            <a:r>
              <a:rPr lang="en-US" altLang="zh-CN" sz="1600" dirty="0">
                <a:latin typeface="腾讯字体包" panose="02010600010101010101" charset="-128"/>
                <a:ea typeface="腾讯字体包" panose="02010600010101010101" charset="-128"/>
                <a:cs typeface="腾讯字体包" panose="02010600010101010101" charset="-128"/>
              </a:rPr>
              <a:t>用例图</a:t>
            </a:r>
            <a:endParaRPr lang="en-US" altLang="zh-CN" sz="1600" dirty="0">
              <a:latin typeface="腾讯字体包" panose="02010600010101010101" charset="-128"/>
              <a:ea typeface="腾讯字体包" panose="02010600010101010101" charset="-128"/>
              <a:cs typeface="腾讯字体包" panose="02010600010101010101"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00437" y="758328"/>
            <a:ext cx="5621898" cy="584775"/>
            <a:chOff x="582710" y="700015"/>
            <a:chExt cx="4347689" cy="584775"/>
          </a:xfrm>
        </p:grpSpPr>
        <p:sp>
          <p:nvSpPr>
            <p:cNvPr id="6" name="矩形 5"/>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76165" y="700015"/>
              <a:ext cx="4254234" cy="52322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用例图调整：</a:t>
              </a:r>
              <a:r>
                <a:rPr kumimoji="1" lang="zh-CN" altLang="en-US" sz="2800" dirty="0">
                  <a:latin typeface="腾讯字体包" panose="02010600010101010101" charset="-128"/>
                  <a:ea typeface="腾讯字体包" panose="02010600010101010101" charset="-128"/>
                  <a:sym typeface="+mn-ea"/>
                </a:rPr>
                <a:t>根据评审</a:t>
              </a:r>
              <a:r>
                <a:rPr kumimoji="1" lang="zh-CN" altLang="en-US" sz="2800" dirty="0">
                  <a:solidFill>
                    <a:schemeClr val="accent6">
                      <a:lumMod val="75000"/>
                    </a:schemeClr>
                  </a:solidFill>
                  <a:latin typeface="腾讯字体包" panose="02010600010101010101" charset="-128"/>
                  <a:ea typeface="腾讯字体包" panose="02010600010101010101" charset="-128"/>
                  <a:sym typeface="+mn-ea"/>
                </a:rPr>
                <a:t>更新</a:t>
              </a:r>
              <a:endParaRPr kumimoji="1" lang="zh-CN" altLang="en-US" sz="2800" dirty="0">
                <a:latin typeface="腾讯字体包" panose="02010600010101010101" charset="-128"/>
                <a:ea typeface="腾讯字体包" panose="02010600010101010101" charset="-128"/>
              </a:endParaRPr>
            </a:p>
          </p:txBody>
        </p:sp>
      </p:grpSp>
      <p:sp>
        <p:nvSpPr>
          <p:cNvPr id="15" name="内容占位符 2"/>
          <p:cNvSpPr txBox="1"/>
          <p:nvPr/>
        </p:nvSpPr>
        <p:spPr>
          <a:xfrm>
            <a:off x="746207" y="1835200"/>
            <a:ext cx="7159052" cy="43754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endParaRPr kumimoji="1" lang="en-US" altLang="zh-CN" sz="2400" dirty="0"/>
          </a:p>
        </p:txBody>
      </p:sp>
      <p:sp>
        <p:nvSpPr>
          <p:cNvPr id="16" name="内容占位符 2"/>
          <p:cNvSpPr txBox="1"/>
          <p:nvPr/>
        </p:nvSpPr>
        <p:spPr>
          <a:xfrm>
            <a:off x="746207" y="1598493"/>
            <a:ext cx="7581523" cy="39928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kumimoji="1" lang="zh-CN" altLang="en-US" sz="2000" dirty="0"/>
          </a:p>
        </p:txBody>
      </p:sp>
      <p:sp>
        <p:nvSpPr>
          <p:cNvPr id="3" name="文本框 2"/>
          <p:cNvSpPr txBox="1"/>
          <p:nvPr/>
        </p:nvSpPr>
        <p:spPr>
          <a:xfrm>
            <a:off x="8236876" y="5594266"/>
            <a:ext cx="2778454" cy="338554"/>
          </a:xfrm>
          <a:prstGeom prst="rect">
            <a:avLst/>
          </a:prstGeom>
          <a:noFill/>
        </p:spPr>
        <p:txBody>
          <a:bodyPr wrap="square">
            <a:spAutoFit/>
          </a:bodyPr>
          <a:lstStyle/>
          <a:p>
            <a:r>
              <a:rPr lang="en-US" altLang="zh-CN" sz="1600" dirty="0" err="1">
                <a:latin typeface="腾讯字体包" panose="02010600010101010101" charset="-128"/>
                <a:ea typeface="腾讯字体包" panose="02010600010101010101" charset="-128"/>
                <a:cs typeface="腾讯字体包" panose="02010600010101010101" charset="-128"/>
              </a:rPr>
              <a:t>ITAS系统总体用例图</a:t>
            </a:r>
            <a:r>
              <a:rPr lang="en-US" altLang="zh-CN" sz="1600" dirty="0">
                <a:latin typeface="腾讯字体包" panose="02010600010101010101" charset="-128"/>
                <a:ea typeface="腾讯字体包" panose="02010600010101010101" charset="-128"/>
                <a:cs typeface="腾讯字体包" panose="02010600010101010101" charset="-128"/>
              </a:rPr>
              <a:t> v1.0</a:t>
            </a:r>
            <a:endParaRPr lang="en-US" altLang="zh-CN" sz="1600" dirty="0">
              <a:latin typeface="腾讯字体包" panose="02010600010101010101" charset="-128"/>
              <a:ea typeface="腾讯字体包" panose="02010600010101010101" charset="-128"/>
              <a:cs typeface="腾讯字体包" panose="02010600010101010101" charset="-128"/>
            </a:endParaRPr>
          </a:p>
        </p:txBody>
      </p:sp>
      <p:sp>
        <p:nvSpPr>
          <p:cNvPr id="4" name="Rectangle 2"/>
          <p:cNvSpPr>
            <a:spLocks noChangeArrowheads="1"/>
          </p:cNvSpPr>
          <p:nvPr/>
        </p:nvSpPr>
        <p:spPr bwMode="auto">
          <a:xfrm>
            <a:off x="2946400" y="159849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图片 8"/>
          <p:cNvPicPr>
            <a:picLocks noChangeAspect="1"/>
          </p:cNvPicPr>
          <p:nvPr/>
        </p:nvPicPr>
        <p:blipFill>
          <a:blip r:embed="rId1"/>
          <a:stretch>
            <a:fillRect/>
          </a:stretch>
        </p:blipFill>
        <p:spPr>
          <a:xfrm>
            <a:off x="5773479" y="1743692"/>
            <a:ext cx="6418521" cy="3361092"/>
          </a:xfrm>
          <a:prstGeom prst="rect">
            <a:avLst/>
          </a:prstGeom>
        </p:spPr>
      </p:pic>
      <p:graphicFrame>
        <p:nvGraphicFramePr>
          <p:cNvPr id="2" name="对象 -2147482621"/>
          <p:cNvGraphicFramePr/>
          <p:nvPr/>
        </p:nvGraphicFramePr>
        <p:xfrm>
          <a:off x="0" y="1765692"/>
          <a:ext cx="5847907" cy="3574266"/>
        </p:xfrm>
        <a:graphic>
          <a:graphicData uri="http://schemas.openxmlformats.org/presentationml/2006/ole">
            <mc:AlternateContent xmlns:mc="http://schemas.openxmlformats.org/markup-compatibility/2006">
              <mc:Choice xmlns:v="urn:schemas-microsoft-com:vml" Requires="v">
                <p:oleObj spid="_x0000_s8" name="" r:id="rId2" imgW="10026015" imgH="5428615" progId="Visio.Drawing.15">
                  <p:embed/>
                </p:oleObj>
              </mc:Choice>
              <mc:Fallback>
                <p:oleObj name="" r:id="rId2" imgW="10026015" imgH="5428615" progId="Visio.Drawing.15">
                  <p:embed/>
                  <p:pic>
                    <p:nvPicPr>
                      <p:cNvPr id="0" name="对象 -2147482621"/>
                      <p:cNvPicPr/>
                      <p:nvPr/>
                    </p:nvPicPr>
                    <p:blipFill>
                      <a:blip r:embed="rId3"/>
                      <a:stretch>
                        <a:fillRect/>
                      </a:stretch>
                    </p:blipFill>
                    <p:spPr>
                      <a:xfrm>
                        <a:off x="0" y="1765692"/>
                        <a:ext cx="5847907" cy="3574266"/>
                      </a:xfrm>
                      <a:prstGeom prst="rect">
                        <a:avLst/>
                      </a:prstGeom>
                      <a:noFill/>
                      <a:ln w="38100">
                        <a:noFill/>
                        <a:miter/>
                      </a:ln>
                    </p:spPr>
                  </p:pic>
                </p:oleObj>
              </mc:Fallback>
            </mc:AlternateContent>
          </a:graphicData>
        </a:graphic>
      </p:graphicFrame>
      <p:sp>
        <p:nvSpPr>
          <p:cNvPr id="10" name="文本框 9"/>
          <p:cNvSpPr txBox="1"/>
          <p:nvPr/>
        </p:nvSpPr>
        <p:spPr>
          <a:xfrm>
            <a:off x="2562447" y="5586346"/>
            <a:ext cx="1467293" cy="646331"/>
          </a:xfrm>
          <a:prstGeom prst="rect">
            <a:avLst/>
          </a:prstGeom>
          <a:noFill/>
        </p:spPr>
        <p:txBody>
          <a:bodyPr wrap="square" rtlCol="0">
            <a:spAutoFit/>
          </a:bodyPr>
          <a:lstStyle/>
          <a:p>
            <a:r>
              <a:rPr lang="zh-CN" altLang="en-US" sz="1800" dirty="0">
                <a:latin typeface="腾讯字体包" panose="02010600010101010101" charset="-128"/>
                <a:ea typeface="腾讯字体包" panose="02010600010101010101" charset="-128"/>
                <a:cs typeface="腾讯字体包" panose="02010600010101010101" charset="-128"/>
              </a:rPr>
              <a:t>原</a:t>
            </a:r>
            <a:r>
              <a:rPr lang="en-US" altLang="zh-CN" sz="1800" dirty="0" err="1">
                <a:latin typeface="腾讯字体包" panose="02010600010101010101" charset="-128"/>
                <a:ea typeface="腾讯字体包" panose="02010600010101010101" charset="-128"/>
                <a:cs typeface="腾讯字体包" panose="02010600010101010101" charset="-128"/>
              </a:rPr>
              <a:t>用例图</a:t>
            </a:r>
            <a:endParaRPr lang="en-US" altLang="zh-CN" sz="1800" dirty="0">
              <a:latin typeface="腾讯字体包" panose="02010600010101010101" charset="-128"/>
              <a:ea typeface="腾讯字体包" panose="02010600010101010101" charset="-128"/>
              <a:cs typeface="腾讯字体包" panose="02010600010101010101" charset="-128"/>
            </a:endParaRPr>
          </a:p>
          <a:p>
            <a:endParaRPr lang="zh-CN" altLang="en-US" dirty="0"/>
          </a:p>
        </p:txBody>
      </p:sp>
      <p:sp>
        <p:nvSpPr>
          <p:cNvPr id="11" name="箭头: 右 10"/>
          <p:cNvSpPr/>
          <p:nvPr/>
        </p:nvSpPr>
        <p:spPr>
          <a:xfrm>
            <a:off x="5369442" y="5527373"/>
            <a:ext cx="1244009" cy="394775"/>
          </a:xfrm>
          <a:prstGeom prst="rightArrow">
            <a:avLst/>
          </a:prstGeom>
          <a:solidFill>
            <a:srgbClr val="3F51B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6682515" y="2892055"/>
            <a:ext cx="2445488" cy="839972"/>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p:cNvSpPr/>
          <p:nvPr/>
        </p:nvSpPr>
        <p:spPr>
          <a:xfrm>
            <a:off x="9405264" y="2087975"/>
            <a:ext cx="2040529" cy="1464849"/>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箭头: 右 13"/>
          <p:cNvSpPr/>
          <p:nvPr/>
        </p:nvSpPr>
        <p:spPr>
          <a:xfrm>
            <a:off x="5421608" y="5515455"/>
            <a:ext cx="1244009" cy="394775"/>
          </a:xfrm>
          <a:prstGeom prst="rightArrow">
            <a:avLst/>
          </a:prstGeom>
          <a:solidFill>
            <a:srgbClr val="3F51B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00437" y="758328"/>
            <a:ext cx="5121171" cy="584775"/>
            <a:chOff x="582710" y="700015"/>
            <a:chExt cx="3960452" cy="584775"/>
          </a:xfrm>
        </p:grpSpPr>
        <p:sp>
          <p:nvSpPr>
            <p:cNvPr id="6" name="矩形 5"/>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76165" y="700015"/>
              <a:ext cx="3866997" cy="52322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用例图调整：</a:t>
              </a:r>
              <a:r>
                <a:rPr kumimoji="1" lang="zh-CN" altLang="en-US" sz="2800" dirty="0">
                  <a:latin typeface="腾讯字体包" panose="02010600010101010101" charset="-128"/>
                  <a:ea typeface="腾讯字体包" panose="02010600010101010101" charset="-128"/>
                  <a:sym typeface="+mn-ea"/>
                </a:rPr>
                <a:t>组内自查</a:t>
              </a:r>
              <a:r>
                <a:rPr kumimoji="1" lang="zh-CN" altLang="en-US" sz="2800" dirty="0">
                  <a:solidFill>
                    <a:schemeClr val="accent6">
                      <a:lumMod val="75000"/>
                    </a:schemeClr>
                  </a:solidFill>
                  <a:latin typeface="腾讯字体包" panose="02010600010101010101" charset="-128"/>
                  <a:ea typeface="腾讯字体包" panose="02010600010101010101" charset="-128"/>
                  <a:sym typeface="+mn-ea"/>
                </a:rPr>
                <a:t>更新</a:t>
              </a:r>
              <a:endParaRPr kumimoji="1" lang="zh-CN" altLang="en-US" sz="2800" dirty="0">
                <a:latin typeface="腾讯字体包" panose="02010600010101010101" charset="-128"/>
                <a:ea typeface="腾讯字体包" panose="02010600010101010101" charset="-128"/>
              </a:endParaRPr>
            </a:p>
          </p:txBody>
        </p:sp>
      </p:grpSp>
      <p:sp>
        <p:nvSpPr>
          <p:cNvPr id="15" name="内容占位符 2"/>
          <p:cNvSpPr txBox="1"/>
          <p:nvPr/>
        </p:nvSpPr>
        <p:spPr>
          <a:xfrm>
            <a:off x="746207" y="1835200"/>
            <a:ext cx="7159052" cy="43754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endParaRPr kumimoji="1" lang="en-US" altLang="zh-CN" sz="2400" dirty="0"/>
          </a:p>
        </p:txBody>
      </p:sp>
      <p:sp>
        <p:nvSpPr>
          <p:cNvPr id="16" name="内容占位符 2"/>
          <p:cNvSpPr txBox="1"/>
          <p:nvPr/>
        </p:nvSpPr>
        <p:spPr>
          <a:xfrm>
            <a:off x="746207" y="1598493"/>
            <a:ext cx="7581523" cy="39928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kumimoji="1" lang="zh-CN" altLang="en-US" sz="2000" dirty="0"/>
          </a:p>
        </p:txBody>
      </p:sp>
      <p:sp>
        <p:nvSpPr>
          <p:cNvPr id="3" name="文本框 2"/>
          <p:cNvSpPr txBox="1"/>
          <p:nvPr/>
        </p:nvSpPr>
        <p:spPr>
          <a:xfrm>
            <a:off x="8109763" y="5546352"/>
            <a:ext cx="2932149" cy="338554"/>
          </a:xfrm>
          <a:prstGeom prst="rect">
            <a:avLst/>
          </a:prstGeom>
          <a:noFill/>
        </p:spPr>
        <p:txBody>
          <a:bodyPr wrap="square">
            <a:spAutoFit/>
          </a:bodyPr>
          <a:lstStyle/>
          <a:p>
            <a:r>
              <a:rPr lang="en-US" altLang="zh-CN" sz="1600" dirty="0" err="1">
                <a:latin typeface="腾讯字体包" panose="02010600010101010101" charset="-128"/>
                <a:ea typeface="腾讯字体包" panose="02010600010101010101" charset="-128"/>
                <a:cs typeface="腾讯字体包" panose="02010600010101010101" charset="-128"/>
              </a:rPr>
              <a:t>ITAS系统总体用例图</a:t>
            </a:r>
            <a:r>
              <a:rPr lang="en-US" altLang="zh-CN" sz="1600" dirty="0">
                <a:latin typeface="腾讯字体包" panose="02010600010101010101" charset="-128"/>
                <a:ea typeface="腾讯字体包" panose="02010600010101010101" charset="-128"/>
                <a:cs typeface="腾讯字体包" panose="02010600010101010101" charset="-128"/>
              </a:rPr>
              <a:t> v2.0</a:t>
            </a:r>
            <a:endParaRPr lang="en-US" altLang="zh-CN" sz="1600" dirty="0">
              <a:latin typeface="腾讯字体包" panose="02010600010101010101" charset="-128"/>
              <a:ea typeface="腾讯字体包" panose="02010600010101010101" charset="-128"/>
              <a:cs typeface="腾讯字体包" panose="02010600010101010101" charset="-128"/>
            </a:endParaRPr>
          </a:p>
        </p:txBody>
      </p:sp>
      <p:sp>
        <p:nvSpPr>
          <p:cNvPr id="4" name="Rectangle 2"/>
          <p:cNvSpPr>
            <a:spLocks noChangeArrowheads="1"/>
          </p:cNvSpPr>
          <p:nvPr/>
        </p:nvSpPr>
        <p:spPr bwMode="auto">
          <a:xfrm>
            <a:off x="2946400" y="159849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1514981" y="1339537"/>
            <a:ext cx="1997546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8" name="对象 7"/>
          <p:cNvGraphicFramePr/>
          <p:nvPr/>
        </p:nvGraphicFramePr>
        <p:xfrm>
          <a:off x="6367842" y="1826900"/>
          <a:ext cx="5830961" cy="3451849"/>
        </p:xfrm>
        <a:graphic>
          <a:graphicData uri="http://schemas.openxmlformats.org/presentationml/2006/ole">
            <mc:AlternateContent xmlns:mc="http://schemas.openxmlformats.org/markup-compatibility/2006">
              <mc:Choice xmlns:v="urn:schemas-microsoft-com:vml" Requires="v">
                <p:oleObj spid="_x0000_s9" name="" r:id="rId1" imgW="9935845" imgH="5235575" progId="Visio.Drawing.15">
                  <p:embed/>
                </p:oleObj>
              </mc:Choice>
              <mc:Fallback>
                <p:oleObj name="" r:id="rId1" imgW="9935845" imgH="5235575" progId="Visio.Drawing.15">
                  <p:embed/>
                  <p:pic>
                    <p:nvPicPr>
                      <p:cNvPr id="0" name="Object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7842" y="1826900"/>
                        <a:ext cx="5830961" cy="3451849"/>
                      </a:xfrm>
                      <a:prstGeom prst="rect">
                        <a:avLst/>
                      </a:prstGeom>
                      <a:noFill/>
                    </p:spPr>
                  </p:pic>
                </p:oleObj>
              </mc:Fallback>
            </mc:AlternateContent>
          </a:graphicData>
        </a:graphic>
      </p:graphicFrame>
      <p:sp>
        <p:nvSpPr>
          <p:cNvPr id="10" name="文本框 9"/>
          <p:cNvSpPr txBox="1"/>
          <p:nvPr/>
        </p:nvSpPr>
        <p:spPr>
          <a:xfrm>
            <a:off x="2112523" y="5559071"/>
            <a:ext cx="2735924" cy="338554"/>
          </a:xfrm>
          <a:prstGeom prst="rect">
            <a:avLst/>
          </a:prstGeom>
          <a:noFill/>
        </p:spPr>
        <p:txBody>
          <a:bodyPr wrap="square">
            <a:spAutoFit/>
          </a:bodyPr>
          <a:lstStyle/>
          <a:p>
            <a:r>
              <a:rPr lang="en-US" altLang="zh-CN" sz="1600" dirty="0" err="1">
                <a:latin typeface="腾讯字体包" panose="02010600010101010101" charset="-128"/>
                <a:ea typeface="腾讯字体包" panose="02010600010101010101" charset="-128"/>
                <a:cs typeface="腾讯字体包" panose="02010600010101010101" charset="-128"/>
              </a:rPr>
              <a:t>ITAS系统总体用例图</a:t>
            </a:r>
            <a:r>
              <a:rPr lang="en-US" altLang="zh-CN" sz="1600" dirty="0">
                <a:latin typeface="腾讯字体包" panose="02010600010101010101" charset="-128"/>
                <a:ea typeface="腾讯字体包" panose="02010600010101010101" charset="-128"/>
                <a:cs typeface="腾讯字体包" panose="02010600010101010101" charset="-128"/>
              </a:rPr>
              <a:t> v1.0</a:t>
            </a:r>
            <a:endParaRPr lang="en-US" altLang="zh-CN" sz="1600" dirty="0">
              <a:latin typeface="腾讯字体包" panose="02010600010101010101" charset="-128"/>
              <a:ea typeface="腾讯字体包" panose="02010600010101010101" charset="-128"/>
              <a:cs typeface="腾讯字体包" panose="02010600010101010101" charset="-128"/>
            </a:endParaRPr>
          </a:p>
        </p:txBody>
      </p:sp>
      <p:pic>
        <p:nvPicPr>
          <p:cNvPr id="11" name="图片 10"/>
          <p:cNvPicPr>
            <a:picLocks noChangeAspect="1"/>
          </p:cNvPicPr>
          <p:nvPr/>
        </p:nvPicPr>
        <p:blipFill>
          <a:blip r:embed="rId3"/>
          <a:stretch>
            <a:fillRect/>
          </a:stretch>
        </p:blipFill>
        <p:spPr>
          <a:xfrm>
            <a:off x="137448" y="1800915"/>
            <a:ext cx="6062472" cy="3451848"/>
          </a:xfrm>
          <a:prstGeom prst="rect">
            <a:avLst/>
          </a:prstGeom>
        </p:spPr>
      </p:pic>
      <p:sp>
        <p:nvSpPr>
          <p:cNvPr id="17" name="矩形: 圆角 16"/>
          <p:cNvSpPr/>
          <p:nvPr/>
        </p:nvSpPr>
        <p:spPr>
          <a:xfrm>
            <a:off x="9728790" y="2307264"/>
            <a:ext cx="1861254" cy="871871"/>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p:cNvSpPr/>
          <p:nvPr/>
        </p:nvSpPr>
        <p:spPr>
          <a:xfrm>
            <a:off x="10696353" y="3285460"/>
            <a:ext cx="893692" cy="1828800"/>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94250" y="1332891"/>
            <a:ext cx="11519535" cy="838810"/>
          </a:xfrm>
        </p:spPr>
        <p:txBody>
          <a:bodyPr>
            <a:normAutofit fontScale="97500" lnSpcReduction="10000"/>
          </a:bodyPr>
          <a:lstStyle/>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1：用例</a:t>
            </a:r>
            <a:r>
              <a:rPr lang="zh-CN" altLang="en-US" sz="2220" dirty="0">
                <a:solidFill>
                  <a:srgbClr val="3F51B6"/>
                </a:solidFill>
                <a:effectLst/>
                <a:uFillTx/>
                <a:latin typeface="腾讯字体包" panose="02010600010101010101" charset="-128"/>
                <a:ea typeface="腾讯字体包" panose="02010600010101010101" charset="-128"/>
              </a:rPr>
              <a:t>扩充</a:t>
            </a:r>
            <a:endParaRPr lang="en-US" altLang="zh-CN" sz="2220" dirty="0">
              <a:solidFill>
                <a:srgbClr val="3F51B6"/>
              </a:solidFill>
              <a:effectLst/>
              <a:uFillTx/>
              <a:latin typeface="腾讯字体包" panose="02010600010101010101" charset="-128"/>
              <a:ea typeface="腾讯字体包" panose="02010600010101010101" charset="-128"/>
            </a:endParaRPr>
          </a:p>
          <a:p>
            <a:pPr lvl="1">
              <a:lnSpc>
                <a:spcPct val="125000"/>
              </a:lnSpc>
            </a:pPr>
            <a:r>
              <a:rPr lang="zh-CN" altLang="en-US" sz="1540" dirty="0">
                <a:solidFill>
                  <a:schemeClr val="accent1"/>
                </a:solidFill>
                <a:effectLst/>
                <a:latin typeface="腾讯字体包" panose="02010600010101010101" charset="-128"/>
                <a:ea typeface="腾讯字体包" panose="02010600010101010101" charset="-128"/>
                <a:cs typeface="腾讯字体包" panose="02010600010101010101" charset="-128"/>
                <a:sym typeface="+mn-ea"/>
              </a:rPr>
              <a:t>共享预设库</a:t>
            </a:r>
            <a:r>
              <a:rPr lang="zh-CN" altLang="en-US" sz="1540" dirty="0">
                <a:solidFill>
                  <a:schemeClr val="accent1"/>
                </a:solidFill>
                <a:latin typeface="腾讯字体包" panose="02010600010101010101" charset="-128"/>
                <a:ea typeface="腾讯字体包" panose="02010600010101010101" charset="-128"/>
                <a:cs typeface="腾讯字体包" panose="02010600010101010101" charset="-128"/>
                <a:sym typeface="+mn-ea"/>
              </a:rPr>
              <a:t> </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扩充为 </a:t>
            </a:r>
            <a:r>
              <a:rPr lang="zh-CN" altLang="en-US" sz="1540" dirty="0">
                <a:solidFill>
                  <a:schemeClr val="accent1"/>
                </a:solidFill>
                <a:latin typeface="腾讯字体包" panose="02010600010101010101" charset="-128"/>
                <a:ea typeface="腾讯字体包" panose="02010600010101010101" charset="-128"/>
                <a:cs typeface="腾讯字体包" panose="02010600010101010101" charset="-128"/>
                <a:sym typeface="+mn-ea"/>
              </a:rPr>
              <a:t>用户模型上传</a:t>
            </a:r>
            <a:endParaRPr lang="zh-CN" sz="1540" dirty="0">
              <a:effectLst/>
              <a:latin typeface="腾讯字体包" panose="02010600010101010101" charset="-128"/>
              <a:ea typeface="腾讯字体包" panose="02010600010101010101" charset="-128"/>
              <a:cs typeface="腾讯字体包" panose="02010600010101010101" charset="-128"/>
              <a:sym typeface="+mn-ea"/>
            </a:endParaRPr>
          </a:p>
          <a:p>
            <a:pPr marL="0" indent="0" algn="l">
              <a:lnSpc>
                <a:spcPct val="125000"/>
              </a:lnSpc>
              <a:spcAft>
                <a:spcPts val="0"/>
              </a:spcAft>
              <a:buClrTx/>
              <a:buSzTx/>
              <a:buNone/>
            </a:pPr>
            <a:endParaRPr lang="en-US" altLang="zh-CN" sz="2220" dirty="0">
              <a:solidFill>
                <a:srgbClr val="3F51B6"/>
              </a:solidFill>
              <a:effectLst/>
              <a:uFillTx/>
              <a:latin typeface="腾讯字体包" panose="02010600010101010101" charset="-128"/>
              <a:ea typeface="腾讯字体包" panose="02010600010101010101" charset="-128"/>
            </a:endParaRPr>
          </a:p>
          <a:p>
            <a:pPr marL="457200" lvl="1" indent="0" algn="l">
              <a:lnSpc>
                <a:spcPct val="125000"/>
              </a:lnSpc>
              <a:spcAft>
                <a:spcPts val="0"/>
              </a:spcAft>
              <a:buClrTx/>
              <a:buSzTx/>
              <a:buNone/>
            </a:pP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p:txBody>
      </p:sp>
      <p:grpSp>
        <p:nvGrpSpPr>
          <p:cNvPr id="16" name="组合 15"/>
          <p:cNvGrpSpPr/>
          <p:nvPr/>
        </p:nvGrpSpPr>
        <p:grpSpPr>
          <a:xfrm>
            <a:off x="283625" y="712715"/>
            <a:ext cx="11530160" cy="576000"/>
            <a:chOff x="582710" y="712715"/>
            <a:chExt cx="11537957"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86222"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sym typeface="+mn-ea"/>
                </a:rPr>
                <a:t>智能挖掘子系统：</a:t>
              </a:r>
              <a:r>
                <a:rPr kumimoji="1" lang="en-US" altLang="zh-CN" sz="2800" dirty="0">
                  <a:latin typeface="腾讯字体包" panose="02010600010101010101" charset="-128"/>
                  <a:ea typeface="腾讯字体包" panose="02010600010101010101" charset="-128"/>
                  <a:sym typeface="+mn-ea"/>
                </a:rPr>
                <a:t>RUCM</a:t>
              </a:r>
              <a:r>
                <a:rPr kumimoji="1" lang="zh-CN" altLang="en-US" sz="2800" dirty="0">
                  <a:latin typeface="腾讯字体包" panose="02010600010101010101" charset="-128"/>
                  <a:ea typeface="腾讯字体包" panose="02010600010101010101" charset="-128"/>
                  <a:sym typeface="+mn-ea"/>
                </a:rPr>
                <a:t>表、对应流程图：组内自查</a:t>
              </a:r>
              <a:r>
                <a:rPr kumimoji="1" lang="zh-CN" altLang="en-US" sz="2800" dirty="0">
                  <a:solidFill>
                    <a:schemeClr val="accent6">
                      <a:lumMod val="75000"/>
                    </a:schemeClr>
                  </a:solidFill>
                  <a:latin typeface="腾讯字体包" panose="02010600010101010101" charset="-128"/>
                  <a:ea typeface="腾讯字体包" panose="02010600010101010101" charset="-128"/>
                  <a:sym typeface="+mn-ea"/>
                </a:rPr>
                <a:t>更新</a:t>
              </a:r>
              <a:endParaRPr kumimoji="1" lang="zh-CN" altLang="en-US" sz="2800" dirty="0">
                <a:solidFill>
                  <a:schemeClr val="accent6">
                    <a:lumMod val="75000"/>
                  </a:schemeClr>
                </a:solidFill>
                <a:latin typeface="腾讯字体包" panose="02010600010101010101" charset="-128"/>
                <a:ea typeface="腾讯字体包" panose="02010600010101010101" charset="-128"/>
                <a:sym typeface="+mn-ea"/>
              </a:endParaRPr>
            </a:p>
          </p:txBody>
        </p:sp>
      </p:grpSp>
      <p:pic>
        <p:nvPicPr>
          <p:cNvPr id="4" name="图片 3"/>
          <p:cNvPicPr>
            <a:picLocks noChangeAspect="1"/>
          </p:cNvPicPr>
          <p:nvPr/>
        </p:nvPicPr>
        <p:blipFill>
          <a:blip r:embed="rId1"/>
          <a:stretch>
            <a:fillRect/>
          </a:stretch>
        </p:blipFill>
        <p:spPr>
          <a:xfrm>
            <a:off x="1193799" y="2269907"/>
            <a:ext cx="3392490" cy="4070988"/>
          </a:xfrm>
          <a:prstGeom prst="rect">
            <a:avLst/>
          </a:prstGeom>
        </p:spPr>
      </p:pic>
      <p:pic>
        <p:nvPicPr>
          <p:cNvPr id="6" name="图片 5"/>
          <p:cNvPicPr>
            <a:picLocks noChangeAspect="1"/>
          </p:cNvPicPr>
          <p:nvPr/>
        </p:nvPicPr>
        <p:blipFill>
          <a:blip r:embed="rId2"/>
          <a:stretch>
            <a:fillRect/>
          </a:stretch>
        </p:blipFill>
        <p:spPr>
          <a:xfrm>
            <a:off x="7422701" y="1409700"/>
            <a:ext cx="3779750" cy="4930495"/>
          </a:xfrm>
          <a:prstGeom prst="rect">
            <a:avLst/>
          </a:prstGeom>
        </p:spPr>
      </p:pic>
      <p:sp>
        <p:nvSpPr>
          <p:cNvPr id="7" name="箭头: 右 6"/>
          <p:cNvSpPr/>
          <p:nvPr/>
        </p:nvSpPr>
        <p:spPr>
          <a:xfrm>
            <a:off x="5473995" y="3536950"/>
            <a:ext cx="1244009" cy="394775"/>
          </a:xfrm>
          <a:prstGeom prst="rightArrow">
            <a:avLst/>
          </a:prstGeom>
          <a:solidFill>
            <a:srgbClr val="3F51B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283047" y="6340895"/>
            <a:ext cx="1467293" cy="369332"/>
          </a:xfrm>
          <a:prstGeom prst="rect">
            <a:avLst/>
          </a:prstGeom>
          <a:noFill/>
        </p:spPr>
        <p:txBody>
          <a:bodyPr wrap="square" rtlCol="0">
            <a:spAutoFit/>
          </a:bodyPr>
          <a:lstStyle/>
          <a:p>
            <a:r>
              <a:rPr lang="zh-CN" altLang="en-US" sz="1800" dirty="0">
                <a:latin typeface="腾讯字体包" panose="02010600010101010101" charset="-128"/>
                <a:ea typeface="腾讯字体包" panose="02010600010101010101" charset="-128"/>
                <a:cs typeface="腾讯字体包" panose="02010600010101010101" charset="-128"/>
              </a:rPr>
              <a:t>共享预设库</a:t>
            </a:r>
            <a:endParaRPr lang="zh-CN" altLang="en-US" dirty="0"/>
          </a:p>
        </p:txBody>
      </p:sp>
      <p:sp>
        <p:nvSpPr>
          <p:cNvPr id="9" name="文本框 8"/>
          <p:cNvSpPr txBox="1"/>
          <p:nvPr/>
        </p:nvSpPr>
        <p:spPr>
          <a:xfrm>
            <a:off x="8515643" y="6340895"/>
            <a:ext cx="1872957" cy="369332"/>
          </a:xfrm>
          <a:prstGeom prst="rect">
            <a:avLst/>
          </a:prstGeom>
          <a:noFill/>
        </p:spPr>
        <p:txBody>
          <a:bodyPr wrap="square" rtlCol="0">
            <a:spAutoFit/>
          </a:bodyPr>
          <a:lstStyle/>
          <a:p>
            <a:r>
              <a:rPr lang="zh-CN" altLang="en-US" sz="1800" dirty="0">
                <a:latin typeface="腾讯字体包" panose="02010600010101010101" charset="-128"/>
                <a:ea typeface="腾讯字体包" panose="02010600010101010101" charset="-128"/>
                <a:cs typeface="腾讯字体包" panose="02010600010101010101" charset="-128"/>
              </a:rPr>
              <a:t>用户模型上传</a:t>
            </a:r>
            <a:endParaRPr lang="zh-CN" altLang="en-US" sz="1800" dirty="0">
              <a:latin typeface="腾讯字体包" panose="02010600010101010101" charset="-128"/>
              <a:ea typeface="腾讯字体包" panose="02010600010101010101" charset="-128"/>
              <a:cs typeface="腾讯字体包" panose="02010600010101010101"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283625" y="712715"/>
            <a:ext cx="11530160" cy="576000"/>
            <a:chOff x="582710" y="712715"/>
            <a:chExt cx="11537957"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86222"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sym typeface="+mn-ea"/>
                </a:rPr>
                <a:t>智能挖掘子系统：</a:t>
              </a:r>
              <a:r>
                <a:rPr kumimoji="1" lang="en-US" altLang="zh-CN" sz="2800" dirty="0">
                  <a:latin typeface="腾讯字体包" panose="02010600010101010101" charset="-128"/>
                  <a:ea typeface="腾讯字体包" panose="02010600010101010101" charset="-128"/>
                  <a:sym typeface="+mn-ea"/>
                </a:rPr>
                <a:t>RUCM</a:t>
              </a:r>
              <a:r>
                <a:rPr kumimoji="1" lang="zh-CN" altLang="en-US" sz="2800" dirty="0">
                  <a:latin typeface="腾讯字体包" panose="02010600010101010101" charset="-128"/>
                  <a:ea typeface="腾讯字体包" panose="02010600010101010101" charset="-128"/>
                  <a:sym typeface="+mn-ea"/>
                </a:rPr>
                <a:t>表、对应流程图：组内自查</a:t>
              </a:r>
              <a:r>
                <a:rPr kumimoji="1" lang="zh-CN" altLang="en-US" sz="2800" dirty="0">
                  <a:solidFill>
                    <a:schemeClr val="accent6">
                      <a:lumMod val="75000"/>
                    </a:schemeClr>
                  </a:solidFill>
                  <a:latin typeface="腾讯字体包" panose="02010600010101010101" charset="-128"/>
                  <a:ea typeface="腾讯字体包" panose="02010600010101010101" charset="-128"/>
                  <a:sym typeface="+mn-ea"/>
                </a:rPr>
                <a:t>更新</a:t>
              </a:r>
              <a:endParaRPr kumimoji="1" lang="zh-CN" altLang="en-US" sz="2800" dirty="0">
                <a:solidFill>
                  <a:schemeClr val="accent6">
                    <a:lumMod val="75000"/>
                  </a:schemeClr>
                </a:solidFill>
                <a:latin typeface="腾讯字体包" panose="02010600010101010101" charset="-128"/>
                <a:ea typeface="腾讯字体包" panose="02010600010101010101" charset="-128"/>
                <a:sym typeface="+mn-ea"/>
              </a:endParaRPr>
            </a:p>
          </p:txBody>
        </p:sp>
      </p:grpSp>
      <p:pic>
        <p:nvPicPr>
          <p:cNvPr id="2" name="!!3"/>
          <p:cNvPicPr>
            <a:picLocks noChangeAspect="1"/>
          </p:cNvPicPr>
          <p:nvPr/>
        </p:nvPicPr>
        <p:blipFill>
          <a:blip r:embed="rId1"/>
          <a:stretch>
            <a:fillRect/>
          </a:stretch>
        </p:blipFill>
        <p:spPr>
          <a:xfrm>
            <a:off x="1204425" y="2034564"/>
            <a:ext cx="3869055" cy="4406293"/>
          </a:xfrm>
          <a:prstGeom prst="rect">
            <a:avLst/>
          </a:prstGeom>
        </p:spPr>
      </p:pic>
      <p:pic>
        <p:nvPicPr>
          <p:cNvPr id="3" name="!!4"/>
          <p:cNvPicPr>
            <a:picLocks noChangeAspect="1"/>
          </p:cNvPicPr>
          <p:nvPr/>
        </p:nvPicPr>
        <p:blipFill>
          <a:blip r:embed="rId2"/>
          <a:stretch>
            <a:fillRect/>
          </a:stretch>
        </p:blipFill>
        <p:spPr>
          <a:xfrm>
            <a:off x="7119939" y="1873489"/>
            <a:ext cx="4177981" cy="4567368"/>
          </a:xfrm>
          <a:prstGeom prst="rect">
            <a:avLst/>
          </a:prstGeom>
        </p:spPr>
      </p:pic>
      <p:sp>
        <p:nvSpPr>
          <p:cNvPr id="5" name="内容占位符 4"/>
          <p:cNvSpPr>
            <a:spLocks noGrp="1"/>
          </p:cNvSpPr>
          <p:nvPr>
            <p:ph idx="1"/>
          </p:nvPr>
        </p:nvSpPr>
        <p:spPr>
          <a:xfrm>
            <a:off x="294250" y="1332891"/>
            <a:ext cx="11519535" cy="838810"/>
          </a:xfrm>
        </p:spPr>
        <p:txBody>
          <a:bodyPr>
            <a:normAutofit fontScale="97500" lnSpcReduction="10000"/>
          </a:bodyPr>
          <a:lstStyle/>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2：用例</a:t>
            </a:r>
            <a:r>
              <a:rPr lang="zh-CN" altLang="en-US" sz="2220" dirty="0">
                <a:solidFill>
                  <a:srgbClr val="3F51B6"/>
                </a:solidFill>
                <a:effectLst/>
                <a:uFillTx/>
                <a:latin typeface="腾讯字体包" panose="02010600010101010101" charset="-128"/>
                <a:ea typeface="腾讯字体包" panose="02010600010101010101" charset="-128"/>
              </a:rPr>
              <a:t>合并</a:t>
            </a:r>
            <a:endParaRPr lang="en-US" altLang="zh-CN" sz="2220" dirty="0">
              <a:solidFill>
                <a:srgbClr val="3F51B6"/>
              </a:solidFill>
              <a:effectLst/>
              <a:uFillTx/>
              <a:latin typeface="腾讯字体包" panose="02010600010101010101" charset="-128"/>
              <a:ea typeface="腾讯字体包" panose="02010600010101010101" charset="-128"/>
            </a:endParaRPr>
          </a:p>
          <a:p>
            <a:pPr lvl="1">
              <a:lnSpc>
                <a:spcPct val="125000"/>
              </a:lnSpc>
            </a:pPr>
            <a:r>
              <a:rPr lang="zh-CN" altLang="en-US" sz="1540" dirty="0">
                <a:solidFill>
                  <a:schemeClr val="accent1"/>
                </a:solidFill>
                <a:effectLst/>
                <a:latin typeface="腾讯字体包" panose="02010600010101010101" charset="-128"/>
                <a:ea typeface="腾讯字体包" panose="02010600010101010101" charset="-128"/>
                <a:cs typeface="腾讯字体包" panose="02010600010101010101" charset="-128"/>
                <a:sym typeface="+mn-ea"/>
              </a:rPr>
              <a:t>文档上传、文档格式转换</a:t>
            </a:r>
            <a:r>
              <a:rPr lang="zh-CN" altLang="en-US" sz="1540" dirty="0">
                <a:solidFill>
                  <a:schemeClr val="accent1"/>
                </a:solidFill>
                <a:latin typeface="腾讯字体包" panose="02010600010101010101" charset="-128"/>
                <a:ea typeface="腾讯字体包" panose="02010600010101010101" charset="-128"/>
                <a:cs typeface="腾讯字体包" panose="02010600010101010101" charset="-128"/>
                <a:sym typeface="+mn-ea"/>
              </a:rPr>
              <a:t> </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合并为 </a:t>
            </a:r>
            <a:r>
              <a:rPr lang="zh-CN" altLang="en-US" sz="1540" dirty="0">
                <a:solidFill>
                  <a:schemeClr val="accent1"/>
                </a:solidFill>
                <a:latin typeface="腾讯字体包" panose="02010600010101010101" charset="-128"/>
                <a:ea typeface="腾讯字体包" panose="02010600010101010101" charset="-128"/>
                <a:cs typeface="腾讯字体包" panose="02010600010101010101" charset="-128"/>
                <a:sym typeface="+mn-ea"/>
              </a:rPr>
              <a:t>待标注文档上传</a:t>
            </a:r>
            <a:endParaRPr lang="zh-CN" sz="1540" dirty="0">
              <a:effectLst/>
              <a:latin typeface="腾讯字体包" panose="02010600010101010101" charset="-128"/>
              <a:ea typeface="腾讯字体包" panose="02010600010101010101" charset="-128"/>
              <a:cs typeface="腾讯字体包" panose="02010600010101010101" charset="-128"/>
              <a:sym typeface="+mn-ea"/>
            </a:endParaRPr>
          </a:p>
          <a:p>
            <a:pPr marL="0" indent="0" algn="l">
              <a:lnSpc>
                <a:spcPct val="125000"/>
              </a:lnSpc>
              <a:spcAft>
                <a:spcPts val="0"/>
              </a:spcAft>
              <a:buClrTx/>
              <a:buSzTx/>
              <a:buNone/>
            </a:pPr>
            <a:endParaRPr lang="en-US" altLang="zh-CN" sz="2220" dirty="0">
              <a:solidFill>
                <a:srgbClr val="3F51B6"/>
              </a:solidFill>
              <a:effectLst/>
              <a:uFillTx/>
              <a:latin typeface="腾讯字体包" panose="02010600010101010101" charset="-128"/>
              <a:ea typeface="腾讯字体包" panose="02010600010101010101" charset="-128"/>
            </a:endParaRPr>
          </a:p>
          <a:p>
            <a:pPr marL="457200" lvl="1" indent="0" algn="l">
              <a:lnSpc>
                <a:spcPct val="125000"/>
              </a:lnSpc>
              <a:spcAft>
                <a:spcPts val="0"/>
              </a:spcAft>
              <a:buClrTx/>
              <a:buSzTx/>
              <a:buNone/>
            </a:pP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p:txBody>
      </p:sp>
      <p:sp>
        <p:nvSpPr>
          <p:cNvPr id="10" name="文本框 9"/>
          <p:cNvSpPr txBox="1"/>
          <p:nvPr/>
        </p:nvSpPr>
        <p:spPr>
          <a:xfrm>
            <a:off x="2659039" y="6404714"/>
            <a:ext cx="1872957" cy="369332"/>
          </a:xfrm>
          <a:prstGeom prst="rect">
            <a:avLst/>
          </a:prstGeom>
          <a:noFill/>
        </p:spPr>
        <p:txBody>
          <a:bodyPr wrap="square" rtlCol="0">
            <a:spAutoFit/>
          </a:bodyPr>
          <a:lstStyle/>
          <a:p>
            <a:r>
              <a:rPr lang="zh-CN" altLang="en-US" sz="1800" dirty="0">
                <a:latin typeface="腾讯字体包" panose="02010600010101010101" charset="-128"/>
                <a:ea typeface="腾讯字体包" panose="02010600010101010101" charset="-128"/>
                <a:cs typeface="腾讯字体包" panose="02010600010101010101" charset="-128"/>
              </a:rPr>
              <a:t>文档上传</a:t>
            </a:r>
            <a:endParaRPr lang="zh-CN" altLang="en-US" sz="1800" dirty="0">
              <a:latin typeface="腾讯字体包" panose="02010600010101010101" charset="-128"/>
              <a:ea typeface="腾讯字体包" panose="02010600010101010101" charset="-128"/>
              <a:cs typeface="腾讯字体包" panose="02010600010101010101" charset="-128"/>
            </a:endParaRPr>
          </a:p>
        </p:txBody>
      </p:sp>
      <p:sp>
        <p:nvSpPr>
          <p:cNvPr id="11" name="文本框 10"/>
          <p:cNvSpPr txBox="1"/>
          <p:nvPr/>
        </p:nvSpPr>
        <p:spPr>
          <a:xfrm>
            <a:off x="8164806" y="6440857"/>
            <a:ext cx="1872957" cy="369332"/>
          </a:xfrm>
          <a:prstGeom prst="rect">
            <a:avLst/>
          </a:prstGeom>
          <a:noFill/>
        </p:spPr>
        <p:txBody>
          <a:bodyPr wrap="square" rtlCol="0">
            <a:spAutoFit/>
          </a:bodyPr>
          <a:lstStyle/>
          <a:p>
            <a:r>
              <a:rPr lang="zh-CN" altLang="en-US" sz="1800" dirty="0">
                <a:latin typeface="腾讯字体包" panose="02010600010101010101" charset="-128"/>
                <a:ea typeface="腾讯字体包" panose="02010600010101010101" charset="-128"/>
                <a:cs typeface="腾讯字体包" panose="02010600010101010101" charset="-128"/>
              </a:rPr>
              <a:t>文档格式转换 </a:t>
            </a:r>
            <a:endParaRPr lang="zh-CN" altLang="en-US" sz="1800" dirty="0">
              <a:latin typeface="腾讯字体包" panose="02010600010101010101" charset="-128"/>
              <a:ea typeface="腾讯字体包" panose="02010600010101010101" charset="-128"/>
              <a:cs typeface="腾讯字体包" panose="02010600010101010101"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283625" y="712715"/>
            <a:ext cx="11530160" cy="576000"/>
            <a:chOff x="582710" y="712715"/>
            <a:chExt cx="11537957"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86222"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sym typeface="+mn-ea"/>
                </a:rPr>
                <a:t>智能挖掘子系统：</a:t>
              </a:r>
              <a:r>
                <a:rPr kumimoji="1" lang="en-US" altLang="zh-CN" sz="2800" dirty="0">
                  <a:latin typeface="腾讯字体包" panose="02010600010101010101" charset="-128"/>
                  <a:ea typeface="腾讯字体包" panose="02010600010101010101" charset="-128"/>
                  <a:sym typeface="+mn-ea"/>
                </a:rPr>
                <a:t>RUCM</a:t>
              </a:r>
              <a:r>
                <a:rPr kumimoji="1" lang="zh-CN" altLang="en-US" sz="2800" dirty="0">
                  <a:latin typeface="腾讯字体包" panose="02010600010101010101" charset="-128"/>
                  <a:ea typeface="腾讯字体包" panose="02010600010101010101" charset="-128"/>
                  <a:sym typeface="+mn-ea"/>
                </a:rPr>
                <a:t>表、对应流程图：组内自查</a:t>
              </a:r>
              <a:r>
                <a:rPr kumimoji="1" lang="zh-CN" altLang="en-US" sz="2800" dirty="0">
                  <a:solidFill>
                    <a:schemeClr val="accent6">
                      <a:lumMod val="75000"/>
                    </a:schemeClr>
                  </a:solidFill>
                  <a:latin typeface="腾讯字体包" panose="02010600010101010101" charset="-128"/>
                  <a:ea typeface="腾讯字体包" panose="02010600010101010101" charset="-128"/>
                  <a:sym typeface="+mn-ea"/>
                </a:rPr>
                <a:t>更新</a:t>
              </a:r>
              <a:endParaRPr kumimoji="1" lang="zh-CN" altLang="en-US" sz="2800" dirty="0">
                <a:solidFill>
                  <a:schemeClr val="accent6">
                    <a:lumMod val="75000"/>
                  </a:schemeClr>
                </a:solidFill>
                <a:latin typeface="腾讯字体包" panose="02010600010101010101" charset="-128"/>
                <a:ea typeface="腾讯字体包" panose="02010600010101010101" charset="-128"/>
                <a:sym typeface="+mn-ea"/>
              </a:endParaRPr>
            </a:p>
          </p:txBody>
        </p:sp>
      </p:grpSp>
      <p:pic>
        <p:nvPicPr>
          <p:cNvPr id="4" name="!!3"/>
          <p:cNvPicPr>
            <a:picLocks noChangeAspect="1"/>
          </p:cNvPicPr>
          <p:nvPr/>
        </p:nvPicPr>
        <p:blipFill>
          <a:blip r:embed="rId1"/>
          <a:stretch>
            <a:fillRect/>
          </a:stretch>
        </p:blipFill>
        <p:spPr>
          <a:xfrm>
            <a:off x="3346561" y="1186449"/>
            <a:ext cx="4983346" cy="5281753"/>
          </a:xfrm>
          <a:prstGeom prst="rect">
            <a:avLst/>
          </a:prstGeom>
        </p:spPr>
      </p:pic>
      <p:pic>
        <p:nvPicPr>
          <p:cNvPr id="6" name="!!4"/>
          <p:cNvPicPr>
            <a:picLocks noChangeAspect="1"/>
          </p:cNvPicPr>
          <p:nvPr/>
        </p:nvPicPr>
        <p:blipFill>
          <a:blip r:embed="rId1"/>
          <a:stretch>
            <a:fillRect/>
          </a:stretch>
        </p:blipFill>
        <p:spPr>
          <a:xfrm>
            <a:off x="3346561" y="1174973"/>
            <a:ext cx="4983346" cy="5281753"/>
          </a:xfrm>
          <a:prstGeom prst="rect">
            <a:avLst/>
          </a:prstGeom>
        </p:spPr>
      </p:pic>
      <p:sp>
        <p:nvSpPr>
          <p:cNvPr id="5" name="内容占位符 4"/>
          <p:cNvSpPr>
            <a:spLocks noGrp="1"/>
          </p:cNvSpPr>
          <p:nvPr>
            <p:ph idx="1"/>
          </p:nvPr>
        </p:nvSpPr>
        <p:spPr>
          <a:xfrm>
            <a:off x="294250" y="1332891"/>
            <a:ext cx="11519535" cy="838810"/>
          </a:xfrm>
        </p:spPr>
        <p:txBody>
          <a:bodyPr>
            <a:normAutofit fontScale="97500" lnSpcReduction="10000"/>
          </a:bodyPr>
          <a:lstStyle/>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2：用例</a:t>
            </a:r>
            <a:r>
              <a:rPr lang="zh-CN" altLang="en-US" sz="2220" dirty="0">
                <a:solidFill>
                  <a:srgbClr val="3F51B6"/>
                </a:solidFill>
                <a:effectLst/>
                <a:uFillTx/>
                <a:latin typeface="腾讯字体包" panose="02010600010101010101" charset="-128"/>
                <a:ea typeface="腾讯字体包" panose="02010600010101010101" charset="-128"/>
              </a:rPr>
              <a:t>合并</a:t>
            </a:r>
            <a:endParaRPr lang="en-US" altLang="zh-CN" sz="2220" dirty="0">
              <a:solidFill>
                <a:srgbClr val="3F51B6"/>
              </a:solidFill>
              <a:effectLst/>
              <a:uFillTx/>
              <a:latin typeface="腾讯字体包" panose="02010600010101010101" charset="-128"/>
              <a:ea typeface="腾讯字体包" panose="02010600010101010101" charset="-128"/>
            </a:endParaRPr>
          </a:p>
          <a:p>
            <a:pPr lvl="1">
              <a:lnSpc>
                <a:spcPct val="125000"/>
              </a:lnSpc>
            </a:pPr>
            <a:r>
              <a:rPr lang="zh-CN" altLang="en-US" sz="1540" dirty="0">
                <a:solidFill>
                  <a:schemeClr val="accent1"/>
                </a:solidFill>
                <a:effectLst/>
                <a:latin typeface="腾讯字体包" panose="02010600010101010101" charset="-128"/>
                <a:ea typeface="腾讯字体包" panose="02010600010101010101" charset="-128"/>
                <a:cs typeface="腾讯字体包" panose="02010600010101010101" charset="-128"/>
                <a:sym typeface="+mn-ea"/>
              </a:rPr>
              <a:t>文档上传、文档格式转换</a:t>
            </a:r>
            <a:r>
              <a:rPr lang="zh-CN" altLang="en-US" sz="1540" dirty="0">
                <a:solidFill>
                  <a:schemeClr val="accent1"/>
                </a:solidFill>
                <a:latin typeface="腾讯字体包" panose="02010600010101010101" charset="-128"/>
                <a:ea typeface="腾讯字体包" panose="02010600010101010101" charset="-128"/>
                <a:cs typeface="腾讯字体包" panose="02010600010101010101" charset="-128"/>
                <a:sym typeface="+mn-ea"/>
              </a:rPr>
              <a:t> </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合并为 </a:t>
            </a:r>
            <a:r>
              <a:rPr lang="zh-CN" altLang="en-US" sz="1540" dirty="0">
                <a:solidFill>
                  <a:schemeClr val="accent1"/>
                </a:solidFill>
                <a:latin typeface="腾讯字体包" panose="02010600010101010101" charset="-128"/>
                <a:ea typeface="腾讯字体包" panose="02010600010101010101" charset="-128"/>
                <a:cs typeface="腾讯字体包" panose="02010600010101010101" charset="-128"/>
                <a:sym typeface="+mn-ea"/>
              </a:rPr>
              <a:t>待标注文档上传</a:t>
            </a:r>
            <a:endParaRPr lang="zh-CN" sz="1540" dirty="0">
              <a:effectLst/>
              <a:latin typeface="腾讯字体包" panose="02010600010101010101" charset="-128"/>
              <a:ea typeface="腾讯字体包" panose="02010600010101010101" charset="-128"/>
              <a:cs typeface="腾讯字体包" panose="02010600010101010101" charset="-128"/>
              <a:sym typeface="+mn-ea"/>
            </a:endParaRPr>
          </a:p>
          <a:p>
            <a:pPr marL="0" indent="0" algn="l">
              <a:lnSpc>
                <a:spcPct val="125000"/>
              </a:lnSpc>
              <a:spcAft>
                <a:spcPts val="0"/>
              </a:spcAft>
              <a:buClrTx/>
              <a:buSzTx/>
              <a:buNone/>
            </a:pPr>
            <a:endParaRPr lang="en-US" altLang="zh-CN" sz="2220" dirty="0">
              <a:solidFill>
                <a:srgbClr val="3F51B6"/>
              </a:solidFill>
              <a:effectLst/>
              <a:uFillTx/>
              <a:latin typeface="腾讯字体包" panose="02010600010101010101" charset="-128"/>
              <a:ea typeface="腾讯字体包" panose="02010600010101010101" charset="-128"/>
            </a:endParaRPr>
          </a:p>
          <a:p>
            <a:pPr marL="457200" lvl="1" indent="0" algn="l">
              <a:lnSpc>
                <a:spcPct val="125000"/>
              </a:lnSpc>
              <a:spcAft>
                <a:spcPts val="0"/>
              </a:spcAft>
              <a:buClrTx/>
              <a:buSzTx/>
              <a:buNone/>
            </a:pP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p:txBody>
      </p:sp>
      <p:sp>
        <p:nvSpPr>
          <p:cNvPr id="7" name="文本框 6"/>
          <p:cNvSpPr txBox="1"/>
          <p:nvPr/>
        </p:nvSpPr>
        <p:spPr>
          <a:xfrm>
            <a:off x="5117538" y="6449152"/>
            <a:ext cx="1872957" cy="369332"/>
          </a:xfrm>
          <a:prstGeom prst="rect">
            <a:avLst/>
          </a:prstGeom>
          <a:noFill/>
        </p:spPr>
        <p:txBody>
          <a:bodyPr wrap="square" rtlCol="0">
            <a:spAutoFit/>
          </a:bodyPr>
          <a:lstStyle/>
          <a:p>
            <a:r>
              <a:rPr lang="zh-CN" altLang="en-US" sz="1800" dirty="0">
                <a:latin typeface="腾讯字体包" panose="02010600010101010101" charset="-128"/>
                <a:ea typeface="腾讯字体包" panose="02010600010101010101" charset="-128"/>
                <a:cs typeface="腾讯字体包" panose="02010600010101010101" charset="-128"/>
              </a:rPr>
              <a:t>待标注文档上传</a:t>
            </a:r>
            <a:endParaRPr lang="zh-CN" altLang="en-US" sz="1800" dirty="0">
              <a:latin typeface="腾讯字体包" panose="02010600010101010101" charset="-128"/>
              <a:ea typeface="腾讯字体包" panose="02010600010101010101" charset="-128"/>
              <a:cs typeface="腾讯字体包" panose="02010600010101010101"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283625" y="712715"/>
            <a:ext cx="11530160" cy="576000"/>
            <a:chOff x="582710" y="712715"/>
            <a:chExt cx="11537957"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86222"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sym typeface="+mn-ea"/>
                </a:rPr>
                <a:t>智能挖掘子系统：</a:t>
              </a:r>
              <a:r>
                <a:rPr kumimoji="1" lang="en-US" altLang="zh-CN" sz="2800" dirty="0">
                  <a:latin typeface="腾讯字体包" panose="02010600010101010101" charset="-128"/>
                  <a:ea typeface="腾讯字体包" panose="02010600010101010101" charset="-128"/>
                  <a:sym typeface="+mn-ea"/>
                </a:rPr>
                <a:t>RUCM</a:t>
              </a:r>
              <a:r>
                <a:rPr kumimoji="1" lang="zh-CN" altLang="en-US" sz="2800" dirty="0">
                  <a:latin typeface="腾讯字体包" panose="02010600010101010101" charset="-128"/>
                  <a:ea typeface="腾讯字体包" panose="02010600010101010101" charset="-128"/>
                  <a:sym typeface="+mn-ea"/>
                </a:rPr>
                <a:t>表、对应流程图：组内自查</a:t>
              </a:r>
              <a:r>
                <a:rPr kumimoji="1" lang="zh-CN" altLang="en-US" sz="2800" dirty="0">
                  <a:solidFill>
                    <a:schemeClr val="accent6">
                      <a:lumMod val="75000"/>
                    </a:schemeClr>
                  </a:solidFill>
                  <a:latin typeface="腾讯字体包" panose="02010600010101010101" charset="-128"/>
                  <a:ea typeface="腾讯字体包" panose="02010600010101010101" charset="-128"/>
                  <a:sym typeface="+mn-ea"/>
                </a:rPr>
                <a:t>更新</a:t>
              </a:r>
              <a:endParaRPr kumimoji="1" lang="zh-CN" altLang="en-US" sz="2800" dirty="0">
                <a:solidFill>
                  <a:schemeClr val="accent6">
                    <a:lumMod val="75000"/>
                  </a:schemeClr>
                </a:solidFill>
                <a:latin typeface="腾讯字体包" panose="02010600010101010101" charset="-128"/>
                <a:ea typeface="腾讯字体包" panose="02010600010101010101" charset="-128"/>
                <a:sym typeface="+mn-ea"/>
              </a:endParaRPr>
            </a:p>
          </p:txBody>
        </p:sp>
      </p:grpSp>
      <p:pic>
        <p:nvPicPr>
          <p:cNvPr id="4" name="!!3"/>
          <p:cNvPicPr>
            <a:picLocks noChangeAspect="1"/>
          </p:cNvPicPr>
          <p:nvPr/>
        </p:nvPicPr>
        <p:blipFill>
          <a:blip r:embed="rId1"/>
          <a:stretch>
            <a:fillRect/>
          </a:stretch>
        </p:blipFill>
        <p:spPr>
          <a:xfrm>
            <a:off x="6581361" y="1174973"/>
            <a:ext cx="4978548" cy="5276668"/>
          </a:xfrm>
          <a:prstGeom prst="rect">
            <a:avLst/>
          </a:prstGeom>
        </p:spPr>
      </p:pic>
      <p:pic>
        <p:nvPicPr>
          <p:cNvPr id="6" name="!!4"/>
          <p:cNvPicPr>
            <a:picLocks noChangeAspect="1"/>
          </p:cNvPicPr>
          <p:nvPr/>
        </p:nvPicPr>
        <p:blipFill>
          <a:blip r:embed="rId1"/>
          <a:stretch>
            <a:fillRect/>
          </a:stretch>
        </p:blipFill>
        <p:spPr>
          <a:xfrm>
            <a:off x="6604001" y="1174973"/>
            <a:ext cx="4978548" cy="5276668"/>
          </a:xfrm>
          <a:prstGeom prst="rect">
            <a:avLst/>
          </a:prstGeom>
        </p:spPr>
      </p:pic>
      <p:sp>
        <p:nvSpPr>
          <p:cNvPr id="5" name="内容占位符 4"/>
          <p:cNvSpPr>
            <a:spLocks noGrp="1"/>
          </p:cNvSpPr>
          <p:nvPr>
            <p:ph idx="1"/>
          </p:nvPr>
        </p:nvSpPr>
        <p:spPr>
          <a:xfrm>
            <a:off x="294250" y="1332891"/>
            <a:ext cx="11519535" cy="838810"/>
          </a:xfrm>
        </p:spPr>
        <p:txBody>
          <a:bodyPr>
            <a:normAutofit fontScale="97500" lnSpcReduction="10000"/>
          </a:bodyPr>
          <a:lstStyle/>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2：用例</a:t>
            </a:r>
            <a:r>
              <a:rPr lang="zh-CN" altLang="en-US" sz="2220" dirty="0">
                <a:solidFill>
                  <a:srgbClr val="3F51B6"/>
                </a:solidFill>
                <a:effectLst/>
                <a:uFillTx/>
                <a:latin typeface="腾讯字体包" panose="02010600010101010101" charset="-128"/>
                <a:ea typeface="腾讯字体包" panose="02010600010101010101" charset="-128"/>
              </a:rPr>
              <a:t>合并</a:t>
            </a:r>
            <a:endParaRPr lang="en-US" altLang="zh-CN" sz="2220" dirty="0">
              <a:solidFill>
                <a:srgbClr val="3F51B6"/>
              </a:solidFill>
              <a:effectLst/>
              <a:uFillTx/>
              <a:latin typeface="腾讯字体包" panose="02010600010101010101" charset="-128"/>
              <a:ea typeface="腾讯字体包" panose="02010600010101010101" charset="-128"/>
            </a:endParaRPr>
          </a:p>
          <a:p>
            <a:pPr lvl="1">
              <a:lnSpc>
                <a:spcPct val="125000"/>
              </a:lnSpc>
            </a:pPr>
            <a:r>
              <a:rPr lang="zh-CN" altLang="en-US" sz="1540" dirty="0">
                <a:solidFill>
                  <a:schemeClr val="accent1"/>
                </a:solidFill>
                <a:effectLst/>
                <a:latin typeface="腾讯字体包" panose="02010600010101010101" charset="-128"/>
                <a:ea typeface="腾讯字体包" panose="02010600010101010101" charset="-128"/>
                <a:cs typeface="腾讯字体包" panose="02010600010101010101" charset="-128"/>
                <a:sym typeface="+mn-ea"/>
              </a:rPr>
              <a:t>文档上传、文档格式转换</a:t>
            </a:r>
            <a:r>
              <a:rPr lang="zh-CN" altLang="en-US" sz="1540" dirty="0">
                <a:solidFill>
                  <a:schemeClr val="accent1"/>
                </a:solidFill>
                <a:latin typeface="腾讯字体包" panose="02010600010101010101" charset="-128"/>
                <a:ea typeface="腾讯字体包" panose="02010600010101010101" charset="-128"/>
                <a:cs typeface="腾讯字体包" panose="02010600010101010101" charset="-128"/>
                <a:sym typeface="+mn-ea"/>
              </a:rPr>
              <a:t> </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合并为 </a:t>
            </a:r>
            <a:r>
              <a:rPr lang="zh-CN" altLang="en-US" sz="1540" dirty="0">
                <a:solidFill>
                  <a:schemeClr val="accent1"/>
                </a:solidFill>
                <a:latin typeface="腾讯字体包" panose="02010600010101010101" charset="-128"/>
                <a:ea typeface="腾讯字体包" panose="02010600010101010101" charset="-128"/>
                <a:cs typeface="腾讯字体包" panose="02010600010101010101" charset="-128"/>
                <a:sym typeface="+mn-ea"/>
              </a:rPr>
              <a:t>待标注文档上传</a:t>
            </a:r>
            <a:endParaRPr lang="zh-CN" sz="1540" dirty="0">
              <a:effectLst/>
              <a:latin typeface="腾讯字体包" panose="02010600010101010101" charset="-128"/>
              <a:ea typeface="腾讯字体包" panose="02010600010101010101" charset="-128"/>
              <a:cs typeface="腾讯字体包" panose="02010600010101010101" charset="-128"/>
              <a:sym typeface="+mn-ea"/>
            </a:endParaRPr>
          </a:p>
          <a:p>
            <a:pPr marL="0" indent="0" algn="l">
              <a:lnSpc>
                <a:spcPct val="125000"/>
              </a:lnSpc>
              <a:spcAft>
                <a:spcPts val="0"/>
              </a:spcAft>
              <a:buClrTx/>
              <a:buSzTx/>
              <a:buNone/>
            </a:pPr>
            <a:endParaRPr lang="en-US" altLang="zh-CN" sz="2220" dirty="0">
              <a:solidFill>
                <a:srgbClr val="3F51B6"/>
              </a:solidFill>
              <a:effectLst/>
              <a:uFillTx/>
              <a:latin typeface="腾讯字体包" panose="02010600010101010101" charset="-128"/>
              <a:ea typeface="腾讯字体包" panose="02010600010101010101" charset="-128"/>
            </a:endParaRPr>
          </a:p>
          <a:p>
            <a:pPr marL="457200" lvl="1" indent="0" algn="l">
              <a:lnSpc>
                <a:spcPct val="125000"/>
              </a:lnSpc>
              <a:spcAft>
                <a:spcPts val="0"/>
              </a:spcAft>
              <a:buClrTx/>
              <a:buSzTx/>
              <a:buNone/>
            </a:pP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p:txBody>
      </p:sp>
      <p:pic>
        <p:nvPicPr>
          <p:cNvPr id="10" name="图片 9"/>
          <p:cNvPicPr>
            <a:picLocks noChangeAspect="1"/>
          </p:cNvPicPr>
          <p:nvPr/>
        </p:nvPicPr>
        <p:blipFill>
          <a:blip r:embed="rId2"/>
          <a:stretch>
            <a:fillRect/>
          </a:stretch>
        </p:blipFill>
        <p:spPr>
          <a:xfrm>
            <a:off x="3525000" y="3068558"/>
            <a:ext cx="3079001" cy="2999917"/>
          </a:xfrm>
          <a:prstGeom prst="rect">
            <a:avLst/>
          </a:prstGeom>
        </p:spPr>
      </p:pic>
      <p:pic>
        <p:nvPicPr>
          <p:cNvPr id="12" name="图片 11"/>
          <p:cNvPicPr>
            <a:picLocks noChangeAspect="1"/>
          </p:cNvPicPr>
          <p:nvPr/>
        </p:nvPicPr>
        <p:blipFill>
          <a:blip r:embed="rId3"/>
          <a:stretch>
            <a:fillRect/>
          </a:stretch>
        </p:blipFill>
        <p:spPr>
          <a:xfrm>
            <a:off x="0" y="2056187"/>
            <a:ext cx="3430410" cy="4764786"/>
          </a:xfrm>
          <a:prstGeom prst="rect">
            <a:avLst/>
          </a:prstGeom>
        </p:spPr>
      </p:pic>
      <p:sp>
        <p:nvSpPr>
          <p:cNvPr id="13" name="文本框 12"/>
          <p:cNvSpPr txBox="1"/>
          <p:nvPr/>
        </p:nvSpPr>
        <p:spPr>
          <a:xfrm>
            <a:off x="8587221" y="6451641"/>
            <a:ext cx="1872957" cy="369332"/>
          </a:xfrm>
          <a:prstGeom prst="rect">
            <a:avLst/>
          </a:prstGeom>
          <a:noFill/>
        </p:spPr>
        <p:txBody>
          <a:bodyPr wrap="square" rtlCol="0">
            <a:spAutoFit/>
          </a:bodyPr>
          <a:lstStyle/>
          <a:p>
            <a:r>
              <a:rPr lang="zh-CN" altLang="en-US" sz="1800" dirty="0">
                <a:latin typeface="腾讯字体包" panose="02010600010101010101" charset="-128"/>
                <a:ea typeface="腾讯字体包" panose="02010600010101010101" charset="-128"/>
                <a:cs typeface="腾讯字体包" panose="02010600010101010101" charset="-128"/>
              </a:rPr>
              <a:t>待标注文档上传</a:t>
            </a:r>
            <a:endParaRPr lang="zh-CN" altLang="en-US" sz="1800" dirty="0">
              <a:latin typeface="腾讯字体包" panose="02010600010101010101" charset="-128"/>
              <a:ea typeface="腾讯字体包" panose="02010600010101010101" charset="-128"/>
              <a:cs typeface="腾讯字体包" panose="02010600010101010101"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283625" y="712715"/>
            <a:ext cx="11530160" cy="576000"/>
            <a:chOff x="582710" y="712715"/>
            <a:chExt cx="11537957"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86222"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sym typeface="+mn-ea"/>
                </a:rPr>
                <a:t>智能挖掘子系统：</a:t>
              </a:r>
              <a:r>
                <a:rPr kumimoji="1" lang="en-US" altLang="zh-CN" sz="2800" dirty="0">
                  <a:latin typeface="腾讯字体包" panose="02010600010101010101" charset="-128"/>
                  <a:ea typeface="腾讯字体包" panose="02010600010101010101" charset="-128"/>
                  <a:sym typeface="+mn-ea"/>
                </a:rPr>
                <a:t>RUCM</a:t>
              </a:r>
              <a:r>
                <a:rPr kumimoji="1" lang="zh-CN" altLang="en-US" sz="2800" dirty="0">
                  <a:latin typeface="腾讯字体包" panose="02010600010101010101" charset="-128"/>
                  <a:ea typeface="腾讯字体包" panose="02010600010101010101" charset="-128"/>
                  <a:sym typeface="+mn-ea"/>
                </a:rPr>
                <a:t>表、对应流程图：组内自查</a:t>
              </a:r>
              <a:r>
                <a:rPr kumimoji="1" lang="zh-CN" altLang="en-US" sz="2800" dirty="0">
                  <a:solidFill>
                    <a:schemeClr val="accent6">
                      <a:lumMod val="75000"/>
                    </a:schemeClr>
                  </a:solidFill>
                  <a:latin typeface="腾讯字体包" panose="02010600010101010101" charset="-128"/>
                  <a:ea typeface="腾讯字体包" panose="02010600010101010101" charset="-128"/>
                  <a:sym typeface="+mn-ea"/>
                </a:rPr>
                <a:t>更新</a:t>
              </a:r>
              <a:endParaRPr kumimoji="1" lang="zh-CN" altLang="en-US" sz="2800" dirty="0">
                <a:solidFill>
                  <a:schemeClr val="accent6">
                    <a:lumMod val="75000"/>
                  </a:schemeClr>
                </a:solidFill>
                <a:latin typeface="腾讯字体包" panose="02010600010101010101" charset="-128"/>
                <a:ea typeface="腾讯字体包" panose="02010600010101010101" charset="-128"/>
                <a:sym typeface="+mn-ea"/>
              </a:endParaRPr>
            </a:p>
          </p:txBody>
        </p:sp>
      </p:grpSp>
      <p:sp>
        <p:nvSpPr>
          <p:cNvPr id="5" name="内容占位符 4"/>
          <p:cNvSpPr>
            <a:spLocks noGrp="1"/>
          </p:cNvSpPr>
          <p:nvPr>
            <p:ph idx="1"/>
          </p:nvPr>
        </p:nvSpPr>
        <p:spPr>
          <a:xfrm>
            <a:off x="294250" y="1332891"/>
            <a:ext cx="11519535" cy="838810"/>
          </a:xfrm>
        </p:spPr>
        <p:txBody>
          <a:bodyPr>
            <a:normAutofit fontScale="97500" lnSpcReduction="10000"/>
          </a:bodyPr>
          <a:lstStyle/>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3：用例</a:t>
            </a:r>
            <a:r>
              <a:rPr lang="zh-CN" altLang="en-US" sz="2220" dirty="0">
                <a:solidFill>
                  <a:srgbClr val="3F51B6"/>
                </a:solidFill>
                <a:latin typeface="腾讯字体包" panose="02010600010101010101" charset="-128"/>
                <a:ea typeface="腾讯字体包" panose="02010600010101010101" charset="-128"/>
              </a:rPr>
              <a:t>修改</a:t>
            </a:r>
            <a:endParaRPr lang="en-US" altLang="zh-CN" sz="2220" dirty="0">
              <a:solidFill>
                <a:srgbClr val="3F51B6"/>
              </a:solidFill>
              <a:effectLst/>
              <a:uFillTx/>
              <a:latin typeface="腾讯字体包" panose="02010600010101010101" charset="-128"/>
              <a:ea typeface="腾讯字体包" panose="02010600010101010101" charset="-128"/>
            </a:endParaRPr>
          </a:p>
          <a:p>
            <a:pPr lvl="1">
              <a:lnSpc>
                <a:spcPct val="125000"/>
              </a:lnSpc>
            </a:pPr>
            <a:r>
              <a:rPr lang="zh-CN" altLang="en-US" sz="1540" dirty="0">
                <a:solidFill>
                  <a:schemeClr val="accent1"/>
                </a:solidFill>
                <a:effectLst/>
                <a:latin typeface="腾讯字体包" panose="02010600010101010101" charset="-128"/>
                <a:ea typeface="腾讯字体包" panose="02010600010101010101" charset="-128"/>
                <a:cs typeface="腾讯字体包" panose="02010600010101010101" charset="-128"/>
                <a:sym typeface="+mn-ea"/>
              </a:rPr>
              <a:t>模型调用 </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修改为 </a:t>
            </a:r>
            <a:r>
              <a:rPr lang="zh-CN" altLang="en-US" sz="1540" dirty="0">
                <a:solidFill>
                  <a:schemeClr val="accent1"/>
                </a:solidFill>
                <a:latin typeface="腾讯字体包" panose="02010600010101010101" charset="-128"/>
                <a:ea typeface="腾讯字体包" panose="02010600010101010101" charset="-128"/>
                <a:cs typeface="腾讯字体包" panose="02010600010101010101" charset="-128"/>
                <a:sym typeface="+mn-ea"/>
              </a:rPr>
              <a:t>信息提取</a:t>
            </a:r>
            <a:endParaRPr lang="en-US" altLang="zh-CN" sz="2220" dirty="0">
              <a:solidFill>
                <a:srgbClr val="3F51B6"/>
              </a:solidFill>
              <a:effectLst/>
              <a:uFillTx/>
              <a:latin typeface="腾讯字体包" panose="02010600010101010101" charset="-128"/>
              <a:ea typeface="腾讯字体包" panose="02010600010101010101" charset="-128"/>
            </a:endParaRPr>
          </a:p>
          <a:p>
            <a:pPr marL="457200" lvl="1" indent="0" algn="l">
              <a:lnSpc>
                <a:spcPct val="125000"/>
              </a:lnSpc>
              <a:spcAft>
                <a:spcPts val="0"/>
              </a:spcAft>
              <a:buClrTx/>
              <a:buSzTx/>
              <a:buNone/>
            </a:pP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p:txBody>
      </p:sp>
      <p:pic>
        <p:nvPicPr>
          <p:cNvPr id="2" name="图片 1"/>
          <p:cNvPicPr>
            <a:picLocks noChangeAspect="1"/>
          </p:cNvPicPr>
          <p:nvPr/>
        </p:nvPicPr>
        <p:blipFill>
          <a:blip r:embed="rId1"/>
          <a:stretch>
            <a:fillRect/>
          </a:stretch>
        </p:blipFill>
        <p:spPr>
          <a:xfrm>
            <a:off x="6800593" y="1234684"/>
            <a:ext cx="4855042" cy="5264751"/>
          </a:xfrm>
          <a:prstGeom prst="rect">
            <a:avLst/>
          </a:prstGeom>
        </p:spPr>
      </p:pic>
      <p:pic>
        <p:nvPicPr>
          <p:cNvPr id="3" name="图片 2"/>
          <p:cNvPicPr>
            <a:picLocks noChangeAspect="1"/>
          </p:cNvPicPr>
          <p:nvPr/>
        </p:nvPicPr>
        <p:blipFill>
          <a:blip r:embed="rId2"/>
          <a:stretch>
            <a:fillRect/>
          </a:stretch>
        </p:blipFill>
        <p:spPr>
          <a:xfrm>
            <a:off x="1873251" y="2171701"/>
            <a:ext cx="2076450" cy="4348733"/>
          </a:xfrm>
          <a:prstGeom prst="rect">
            <a:avLst/>
          </a:prstGeom>
        </p:spPr>
      </p:pic>
      <p:sp>
        <p:nvSpPr>
          <p:cNvPr id="7" name="箭头: 右 6"/>
          <p:cNvSpPr/>
          <p:nvPr/>
        </p:nvSpPr>
        <p:spPr>
          <a:xfrm>
            <a:off x="5046784" y="3342076"/>
            <a:ext cx="1244009" cy="394775"/>
          </a:xfrm>
          <a:prstGeom prst="rightArrow">
            <a:avLst/>
          </a:prstGeom>
          <a:solidFill>
            <a:srgbClr val="3F51B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563874" y="6469188"/>
            <a:ext cx="1872957" cy="369332"/>
          </a:xfrm>
          <a:prstGeom prst="rect">
            <a:avLst/>
          </a:prstGeom>
          <a:noFill/>
        </p:spPr>
        <p:txBody>
          <a:bodyPr wrap="square" rtlCol="0">
            <a:spAutoFit/>
          </a:bodyPr>
          <a:lstStyle/>
          <a:p>
            <a:r>
              <a:rPr lang="zh-CN" altLang="en-US" sz="1800" dirty="0">
                <a:latin typeface="腾讯字体包" panose="02010600010101010101" charset="-128"/>
                <a:ea typeface="腾讯字体包" panose="02010600010101010101" charset="-128"/>
                <a:cs typeface="腾讯字体包" panose="02010600010101010101" charset="-128"/>
              </a:rPr>
              <a:t>模型调用 </a:t>
            </a:r>
            <a:endParaRPr lang="zh-CN" altLang="en-US" sz="1800" dirty="0">
              <a:latin typeface="腾讯字体包" panose="02010600010101010101" charset="-128"/>
              <a:ea typeface="腾讯字体包" panose="02010600010101010101" charset="-128"/>
              <a:cs typeface="腾讯字体包" panose="02010600010101010101" charset="-128"/>
            </a:endParaRPr>
          </a:p>
        </p:txBody>
      </p:sp>
      <p:sp>
        <p:nvSpPr>
          <p:cNvPr id="9" name="文本框 8"/>
          <p:cNvSpPr txBox="1"/>
          <p:nvPr/>
        </p:nvSpPr>
        <p:spPr>
          <a:xfrm>
            <a:off x="8925275" y="6499435"/>
            <a:ext cx="1872957" cy="369332"/>
          </a:xfrm>
          <a:prstGeom prst="rect">
            <a:avLst/>
          </a:prstGeom>
          <a:noFill/>
        </p:spPr>
        <p:txBody>
          <a:bodyPr wrap="square" rtlCol="0">
            <a:spAutoFit/>
          </a:bodyPr>
          <a:lstStyle/>
          <a:p>
            <a:r>
              <a:rPr lang="zh-CN" altLang="en-US" sz="1800" dirty="0">
                <a:latin typeface="腾讯字体包" panose="02010600010101010101" charset="-128"/>
                <a:ea typeface="腾讯字体包" panose="02010600010101010101" charset="-128"/>
                <a:cs typeface="腾讯字体包" panose="02010600010101010101" charset="-128"/>
              </a:rPr>
              <a:t>信息提取</a:t>
            </a:r>
            <a:endParaRPr lang="zh-CN" altLang="en-US" sz="1800" dirty="0">
              <a:latin typeface="腾讯字体包" panose="02010600010101010101" charset="-128"/>
              <a:ea typeface="腾讯字体包" panose="02010600010101010101" charset="-128"/>
              <a:cs typeface="腾讯字体包" panose="02010600010101010101"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283625" y="712715"/>
            <a:ext cx="11530160" cy="576000"/>
            <a:chOff x="582710" y="712715"/>
            <a:chExt cx="11537957"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86222"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sym typeface="+mn-ea"/>
                </a:rPr>
                <a:t>智能挖掘子系统：</a:t>
              </a:r>
              <a:r>
                <a:rPr kumimoji="1" lang="en-US" altLang="zh-CN" sz="2800" dirty="0">
                  <a:latin typeface="腾讯字体包" panose="02010600010101010101" charset="-128"/>
                  <a:ea typeface="腾讯字体包" panose="02010600010101010101" charset="-128"/>
                  <a:sym typeface="+mn-ea"/>
                </a:rPr>
                <a:t>RUCM</a:t>
              </a:r>
              <a:r>
                <a:rPr kumimoji="1" lang="zh-CN" altLang="en-US" sz="2800" dirty="0">
                  <a:latin typeface="腾讯字体包" panose="02010600010101010101" charset="-128"/>
                  <a:ea typeface="腾讯字体包" panose="02010600010101010101" charset="-128"/>
                  <a:sym typeface="+mn-ea"/>
                </a:rPr>
                <a:t>表、对应流程图：组内自查</a:t>
              </a:r>
              <a:r>
                <a:rPr kumimoji="1" lang="zh-CN" altLang="en-US" sz="2800" dirty="0">
                  <a:solidFill>
                    <a:schemeClr val="accent6">
                      <a:lumMod val="75000"/>
                    </a:schemeClr>
                  </a:solidFill>
                  <a:latin typeface="腾讯字体包" panose="02010600010101010101" charset="-128"/>
                  <a:ea typeface="腾讯字体包" panose="02010600010101010101" charset="-128"/>
                  <a:sym typeface="+mn-ea"/>
                </a:rPr>
                <a:t>更新</a:t>
              </a:r>
              <a:endParaRPr kumimoji="1" lang="zh-CN" altLang="en-US" sz="2800" dirty="0">
                <a:solidFill>
                  <a:schemeClr val="accent6">
                    <a:lumMod val="75000"/>
                  </a:schemeClr>
                </a:solidFill>
                <a:latin typeface="腾讯字体包" panose="02010600010101010101" charset="-128"/>
                <a:ea typeface="腾讯字体包" panose="02010600010101010101" charset="-128"/>
                <a:sym typeface="+mn-ea"/>
              </a:endParaRPr>
            </a:p>
          </p:txBody>
        </p:sp>
      </p:grpSp>
      <p:sp>
        <p:nvSpPr>
          <p:cNvPr id="5" name="内容占位符 4"/>
          <p:cNvSpPr>
            <a:spLocks noGrp="1"/>
          </p:cNvSpPr>
          <p:nvPr>
            <p:ph idx="1"/>
          </p:nvPr>
        </p:nvSpPr>
        <p:spPr>
          <a:xfrm>
            <a:off x="294250" y="1332891"/>
            <a:ext cx="11519535" cy="838810"/>
          </a:xfrm>
        </p:spPr>
        <p:txBody>
          <a:bodyPr>
            <a:normAutofit fontScale="97500" lnSpcReduction="10000"/>
          </a:bodyPr>
          <a:lstStyle/>
          <a:p>
            <a:pPr algn="l">
              <a:lnSpc>
                <a:spcPct val="125000"/>
              </a:lnSpc>
              <a:spcAft>
                <a:spcPts val="0"/>
              </a:spcAft>
              <a:buClrTx/>
              <a:buSzTx/>
            </a:pPr>
            <a:r>
              <a:rPr lang="en-US" altLang="zh-CN" sz="2220" dirty="0">
                <a:solidFill>
                  <a:srgbClr val="3F51B6"/>
                </a:solidFill>
                <a:effectLst/>
                <a:uFillTx/>
                <a:latin typeface="腾讯字体包" panose="02010600010101010101" charset="-128"/>
                <a:ea typeface="腾讯字体包" panose="02010600010101010101" charset="-128"/>
              </a:rPr>
              <a:t>3：用例</a:t>
            </a:r>
            <a:r>
              <a:rPr lang="zh-CN" altLang="en-US" sz="2220" dirty="0">
                <a:solidFill>
                  <a:srgbClr val="3F51B6"/>
                </a:solidFill>
                <a:latin typeface="腾讯字体包" panose="02010600010101010101" charset="-128"/>
                <a:ea typeface="腾讯字体包" panose="02010600010101010101" charset="-128"/>
              </a:rPr>
              <a:t>修改</a:t>
            </a:r>
            <a:endParaRPr lang="en-US" altLang="zh-CN" sz="2220" dirty="0">
              <a:solidFill>
                <a:srgbClr val="3F51B6"/>
              </a:solidFill>
              <a:effectLst/>
              <a:uFillTx/>
              <a:latin typeface="腾讯字体包" panose="02010600010101010101" charset="-128"/>
              <a:ea typeface="腾讯字体包" panose="02010600010101010101" charset="-128"/>
            </a:endParaRPr>
          </a:p>
          <a:p>
            <a:pPr lvl="1">
              <a:lnSpc>
                <a:spcPct val="125000"/>
              </a:lnSpc>
            </a:pPr>
            <a:r>
              <a:rPr lang="zh-CN" altLang="en-US" sz="1540" dirty="0">
                <a:solidFill>
                  <a:schemeClr val="accent1"/>
                </a:solidFill>
                <a:effectLst/>
                <a:latin typeface="腾讯字体包" panose="02010600010101010101" charset="-128"/>
                <a:ea typeface="腾讯字体包" panose="02010600010101010101" charset="-128"/>
                <a:cs typeface="腾讯字体包" panose="02010600010101010101" charset="-128"/>
                <a:sym typeface="+mn-ea"/>
              </a:rPr>
              <a:t>模型调用 </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修改为 </a:t>
            </a:r>
            <a:r>
              <a:rPr lang="zh-CN" altLang="en-US" sz="1540" dirty="0">
                <a:solidFill>
                  <a:schemeClr val="accent1"/>
                </a:solidFill>
                <a:latin typeface="腾讯字体包" panose="02010600010101010101" charset="-128"/>
                <a:ea typeface="腾讯字体包" panose="02010600010101010101" charset="-128"/>
                <a:cs typeface="腾讯字体包" panose="02010600010101010101" charset="-128"/>
                <a:sym typeface="+mn-ea"/>
              </a:rPr>
              <a:t>信息提取</a:t>
            </a:r>
            <a:endParaRPr lang="en-US" altLang="zh-CN" sz="2220" dirty="0">
              <a:solidFill>
                <a:srgbClr val="3F51B6"/>
              </a:solidFill>
              <a:effectLst/>
              <a:uFillTx/>
              <a:latin typeface="腾讯字体包" panose="02010600010101010101" charset="-128"/>
              <a:ea typeface="腾讯字体包" panose="02010600010101010101" charset="-128"/>
            </a:endParaRPr>
          </a:p>
          <a:p>
            <a:pPr marL="457200" lvl="1" indent="0" algn="l">
              <a:lnSpc>
                <a:spcPct val="125000"/>
              </a:lnSpc>
              <a:spcAft>
                <a:spcPts val="0"/>
              </a:spcAft>
              <a:buClrTx/>
              <a:buSzTx/>
              <a:buNone/>
            </a:pP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p:txBody>
      </p:sp>
      <p:sp>
        <p:nvSpPr>
          <p:cNvPr id="7" name="箭头: 右 6"/>
          <p:cNvSpPr/>
          <p:nvPr/>
        </p:nvSpPr>
        <p:spPr>
          <a:xfrm>
            <a:off x="5046784" y="3342076"/>
            <a:ext cx="1244009" cy="394775"/>
          </a:xfrm>
          <a:prstGeom prst="rightArrow">
            <a:avLst/>
          </a:prstGeom>
          <a:solidFill>
            <a:srgbClr val="3F51B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1"/>
          <a:stretch>
            <a:fillRect/>
          </a:stretch>
        </p:blipFill>
        <p:spPr>
          <a:xfrm>
            <a:off x="6290793" y="1466417"/>
            <a:ext cx="3145528" cy="4540868"/>
          </a:xfrm>
          <a:prstGeom prst="rect">
            <a:avLst/>
          </a:prstGeom>
        </p:spPr>
      </p:pic>
      <p:pic>
        <p:nvPicPr>
          <p:cNvPr id="9" name="图片 8"/>
          <p:cNvPicPr>
            <a:picLocks noChangeAspect="1"/>
          </p:cNvPicPr>
          <p:nvPr/>
        </p:nvPicPr>
        <p:blipFill>
          <a:blip r:embed="rId2"/>
          <a:stretch>
            <a:fillRect/>
          </a:stretch>
        </p:blipFill>
        <p:spPr>
          <a:xfrm>
            <a:off x="9483400" y="2863645"/>
            <a:ext cx="2556200" cy="1746411"/>
          </a:xfrm>
          <a:prstGeom prst="rect">
            <a:avLst/>
          </a:prstGeom>
        </p:spPr>
      </p:pic>
      <p:pic>
        <p:nvPicPr>
          <p:cNvPr id="11" name="图片 10"/>
          <p:cNvPicPr>
            <a:picLocks noChangeAspect="1"/>
          </p:cNvPicPr>
          <p:nvPr/>
        </p:nvPicPr>
        <p:blipFill>
          <a:blip r:embed="rId3"/>
          <a:stretch>
            <a:fillRect/>
          </a:stretch>
        </p:blipFill>
        <p:spPr>
          <a:xfrm>
            <a:off x="22021" y="2215876"/>
            <a:ext cx="3011226" cy="4337323"/>
          </a:xfrm>
          <a:prstGeom prst="rect">
            <a:avLst/>
          </a:prstGeom>
        </p:spPr>
      </p:pic>
      <p:pic>
        <p:nvPicPr>
          <p:cNvPr id="13" name="图片 12"/>
          <p:cNvPicPr>
            <a:picLocks noChangeAspect="1"/>
          </p:cNvPicPr>
          <p:nvPr/>
        </p:nvPicPr>
        <p:blipFill>
          <a:blip r:embed="rId4"/>
          <a:stretch>
            <a:fillRect/>
          </a:stretch>
        </p:blipFill>
        <p:spPr>
          <a:xfrm>
            <a:off x="3080326" y="3893918"/>
            <a:ext cx="2963287" cy="202661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283845" y="1649095"/>
            <a:ext cx="11115040" cy="5017135"/>
          </a:xfrm>
        </p:spPr>
        <p:txBody>
          <a:bodyPr>
            <a:normAutofit/>
          </a:bodyPr>
          <a:lstStyle/>
          <a:p>
            <a:pPr marL="228600" lvl="1" algn="l">
              <a:lnSpc>
                <a:spcPct val="125000"/>
              </a:lnSpc>
              <a:spcBef>
                <a:spcPts val="1000"/>
              </a:spcBef>
              <a:spcAft>
                <a:spcPts val="0"/>
              </a:spcAft>
              <a:buClrTx/>
              <a:buSzTx/>
            </a:pPr>
            <a:r>
              <a:rPr lang="zh-CN" altLang="en-US" sz="2220" dirty="0">
                <a:solidFill>
                  <a:srgbClr val="3F51B6"/>
                </a:solidFill>
                <a:effectLst/>
                <a:uFillTx/>
                <a:latin typeface="腾讯字体包" panose="02010600010101010101" charset="-128"/>
                <a:ea typeface="腾讯字体包" panose="02010600010101010101" charset="-128"/>
              </a:rPr>
              <a:t>问题</a:t>
            </a:r>
            <a:r>
              <a:rPr lang="en-US" altLang="zh-CN" sz="2220" dirty="0">
                <a:solidFill>
                  <a:srgbClr val="3F51B6"/>
                </a:solidFill>
                <a:effectLst/>
                <a:uFillTx/>
                <a:latin typeface="腾讯字体包" panose="02010600010101010101" charset="-128"/>
                <a:ea typeface="腾讯字体包" panose="02010600010101010101" charset="-128"/>
              </a:rPr>
              <a:t>1.内容</a:t>
            </a:r>
            <a:r>
              <a:rPr lang="zh-CN" altLang="en-US" sz="2220" dirty="0">
                <a:solidFill>
                  <a:srgbClr val="3F51B6"/>
                </a:solidFill>
                <a:effectLst/>
                <a:uFillTx/>
                <a:latin typeface="腾讯字体包" panose="02010600010101010101" charset="-128"/>
                <a:ea typeface="宋体" panose="02010600030101010101" pitchFamily="2" charset="-122"/>
              </a:rPr>
              <a:t>：</a:t>
            </a:r>
            <a:r>
              <a:rPr lang="en-US" altLang="zh-CN" sz="2220" dirty="0">
                <a:solidFill>
                  <a:srgbClr val="3F51B6"/>
                </a:solidFill>
                <a:effectLst/>
                <a:uFillTx/>
                <a:latin typeface="腾讯字体包" panose="02010600010101010101" charset="-128"/>
                <a:ea typeface="腾讯字体包" panose="02010600010101010101" charset="-128"/>
              </a:rPr>
              <a:t>“智能文本标注系统（ITAS）</a:t>
            </a:r>
            <a:r>
              <a:rPr lang="zh-CN" altLang="en-US" sz="2220" dirty="0">
                <a:solidFill>
                  <a:srgbClr val="3F51B6"/>
                </a:solidFill>
                <a:effectLst/>
                <a:uFillTx/>
                <a:latin typeface="腾讯字体包" panose="02010600010101010101" charset="-128"/>
                <a:ea typeface="腾讯字体包" panose="02010600010101010101" charset="-128"/>
              </a:rPr>
              <a:t>旨在</a:t>
            </a:r>
            <a:r>
              <a:rPr lang="en-US" altLang="zh-CN" sz="2220" dirty="0">
                <a:solidFill>
                  <a:srgbClr val="3F51B6"/>
                </a:solidFill>
                <a:effectLst/>
                <a:uFillTx/>
                <a:latin typeface="腾讯字体包" panose="02010600010101010101" charset="-128"/>
                <a:ea typeface="腾讯字体包" panose="02010600010101010101" charset="-128"/>
              </a:rPr>
              <a:t>为科研人员和数据分析师提供一个强大的工具”，与后面的“系统标注管理员、数据标注员和科研人员”不一致</a:t>
            </a:r>
            <a:endParaRPr lang="en-US" altLang="zh-CN" sz="2220" dirty="0">
              <a:solidFill>
                <a:srgbClr val="3F51B6"/>
              </a:solidFill>
              <a:effectLst/>
              <a:uFillTx/>
              <a:latin typeface="腾讯字体包" panose="02010600010101010101" charset="-128"/>
              <a:ea typeface="腾讯字体包" panose="02010600010101010101" charset="-128"/>
            </a:endParaRPr>
          </a:p>
          <a:p>
            <a:pPr lvl="1" algn="l">
              <a:lnSpc>
                <a:spcPct val="125000"/>
              </a:lnSpc>
              <a:spcBef>
                <a:spcPts val="500"/>
              </a:spcBef>
              <a:spcAft>
                <a:spcPts val="0"/>
              </a:spcAft>
              <a:buClrTx/>
              <a:buSzTx/>
            </a:pP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解决方案：更改文档内容并统一使用</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系统标注管理员、数据标注员和科研人员专有名词</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zh-CN" altLang="en-US" sz="2220" dirty="0">
                <a:solidFill>
                  <a:srgbClr val="3F51B6"/>
                </a:solidFill>
                <a:effectLst/>
                <a:uFillTx/>
                <a:latin typeface="腾讯字体包" panose="02010600010101010101" charset="-128"/>
                <a:ea typeface="腾讯字体包" panose="02010600010101010101" charset="-128"/>
                <a:sym typeface="+mn-ea"/>
              </a:rPr>
              <a:t>问题</a:t>
            </a:r>
            <a:r>
              <a:rPr lang="en-US" altLang="zh-CN" sz="2220" dirty="0">
                <a:solidFill>
                  <a:srgbClr val="3F51B6"/>
                </a:solidFill>
                <a:effectLst/>
                <a:uFillTx/>
                <a:latin typeface="腾讯字体包" panose="02010600010101010101" charset="-128"/>
                <a:ea typeface="腾讯字体包" panose="02010600010101010101" charset="-128"/>
                <a:sym typeface="+mn-ea"/>
              </a:rPr>
              <a:t>2</a:t>
            </a:r>
            <a:r>
              <a:rPr lang="en-US" altLang="zh-CN" sz="2220" dirty="0">
                <a:solidFill>
                  <a:srgbClr val="3F51B6"/>
                </a:solidFill>
                <a:effectLst/>
                <a:uFillTx/>
                <a:latin typeface="腾讯字体包" panose="02010600010101010101" charset="-128"/>
                <a:ea typeface="腾讯字体包" panose="02010600010101010101" charset="-128"/>
                <a:sym typeface="+mn-ea"/>
              </a:rPr>
              <a:t>.</a:t>
            </a:r>
            <a:r>
              <a:rPr lang="zh-CN" altLang="en-US" sz="2220" dirty="0">
                <a:solidFill>
                  <a:srgbClr val="3F51B6"/>
                </a:solidFill>
                <a:effectLst/>
                <a:uFillTx/>
                <a:latin typeface="腾讯字体包" panose="02010600010101010101" charset="-128"/>
                <a:ea typeface="腾讯字体包" panose="02010600010101010101" charset="-128"/>
                <a:sym typeface="+mn-ea"/>
              </a:rPr>
              <a:t>内容：说明书内一部分术语并没有列入描述表中</a:t>
            </a:r>
            <a:endParaRPr lang="zh-CN" altLang="en-US" sz="2220" dirty="0">
              <a:solidFill>
                <a:srgbClr val="3F51B6"/>
              </a:solidFill>
              <a:effectLst/>
              <a:uFillTx/>
              <a:latin typeface="腾讯字体包" panose="02010600010101010101" charset="-128"/>
              <a:ea typeface="腾讯字体包" panose="02010600010101010101" charset="-128"/>
              <a:sym typeface="+mn-ea"/>
            </a:endParaRPr>
          </a:p>
          <a:p>
            <a:pPr lvl="1" algn="l">
              <a:lnSpc>
                <a:spcPct val="125000"/>
              </a:lnSpc>
              <a:spcAft>
                <a:spcPts val="0"/>
              </a:spcAft>
              <a:buClrTx/>
              <a:buSzTx/>
            </a:pP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解决方案：对说明书内容的专业术语在描述表中进行完善。</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zh-CN" altLang="en-US" sz="2220" dirty="0">
                <a:solidFill>
                  <a:srgbClr val="3F51B6"/>
                </a:solidFill>
                <a:effectLst/>
                <a:uFillTx/>
                <a:latin typeface="腾讯字体包" panose="02010600010101010101" charset="-128"/>
                <a:ea typeface="腾讯字体包" panose="02010600010101010101" charset="-128"/>
              </a:rPr>
              <a:t>问题</a:t>
            </a:r>
            <a:r>
              <a:rPr lang="en-US" altLang="zh-CN" sz="2220" dirty="0">
                <a:solidFill>
                  <a:srgbClr val="3F51B6"/>
                </a:solidFill>
                <a:effectLst/>
                <a:uFillTx/>
                <a:latin typeface="腾讯字体包" panose="02010600010101010101" charset="-128"/>
                <a:ea typeface="腾讯字体包" panose="02010600010101010101" charset="-128"/>
              </a:rPr>
              <a:t>3</a:t>
            </a:r>
            <a:r>
              <a:rPr lang="en-US" altLang="zh-CN" sz="2220" dirty="0">
                <a:solidFill>
                  <a:srgbClr val="3F51B6"/>
                </a:solidFill>
                <a:effectLst/>
                <a:uFillTx/>
                <a:latin typeface="腾讯字体包" panose="02010600010101010101" charset="-128"/>
                <a:ea typeface="腾讯字体包" panose="02010600010101010101" charset="-128"/>
              </a:rPr>
              <a:t>.</a:t>
            </a:r>
            <a:r>
              <a:rPr lang="zh-CN" altLang="en-US" sz="2220" dirty="0">
                <a:solidFill>
                  <a:srgbClr val="3F51B6"/>
                </a:solidFill>
                <a:effectLst/>
                <a:uFillTx/>
                <a:latin typeface="腾讯字体包" panose="02010600010101010101" charset="-128"/>
                <a:ea typeface="腾讯字体包" panose="02010600010101010101" charset="-128"/>
              </a:rPr>
              <a:t>格式：</a:t>
            </a:r>
            <a:r>
              <a:rPr sz="2220" dirty="0">
                <a:solidFill>
                  <a:srgbClr val="3F51B6"/>
                </a:solidFill>
                <a:effectLst/>
                <a:uFillTx/>
                <a:latin typeface="腾讯字体包" panose="02010600010101010101" charset="-128"/>
                <a:ea typeface="腾讯字体包" panose="02010600010101010101" charset="-128"/>
              </a:rPr>
              <a:t>中英文标点符号混淆</a:t>
            </a:r>
            <a:endParaRPr sz="2220" dirty="0">
              <a:solidFill>
                <a:srgbClr val="3F51B6"/>
              </a:solidFill>
              <a:effectLst/>
              <a:uFillTx/>
              <a:latin typeface="腾讯字体包" panose="02010600010101010101" charset="-128"/>
              <a:ea typeface="腾讯字体包" panose="02010600010101010101" charset="-128"/>
            </a:endParaRPr>
          </a:p>
          <a:p>
            <a:pPr lvl="1" algn="l">
              <a:lnSpc>
                <a:spcPct val="125000"/>
              </a:lnSpc>
              <a:spcAft>
                <a:spcPts val="0"/>
              </a:spcAft>
              <a:buClrTx/>
              <a:buSzTx/>
            </a:pPr>
            <a:r>
              <a:rPr lang="zh-CN" sz="1540" dirty="0">
                <a:effectLst/>
                <a:latin typeface="腾讯字体包" panose="02010600010101010101" charset="-128"/>
                <a:ea typeface="腾讯字体包" panose="02010600010101010101" charset="-128"/>
                <a:cs typeface="腾讯字体包" panose="02010600010101010101" charset="-128"/>
                <a:sym typeface="+mn-ea"/>
              </a:rPr>
              <a:t>解决方案：</a:t>
            </a:r>
            <a:r>
              <a:rPr sz="1540" dirty="0">
                <a:effectLst/>
                <a:latin typeface="腾讯字体包" panose="02010600010101010101" charset="-128"/>
                <a:ea typeface="腾讯字体包" panose="02010600010101010101" charset="-128"/>
                <a:cs typeface="腾讯字体包" panose="02010600010101010101" charset="-128"/>
                <a:sym typeface="+mn-ea"/>
              </a:rPr>
              <a:t>审查全文的中英文标点，进行更正</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algn="l">
              <a:lnSpc>
                <a:spcPct val="125000"/>
              </a:lnSpc>
              <a:spcAft>
                <a:spcPts val="0"/>
              </a:spcAft>
              <a:buClrTx/>
              <a:buSzTx/>
            </a:pPr>
            <a:r>
              <a:rPr lang="zh-CN" altLang="en-US" sz="2220" dirty="0">
                <a:solidFill>
                  <a:srgbClr val="3F51B6"/>
                </a:solidFill>
                <a:effectLst/>
                <a:uFillTx/>
                <a:latin typeface="腾讯字体包" panose="02010600010101010101" charset="-128"/>
                <a:ea typeface="腾讯字体包" panose="02010600010101010101" charset="-128"/>
                <a:sym typeface="+mn-ea"/>
              </a:rPr>
              <a:t>问题</a:t>
            </a:r>
            <a:r>
              <a:rPr lang="en-US" altLang="zh-CN" sz="2220" dirty="0">
                <a:solidFill>
                  <a:srgbClr val="3F51B6"/>
                </a:solidFill>
                <a:effectLst/>
                <a:uFillTx/>
                <a:latin typeface="腾讯字体包" panose="02010600010101010101" charset="-128"/>
                <a:ea typeface="腾讯字体包" panose="02010600010101010101" charset="-128"/>
                <a:sym typeface="+mn-ea"/>
              </a:rPr>
              <a:t>4.</a:t>
            </a:r>
            <a:r>
              <a:rPr lang="zh-CN" altLang="en-US" sz="2220" dirty="0">
                <a:solidFill>
                  <a:srgbClr val="3F51B6"/>
                </a:solidFill>
                <a:effectLst/>
                <a:uFillTx/>
                <a:latin typeface="腾讯字体包" panose="02010600010101010101" charset="-128"/>
                <a:ea typeface="腾讯字体包" panose="02010600010101010101" charset="-128"/>
                <a:sym typeface="+mn-ea"/>
              </a:rPr>
              <a:t>格式：RUCM表中内容都首行缩进2字符，如3-1，3-2</a:t>
            </a:r>
            <a:endParaRPr lang="zh-CN" altLang="en-US" sz="2220" dirty="0">
              <a:solidFill>
                <a:srgbClr val="3F51B6"/>
              </a:solidFill>
              <a:effectLst/>
              <a:uFillTx/>
              <a:latin typeface="腾讯字体包" panose="02010600010101010101" charset="-128"/>
              <a:ea typeface="腾讯字体包" panose="02010600010101010101" charset="-128"/>
              <a:sym typeface="+mn-ea"/>
            </a:endParaRPr>
          </a:p>
          <a:p>
            <a:pPr lvl="1" algn="l">
              <a:lnSpc>
                <a:spcPct val="125000"/>
              </a:lnSpc>
              <a:spcAft>
                <a:spcPts val="0"/>
              </a:spcAft>
              <a:buClrTx/>
              <a:buSzTx/>
            </a:pP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解决方案：统一</a:t>
            </a:r>
            <a:r>
              <a:rPr lang="en-US" altLang="zh-CN" sz="1540" dirty="0">
                <a:effectLst/>
                <a:latin typeface="腾讯字体包" panose="02010600010101010101" charset="-128"/>
                <a:ea typeface="腾讯字体包" panose="02010600010101010101" charset="-128"/>
                <a:cs typeface="腾讯字体包" panose="02010600010101010101" charset="-128"/>
                <a:sym typeface="+mn-ea"/>
              </a:rPr>
              <a:t>RUCM</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表格式为</a:t>
            </a:r>
            <a:r>
              <a:rPr lang="zh-CN" altLang="en-US" sz="1540" dirty="0">
                <a:effectLst/>
                <a:latin typeface="腾讯字体包" panose="02010600010101010101" charset="-128"/>
                <a:ea typeface="腾讯字体包" panose="02010600010101010101" charset="-128"/>
                <a:cs typeface="腾讯字体包" panose="02010600010101010101" charset="-128"/>
                <a:sym typeface="+mn-ea"/>
              </a:rPr>
              <a:t>无缩进。</a:t>
            </a: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lvl="1" algn="l">
              <a:lnSpc>
                <a:spcPct val="125000"/>
              </a:lnSpc>
              <a:spcAft>
                <a:spcPts val="0"/>
              </a:spcAft>
              <a:buClrTx/>
              <a:buSzTx/>
            </a:pPr>
            <a:endParaRPr lang="zh-CN" altLang="en-US" sz="1540" dirty="0">
              <a:effectLst/>
              <a:latin typeface="腾讯字体包" panose="02010600010101010101" charset="-128"/>
              <a:ea typeface="腾讯字体包" panose="02010600010101010101" charset="-128"/>
              <a:cs typeface="腾讯字体包" panose="02010600010101010101" charset="-128"/>
              <a:sym typeface="+mn-ea"/>
            </a:endParaRPr>
          </a:p>
          <a:p>
            <a:pPr marL="0" indent="0" algn="l">
              <a:lnSpc>
                <a:spcPct val="125000"/>
              </a:lnSpc>
              <a:spcAft>
                <a:spcPts val="0"/>
              </a:spcAft>
              <a:buClrTx/>
              <a:buSzTx/>
              <a:buNone/>
            </a:pPr>
            <a:endParaRPr lang="zh-CN" altLang="en-US" sz="1800" dirty="0">
              <a:solidFill>
                <a:srgbClr val="3F51B6"/>
              </a:solidFill>
              <a:effectLst/>
              <a:uFillTx/>
              <a:latin typeface="腾讯字体包" panose="02010600010101010101" charset="-128"/>
              <a:ea typeface="腾讯字体包" panose="02010600010101010101" charset="-128"/>
              <a:cs typeface="腾讯字体包" panose="02010600010101010101" charset="-128"/>
              <a:sym typeface="+mn-ea"/>
            </a:endParaRPr>
          </a:p>
        </p:txBody>
      </p:sp>
      <p:grpSp>
        <p:nvGrpSpPr>
          <p:cNvPr id="16" name="组合 15"/>
          <p:cNvGrpSpPr/>
          <p:nvPr/>
        </p:nvGrpSpPr>
        <p:grpSpPr>
          <a:xfrm>
            <a:off x="283625" y="712715"/>
            <a:ext cx="11520000" cy="576000"/>
            <a:chOff x="582710" y="712715"/>
            <a:chExt cx="11527790"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76055"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sym typeface="+mn-ea"/>
                </a:rPr>
                <a:t>本周评审</a:t>
              </a:r>
              <a:r>
                <a:rPr kumimoji="1" lang="zh-CN" altLang="en-US" sz="2800" dirty="0">
                  <a:latin typeface="腾讯字体包" panose="02010600010101010101" charset="-128"/>
                  <a:ea typeface="腾讯字体包" panose="02010600010101010101" charset="-128"/>
                  <a:sym typeface="+mn-ea"/>
                </a:rPr>
                <a:t>意见：文档格式</a:t>
              </a:r>
              <a:r>
                <a:rPr kumimoji="1" lang="zh-CN" altLang="en-US" sz="2800" dirty="0">
                  <a:latin typeface="腾讯字体包" panose="02010600010101010101" charset="-128"/>
                  <a:ea typeface="腾讯字体包" panose="02010600010101010101" charset="-128"/>
                  <a:sym typeface="+mn-ea"/>
                </a:rPr>
                <a:t>及内容：</a:t>
              </a:r>
              <a:r>
                <a:rPr kumimoji="1" lang="zh-CN" altLang="en-US" sz="2800" dirty="0">
                  <a:solidFill>
                    <a:schemeClr val="accent5"/>
                  </a:solidFill>
                  <a:latin typeface="腾讯字体包" panose="02010600010101010101" charset="-128"/>
                  <a:ea typeface="腾讯字体包" panose="02010600010101010101" charset="-128"/>
                  <a:sym typeface="+mn-ea"/>
                </a:rPr>
                <a:t>接受</a:t>
              </a:r>
              <a:r>
                <a:rPr kumimoji="1" lang="zh-CN" altLang="en-US" sz="2800" dirty="0">
                  <a:latin typeface="腾讯字体包" panose="02010600010101010101" charset="-128"/>
                  <a:ea typeface="腾讯字体包" panose="02010600010101010101" charset="-128"/>
                </a:rPr>
                <a:t>问题及解决方案</a:t>
              </a:r>
              <a:endParaRPr kumimoji="1" lang="zh-CN" altLang="en-US" sz="2800" dirty="0">
                <a:latin typeface="腾讯字体包" panose="02010600010101010101" charset="-128"/>
                <a:ea typeface="腾讯字体包" panose="02010600010101010101" charset="-128"/>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377190" y="1649095"/>
            <a:ext cx="11291570" cy="5017135"/>
          </a:xfrm>
        </p:spPr>
        <p:txBody>
          <a:bodyPr>
            <a:normAutofit/>
          </a:bodyPr>
          <a:lstStyle/>
          <a:p>
            <a:pPr marL="228600" lvl="1" algn="l">
              <a:lnSpc>
                <a:spcPct val="125000"/>
              </a:lnSpc>
              <a:spcBef>
                <a:spcPts val="1000"/>
              </a:spcBef>
              <a:spcAft>
                <a:spcPts val="0"/>
              </a:spcAft>
              <a:buClrTx/>
              <a:buSzTx/>
            </a:pPr>
            <a:r>
              <a:rPr lang="zh-CN" altLang="en-US" sz="2220" dirty="0">
                <a:solidFill>
                  <a:srgbClr val="3F51B6"/>
                </a:solidFill>
                <a:effectLst/>
                <a:uFillTx/>
                <a:latin typeface="腾讯字体包" panose="02010600010101010101" charset="-128"/>
                <a:ea typeface="腾讯字体包" panose="02010600010101010101" charset="-128"/>
              </a:rPr>
              <a:t>问题</a:t>
            </a:r>
            <a:r>
              <a:rPr lang="en-US" altLang="zh-CN" sz="2220" dirty="0">
                <a:solidFill>
                  <a:srgbClr val="3F51B6"/>
                </a:solidFill>
                <a:effectLst/>
                <a:uFillTx/>
                <a:latin typeface="腾讯字体包" panose="02010600010101010101" charset="-128"/>
                <a:ea typeface="腾讯字体包" panose="02010600010101010101" charset="-128"/>
              </a:rPr>
              <a:t>：RUCM表中前置条件、后置条件和Postcondition内容缺失</a:t>
            </a:r>
            <a:endParaRPr lang="en-US" altLang="zh-CN" sz="2220" dirty="0">
              <a:solidFill>
                <a:srgbClr val="3F51B6"/>
              </a:solidFill>
              <a:effectLst/>
              <a:uFillTx/>
              <a:latin typeface="腾讯字体包" panose="02010600010101010101" charset="-128"/>
              <a:ea typeface="腾讯字体包" panose="02010600010101010101" charset="-128"/>
            </a:endParaRPr>
          </a:p>
          <a:p>
            <a:pPr lvl="1" algn="l">
              <a:lnSpc>
                <a:spcPct val="125000"/>
              </a:lnSpc>
              <a:spcAft>
                <a:spcPts val="0"/>
              </a:spcAft>
              <a:buClrTx/>
              <a:buSzTx/>
            </a:pPr>
            <a:r>
              <a:rPr lang="zh-CN" sz="1540" dirty="0">
                <a:effectLst/>
                <a:latin typeface="腾讯字体包" panose="02010600010101010101" charset="-128"/>
                <a:ea typeface="腾讯字体包" panose="02010600010101010101" charset="-128"/>
                <a:cs typeface="腾讯字体包" panose="02010600010101010101" charset="-128"/>
                <a:sym typeface="+mn-ea"/>
              </a:rPr>
              <a:t>解决方案：补充缺失的前置条件、后置条件以及</a:t>
            </a:r>
            <a:r>
              <a:rPr lang="zh-CN" sz="1540" dirty="0">
                <a:effectLst/>
                <a:latin typeface="腾讯字体包" panose="02010600010101010101" charset="-128"/>
                <a:ea typeface="腾讯字体包" panose="02010600010101010101" charset="-128"/>
                <a:cs typeface="腾讯字体包" panose="02010600010101010101" charset="-128"/>
                <a:sym typeface="+mn-ea"/>
              </a:rPr>
              <a:t>Postcondition</a:t>
            </a:r>
            <a:r>
              <a:rPr sz="1540" dirty="0">
                <a:effectLst/>
                <a:latin typeface="腾讯字体包" panose="02010600010101010101" charset="-128"/>
                <a:ea typeface="腾讯字体包" panose="02010600010101010101" charset="-128"/>
                <a:cs typeface="腾讯字体包" panose="02010600010101010101" charset="-128"/>
                <a:sym typeface="+mn-ea"/>
              </a:rPr>
              <a:t>。</a:t>
            </a:r>
            <a:endParaRPr sz="1540" dirty="0">
              <a:effectLst/>
              <a:latin typeface="腾讯字体包" panose="02010600010101010101" charset="-128"/>
              <a:ea typeface="腾讯字体包" panose="02010600010101010101" charset="-128"/>
              <a:cs typeface="腾讯字体包" panose="02010600010101010101" charset="-128"/>
              <a:sym typeface="+mn-ea"/>
            </a:endParaRPr>
          </a:p>
          <a:p>
            <a:pPr marL="0" indent="0" algn="l">
              <a:lnSpc>
                <a:spcPct val="125000"/>
              </a:lnSpc>
              <a:spcAft>
                <a:spcPts val="0"/>
              </a:spcAft>
              <a:buClrTx/>
              <a:buSzTx/>
              <a:buNone/>
            </a:pPr>
            <a:endParaRPr lang="zh-CN" altLang="en-US" sz="1800" dirty="0">
              <a:solidFill>
                <a:srgbClr val="3F51B6"/>
              </a:solidFill>
              <a:effectLst/>
              <a:uFillTx/>
              <a:latin typeface="腾讯字体包" panose="02010600010101010101" charset="-128"/>
              <a:ea typeface="腾讯字体包" panose="02010600010101010101" charset="-128"/>
              <a:cs typeface="腾讯字体包" panose="02010600010101010101" charset="-128"/>
              <a:sym typeface="+mn-ea"/>
            </a:endParaRPr>
          </a:p>
        </p:txBody>
      </p:sp>
      <p:grpSp>
        <p:nvGrpSpPr>
          <p:cNvPr id="16" name="组合 15"/>
          <p:cNvGrpSpPr/>
          <p:nvPr/>
        </p:nvGrpSpPr>
        <p:grpSpPr>
          <a:xfrm>
            <a:off x="283625" y="712715"/>
            <a:ext cx="11520000" cy="576000"/>
            <a:chOff x="582710" y="712715"/>
            <a:chExt cx="11527790"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76055"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sym typeface="+mn-ea"/>
                </a:rPr>
                <a:t>本周评审意见：</a:t>
              </a:r>
              <a:r>
                <a:rPr kumimoji="1" lang="en-US" altLang="zh-CN" sz="2800" dirty="0">
                  <a:latin typeface="腾讯字体包" panose="02010600010101010101" charset="-128"/>
                  <a:ea typeface="腾讯字体包" panose="02010600010101010101" charset="-128"/>
                  <a:sym typeface="+mn-ea"/>
                </a:rPr>
                <a:t>RUCM</a:t>
              </a:r>
              <a:r>
                <a:rPr kumimoji="1" lang="zh-CN" altLang="en-US" sz="2800" dirty="0">
                  <a:latin typeface="腾讯字体包" panose="02010600010101010101" charset="-128"/>
                  <a:ea typeface="腾讯字体包" panose="02010600010101010101" charset="-128"/>
                  <a:sym typeface="+mn-ea"/>
                </a:rPr>
                <a:t>表：</a:t>
              </a:r>
              <a:r>
                <a:rPr kumimoji="1" lang="zh-CN" altLang="en-US" sz="2800" dirty="0">
                  <a:solidFill>
                    <a:schemeClr val="accent5"/>
                  </a:solidFill>
                  <a:latin typeface="腾讯字体包" panose="02010600010101010101" charset="-128"/>
                  <a:ea typeface="腾讯字体包" panose="02010600010101010101" charset="-128"/>
                  <a:sym typeface="+mn-ea"/>
                </a:rPr>
                <a:t>接受</a:t>
              </a:r>
              <a:r>
                <a:rPr kumimoji="1" lang="zh-CN" altLang="en-US" sz="2800" dirty="0">
                  <a:latin typeface="腾讯字体包" panose="02010600010101010101" charset="-128"/>
                  <a:ea typeface="腾讯字体包" panose="02010600010101010101" charset="-128"/>
                </a:rPr>
                <a:t>问题及解决方案</a:t>
              </a:r>
              <a:endParaRPr kumimoji="1" lang="zh-CN" altLang="en-US" sz="2800" dirty="0">
                <a:latin typeface="腾讯字体包" panose="02010600010101010101" charset="-128"/>
                <a:ea typeface="腾讯字体包" panose="02010600010101010101" charset="-128"/>
              </a:endParaRPr>
            </a:p>
          </p:txBody>
        </p:sp>
      </p:grpSp>
      <p:pic>
        <p:nvPicPr>
          <p:cNvPr id="4" name="图片 3"/>
          <p:cNvPicPr>
            <a:picLocks noChangeAspect="1"/>
          </p:cNvPicPr>
          <p:nvPr/>
        </p:nvPicPr>
        <p:blipFill>
          <a:blip r:embed="rId1"/>
          <a:stretch>
            <a:fillRect/>
          </a:stretch>
        </p:blipFill>
        <p:spPr>
          <a:xfrm>
            <a:off x="3723640" y="2605405"/>
            <a:ext cx="3561080" cy="41313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287435" y="712715"/>
            <a:ext cx="5289172" cy="572075"/>
            <a:chOff x="582710" y="712715"/>
            <a:chExt cx="5289172" cy="572075"/>
          </a:xfrm>
        </p:grpSpPr>
        <p:sp>
          <p:nvSpPr>
            <p:cNvPr id="11" name="矩形 10"/>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12" name="文本框 11"/>
            <p:cNvSpPr txBox="1"/>
            <p:nvPr/>
          </p:nvSpPr>
          <p:spPr>
            <a:xfrm>
              <a:off x="676164" y="712715"/>
              <a:ext cx="5195718" cy="521970"/>
            </a:xfrm>
            <a:prstGeom prst="rect">
              <a:avLst/>
            </a:prstGeom>
            <a:noFill/>
          </p:spPr>
          <p:txBody>
            <a:bodyPr wrap="square" rtlCol="0">
              <a:spAutoFit/>
            </a:bodyPr>
            <a:lstStyle/>
            <a:p>
              <a:r>
                <a:rPr kumimoji="1" lang="zh-CN" altLang="en-US" sz="2800" dirty="0">
                  <a:latin typeface="腾讯字体包" panose="02010600010101010101" charset="-128"/>
                  <a:ea typeface="腾讯字体包" panose="02010600010101010101" charset="-128"/>
                </a:rPr>
                <a:t>本周工作量统计</a:t>
              </a:r>
              <a:endParaRPr kumimoji="1" lang="en-US" altLang="zh-CN" sz="2800" dirty="0">
                <a:latin typeface="腾讯字体包" panose="02010600010101010101" charset="-128"/>
                <a:ea typeface="腾讯字体包" panose="02010600010101010101" charset="-128"/>
              </a:endParaRPr>
            </a:p>
          </p:txBody>
        </p:sp>
      </p:grpSp>
      <p:sp>
        <p:nvSpPr>
          <p:cNvPr id="15" name="文本框 14"/>
          <p:cNvSpPr txBox="1"/>
          <p:nvPr/>
        </p:nvSpPr>
        <p:spPr>
          <a:xfrm>
            <a:off x="4227830" y="3390900"/>
            <a:ext cx="2183130" cy="275590"/>
          </a:xfrm>
          <a:prstGeom prst="rect">
            <a:avLst/>
          </a:prstGeom>
          <a:noFill/>
        </p:spPr>
        <p:txBody>
          <a:bodyPr wrap="square" rtlCol="0" anchor="t">
            <a:spAutoFit/>
          </a:bodyPr>
          <a:lstStyle/>
          <a:p>
            <a:r>
              <a:rPr lang="zh-CN" sz="1200" dirty="0">
                <a:latin typeface="腾讯字体包" panose="02010600010101010101" charset="-128"/>
                <a:ea typeface="腾讯字体包" panose="02010600010101010101" charset="-128"/>
                <a:cs typeface="腾讯字体包" panose="02010600010101010101" charset="-128"/>
                <a:sym typeface="+mn-ea"/>
              </a:rPr>
              <a:t>工作</a:t>
            </a:r>
            <a:r>
              <a:rPr lang="zh-CN" altLang="en-US" sz="1200" dirty="0">
                <a:latin typeface="腾讯字体包" panose="02010600010101010101" charset="-128"/>
                <a:ea typeface="腾讯字体包" panose="02010600010101010101" charset="-128"/>
                <a:cs typeface="腾讯字体包" panose="02010600010101010101" charset="-128"/>
                <a:sym typeface="+mn-ea"/>
              </a:rPr>
              <a:t>花费时间分布柱状图</a:t>
            </a:r>
            <a:endParaRPr lang="zh-CN" altLang="en-US" sz="1200" dirty="0">
              <a:latin typeface="腾讯字体包" panose="02010600010101010101" charset="-128"/>
              <a:ea typeface="腾讯字体包" panose="02010600010101010101" charset="-128"/>
              <a:cs typeface="腾讯字体包" panose="02010600010101010101" charset="-128"/>
              <a:sym typeface="+mn-ea"/>
            </a:endParaRPr>
          </a:p>
        </p:txBody>
      </p:sp>
      <p:sp>
        <p:nvSpPr>
          <p:cNvPr id="17" name="文本框 16"/>
          <p:cNvSpPr txBox="1"/>
          <p:nvPr/>
        </p:nvSpPr>
        <p:spPr>
          <a:xfrm>
            <a:off x="4147185" y="1644650"/>
            <a:ext cx="2183130" cy="275590"/>
          </a:xfrm>
          <a:prstGeom prst="rect">
            <a:avLst/>
          </a:prstGeom>
          <a:noFill/>
        </p:spPr>
        <p:txBody>
          <a:bodyPr wrap="square" rtlCol="0" anchor="t">
            <a:spAutoFit/>
          </a:bodyPr>
          <a:lstStyle/>
          <a:p>
            <a:r>
              <a:rPr lang="zh-CN" sz="1200" dirty="0">
                <a:latin typeface="腾讯字体包" panose="02010600010101010101" charset="-128"/>
                <a:ea typeface="腾讯字体包" panose="02010600010101010101" charset="-128"/>
                <a:cs typeface="腾讯字体包" panose="02010600010101010101" charset="-128"/>
                <a:sym typeface="+mn-ea"/>
              </a:rPr>
              <a:t>工作量自评统计</a:t>
            </a:r>
            <a:endParaRPr lang="zh-CN" sz="1200" dirty="0">
              <a:latin typeface="腾讯字体包" panose="02010600010101010101" charset="-128"/>
              <a:ea typeface="腾讯字体包" panose="02010600010101010101" charset="-128"/>
              <a:cs typeface="腾讯字体包" panose="02010600010101010101" charset="-128"/>
              <a:sym typeface="+mn-ea"/>
            </a:endParaRPr>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505460" y="4306570"/>
            <a:ext cx="3020060" cy="2149475"/>
          </a:xfrm>
          <a:prstGeom prst="rect">
            <a:avLst/>
          </a:prstGeom>
        </p:spPr>
      </p:pic>
      <p:pic>
        <p:nvPicPr>
          <p:cNvPr id="7" name="图片 6"/>
          <p:cNvPicPr>
            <a:picLocks noChangeAspect="1"/>
          </p:cNvPicPr>
          <p:nvPr/>
        </p:nvPicPr>
        <p:blipFill>
          <a:blip r:embed="rId2"/>
          <a:stretch>
            <a:fillRect/>
          </a:stretch>
        </p:blipFill>
        <p:spPr>
          <a:xfrm>
            <a:off x="9004935" y="4371340"/>
            <a:ext cx="2779395" cy="1898650"/>
          </a:xfrm>
          <a:prstGeom prst="rect">
            <a:avLst/>
          </a:prstGeom>
        </p:spPr>
      </p:pic>
      <p:pic>
        <p:nvPicPr>
          <p:cNvPr id="8" name="图片 7"/>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4222750" y="3840480"/>
            <a:ext cx="4588510" cy="2490470"/>
          </a:xfrm>
          <a:prstGeom prst="rect">
            <a:avLst/>
          </a:prstGeom>
        </p:spPr>
      </p:pic>
      <p:pic>
        <p:nvPicPr>
          <p:cNvPr id="13" name="图片 12"/>
          <p:cNvPicPr>
            <a:picLocks noChangeAspect="1"/>
          </p:cNvPicPr>
          <p:nvPr/>
        </p:nvPicPr>
        <p:blipFill>
          <a:blip r:embed="rId4"/>
          <a:stretch>
            <a:fillRect/>
          </a:stretch>
        </p:blipFill>
        <p:spPr>
          <a:xfrm>
            <a:off x="4147185" y="2028190"/>
            <a:ext cx="6309360" cy="1255395"/>
          </a:xfrm>
          <a:prstGeom prst="rect">
            <a:avLst/>
          </a:prstGeom>
        </p:spPr>
      </p:pic>
      <p:pic>
        <p:nvPicPr>
          <p:cNvPr id="3" name="图片 2"/>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37465" y="1317625"/>
            <a:ext cx="4100195" cy="32067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283625" y="712715"/>
            <a:ext cx="11520000" cy="576000"/>
            <a:chOff x="582710" y="712715"/>
            <a:chExt cx="11527790" cy="572075"/>
          </a:xfrm>
        </p:grpSpPr>
        <p:sp>
          <p:nvSpPr>
            <p:cNvPr id="17" name="矩形 16"/>
            <p:cNvSpPr/>
            <p:nvPr/>
          </p:nvSpPr>
          <p:spPr>
            <a:xfrm flipV="1">
              <a:off x="582710" y="717952"/>
              <a:ext cx="93455" cy="566838"/>
            </a:xfrm>
            <a:prstGeom prst="rect">
              <a:avLst/>
            </a:prstGeom>
            <a:solidFill>
              <a:srgbClr val="3F51B6"/>
            </a:solidFill>
            <a:ln>
              <a:solidFill>
                <a:srgbClr val="3F51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676055" y="712715"/>
              <a:ext cx="11434445" cy="5184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dirty="0">
                  <a:latin typeface="腾讯字体包" panose="02010600010101010101" charset="-128"/>
                  <a:ea typeface="腾讯字体包" panose="02010600010101010101" charset="-128"/>
                  <a:sym typeface="+mn-ea"/>
                </a:rPr>
                <a:t>下周成员分工</a:t>
              </a:r>
              <a:endParaRPr kumimoji="1" lang="zh-CN" altLang="en-US" sz="2800" dirty="0">
                <a:latin typeface="腾讯字体包" panose="02010600010101010101" charset="-128"/>
                <a:ea typeface="腾讯字体包" panose="02010600010101010101" charset="-128"/>
                <a:sym typeface="+mn-ea"/>
              </a:endParaRPr>
            </a:p>
          </p:txBody>
        </p:sp>
      </p:grpSp>
      <p:grpSp>
        <p:nvGrpSpPr>
          <p:cNvPr id="10" name="组合 9"/>
          <p:cNvGrpSpPr/>
          <p:nvPr/>
        </p:nvGrpSpPr>
        <p:grpSpPr>
          <a:xfrm>
            <a:off x="588010" y="4661535"/>
            <a:ext cx="11093450" cy="1389380"/>
            <a:chOff x="926" y="8211"/>
            <a:chExt cx="17470" cy="2188"/>
          </a:xfrm>
        </p:grpSpPr>
        <p:sp>
          <p:nvSpPr>
            <p:cNvPr id="80" name="矩形: 圆角 20"/>
            <p:cNvSpPr/>
            <p:nvPr/>
          </p:nvSpPr>
          <p:spPr>
            <a:xfrm>
              <a:off x="13054" y="8211"/>
              <a:ext cx="5342" cy="218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82" name="文本框 81"/>
            <p:cNvSpPr txBox="1"/>
            <p:nvPr/>
          </p:nvSpPr>
          <p:spPr>
            <a:xfrm>
              <a:off x="13292" y="8347"/>
              <a:ext cx="3818"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张宸恺</a:t>
              </a:r>
              <a:r>
                <a:rPr lang="en-US" dirty="0">
                  <a:solidFill>
                    <a:srgbClr val="00468E"/>
                  </a:solidFill>
                  <a:latin typeface="腾讯字体包" panose="02010600010101010101" charset="-128"/>
                  <a:ea typeface="腾讯字体包" panose="02010600010101010101" charset="-128"/>
                  <a:cs typeface="腾讯字体包" panose="02010600010101010101" charset="-128"/>
                </a:rPr>
                <a:t> </a:t>
              </a:r>
              <a:endParaRPr 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sp>
          <p:nvSpPr>
            <p:cNvPr id="92" name="矩形: 圆角 20"/>
            <p:cNvSpPr/>
            <p:nvPr/>
          </p:nvSpPr>
          <p:spPr>
            <a:xfrm>
              <a:off x="6990" y="8211"/>
              <a:ext cx="5342" cy="218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93" name="文本框 92"/>
            <p:cNvSpPr txBox="1"/>
            <p:nvPr/>
          </p:nvSpPr>
          <p:spPr>
            <a:xfrm>
              <a:off x="7228" y="8847"/>
              <a:ext cx="5104" cy="1105"/>
            </a:xfrm>
            <a:prstGeom prst="rect">
              <a:avLst/>
            </a:prstGeom>
            <a:noFill/>
          </p:spPr>
          <p:txBody>
            <a:bodyPr wrap="square">
              <a:spAutoFit/>
            </a:bodyPr>
            <a:lstStyle/>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标注系统前端页面设计</a:t>
              </a:r>
              <a:endParaRPr lang="en-US" altLang="zh-CN" sz="1400" dirty="0">
                <a:latin typeface="腾讯字体包" panose="02010600010101010101" charset="-128"/>
                <a:ea typeface="腾讯字体包" panose="02010600010101010101" charset="-128"/>
                <a:cs typeface="腾讯字体包" panose="02010600010101010101" charset="-128"/>
                <a:sym typeface="+mn-ea"/>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标注系统数据库架构设计</a:t>
              </a:r>
              <a:endParaRPr lang="zh-CN" altLang="zh-CN" sz="1400" dirty="0">
                <a:latin typeface="腾讯字体包" panose="02010600010101010101" charset="-128"/>
                <a:ea typeface="腾讯字体包" panose="02010600010101010101" charset="-128"/>
                <a:cs typeface="腾讯字体包" panose="02010600010101010101" charset="-128"/>
              </a:endParaRPr>
            </a:p>
          </p:txBody>
        </p:sp>
        <p:sp>
          <p:nvSpPr>
            <p:cNvPr id="94" name="文本框 93"/>
            <p:cNvSpPr txBox="1"/>
            <p:nvPr/>
          </p:nvSpPr>
          <p:spPr>
            <a:xfrm>
              <a:off x="7228" y="8347"/>
              <a:ext cx="3516"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窦建玲</a:t>
              </a:r>
              <a:endParaRPr lang="zh-CN" alt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sp>
          <p:nvSpPr>
            <p:cNvPr id="101" name="矩形: 圆角 20"/>
            <p:cNvSpPr/>
            <p:nvPr/>
          </p:nvSpPr>
          <p:spPr>
            <a:xfrm>
              <a:off x="926" y="8211"/>
              <a:ext cx="5342" cy="218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102" name="文本框 101"/>
            <p:cNvSpPr txBox="1"/>
            <p:nvPr/>
          </p:nvSpPr>
          <p:spPr>
            <a:xfrm>
              <a:off x="1164" y="8847"/>
              <a:ext cx="5104" cy="1105"/>
            </a:xfrm>
            <a:prstGeom prst="rect">
              <a:avLst/>
            </a:prstGeom>
            <a:noFill/>
          </p:spPr>
          <p:txBody>
            <a:bodyPr wrap="square">
              <a:spAutoFit/>
            </a:bodyPr>
            <a:lstStyle/>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提示词工程学习</a:t>
              </a:r>
              <a:endParaRPr lang="en-US" altLang="zh-CN" sz="1400" dirty="0">
                <a:latin typeface="腾讯字体包" panose="02010600010101010101" charset="-128"/>
                <a:ea typeface="腾讯字体包" panose="02010600010101010101" charset="-128"/>
                <a:cs typeface="腾讯字体包" panose="02010600010101010101" charset="-128"/>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标注系统后端接口设计</a:t>
              </a:r>
              <a:endParaRPr lang="zh-CN" altLang="zh-CN" sz="1400" dirty="0">
                <a:latin typeface="腾讯字体包" panose="02010600010101010101" charset="-128"/>
                <a:ea typeface="腾讯字体包" panose="02010600010101010101" charset="-128"/>
                <a:cs typeface="腾讯字体包" panose="02010600010101010101" charset="-128"/>
              </a:endParaRPr>
            </a:p>
          </p:txBody>
        </p:sp>
        <p:sp>
          <p:nvSpPr>
            <p:cNvPr id="103" name="文本框 102"/>
            <p:cNvSpPr txBox="1"/>
            <p:nvPr/>
          </p:nvSpPr>
          <p:spPr>
            <a:xfrm>
              <a:off x="1164" y="8347"/>
              <a:ext cx="3696"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刘顺博 </a:t>
              </a:r>
              <a:endParaRPr 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pic>
          <p:nvPicPr>
            <p:cNvPr id="13"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73" y="8372"/>
              <a:ext cx="482" cy="482"/>
            </a:xfrm>
            <a:prstGeom prst="rect">
              <a:avLst/>
            </a:prstGeom>
          </p:spPr>
        </p:pic>
        <p:pic>
          <p:nvPicPr>
            <p:cNvPr id="15"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571" y="8357"/>
              <a:ext cx="482" cy="482"/>
            </a:xfrm>
            <a:prstGeom prst="rect">
              <a:avLst/>
            </a:prstGeom>
          </p:spPr>
        </p:pic>
      </p:grpSp>
      <p:grpSp>
        <p:nvGrpSpPr>
          <p:cNvPr id="4" name="组合 3"/>
          <p:cNvGrpSpPr/>
          <p:nvPr/>
        </p:nvGrpSpPr>
        <p:grpSpPr>
          <a:xfrm>
            <a:off x="588010" y="1616075"/>
            <a:ext cx="11093450" cy="1281430"/>
            <a:chOff x="996" y="2545"/>
            <a:chExt cx="17470" cy="2018"/>
          </a:xfrm>
        </p:grpSpPr>
        <p:sp>
          <p:nvSpPr>
            <p:cNvPr id="72" name="矩形: 圆角 20"/>
            <p:cNvSpPr/>
            <p:nvPr/>
          </p:nvSpPr>
          <p:spPr>
            <a:xfrm>
              <a:off x="13124" y="2545"/>
              <a:ext cx="5342" cy="201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73" name="文本框 72"/>
            <p:cNvSpPr txBox="1"/>
            <p:nvPr/>
          </p:nvSpPr>
          <p:spPr>
            <a:xfrm>
              <a:off x="13362" y="3180"/>
              <a:ext cx="5104" cy="1105"/>
            </a:xfrm>
            <a:prstGeom prst="rect">
              <a:avLst/>
            </a:prstGeom>
            <a:noFill/>
          </p:spPr>
          <p:txBody>
            <a:bodyPr wrap="square">
              <a:spAutoFit/>
            </a:bodyPr>
            <a:lstStyle/>
            <a:p>
              <a:pPr marL="171450" indent="-171450" algn="l">
                <a:lnSpc>
                  <a:spcPct val="150000"/>
                </a:lnSpc>
                <a:buClrTx/>
                <a:buSzTx/>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挖掘系统前端页面设计</a:t>
              </a:r>
              <a:endParaRPr lang="en-US" altLang="zh-CN" sz="1400" dirty="0">
                <a:latin typeface="腾讯字体包" panose="02010600010101010101" charset="-128"/>
                <a:ea typeface="腾讯字体包" panose="02010600010101010101" charset="-128"/>
                <a:cs typeface="腾讯字体包" panose="02010600010101010101" charset="-128"/>
                <a:sym typeface="+mn-ea"/>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提示词工程学习</a:t>
              </a:r>
              <a:endParaRPr lang="zh-CN" altLang="zh-CN" sz="1400" dirty="0">
                <a:latin typeface="腾讯字体包" panose="02010600010101010101" charset="-128"/>
                <a:ea typeface="腾讯字体包" panose="02010600010101010101" charset="-128"/>
                <a:cs typeface="腾讯字体包" panose="02010600010101010101" charset="-128"/>
              </a:endParaRPr>
            </a:p>
          </p:txBody>
        </p:sp>
        <p:sp>
          <p:nvSpPr>
            <p:cNvPr id="74" name="文本框 73"/>
            <p:cNvSpPr txBox="1"/>
            <p:nvPr/>
          </p:nvSpPr>
          <p:spPr>
            <a:xfrm>
              <a:off x="13362" y="2680"/>
              <a:ext cx="3818"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曾祥华</a:t>
              </a:r>
              <a:endParaRPr lang="zh-CN" alt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sp>
          <p:nvSpPr>
            <p:cNvPr id="84" name="矩形: 圆角 20"/>
            <p:cNvSpPr/>
            <p:nvPr/>
          </p:nvSpPr>
          <p:spPr>
            <a:xfrm>
              <a:off x="7060" y="2545"/>
              <a:ext cx="5342" cy="201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85" name="文本框 84"/>
            <p:cNvSpPr txBox="1"/>
            <p:nvPr/>
          </p:nvSpPr>
          <p:spPr>
            <a:xfrm>
              <a:off x="7298" y="3180"/>
              <a:ext cx="5104" cy="1105"/>
            </a:xfrm>
            <a:prstGeom prst="rect">
              <a:avLst/>
            </a:prstGeom>
            <a:noFill/>
          </p:spPr>
          <p:txBody>
            <a:bodyPr wrap="square">
              <a:spAutoFit/>
            </a:bodyPr>
            <a:lstStyle/>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挖掘系统数据库架构设计</a:t>
              </a:r>
              <a:endParaRPr lang="en-US" altLang="zh-CN" sz="1400" dirty="0">
                <a:latin typeface="腾讯字体包" panose="02010600010101010101" charset="-128"/>
                <a:ea typeface="腾讯字体包" panose="02010600010101010101" charset="-128"/>
                <a:cs typeface="腾讯字体包" panose="02010600010101010101" charset="-128"/>
                <a:sym typeface="+mn-ea"/>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挖掘系统后端接口设计</a:t>
              </a:r>
              <a:endParaRPr lang="zh-CN" altLang="en-US" sz="1400" dirty="0">
                <a:latin typeface="腾讯字体包" panose="02010600010101010101" charset="-128"/>
                <a:ea typeface="腾讯字体包" panose="02010600010101010101" charset="-128"/>
                <a:cs typeface="腾讯字体包" panose="02010600010101010101" charset="-128"/>
                <a:sym typeface="+mn-ea"/>
              </a:endParaRPr>
            </a:p>
          </p:txBody>
        </p:sp>
        <p:sp>
          <p:nvSpPr>
            <p:cNvPr id="86" name="文本框 85"/>
            <p:cNvSpPr txBox="1"/>
            <p:nvPr/>
          </p:nvSpPr>
          <p:spPr>
            <a:xfrm>
              <a:off x="7298" y="2680"/>
              <a:ext cx="3934"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苏丁力 </a:t>
              </a:r>
              <a:endParaRPr 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sp>
          <p:nvSpPr>
            <p:cNvPr id="107" name="矩形: 圆角 20"/>
            <p:cNvSpPr/>
            <p:nvPr/>
          </p:nvSpPr>
          <p:spPr>
            <a:xfrm>
              <a:off x="996" y="2545"/>
              <a:ext cx="5342" cy="201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108" name="文本框 107"/>
            <p:cNvSpPr txBox="1"/>
            <p:nvPr/>
          </p:nvSpPr>
          <p:spPr>
            <a:xfrm>
              <a:off x="1022" y="3180"/>
              <a:ext cx="5331" cy="1105"/>
            </a:xfrm>
            <a:prstGeom prst="rect">
              <a:avLst/>
            </a:prstGeom>
            <a:noFill/>
          </p:spPr>
          <p:txBody>
            <a:bodyPr wrap="square">
              <a:spAutoFit/>
            </a:bodyPr>
            <a:lstStyle/>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软件架构学习</a:t>
              </a:r>
              <a:endParaRPr lang="zh-CN" altLang="en-US" sz="1400" dirty="0">
                <a:latin typeface="腾讯字体包" panose="02010600010101010101" charset="-128"/>
                <a:ea typeface="腾讯字体包" panose="02010600010101010101" charset="-128"/>
                <a:cs typeface="腾讯字体包" panose="02010600010101010101" charset="-128"/>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挖掘系统后端接口设计</a:t>
              </a:r>
              <a:endParaRPr lang="zh-CN" sz="1400" dirty="0">
                <a:latin typeface="腾讯字体包" panose="02010600010101010101" charset="-128"/>
                <a:ea typeface="腾讯字体包" panose="02010600010101010101" charset="-128"/>
                <a:cs typeface="腾讯字体包" panose="02010600010101010101" charset="-128"/>
              </a:endParaRPr>
            </a:p>
          </p:txBody>
        </p:sp>
        <p:sp>
          <p:nvSpPr>
            <p:cNvPr id="109" name="文本框 108"/>
            <p:cNvSpPr txBox="1"/>
            <p:nvPr/>
          </p:nvSpPr>
          <p:spPr>
            <a:xfrm>
              <a:off x="1234" y="2680"/>
              <a:ext cx="3851"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孙烨</a:t>
              </a:r>
              <a:endParaRPr lang="zh-CN" alt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pic>
          <p:nvPicPr>
            <p:cNvPr id="6"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43" y="2698"/>
              <a:ext cx="482" cy="482"/>
            </a:xfrm>
            <a:prstGeom prst="rect">
              <a:avLst/>
            </a:prstGeom>
          </p:spPr>
        </p:pic>
        <p:pic>
          <p:nvPicPr>
            <p:cNvPr id="9"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609" y="2698"/>
              <a:ext cx="482" cy="482"/>
            </a:xfrm>
            <a:prstGeom prst="rect">
              <a:avLst/>
            </a:prstGeom>
          </p:spPr>
        </p:pic>
      </p:grpSp>
      <p:grpSp>
        <p:nvGrpSpPr>
          <p:cNvPr id="8" name="组合 7"/>
          <p:cNvGrpSpPr/>
          <p:nvPr/>
        </p:nvGrpSpPr>
        <p:grpSpPr>
          <a:xfrm>
            <a:off x="588010" y="3164205"/>
            <a:ext cx="11093450" cy="1281430"/>
            <a:chOff x="926" y="4983"/>
            <a:chExt cx="17470" cy="2018"/>
          </a:xfrm>
        </p:grpSpPr>
        <p:sp>
          <p:nvSpPr>
            <p:cNvPr id="76" name="矩形: 圆角 20"/>
            <p:cNvSpPr/>
            <p:nvPr/>
          </p:nvSpPr>
          <p:spPr>
            <a:xfrm>
              <a:off x="13054" y="4983"/>
              <a:ext cx="5342" cy="201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77" name="文本框 76"/>
            <p:cNvSpPr txBox="1"/>
            <p:nvPr/>
          </p:nvSpPr>
          <p:spPr>
            <a:xfrm>
              <a:off x="13292" y="5619"/>
              <a:ext cx="5104" cy="1101"/>
            </a:xfrm>
            <a:prstGeom prst="rect">
              <a:avLst/>
            </a:prstGeom>
            <a:noFill/>
          </p:spPr>
          <p:txBody>
            <a:bodyPr wrap="square">
              <a:spAutoFit/>
            </a:bodyPr>
            <a:lstStyle/>
            <a:p>
              <a:pPr marL="171450" indent="-171450" algn="l">
                <a:lnSpc>
                  <a:spcPct val="150000"/>
                </a:lnSpc>
                <a:buClrTx/>
                <a:buSzTx/>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软件架构学习</a:t>
              </a:r>
              <a:endParaRPr lang="en-US" altLang="zh-CN" sz="1400" dirty="0">
                <a:latin typeface="腾讯字体包" panose="02010600010101010101" charset="-128"/>
                <a:ea typeface="腾讯字体包" panose="02010600010101010101" charset="-128"/>
                <a:cs typeface="腾讯字体包" panose="02010600010101010101" charset="-128"/>
                <a:sym typeface="+mn-ea"/>
              </a:endParaRPr>
            </a:p>
            <a:p>
              <a:pPr marL="171450" indent="-171450" algn="l">
                <a:lnSpc>
                  <a:spcPct val="150000"/>
                </a:lnSpc>
                <a:buClrTx/>
                <a:buSzTx/>
                <a:buFont typeface="Arial" panose="020B0604020202020204" pitchFamily="34" charset="0"/>
                <a:buChar char="•"/>
              </a:pPr>
              <a:r>
                <a:rPr lang="zh-CN" altLang="en-US" sz="1400" spc="120" dirty="0">
                  <a:latin typeface="腾讯字体包" panose="02010600010101010101" charset="-128"/>
                  <a:ea typeface="腾讯字体包" panose="02010600010101010101" charset="-128"/>
                  <a:cs typeface="腾讯字体包" panose="02010600010101010101" charset="-128"/>
                  <a:sym typeface="+mn-ea"/>
                </a:rPr>
                <a:t>标注系统后端接口设计</a:t>
              </a:r>
              <a:endParaRPr lang="zh-CN" altLang="en-US" sz="1400" spc="120" dirty="0">
                <a:latin typeface="腾讯字体包" panose="02010600010101010101" charset="-128"/>
                <a:ea typeface="腾讯字体包" panose="02010600010101010101" charset="-128"/>
                <a:cs typeface="腾讯字体包" panose="02010600010101010101" charset="-128"/>
                <a:sym typeface="+mn-ea"/>
              </a:endParaRPr>
            </a:p>
          </p:txBody>
        </p:sp>
        <p:sp>
          <p:nvSpPr>
            <p:cNvPr id="78" name="文本框 77"/>
            <p:cNvSpPr txBox="1"/>
            <p:nvPr/>
          </p:nvSpPr>
          <p:spPr>
            <a:xfrm>
              <a:off x="13292" y="5119"/>
              <a:ext cx="3818"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魏家龙</a:t>
              </a:r>
              <a:endParaRPr lang="zh-CN" alt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sp>
          <p:nvSpPr>
            <p:cNvPr id="88" name="矩形: 圆角 20"/>
            <p:cNvSpPr/>
            <p:nvPr/>
          </p:nvSpPr>
          <p:spPr>
            <a:xfrm>
              <a:off x="6990" y="4983"/>
              <a:ext cx="5342" cy="201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90" name="文本框 89"/>
            <p:cNvSpPr txBox="1"/>
            <p:nvPr/>
          </p:nvSpPr>
          <p:spPr>
            <a:xfrm>
              <a:off x="7228" y="5119"/>
              <a:ext cx="3516"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郭鑫</a:t>
              </a:r>
              <a:endParaRPr lang="zh-CN" alt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sp>
          <p:nvSpPr>
            <p:cNvPr id="104" name="矩形: 圆角 20"/>
            <p:cNvSpPr/>
            <p:nvPr/>
          </p:nvSpPr>
          <p:spPr>
            <a:xfrm>
              <a:off x="926" y="4983"/>
              <a:ext cx="5342" cy="2018"/>
            </a:xfrm>
            <a:prstGeom prst="roundRect">
              <a:avLst>
                <a:gd name="adj" fmla="val 10297"/>
              </a:avLst>
            </a:prstGeom>
            <a:solidFill>
              <a:schemeClr val="bg1"/>
            </a:solidFill>
            <a:ln w="12700">
              <a:solidFill>
                <a:schemeClr val="tx2"/>
              </a:solidFill>
              <a:prstDash val="solid"/>
              <a:miter/>
            </a:ln>
            <a:effectLst>
              <a:outerShdw blurRad="279400" sx="101000" sy="101000" algn="ctr" rotWithShape="0">
                <a:srgbClr val="000000">
                  <a:alpha val="20000"/>
                </a:srgbClr>
              </a:outerShdw>
            </a:effectLst>
          </p:spPr>
          <p:txBody>
            <a:bodyPr anchor="ctr"/>
            <a:lstStyle/>
            <a:p>
              <a:pPr algn="ctr"/>
              <a:endParaRPr lang="zh-CN" sz="1000" dirty="0">
                <a:solidFill>
                  <a:schemeClr val="bg1"/>
                </a:solidFill>
                <a:latin typeface="腾讯字体包" panose="02010600010101010101" charset="-128"/>
                <a:ea typeface="腾讯字体包" panose="02010600010101010101" charset="-128"/>
                <a:cs typeface="Times New Roman Regular" panose="02020603050405020304" charset="0"/>
              </a:endParaRPr>
            </a:p>
          </p:txBody>
        </p:sp>
        <p:sp>
          <p:nvSpPr>
            <p:cNvPr id="105" name="文本框 104"/>
            <p:cNvSpPr txBox="1"/>
            <p:nvPr/>
          </p:nvSpPr>
          <p:spPr>
            <a:xfrm>
              <a:off x="1164" y="5619"/>
              <a:ext cx="5104" cy="1101"/>
            </a:xfrm>
            <a:prstGeom prst="rect">
              <a:avLst/>
            </a:prstGeom>
            <a:noFill/>
          </p:spPr>
          <p:txBody>
            <a:bodyPr wrap="square">
              <a:spAutoFit/>
            </a:bodyPr>
            <a:lstStyle/>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标注系统第三方接口调研</a:t>
              </a:r>
              <a:endParaRPr lang="en-US" altLang="zh-CN" sz="1400" dirty="0">
                <a:latin typeface="腾讯字体包" panose="02010600010101010101" charset="-128"/>
                <a:ea typeface="腾讯字体包" panose="02010600010101010101" charset="-128"/>
                <a:cs typeface="腾讯字体包" panose="02010600010101010101" charset="-128"/>
                <a:sym typeface="+mn-ea"/>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标注系统前端页面设计</a:t>
              </a:r>
              <a:endParaRPr lang="zh-CN" altLang="en-US" sz="1400" dirty="0">
                <a:latin typeface="腾讯字体包" panose="02010600010101010101" charset="-128"/>
                <a:ea typeface="腾讯字体包" panose="02010600010101010101" charset="-128"/>
                <a:cs typeface="腾讯字体包" panose="02010600010101010101" charset="-128"/>
              </a:endParaRPr>
            </a:p>
          </p:txBody>
        </p:sp>
        <p:sp>
          <p:nvSpPr>
            <p:cNvPr id="106" name="文本框 105"/>
            <p:cNvSpPr txBox="1"/>
            <p:nvPr/>
          </p:nvSpPr>
          <p:spPr>
            <a:xfrm>
              <a:off x="1164" y="5119"/>
              <a:ext cx="3303" cy="580"/>
            </a:xfrm>
            <a:prstGeom prst="rect">
              <a:avLst/>
            </a:prstGeom>
            <a:noFill/>
          </p:spPr>
          <p:txBody>
            <a:bodyPr wrap="square">
              <a:spAutoFit/>
            </a:bodyPr>
            <a:lstStyle/>
            <a:p>
              <a:pPr algn="l"/>
              <a:r>
                <a:rPr lang="zh-CN" altLang="en-US" dirty="0">
                  <a:solidFill>
                    <a:srgbClr val="00468E"/>
                  </a:solidFill>
                  <a:latin typeface="腾讯字体包" panose="02010600010101010101" charset="-128"/>
                  <a:ea typeface="腾讯字体包" panose="02010600010101010101" charset="-128"/>
                  <a:cs typeface="腾讯字体包" panose="02010600010101010101" charset="-128"/>
                </a:rPr>
                <a:t>侯越</a:t>
              </a:r>
              <a:endParaRPr lang="zh-CN" altLang="en-US" dirty="0">
                <a:solidFill>
                  <a:srgbClr val="00468E"/>
                </a:solidFill>
                <a:latin typeface="腾讯字体包" panose="02010600010101010101" charset="-128"/>
                <a:ea typeface="腾讯字体包" panose="02010600010101010101" charset="-128"/>
                <a:cs typeface="腾讯字体包" panose="02010600010101010101" charset="-128"/>
              </a:endParaRPr>
            </a:p>
          </p:txBody>
        </p:sp>
        <p:pic>
          <p:nvPicPr>
            <p:cNvPr id="11"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539" y="5140"/>
              <a:ext cx="482" cy="482"/>
            </a:xfrm>
            <a:prstGeom prst="rect">
              <a:avLst/>
            </a:prstGeom>
          </p:spPr>
        </p:pic>
        <p:pic>
          <p:nvPicPr>
            <p:cNvPr id="12"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617" y="5116"/>
              <a:ext cx="482" cy="482"/>
            </a:xfrm>
            <a:prstGeom prst="rect">
              <a:avLst/>
            </a:prstGeom>
          </p:spPr>
        </p:pic>
        <p:sp>
          <p:nvSpPr>
            <p:cNvPr id="20" name="文本框 19"/>
            <p:cNvSpPr txBox="1"/>
            <p:nvPr>
              <p:custDataLst>
                <p:tags r:id="rId3"/>
              </p:custDataLst>
            </p:nvPr>
          </p:nvSpPr>
          <p:spPr>
            <a:xfrm>
              <a:off x="7228" y="5619"/>
              <a:ext cx="5104" cy="1101"/>
            </a:xfrm>
            <a:prstGeom prst="rect">
              <a:avLst/>
            </a:prstGeom>
            <a:noFill/>
          </p:spPr>
          <p:txBody>
            <a:bodyPr wrap="square">
              <a:spAutoFit/>
            </a:bodyPr>
            <a:lstStyle/>
            <a:p>
              <a:pPr marL="171450" indent="-171450" algn="l">
                <a:lnSpc>
                  <a:spcPct val="150000"/>
                </a:lnSpc>
                <a:buClrTx/>
                <a:buSzTx/>
                <a:buFont typeface="Arial" panose="020B0604020202020204" pitchFamily="34" charset="0"/>
                <a:buChar char="•"/>
              </a:pPr>
              <a:r>
                <a:rPr lang="zh-CN" altLang="en-US" sz="1400" spc="120" dirty="0">
                  <a:latin typeface="腾讯字体包" panose="02010600010101010101" charset="-128"/>
                  <a:ea typeface="腾讯字体包" panose="02010600010101010101" charset="-128"/>
                  <a:cs typeface="腾讯字体包" panose="02010600010101010101" charset="-128"/>
                  <a:sym typeface="+mn-ea"/>
                </a:rPr>
                <a:t>标注系统前端页面设计</a:t>
              </a:r>
              <a:endParaRPr lang="en-US" altLang="zh-CN" sz="1400" spc="120" dirty="0">
                <a:latin typeface="腾讯字体包" panose="02010600010101010101" charset="-128"/>
                <a:ea typeface="腾讯字体包" panose="02010600010101010101" charset="-128"/>
                <a:cs typeface="腾讯字体包" panose="02010600010101010101" charset="-128"/>
                <a:sym typeface="+mn-ea"/>
              </a:endParaRPr>
            </a:p>
            <a:p>
              <a:pPr marL="171450" indent="-171450" algn="l">
                <a:lnSpc>
                  <a:spcPct val="150000"/>
                </a:lnSpc>
                <a:buClrTx/>
                <a:buSzTx/>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标注系统后端接口设计</a:t>
              </a:r>
              <a:endParaRPr lang="zh-CN" altLang="en-US" sz="1400" dirty="0">
                <a:latin typeface="腾讯字体包" panose="02010600010101010101" charset="-128"/>
                <a:ea typeface="腾讯字体包" panose="02010600010101010101" charset="-128"/>
                <a:cs typeface="腾讯字体包" panose="02010600010101010101" charset="-128"/>
                <a:sym typeface="+mn-ea"/>
              </a:endParaRPr>
            </a:p>
          </p:txBody>
        </p:sp>
      </p:grpSp>
      <p:pic>
        <p:nvPicPr>
          <p:cNvPr id="22" name="图片 5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52665" y="4755515"/>
            <a:ext cx="306070" cy="306070"/>
          </a:xfrm>
          <a:prstGeom prst="rect">
            <a:avLst/>
          </a:prstGeom>
        </p:spPr>
      </p:pic>
      <p:pic>
        <p:nvPicPr>
          <p:cNvPr id="23"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67735" y="3265170"/>
            <a:ext cx="306070" cy="306070"/>
          </a:xfrm>
          <a:prstGeom prst="rect">
            <a:avLst/>
          </a:prstGeom>
        </p:spPr>
      </p:pic>
      <p:pic>
        <p:nvPicPr>
          <p:cNvPr id="24" name="图片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179175" y="1704975"/>
            <a:ext cx="306070" cy="306070"/>
          </a:xfrm>
          <a:prstGeom prst="rect">
            <a:avLst/>
          </a:prstGeom>
        </p:spPr>
      </p:pic>
      <p:sp>
        <p:nvSpPr>
          <p:cNvPr id="44" name="文本框 43"/>
          <p:cNvSpPr txBox="1"/>
          <p:nvPr/>
        </p:nvSpPr>
        <p:spPr>
          <a:xfrm>
            <a:off x="8324575" y="5140476"/>
            <a:ext cx="3241040" cy="699135"/>
          </a:xfrm>
          <a:prstGeom prst="rect">
            <a:avLst/>
          </a:prstGeom>
          <a:noFill/>
        </p:spPr>
        <p:txBody>
          <a:bodyPr wrap="square">
            <a:spAutoFit/>
          </a:bodyPr>
          <a:lstStyle/>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sym typeface="+mn-ea"/>
              </a:rPr>
              <a:t>标注系统数据库架构设计</a:t>
            </a:r>
            <a:endParaRPr lang="en-US" altLang="zh-CN" sz="1400" dirty="0">
              <a:latin typeface="腾讯字体包" panose="02010600010101010101" charset="-128"/>
              <a:ea typeface="腾讯字体包" panose="02010600010101010101" charset="-128"/>
              <a:cs typeface="腾讯字体包" panose="02010600010101010101" charset="-128"/>
              <a:sym typeface="+mn-ea"/>
            </a:endParaRPr>
          </a:p>
          <a:p>
            <a:pPr marL="171450" indent="-171450" algn="l">
              <a:lnSpc>
                <a:spcPct val="150000"/>
              </a:lnSpc>
              <a:buFont typeface="Arial" panose="020B0604020202020204" pitchFamily="34" charset="0"/>
              <a:buChar char="•"/>
            </a:pPr>
            <a:r>
              <a:rPr lang="zh-CN" altLang="en-US" sz="1400" dirty="0">
                <a:latin typeface="腾讯字体包" panose="02010600010101010101" charset="-128"/>
                <a:ea typeface="腾讯字体包" panose="02010600010101010101" charset="-128"/>
                <a:cs typeface="腾讯字体包" panose="02010600010101010101" charset="-128"/>
              </a:rPr>
              <a:t>标注系统前端页面设计</a:t>
            </a:r>
            <a:endParaRPr lang="zh-CN" altLang="en-US" sz="1400" dirty="0">
              <a:latin typeface="腾讯字体包" panose="02010600010101010101" charset="-128"/>
              <a:ea typeface="腾讯字体包" panose="02010600010101010101" charset="-128"/>
              <a:cs typeface="腾讯字体包" panose="02010600010101010101"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620647" y="991340"/>
            <a:ext cx="7490619"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249894" y="756499"/>
            <a:ext cx="0" cy="381688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411972" y="5401240"/>
            <a:ext cx="6254002"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1095703" y="2853976"/>
            <a:ext cx="0" cy="3642258"/>
          </a:xfrm>
          <a:prstGeom prst="line">
            <a:avLst/>
          </a:prstGeom>
          <a:ln w="19050" cmpd="sng">
            <a:solidFill>
              <a:schemeClr val="accent5">
                <a:lumMod val="50000"/>
              </a:schemeClr>
            </a:solidFill>
            <a:prstDash val="lgDashDot"/>
          </a:ln>
        </p:spPr>
        <p:style>
          <a:lnRef idx="1">
            <a:schemeClr val="accent1"/>
          </a:lnRef>
          <a:fillRef idx="0">
            <a:schemeClr val="accent1"/>
          </a:fillRef>
          <a:effectRef idx="0">
            <a:schemeClr val="accent1"/>
          </a:effectRef>
          <a:fontRef idx="minor">
            <a:schemeClr val="tx1"/>
          </a:fontRef>
        </p:style>
      </p:cxnSp>
      <p:sp>
        <p:nvSpPr>
          <p:cNvPr id="27" name="矩形: 圆角 26"/>
          <p:cNvSpPr/>
          <p:nvPr/>
        </p:nvSpPr>
        <p:spPr>
          <a:xfrm>
            <a:off x="3344691" y="3730563"/>
            <a:ext cx="5136774" cy="45165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君黑-45简" panose="020B0604020202020204" charset="-122"/>
              <a:ea typeface="微软雅黑" panose="020B0503020204020204" charset="-122"/>
              <a:cs typeface="汉仪君黑-45简" panose="020B0604020202020204" charset="-122"/>
            </a:endParaRPr>
          </a:p>
        </p:txBody>
      </p:sp>
      <p:sp>
        <p:nvSpPr>
          <p:cNvPr id="28" name="文本框 27"/>
          <p:cNvSpPr txBox="1"/>
          <p:nvPr/>
        </p:nvSpPr>
        <p:spPr>
          <a:xfrm>
            <a:off x="4561436" y="3771724"/>
            <a:ext cx="2455394" cy="368300"/>
          </a:xfrm>
          <a:prstGeom prst="rect">
            <a:avLst/>
          </a:prstGeom>
          <a:noFill/>
        </p:spPr>
        <p:txBody>
          <a:bodyPr wrap="square" rtlCol="0">
            <a:spAutoFit/>
          </a:bodyPr>
          <a:lstStyle/>
          <a:p>
            <a:r>
              <a:rPr lang="zh-CN" altLang="en-US" dirty="0">
                <a:solidFill>
                  <a:schemeClr val="bg1"/>
                </a:solidFill>
                <a:latin typeface="腾讯字体包" panose="02010600010101010101" charset="-128"/>
                <a:ea typeface="腾讯字体包" panose="02010600010101010101" charset="-128"/>
                <a:cs typeface="腾讯字体包" panose="02010600010101010101" charset="-128"/>
              </a:rPr>
              <a:t>汇报人：软件工程</a:t>
            </a:r>
            <a:r>
              <a:rPr lang="en-US" altLang="zh-CN" dirty="0">
                <a:solidFill>
                  <a:schemeClr val="bg1"/>
                </a:solidFill>
                <a:latin typeface="腾讯字体包" panose="02010600010101010101" charset="-128"/>
                <a:ea typeface="腾讯字体包" panose="02010600010101010101" charset="-128"/>
                <a:cs typeface="腾讯字体包" panose="02010600010101010101" charset="-128"/>
              </a:rPr>
              <a:t>A</a:t>
            </a:r>
            <a:r>
              <a:rPr lang="zh-CN" altLang="en-US" dirty="0">
                <a:solidFill>
                  <a:schemeClr val="bg1"/>
                </a:solidFill>
                <a:latin typeface="腾讯字体包" panose="02010600010101010101" charset="-128"/>
                <a:ea typeface="腾讯字体包" panose="02010600010101010101" charset="-128"/>
                <a:cs typeface="腾讯字体包" panose="02010600010101010101" charset="-128"/>
              </a:rPr>
              <a:t>组 </a:t>
            </a:r>
            <a:endParaRPr lang="en-US" altLang="zh-CN" dirty="0">
              <a:solidFill>
                <a:schemeClr val="bg1"/>
              </a:solidFill>
              <a:latin typeface="腾讯字体包" panose="02010600010101010101" charset="-128"/>
              <a:ea typeface="腾讯字体包" panose="02010600010101010101" charset="-128"/>
              <a:cs typeface="腾讯字体包" panose="02010600010101010101" charset="-128"/>
            </a:endParaRPr>
          </a:p>
        </p:txBody>
      </p:sp>
      <p:cxnSp>
        <p:nvCxnSpPr>
          <p:cNvPr id="33" name="直接连接符 32"/>
          <p:cNvCxnSpPr/>
          <p:nvPr/>
        </p:nvCxnSpPr>
        <p:spPr>
          <a:xfrm>
            <a:off x="1048355" y="1220494"/>
            <a:ext cx="7490619" cy="0"/>
          </a:xfrm>
          <a:prstGeom prst="line">
            <a:avLst/>
          </a:prstGeom>
          <a:ln w="15875"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5096540" y="5197551"/>
            <a:ext cx="6254002" cy="0"/>
          </a:xfrm>
          <a:prstGeom prst="line">
            <a:avLst/>
          </a:prstGeom>
          <a:ln w="19050" cmpd="sng">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721995" y="2332990"/>
            <a:ext cx="10745470" cy="1108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005BAC"/>
                </a:solidFill>
                <a:latin typeface="腾讯字体包" panose="02010600010101010101" charset="-128"/>
                <a:ea typeface="腾讯字体包" panose="02010600010101010101" charset="-128"/>
              </a:rPr>
              <a:t>请老师批评指正！</a:t>
            </a:r>
            <a:endParaRPr lang="zh-CN" altLang="en-US" sz="4800" dirty="0">
              <a:solidFill>
                <a:srgbClr val="005BAC"/>
              </a:solidFill>
              <a:latin typeface="腾讯字体包" panose="02010600010101010101" charset="-128"/>
              <a:ea typeface="腾讯字体包" panose="02010600010101010101" charset="-128"/>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COMMONDATA" val="eyJoZGlkIjoiZWI2ODY4Mjc4MzcyZTA5OTVjNTdkOWI5NWI5OTQ2Nz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1530</Words>
  <Application>WPS 演示</Application>
  <PresentationFormat>宽屏</PresentationFormat>
  <Paragraphs>216</Paragraphs>
  <Slides>16</Slides>
  <Notes>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vt:i4>
      </vt:variant>
      <vt:variant>
        <vt:lpstr>幻灯片标题</vt:lpstr>
      </vt:variant>
      <vt:variant>
        <vt:i4>16</vt:i4>
      </vt:variant>
    </vt:vector>
  </HeadingPairs>
  <TitlesOfParts>
    <vt:vector size="33" baseType="lpstr">
      <vt:lpstr>Arial</vt:lpstr>
      <vt:lpstr>宋体</vt:lpstr>
      <vt:lpstr>Wingdings</vt:lpstr>
      <vt:lpstr>汉仪君黑-45简</vt:lpstr>
      <vt:lpstr>微软雅黑</vt:lpstr>
      <vt:lpstr>腾讯字体包</vt:lpstr>
      <vt:lpstr>等线</vt:lpstr>
      <vt:lpstr>Times New Roman Regular</vt:lpstr>
      <vt:lpstr>Times New Roman</vt:lpstr>
      <vt:lpstr>黑体</vt:lpstr>
      <vt:lpstr>Arial Unicode MS</vt:lpstr>
      <vt:lpstr>等线 Light</vt:lpstr>
      <vt:lpstr>Calibri</vt:lpstr>
      <vt:lpstr>Office 主题​​</vt:lpstr>
      <vt:lpstr>Visio.Drawing.15</vt:lpstr>
      <vt:lpstr>Visio.Drawing.15</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面向CI的自动评测系统</dc:title>
  <dc:creator>周雨飞</dc:creator>
  <cp:lastModifiedBy>houyue</cp:lastModifiedBy>
  <cp:revision>145</cp:revision>
  <dcterms:created xsi:type="dcterms:W3CDTF">2024-03-21T11:14:00Z</dcterms:created>
  <dcterms:modified xsi:type="dcterms:W3CDTF">2024-04-19T11:30:17Z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079F26B6A7DB40C78D9F27C1CC767289_13</vt:lpwstr>
  </property>
  <property fmtid="{D5CDD505-2E9C-101B-9397-08002B2CF9AE}" pid="3" name="KSOProductBuildVer">
    <vt:lpwstr>2052-12.1.0.16729</vt:lpwstr>
  </property>
</Properties>
</file>