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ommentAuthors.xml" ContentType="application/vnd.openxmlformats-officedocument.presentationml.commentAuthor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92" r:id="rId3"/>
    <p:sldId id="322" r:id="rId4"/>
    <p:sldId id="342" r:id="rId5"/>
    <p:sldId id="323" r:id="rId6"/>
    <p:sldId id="345" r:id="rId7"/>
    <p:sldId id="346" r:id="rId8"/>
    <p:sldId id="347" r:id="rId9"/>
    <p:sldId id="348" r:id="rId10"/>
    <p:sldId id="351" r:id="rId12"/>
    <p:sldId id="354" r:id="rId13"/>
    <p:sldId id="352" r:id="rId14"/>
    <p:sldId id="353" r:id="rId15"/>
    <p:sldId id="302" r:id="rId16"/>
  </p:sldIdLst>
  <p:sldSz cx="12192000" cy="6858000"/>
  <p:notesSz cx="6858000" cy="9144000"/>
  <p:embeddedFontLst>
    <p:embeddedFont>
      <p:font typeface="腾讯字体包" panose="02010600010101010101" charset="-128"/>
      <p:regular r:id="rId21"/>
    </p:embeddedFont>
    <p:embeddedFont>
      <p:font typeface="等线" panose="02010600030101010101" charset="-122"/>
      <p:regular r:id="rId22"/>
    </p:embeddedFont>
    <p:embeddedFont>
      <p:font typeface="黑体" panose="02010609060101010101" pitchFamily="49" charset="-122"/>
      <p:regular r:id="rId23"/>
    </p:embeddedFont>
    <p:embeddedFont>
      <p:font typeface="等线 Light" panose="02010600030101010101" charset="-122"/>
      <p:regular r:id="rId24"/>
    </p:embeddedFont>
  </p:embeddedFontLst>
  <p:custDataLst>
    <p:tags r:id="rId2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38" userDrawn="1">
          <p15:clr>
            <a:srgbClr val="A4A3A4"/>
          </p15:clr>
        </p15:guide>
        <p15:guide id="2" pos="380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潘 叙辰" initials="潘"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4336"/>
    <a:srgbClr val="3D5CE8"/>
    <a:srgbClr val="3F51B6"/>
    <a:srgbClr val="FFC107"/>
    <a:srgbClr val="03539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285" autoAdjust="0"/>
    <p:restoredTop sz="89774" autoAdjust="0"/>
  </p:normalViewPr>
  <p:slideViewPr>
    <p:cSldViewPr snapToGrid="0" snapToObjects="1" showGuides="1">
      <p:cViewPr varScale="1">
        <p:scale>
          <a:sx n="82" d="100"/>
          <a:sy n="82" d="100"/>
        </p:scale>
        <p:origin x="696" y="52"/>
      </p:cViewPr>
      <p:guideLst>
        <p:guide orient="horz" pos="2238"/>
        <p:guide pos="380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tags" Target="tags/tag1.xml"/><Relationship Id="rId24" Type="http://schemas.openxmlformats.org/officeDocument/2006/relationships/font" Target="fonts/font4.fntdata"/><Relationship Id="rId23" Type="http://schemas.openxmlformats.org/officeDocument/2006/relationships/font" Target="fonts/font3.fntdata"/><Relationship Id="rId22" Type="http://schemas.openxmlformats.org/officeDocument/2006/relationships/font" Target="fonts/font2.fntdata"/><Relationship Id="rId21" Type="http://schemas.openxmlformats.org/officeDocument/2006/relationships/font" Target="fonts/font1.fntdata"/><Relationship Id="rId20" Type="http://schemas.openxmlformats.org/officeDocument/2006/relationships/commentAuthors" Target="commentAuthors.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notesMaster" Target="notesMasters/notes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file:///C:\Users\10436\Desktop\HI&#32452;&#21453;&#39304;&#32479;&#35745;.xlsx" TargetMode="External"/></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oleObject" Target="file:///C:\Users\10436\Desktop\HI&#32452;&#21453;&#39304;&#32479;&#35745;.xlsx" TargetMode="External"/></Relationships>
</file>

<file path=ppt/charts/_rels/chart3.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oleObject" Target="file:///C:\Users\10436\Desktop\HI&#32452;&#21453;&#39304;&#32479;&#35745;.xlsx" TargetMode="External"/></Relationships>
</file>

<file path=ppt/charts/_rels/chart4.xml.rels><?xml version="1.0" encoding="UTF-8" standalone="yes"?>
<Relationships xmlns="http://schemas.openxmlformats.org/package/2006/relationships"><Relationship Id="rId3" Type="http://schemas.microsoft.com/office/2011/relationships/chartColorStyle" Target="colors4.xml"/><Relationship Id="rId2" Type="http://schemas.microsoft.com/office/2011/relationships/chartStyle" Target="style4.xml"/><Relationship Id="rId1" Type="http://schemas.openxmlformats.org/officeDocument/2006/relationships/oleObject" Target="file:///C:\Users\10436\Desktop\HI&#32452;&#21453;&#39304;&#32479;&#35745;.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spPr>
            <a:ln w="6350">
              <a:solidFill>
                <a:srgbClr val="002060"/>
              </a:solidFill>
            </a:ln>
          </c:spPr>
          <c:explosion val="0"/>
          <c:dPt>
            <c:idx val="0"/>
            <c:bubble3D val="0"/>
            <c:spPr>
              <a:solidFill>
                <a:schemeClr val="accent1"/>
              </a:solidFill>
              <a:ln w="6350">
                <a:solidFill>
                  <a:srgbClr val="002060"/>
                </a:solidFill>
              </a:ln>
              <a:effectLst/>
            </c:spPr>
          </c:dPt>
          <c:dPt>
            <c:idx val="1"/>
            <c:bubble3D val="0"/>
            <c:spPr>
              <a:solidFill>
                <a:schemeClr val="accent2"/>
              </a:solidFill>
              <a:ln w="6350">
                <a:solidFill>
                  <a:srgbClr val="002060"/>
                </a:solidFill>
              </a:ln>
              <a:effectLst/>
            </c:spPr>
          </c:dPt>
          <c:dPt>
            <c:idx val="2"/>
            <c:bubble3D val="0"/>
            <c:spPr>
              <a:solidFill>
                <a:schemeClr val="accent3"/>
              </a:solidFill>
              <a:ln w="6350">
                <a:solidFill>
                  <a:srgbClr val="002060"/>
                </a:solidFill>
              </a:ln>
              <a:effectLst/>
            </c:spPr>
          </c:dPt>
          <c:dLbls>
            <c:spPr>
              <a:noFill/>
              <a:ln>
                <a:noFill/>
              </a:ln>
              <a:effectLst/>
            </c:spPr>
            <c:txPr>
              <a:bodyPr rot="0" spcFirstLastPara="1" vertOverflow="ellipsis" vert="horz" wrap="square" lIns="38100" tIns="19050" rIns="38100" bIns="19050" anchor="ctr" anchorCtr="1"/>
              <a:lstStyle/>
              <a:p>
                <a:pPr>
                  <a:defRPr lang="zh-CN" sz="1600" b="1" i="0" u="none" strike="noStrike" kern="1200" baseline="0">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pPr>
              </a:p>
            </c:txPr>
            <c:dLblPos val="bestFit"/>
            <c:showLegendKey val="0"/>
            <c:showVal val="1"/>
            <c:showCatName val="0"/>
            <c:showSerName val="0"/>
            <c:showPercent val="1"/>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Sheet1!$B$1:$D$1</c:f>
              <c:strCache>
                <c:ptCount val="3"/>
                <c:pt idx="0">
                  <c:v>轻微</c:v>
                </c:pt>
                <c:pt idx="1">
                  <c:v>一般</c:v>
                </c:pt>
                <c:pt idx="2">
                  <c:v>中等</c:v>
                </c:pt>
              </c:strCache>
            </c:strRef>
          </c:cat>
          <c:val>
            <c:numRef>
              <c:f>Sheet1!$B$2:$D$2</c:f>
              <c:numCache>
                <c:formatCode>General</c:formatCode>
                <c:ptCount val="3"/>
                <c:pt idx="0">
                  <c:v>7</c:v>
                </c:pt>
                <c:pt idx="1">
                  <c:v>14</c:v>
                </c:pt>
                <c:pt idx="2">
                  <c:v>8</c:v>
                </c:pt>
              </c:numCache>
            </c:numRef>
          </c:val>
        </c:ser>
        <c:dLbls>
          <c:showLegendKey val="0"/>
          <c:showVal val="1"/>
          <c:showCatName val="0"/>
          <c:showSerName val="0"/>
          <c:showPercent val="0"/>
          <c:showBubbleSize val="0"/>
          <c:showLeaderLines val="1"/>
        </c:dLbls>
        <c:firstSliceAng val="0"/>
      </c:pieChart>
      <c:spPr>
        <a:noFill/>
        <a:ln>
          <a:noFill/>
        </a:ln>
        <a:effectLst/>
      </c:spPr>
    </c:plotArea>
    <c:legend>
      <c:legendPos val="t"/>
      <c:layout/>
      <c:overlay val="0"/>
      <c:spPr>
        <a:noFill/>
        <a:ln>
          <a:noFill/>
        </a:ln>
        <a:effectLst/>
      </c:spPr>
      <c:txPr>
        <a:bodyPr rot="0" spcFirstLastPara="1" vertOverflow="ellipsis" vert="horz" wrap="square" anchor="ctr" anchorCtr="1"/>
        <a:lstStyle/>
        <a:p>
          <a:pPr>
            <a:defRPr lang="zh-CN" sz="1600" b="0" i="0" u="none" strike="noStrike" kern="1200" baseline="0">
              <a:solidFill>
                <a:schemeClr val="tx1">
                  <a:lumMod val="65000"/>
                  <a:lumOff val="35000"/>
                </a:schemeClr>
              </a:solidFill>
              <a:latin typeface="Times New Roman" panose="02020603050405020304" pitchFamily="18" charset="0"/>
              <a:ea typeface="黑体" panose="02010609060101010101" pitchFamily="49" charset="-122"/>
              <a:cs typeface="Times New Roman" panose="02020603050405020304" pitchFamily="18" charset="0"/>
            </a:defRPr>
          </a:pPr>
        </a:p>
      </c:txPr>
    </c:legend>
    <c:plotVisOnly val="1"/>
    <c:dispBlanksAs val="gap"/>
    <c:showDLblsOverMax val="0"/>
  </c:chart>
  <c:spPr>
    <a:noFill/>
    <a:ln w="19050">
      <a:solidFill>
        <a:srgbClr val="002060"/>
      </a:solidFill>
      <a:prstDash val="sysDash"/>
    </a:ln>
    <a:effectLst/>
  </c:spPr>
  <c:txPr>
    <a:bodyPr/>
    <a:lstStyle/>
    <a:p>
      <a:pPr>
        <a:defRPr lang="zh-CN" sz="1600">
          <a:latin typeface="Times New Roman" panose="02020603050405020304" pitchFamily="18" charset="0"/>
          <a:ea typeface="黑体" panose="02010609060101010101" pitchFamily="49" charset="-122"/>
          <a:cs typeface="Times New Roman" panose="02020603050405020304" pitchFamily="18" charset="0"/>
        </a:defRPr>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stacked"/>
        <c:varyColors val="0"/>
        <c:ser>
          <c:idx val="0"/>
          <c:order val="0"/>
          <c:tx>
            <c:strRef>
              <c:f>Sheet1!$H$1</c:f>
              <c:strCache>
                <c:ptCount val="1"/>
                <c:pt idx="0">
                  <c:v>轻微</c:v>
                </c:pt>
              </c:strCache>
            </c:strRef>
          </c:tx>
          <c:spPr>
            <a:solidFill>
              <a:schemeClr val="accent1"/>
            </a:solidFill>
            <a:ln w="6350">
              <a:solidFill>
                <a:srgbClr val="002060"/>
              </a:solid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600" b="1" i="0" u="none" strike="noStrike" kern="1200" baseline="0">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Sheet1!$G$2:$G$3</c:f>
              <c:strCache>
                <c:ptCount val="2"/>
                <c:pt idx="0">
                  <c:v>I组</c:v>
                </c:pt>
                <c:pt idx="1">
                  <c:v>H组</c:v>
                </c:pt>
              </c:strCache>
            </c:strRef>
          </c:cat>
          <c:val>
            <c:numRef>
              <c:f>Sheet1!$H$2:$H$3</c:f>
              <c:numCache>
                <c:formatCode>General</c:formatCode>
                <c:ptCount val="2"/>
                <c:pt idx="0">
                  <c:v>6</c:v>
                </c:pt>
                <c:pt idx="1">
                  <c:v>1</c:v>
                </c:pt>
              </c:numCache>
            </c:numRef>
          </c:val>
        </c:ser>
        <c:ser>
          <c:idx val="1"/>
          <c:order val="1"/>
          <c:tx>
            <c:strRef>
              <c:f>Sheet1!$I$1</c:f>
              <c:strCache>
                <c:ptCount val="1"/>
                <c:pt idx="0">
                  <c:v>一般</c:v>
                </c:pt>
              </c:strCache>
            </c:strRef>
          </c:tx>
          <c:spPr>
            <a:solidFill>
              <a:schemeClr val="accent2"/>
            </a:solidFill>
            <a:ln w="6350">
              <a:solidFill>
                <a:srgbClr val="002060"/>
              </a:solid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600" b="1" i="0" u="none" strike="noStrike" kern="1200" baseline="0">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Sheet1!$G$2:$G$3</c:f>
              <c:strCache>
                <c:ptCount val="2"/>
                <c:pt idx="0">
                  <c:v>I组</c:v>
                </c:pt>
                <c:pt idx="1">
                  <c:v>H组</c:v>
                </c:pt>
              </c:strCache>
            </c:strRef>
          </c:cat>
          <c:val>
            <c:numRef>
              <c:f>Sheet1!$I$2:$I$3</c:f>
              <c:numCache>
                <c:formatCode>General</c:formatCode>
                <c:ptCount val="2"/>
                <c:pt idx="0">
                  <c:v>1</c:v>
                </c:pt>
                <c:pt idx="1">
                  <c:v>13</c:v>
                </c:pt>
              </c:numCache>
            </c:numRef>
          </c:val>
        </c:ser>
        <c:ser>
          <c:idx val="2"/>
          <c:order val="2"/>
          <c:tx>
            <c:strRef>
              <c:f>Sheet1!$J$1</c:f>
              <c:strCache>
                <c:ptCount val="1"/>
                <c:pt idx="0">
                  <c:v>中等</c:v>
                </c:pt>
              </c:strCache>
            </c:strRef>
          </c:tx>
          <c:spPr>
            <a:solidFill>
              <a:schemeClr val="accent3"/>
            </a:solidFill>
            <a:ln w="6350">
              <a:solidFill>
                <a:srgbClr val="002060"/>
              </a:solid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600" b="1" i="0" u="none" strike="noStrike" kern="1200" baseline="0">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Sheet1!$G$2:$G$3</c:f>
              <c:strCache>
                <c:ptCount val="2"/>
                <c:pt idx="0">
                  <c:v>I组</c:v>
                </c:pt>
                <c:pt idx="1">
                  <c:v>H组</c:v>
                </c:pt>
              </c:strCache>
            </c:strRef>
          </c:cat>
          <c:val>
            <c:numRef>
              <c:f>Sheet1!$J$2:$J$3</c:f>
              <c:numCache>
                <c:formatCode>General</c:formatCode>
                <c:ptCount val="2"/>
                <c:pt idx="0">
                  <c:v>8</c:v>
                </c:pt>
                <c:pt idx="1">
                  <c:v>0</c:v>
                </c:pt>
              </c:numCache>
            </c:numRef>
          </c:val>
        </c:ser>
        <c:dLbls>
          <c:showLegendKey val="0"/>
          <c:showVal val="1"/>
          <c:showCatName val="0"/>
          <c:showSerName val="0"/>
          <c:showPercent val="0"/>
          <c:showBubbleSize val="0"/>
        </c:dLbls>
        <c:gapWidth val="150"/>
        <c:overlap val="100"/>
        <c:axId val="1736208399"/>
        <c:axId val="1736216079"/>
      </c:barChart>
      <c:catAx>
        <c:axId val="1736208399"/>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600" b="0" i="0" u="none" strike="noStrike" kern="1200" baseline="0">
                <a:solidFill>
                  <a:schemeClr val="tx1">
                    <a:lumMod val="65000"/>
                    <a:lumOff val="35000"/>
                  </a:schemeClr>
                </a:solidFill>
                <a:latin typeface="Times New Roman" panose="02020603050405020304" pitchFamily="18" charset="0"/>
                <a:ea typeface="黑体" panose="02010609060101010101" pitchFamily="49" charset="-122"/>
                <a:cs typeface="Times New Roman" panose="02020603050405020304" pitchFamily="18" charset="0"/>
              </a:defRPr>
            </a:pPr>
          </a:p>
        </c:txPr>
        <c:crossAx val="1736216079"/>
        <c:crosses val="autoZero"/>
        <c:auto val="1"/>
        <c:lblAlgn val="ctr"/>
        <c:lblOffset val="100"/>
        <c:noMultiLvlLbl val="0"/>
      </c:catAx>
      <c:valAx>
        <c:axId val="1736216079"/>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600" b="0" i="0" u="none" strike="noStrike" kern="1200" baseline="0">
                <a:solidFill>
                  <a:schemeClr val="tx1">
                    <a:lumMod val="65000"/>
                    <a:lumOff val="35000"/>
                  </a:schemeClr>
                </a:solidFill>
                <a:latin typeface="Times New Roman" panose="02020603050405020304" pitchFamily="18" charset="0"/>
                <a:ea typeface="黑体" panose="02010609060101010101" pitchFamily="49" charset="-122"/>
                <a:cs typeface="Times New Roman" panose="02020603050405020304" pitchFamily="18" charset="0"/>
              </a:defRPr>
            </a:pPr>
          </a:p>
        </c:txPr>
        <c:crossAx val="1736208399"/>
        <c:crosses val="autoZero"/>
        <c:crossBetween val="between"/>
      </c:valAx>
      <c:spPr>
        <a:noFill/>
        <a:ln>
          <a:noFill/>
        </a:ln>
        <a:effectLst/>
      </c:spPr>
    </c:plotArea>
    <c:legend>
      <c:legendPos val="t"/>
      <c:layout/>
      <c:overlay val="0"/>
      <c:spPr>
        <a:noFill/>
        <a:ln>
          <a:noFill/>
        </a:ln>
        <a:effectLst/>
      </c:spPr>
      <c:txPr>
        <a:bodyPr rot="0" spcFirstLastPara="1" vertOverflow="ellipsis" vert="horz" wrap="square" anchor="ctr" anchorCtr="1"/>
        <a:lstStyle/>
        <a:p>
          <a:pPr>
            <a:defRPr lang="zh-CN" sz="1600" b="0" i="0" u="none" strike="noStrike" kern="1200" baseline="0">
              <a:solidFill>
                <a:schemeClr val="tx1">
                  <a:lumMod val="65000"/>
                  <a:lumOff val="35000"/>
                </a:schemeClr>
              </a:solidFill>
              <a:latin typeface="Times New Roman" panose="02020603050405020304" pitchFamily="18" charset="0"/>
              <a:ea typeface="黑体" panose="02010609060101010101" pitchFamily="49" charset="-122"/>
              <a:cs typeface="Times New Roman" panose="02020603050405020304" pitchFamily="18" charset="0"/>
            </a:defRPr>
          </a:pPr>
        </a:p>
      </c:txPr>
    </c:legend>
    <c:plotVisOnly val="1"/>
    <c:dispBlanksAs val="gap"/>
    <c:showDLblsOverMax val="0"/>
  </c:chart>
  <c:spPr>
    <a:noFill/>
    <a:ln w="19050">
      <a:solidFill>
        <a:srgbClr val="002060"/>
      </a:solidFill>
      <a:prstDash val="sysDash"/>
    </a:ln>
    <a:effectLst/>
  </c:spPr>
  <c:txPr>
    <a:bodyPr/>
    <a:lstStyle/>
    <a:p>
      <a:pPr>
        <a:defRPr lang="zh-CN" sz="1600">
          <a:latin typeface="Times New Roman" panose="02020603050405020304" pitchFamily="18" charset="0"/>
          <a:ea typeface="黑体" panose="02010609060101010101" pitchFamily="49" charset="-122"/>
          <a:cs typeface="Times New Roman" panose="02020603050405020304" pitchFamily="18" charset="0"/>
        </a:defRPr>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920" b="0" i="0" u="none" strike="noStrike" kern="1200" spc="0" baseline="0">
                <a:solidFill>
                  <a:schemeClr val="bg1"/>
                </a:solidFill>
                <a:latin typeface="Times New Roman" panose="02020603050405020304" pitchFamily="18" charset="0"/>
                <a:ea typeface="黑体" panose="02010609060101010101" pitchFamily="49" charset="-122"/>
                <a:cs typeface="Times New Roman" panose="02020603050405020304" pitchFamily="18" charset="0"/>
              </a:defRPr>
            </a:pPr>
            <a:r>
              <a:rPr lang="zh-CN">
                <a:solidFill>
                  <a:schemeClr val="bg1"/>
                </a:solidFill>
              </a:rPr>
              <a:t>问题类别</a:t>
            </a:r>
            <a:endParaRPr lang="zh-CN">
              <a:solidFill>
                <a:schemeClr val="bg1"/>
              </a:solidFill>
            </a:endParaRPr>
          </a:p>
        </c:rich>
      </c:tx>
      <c:layout/>
      <c:overlay val="0"/>
      <c:spPr>
        <a:solidFill>
          <a:schemeClr val="accent1"/>
        </a:solidFill>
        <a:ln w="19050">
          <a:solidFill>
            <a:srgbClr val="002060"/>
          </a:solidFill>
          <a:prstDash val="solid"/>
        </a:ln>
        <a:effectLst/>
      </c:spPr>
    </c:title>
    <c:autoTitleDeleted val="0"/>
    <c:plotArea>
      <c:layout/>
      <c:pieChart>
        <c:varyColors val="1"/>
        <c:ser>
          <c:idx val="0"/>
          <c:order val="0"/>
          <c:spPr>
            <a:ln w="19050">
              <a:solidFill>
                <a:srgbClr val="002060"/>
              </a:solidFill>
            </a:ln>
          </c:spPr>
          <c:explosion val="0"/>
          <c:dPt>
            <c:idx val="0"/>
            <c:bubble3D val="0"/>
            <c:spPr>
              <a:solidFill>
                <a:schemeClr val="accent1"/>
              </a:solidFill>
              <a:ln w="19050">
                <a:solidFill>
                  <a:srgbClr val="002060"/>
                </a:solidFill>
              </a:ln>
              <a:effectLst/>
            </c:spPr>
          </c:dPt>
          <c:dPt>
            <c:idx val="1"/>
            <c:bubble3D val="0"/>
            <c:spPr>
              <a:solidFill>
                <a:schemeClr val="accent2"/>
              </a:solidFill>
              <a:ln w="19050">
                <a:solidFill>
                  <a:srgbClr val="002060"/>
                </a:solidFill>
              </a:ln>
              <a:effectLst/>
            </c:spPr>
          </c:dPt>
          <c:dPt>
            <c:idx val="2"/>
            <c:bubble3D val="0"/>
            <c:spPr>
              <a:solidFill>
                <a:schemeClr val="accent3"/>
              </a:solidFill>
              <a:ln w="6350">
                <a:solidFill>
                  <a:srgbClr val="002060"/>
                </a:solidFill>
              </a:ln>
              <a:effectLst/>
            </c:spPr>
          </c:dPt>
          <c:dPt>
            <c:idx val="3"/>
            <c:bubble3D val="0"/>
            <c:spPr>
              <a:solidFill>
                <a:schemeClr val="accent4"/>
              </a:solidFill>
              <a:ln w="19050">
                <a:solidFill>
                  <a:srgbClr val="002060"/>
                </a:solidFill>
              </a:ln>
              <a:effectLst/>
            </c:spPr>
          </c:dPt>
          <c:dLbls>
            <c:dLbl>
              <c:idx val="0"/>
              <c:layout>
                <c:manualLayout>
                  <c:x val="-0.0658501921116595"/>
                  <c:y val="0.164543300653595"/>
                </c:manualLayout>
              </c:layout>
              <c:dLblPos val="bestFit"/>
              <c:showLegendKey val="0"/>
              <c:showVal val="1"/>
              <c:showCatName val="0"/>
              <c:showSerName val="0"/>
              <c:showPercent val="1"/>
              <c:showBubbleSize val="0"/>
              <c:extLst>
                <c:ext xmlns:c15="http://schemas.microsoft.com/office/drawing/2012/chart" uri="{CE6537A1-D6FC-4f65-9D91-7224C49458BB}">
                  <c15:layout>
                    <c:manualLayout>
                      <c:w val="0.177633694032777"/>
                      <c:h val="0.167673202614379"/>
                    </c:manualLayout>
                  </c15:layout>
                </c:ext>
              </c:extLst>
            </c:dLbl>
            <c:dLbl>
              <c:idx val="1"/>
              <c:layout>
                <c:manualLayout>
                  <c:x val="-0.126480435975849"/>
                  <c:y val="0.0424745098039216"/>
                </c:manualLayout>
              </c:layout>
              <c:dLblPos val="bestFit"/>
              <c:showLegendKey val="0"/>
              <c:showVal val="1"/>
              <c:showCatName val="0"/>
              <c:showSerName val="0"/>
              <c:showPercent val="1"/>
              <c:showBubbleSize val="0"/>
              <c:extLst>
                <c:ext xmlns:c15="http://schemas.microsoft.com/office/drawing/2012/chart" uri="{CE6537A1-D6FC-4f65-9D91-7224C49458BB}">
                  <c15:layout/>
                </c:ext>
              </c:extLst>
            </c:dLbl>
            <c:dLbl>
              <c:idx val="2"/>
              <c:layout>
                <c:manualLayout>
                  <c:x val="0.0477423939465224"/>
                  <c:y val="-0.212999346405229"/>
                </c:manualLayout>
              </c:layout>
              <c:dLblPos val="bestFit"/>
              <c:showLegendKey val="0"/>
              <c:showVal val="1"/>
              <c:showCatName val="0"/>
              <c:showSerName val="0"/>
              <c:showPercent val="1"/>
              <c:showBubbleSize val="0"/>
              <c:extLst>
                <c:ext xmlns:c15="http://schemas.microsoft.com/office/drawing/2012/chart" uri="{CE6537A1-D6FC-4f65-9D91-7224C49458BB}">
                  <c15:layout/>
                </c:ext>
              </c:extLst>
            </c:dLbl>
            <c:dLbl>
              <c:idx val="3"/>
              <c:layout>
                <c:manualLayout>
                  <c:x val="0.0842852662118719"/>
                  <c:y val="0.129812418300654"/>
                </c:manualLayout>
              </c:layout>
              <c:dLblPos val="bestFit"/>
              <c:showLegendKey val="0"/>
              <c:showVal val="1"/>
              <c:showCatName val="0"/>
              <c:showSerName val="0"/>
              <c:showPercent val="1"/>
              <c:showBubbleSize val="0"/>
              <c:extLst>
                <c:ext xmlns:c15="http://schemas.microsoft.com/office/drawing/2012/chart" uri="{CE6537A1-D6FC-4f65-9D91-7224C49458BB}">
                  <c15:layout/>
                </c:ext>
              </c:extLst>
            </c:dLbl>
            <c:spPr>
              <a:noFill/>
              <a:ln>
                <a:noFill/>
              </a:ln>
              <a:effectLst/>
            </c:spPr>
            <c:txPr>
              <a:bodyPr rot="0" spcFirstLastPara="1" vertOverflow="ellipsis" vert="horz" wrap="square" lIns="38100" tIns="19050" rIns="38100" bIns="19050" anchor="ctr" anchorCtr="1"/>
              <a:lstStyle/>
              <a:p>
                <a:pPr>
                  <a:defRPr lang="zh-CN" sz="1600" b="1" i="0" u="none" strike="noStrike" kern="1200" baseline="0">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pPr>
              </a:p>
            </c:txPr>
            <c:dLblPos val="bestFit"/>
            <c:showLegendKey val="0"/>
            <c:showVal val="1"/>
            <c:showCatName val="0"/>
            <c:showSerName val="0"/>
            <c:showPercent val="1"/>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Sheet1!$G$10:$J$10</c:f>
              <c:strCache>
                <c:ptCount val="4"/>
                <c:pt idx="0">
                  <c:v>一致性</c:v>
                </c:pt>
                <c:pt idx="1">
                  <c:v>规范性</c:v>
                </c:pt>
                <c:pt idx="2">
                  <c:v>准确性</c:v>
                </c:pt>
                <c:pt idx="3">
                  <c:v>完整性</c:v>
                </c:pt>
              </c:strCache>
            </c:strRef>
          </c:cat>
          <c:val>
            <c:numRef>
              <c:f>Sheet1!$G$11:$J$11</c:f>
              <c:numCache>
                <c:formatCode>General</c:formatCode>
                <c:ptCount val="4"/>
                <c:pt idx="0">
                  <c:v>5</c:v>
                </c:pt>
                <c:pt idx="1">
                  <c:v>3</c:v>
                </c:pt>
                <c:pt idx="2">
                  <c:v>14</c:v>
                </c:pt>
                <c:pt idx="3">
                  <c:v>7</c:v>
                </c:pt>
              </c:numCache>
            </c:numRef>
          </c:val>
        </c:ser>
        <c:dLbls>
          <c:showLegendKey val="0"/>
          <c:showVal val="1"/>
          <c:showCatName val="0"/>
          <c:showSerName val="0"/>
          <c:showPercent val="0"/>
          <c:showBubbleSize val="0"/>
          <c:showLeaderLines val="1"/>
        </c:dLbls>
        <c:firstSliceAng val="0"/>
      </c:pieChart>
      <c:spPr>
        <a:noFill/>
        <a:ln>
          <a:noFill/>
        </a:ln>
        <a:effectLst/>
      </c:spPr>
    </c:plotArea>
    <c:legend>
      <c:legendPos val="b"/>
      <c:layout/>
      <c:overlay val="0"/>
      <c:spPr>
        <a:solidFill>
          <a:schemeClr val="bg1"/>
        </a:solidFill>
        <a:ln w="19050">
          <a:noFill/>
        </a:ln>
        <a:effectLst/>
      </c:spPr>
      <c:txPr>
        <a:bodyPr rot="0" spcFirstLastPara="1" vertOverflow="ellipsis" vert="horz" wrap="square" anchor="ctr" anchorCtr="1"/>
        <a:lstStyle/>
        <a:p>
          <a:pPr>
            <a:defRPr lang="zh-CN" sz="1600" b="0" i="0" u="none" strike="noStrike" kern="1200" baseline="0">
              <a:solidFill>
                <a:schemeClr val="tx1">
                  <a:lumMod val="65000"/>
                  <a:lumOff val="35000"/>
                </a:schemeClr>
              </a:solidFill>
              <a:latin typeface="Times New Roman" panose="02020603050405020304" pitchFamily="18" charset="0"/>
              <a:ea typeface="黑体" panose="02010609060101010101" pitchFamily="49" charset="-122"/>
              <a:cs typeface="Times New Roman" panose="02020603050405020304" pitchFamily="18" charset="0"/>
            </a:defRPr>
          </a:pPr>
        </a:p>
      </c:txPr>
    </c:legend>
    <c:plotVisOnly val="1"/>
    <c:dispBlanksAs val="gap"/>
    <c:showDLblsOverMax val="0"/>
  </c:chart>
  <c:spPr>
    <a:noFill/>
    <a:ln w="19050">
      <a:solidFill>
        <a:srgbClr val="002060"/>
      </a:solidFill>
      <a:prstDash val="sysDash"/>
    </a:ln>
    <a:effectLst/>
  </c:spPr>
  <c:txPr>
    <a:bodyPr/>
    <a:lstStyle/>
    <a:p>
      <a:pPr>
        <a:defRPr lang="zh-CN" sz="1600">
          <a:latin typeface="Times New Roman" panose="02020603050405020304" pitchFamily="18" charset="0"/>
          <a:ea typeface="黑体" panose="02010609060101010101" pitchFamily="49" charset="-122"/>
          <a:cs typeface="Times New Roman" panose="02020603050405020304" pitchFamily="18" charset="0"/>
        </a:defRPr>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920" b="0" i="0" u="none" strike="noStrike" kern="1200" spc="0" baseline="0">
                <a:solidFill>
                  <a:schemeClr val="bg1"/>
                </a:solidFill>
                <a:latin typeface="Times New Roman" panose="02020603050405020304" pitchFamily="18" charset="0"/>
                <a:ea typeface="黑体" panose="02010609060101010101" pitchFamily="49" charset="-122"/>
                <a:cs typeface="Times New Roman" panose="02020603050405020304" pitchFamily="18" charset="0"/>
              </a:defRPr>
            </a:pPr>
            <a:r>
              <a:rPr lang="zh-CN" dirty="0">
                <a:solidFill>
                  <a:schemeClr val="bg1"/>
                </a:solidFill>
              </a:rPr>
              <a:t>问题描述</a:t>
            </a:r>
            <a:endParaRPr lang="zh-CN" dirty="0">
              <a:solidFill>
                <a:schemeClr val="bg1"/>
              </a:solidFill>
            </a:endParaRPr>
          </a:p>
        </c:rich>
      </c:tx>
      <c:layout/>
      <c:overlay val="0"/>
      <c:spPr>
        <a:solidFill>
          <a:schemeClr val="accent1"/>
        </a:solidFill>
        <a:ln w="19050">
          <a:solidFill>
            <a:srgbClr val="002060"/>
          </a:solidFill>
        </a:ln>
        <a:effectLst/>
      </c:spPr>
    </c:title>
    <c:autoTitleDeleted val="0"/>
    <c:plotArea>
      <c:layout/>
      <c:pieChart>
        <c:varyColors val="1"/>
        <c:ser>
          <c:idx val="0"/>
          <c:order val="0"/>
          <c:spPr>
            <a:ln w="6350">
              <a:solidFill>
                <a:srgbClr val="002060"/>
              </a:solidFill>
            </a:ln>
          </c:spPr>
          <c:explosion val="0"/>
          <c:dPt>
            <c:idx val="0"/>
            <c:bubble3D val="0"/>
            <c:spPr>
              <a:solidFill>
                <a:schemeClr val="accent1"/>
              </a:solidFill>
              <a:ln w="6350">
                <a:solidFill>
                  <a:srgbClr val="002060"/>
                </a:solidFill>
              </a:ln>
              <a:effectLst/>
            </c:spPr>
          </c:dPt>
          <c:dPt>
            <c:idx val="1"/>
            <c:bubble3D val="0"/>
            <c:spPr>
              <a:solidFill>
                <a:schemeClr val="accent2"/>
              </a:solidFill>
              <a:ln w="6350">
                <a:solidFill>
                  <a:srgbClr val="002060"/>
                </a:solidFill>
              </a:ln>
              <a:effectLst/>
            </c:spPr>
          </c:dPt>
          <c:dPt>
            <c:idx val="2"/>
            <c:bubble3D val="0"/>
            <c:spPr>
              <a:solidFill>
                <a:schemeClr val="accent3"/>
              </a:solidFill>
              <a:ln w="6350">
                <a:solidFill>
                  <a:srgbClr val="002060"/>
                </a:solidFill>
              </a:ln>
              <a:effectLst/>
            </c:spPr>
          </c:dPt>
          <c:dPt>
            <c:idx val="3"/>
            <c:bubble3D val="0"/>
            <c:spPr>
              <a:solidFill>
                <a:schemeClr val="accent4"/>
              </a:solidFill>
              <a:ln w="6350">
                <a:solidFill>
                  <a:srgbClr val="002060"/>
                </a:solidFill>
              </a:ln>
              <a:effectLst/>
            </c:spPr>
          </c:dPt>
          <c:dPt>
            <c:idx val="4"/>
            <c:bubble3D val="0"/>
            <c:spPr>
              <a:solidFill>
                <a:schemeClr val="accent5"/>
              </a:solidFill>
              <a:ln w="6350">
                <a:solidFill>
                  <a:srgbClr val="002060"/>
                </a:solidFill>
              </a:ln>
              <a:effectLst/>
            </c:spPr>
          </c:dPt>
          <c:dLbls>
            <c:spPr>
              <a:noFill/>
              <a:ln>
                <a:noFill/>
              </a:ln>
              <a:effectLst/>
            </c:spPr>
            <c:txPr>
              <a:bodyPr rot="0" spcFirstLastPara="1" vertOverflow="ellipsis" vert="horz" wrap="square" lIns="38100" tIns="19050" rIns="38100" bIns="19050" anchor="ctr" anchorCtr="1"/>
              <a:lstStyle/>
              <a:p>
                <a:pPr>
                  <a:defRPr lang="zh-CN" sz="1600" b="0" i="0" u="none" strike="noStrike" kern="1200" baseline="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defRPr>
                </a:pPr>
              </a:p>
            </c:txPr>
            <c:dLblPos val="bestFit"/>
            <c:showLegendKey val="0"/>
            <c:showVal val="1"/>
            <c:showCatName val="0"/>
            <c:showSerName val="0"/>
            <c:showPercent val="1"/>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Sheet1!$B$12:$F$12</c:f>
              <c:strCache>
                <c:ptCount val="5"/>
                <c:pt idx="0">
                  <c:v>RUMC表与流程图不一致</c:v>
                </c:pt>
                <c:pt idx="1">
                  <c:v>图不规范/不准确</c:v>
                </c:pt>
                <c:pt idx="2">
                  <c:v>描述不完整/不准确</c:v>
                </c:pt>
                <c:pt idx="3">
                  <c:v>结构调整</c:v>
                </c:pt>
                <c:pt idx="4">
                  <c:v>存在语病</c:v>
                </c:pt>
              </c:strCache>
            </c:strRef>
          </c:cat>
          <c:val>
            <c:numRef>
              <c:f>Sheet1!$B$13:$F$13</c:f>
              <c:numCache>
                <c:formatCode>General</c:formatCode>
                <c:ptCount val="5"/>
                <c:pt idx="0">
                  <c:v>5</c:v>
                </c:pt>
                <c:pt idx="1">
                  <c:v>9</c:v>
                </c:pt>
                <c:pt idx="2">
                  <c:v>10</c:v>
                </c:pt>
                <c:pt idx="3">
                  <c:v>2</c:v>
                </c:pt>
                <c:pt idx="4">
                  <c:v>3</c:v>
                </c:pt>
              </c:numCache>
            </c:numRef>
          </c:val>
        </c:ser>
        <c:dLbls>
          <c:showLegendKey val="0"/>
          <c:showVal val="1"/>
          <c:showCatName val="0"/>
          <c:showSerName val="0"/>
          <c:showPercent val="0"/>
          <c:showBubbleSize val="0"/>
          <c:showLeaderLines val="1"/>
        </c:dLbls>
        <c:firstSliceAng val="0"/>
      </c:pieChart>
      <c:spPr>
        <a:noFill/>
        <a:ln>
          <a:noFill/>
        </a:ln>
        <a:effectLst/>
      </c:spPr>
    </c:plotArea>
    <c:legend>
      <c:legendPos val="b"/>
      <c:layout>
        <c:manualLayout>
          <c:xMode val="edge"/>
          <c:yMode val="edge"/>
          <c:x val="0.0941723765432099"/>
          <c:y val="0.755618981481482"/>
          <c:w val="0.829294135802469"/>
          <c:h val="0.203223611111111"/>
        </c:manualLayout>
      </c:layout>
      <c:overlay val="0"/>
      <c:spPr>
        <a:noFill/>
        <a:ln>
          <a:noFill/>
        </a:ln>
        <a:effectLst/>
      </c:spPr>
      <c:txPr>
        <a:bodyPr rot="0" spcFirstLastPara="1" vertOverflow="ellipsis" vert="horz" wrap="square" anchor="ctr" anchorCtr="1"/>
        <a:lstStyle/>
        <a:p>
          <a:pPr>
            <a:defRPr lang="zh-CN" sz="1600" b="0" i="0" u="none" strike="noStrike" kern="1200" baseline="0">
              <a:solidFill>
                <a:schemeClr val="tx1">
                  <a:lumMod val="65000"/>
                  <a:lumOff val="35000"/>
                </a:schemeClr>
              </a:solidFill>
              <a:latin typeface="Times New Roman" panose="02020603050405020304" pitchFamily="18" charset="0"/>
              <a:ea typeface="黑体" panose="02010609060101010101" pitchFamily="49" charset="-122"/>
              <a:cs typeface="Times New Roman" panose="02020603050405020304" pitchFamily="18" charset="0"/>
            </a:defRPr>
          </a:pPr>
        </a:p>
      </c:txPr>
    </c:legend>
    <c:plotVisOnly val="1"/>
    <c:dispBlanksAs val="gap"/>
    <c:showDLblsOverMax val="0"/>
  </c:chart>
  <c:spPr>
    <a:noFill/>
    <a:ln w="19050">
      <a:solidFill>
        <a:srgbClr val="002060"/>
      </a:solidFill>
      <a:prstDash val="sysDash"/>
    </a:ln>
    <a:effectLst/>
  </c:spPr>
  <c:txPr>
    <a:bodyPr/>
    <a:lstStyle/>
    <a:p>
      <a:pPr>
        <a:defRPr lang="zh-CN" sz="1600">
          <a:latin typeface="Times New Roman" panose="02020603050405020304" pitchFamily="18" charset="0"/>
          <a:ea typeface="黑体" panose="02010609060101010101" pitchFamily="49" charset="-122"/>
          <a:cs typeface="Times New Roman" panose="02020603050405020304" pitchFamily="18" charset="0"/>
        </a:defRPr>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97A47B-A0D5-DA41-900D-8BC3EE78233D}"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4EB3DA-7079-E949-9421-E14B70A684EB}"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266700" algn="just">
              <a:lnSpc>
                <a:spcPct val="150000"/>
              </a:lnSpc>
            </a:pP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系统划分为文本标注子系统与智能挖掘子系统。</a:t>
            </a:r>
            <a:endPar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lnSpc>
                <a:spcPct val="150000"/>
              </a:lnSpc>
            </a:pP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文本标注子系统的功能目标为提供一个能够完成文本标注与管理的图形化界面平台，以直接提供可供科研使用的有效标注数据或为智能挖掘模型训练提供训练数据。</a:t>
            </a:r>
            <a:endPar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智能挖掘子系统的功能目标为向用户提供一个可自动标注并提取有效信息的图形化界面平台。</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D24EB3DA-7079-E949-9421-E14B70A684EB}" type="slidenum">
              <a:rPr kumimoji="1" lang="zh-CN" altLang="en-US" smtClean="0"/>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dirty="0"/>
              <a:t>单击此处编辑母版标题样式</a:t>
            </a:r>
            <a:endParaRPr kumimoji="1" lang="zh-CN" altLang="en-US" dirty="0"/>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内容占位符 2"/>
          <p:cNvSpPr>
            <a:spLocks noGrp="1"/>
          </p:cNvSpPr>
          <p:nvPr>
            <p:ph idx="1"/>
          </p:nvPr>
        </p:nvSpPr>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10"/>
          </p:nvPr>
        </p:nvSpPr>
        <p:spPr/>
        <p:txBody>
          <a:bodyPr/>
          <a:lstStyle/>
          <a:p>
            <a:fld id="{355198AB-6873-054A-AB06-26C5505BAFA0}"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6966DED7-2298-EF44-BC75-CCD61101EBFF}" type="slidenum">
              <a:rPr kumimoji="1" lang="zh-CN" altLang="en-US" smtClean="0"/>
            </a:fld>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endParaRPr kumimoji="1" lang="zh-CN" altLang="en-US"/>
          </a:p>
        </p:txBody>
      </p:sp>
      <p:sp>
        <p:nvSpPr>
          <p:cNvPr id="4" name="日期占位符 3"/>
          <p:cNvSpPr>
            <a:spLocks noGrp="1"/>
          </p:cNvSpPr>
          <p:nvPr>
            <p:ph type="dt" sz="half" idx="10"/>
          </p:nvPr>
        </p:nvSpPr>
        <p:spPr/>
        <p:txBody>
          <a:bodyPr/>
          <a:lstStyle/>
          <a:p>
            <a:fld id="{355198AB-6873-054A-AB06-26C5505BAFA0}"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6966DED7-2298-EF44-BC75-CCD61101EBFF}" type="slidenum">
              <a:rPr kumimoji="1" lang="zh-CN" altLang="en-US" smtClean="0"/>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5" name="日期占位符 4"/>
          <p:cNvSpPr>
            <a:spLocks noGrp="1"/>
          </p:cNvSpPr>
          <p:nvPr>
            <p:ph type="dt" sz="half" idx="10"/>
          </p:nvPr>
        </p:nvSpPr>
        <p:spPr/>
        <p:txBody>
          <a:bodyPr/>
          <a:lstStyle/>
          <a:p>
            <a:fld id="{355198AB-6873-054A-AB06-26C5505BAFA0}" type="datetimeFigureOut">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6966DED7-2298-EF44-BC75-CCD61101EBFF}" type="slidenum">
              <a:rPr kumimoji="1" lang="zh-CN" altLang="en-US" smtClean="0"/>
            </a:fld>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endParaRPr kumimoji="1" lang="zh-CN" altLang="en-US"/>
          </a:p>
        </p:txBody>
      </p:sp>
      <p:sp>
        <p:nvSpPr>
          <p:cNvPr id="4" name="内容占位符 3"/>
          <p:cNvSpPr>
            <a:spLocks noGrp="1"/>
          </p:cNvSpPr>
          <p:nvPr>
            <p:ph sz="half" idx="2"/>
          </p:nvPr>
        </p:nvSpPr>
        <p:spPr>
          <a:xfrm>
            <a:off x="839788" y="2505075"/>
            <a:ext cx="5157787" cy="368458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endParaRPr kumimoji="1" lang="zh-CN" altLang="en-US"/>
          </a:p>
        </p:txBody>
      </p:sp>
      <p:sp>
        <p:nvSpPr>
          <p:cNvPr id="6" name="内容占位符 5"/>
          <p:cNvSpPr>
            <a:spLocks noGrp="1"/>
          </p:cNvSpPr>
          <p:nvPr>
            <p:ph sz="quarter" idx="4"/>
          </p:nvPr>
        </p:nvSpPr>
        <p:spPr>
          <a:xfrm>
            <a:off x="6172200" y="2505075"/>
            <a:ext cx="5183188" cy="368458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7" name="日期占位符 6"/>
          <p:cNvSpPr>
            <a:spLocks noGrp="1"/>
          </p:cNvSpPr>
          <p:nvPr>
            <p:ph type="dt" sz="half" idx="10"/>
          </p:nvPr>
        </p:nvSpPr>
        <p:spPr/>
        <p:txBody>
          <a:bodyPr/>
          <a:lstStyle/>
          <a:p>
            <a:fld id="{355198AB-6873-054A-AB06-26C5505BAFA0}" type="datetimeFigureOut">
              <a:rPr kumimoji="1" lang="zh-CN" altLang="en-US" smtClean="0"/>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灯片编号占位符 8"/>
          <p:cNvSpPr>
            <a:spLocks noGrp="1"/>
          </p:cNvSpPr>
          <p:nvPr>
            <p:ph type="sldNum" sz="quarter" idx="12"/>
          </p:nvPr>
        </p:nvSpPr>
        <p:spPr/>
        <p:txBody>
          <a:bodyPr/>
          <a:lstStyle/>
          <a:p>
            <a:fld id="{6966DED7-2298-EF44-BC75-CCD61101EBFF}" type="slidenum">
              <a:rPr kumimoji="1" lang="zh-CN" altLang="en-US" smtClean="0"/>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日期占位符 2"/>
          <p:cNvSpPr>
            <a:spLocks noGrp="1"/>
          </p:cNvSpPr>
          <p:nvPr>
            <p:ph type="dt" sz="half" idx="10"/>
          </p:nvPr>
        </p:nvSpPr>
        <p:spPr/>
        <p:txBody>
          <a:bodyPr/>
          <a:lstStyle/>
          <a:p>
            <a:fld id="{355198AB-6873-054A-AB06-26C5505BAFA0}"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6966DED7-2298-EF44-BC75-CCD61101EBFF}" type="slidenum">
              <a:rPr kumimoji="1" lang="zh-CN" altLang="en-US" smtClean="0"/>
            </a:fld>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55198AB-6873-054A-AB06-26C5505BAFA0}" type="datetimeFigureOut">
              <a:rPr kumimoji="1" lang="zh-CN" altLang="en-US" smtClean="0"/>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6966DED7-2298-EF44-BC75-CCD61101EBFF}" type="slidenum">
              <a:rPr kumimoji="1" lang="zh-CN" altLang="en-US" smtClean="0"/>
            </a:fld>
            <a:endParaRPr kumimoji="1"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endParaRPr kumimoji="1"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endParaRPr kumimoji="1" lang="zh-CN" altLang="en-US"/>
          </a:p>
        </p:txBody>
      </p:sp>
      <p:sp>
        <p:nvSpPr>
          <p:cNvPr id="5" name="日期占位符 4"/>
          <p:cNvSpPr>
            <a:spLocks noGrp="1"/>
          </p:cNvSpPr>
          <p:nvPr>
            <p:ph type="dt" sz="half" idx="10"/>
          </p:nvPr>
        </p:nvSpPr>
        <p:spPr/>
        <p:txBody>
          <a:bodyPr/>
          <a:lstStyle/>
          <a:p>
            <a:fld id="{355198AB-6873-054A-AB06-26C5505BAFA0}" type="datetimeFigureOut">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6966DED7-2298-EF44-BC75-CCD61101EBFF}" type="slidenum">
              <a:rPr kumimoji="1" lang="zh-CN" altLang="en-US" smtClean="0"/>
            </a:fld>
            <a:endParaRPr kumimoji="1"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endParaRPr kumimoji="1"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endParaRPr kumimoji="1" lang="zh-CN" altLang="en-US"/>
          </a:p>
        </p:txBody>
      </p:sp>
      <p:sp>
        <p:nvSpPr>
          <p:cNvPr id="5" name="日期占位符 4"/>
          <p:cNvSpPr>
            <a:spLocks noGrp="1"/>
          </p:cNvSpPr>
          <p:nvPr>
            <p:ph type="dt" sz="half" idx="10"/>
          </p:nvPr>
        </p:nvSpPr>
        <p:spPr/>
        <p:txBody>
          <a:bodyPr/>
          <a:lstStyle/>
          <a:p>
            <a:fld id="{355198AB-6873-054A-AB06-26C5505BAFA0}" type="datetimeFigureOut">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6966DED7-2298-EF44-BC75-CCD61101EBFF}" type="slidenum">
              <a:rPr kumimoji="1" lang="zh-CN" altLang="en-US" smtClean="0"/>
            </a:fld>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竖排文字占位符 2"/>
          <p:cNvSpPr>
            <a:spLocks noGrp="1"/>
          </p:cNvSpPr>
          <p:nvPr>
            <p:ph type="body" orient="vert" idx="1"/>
          </p:nvPr>
        </p:nvSpPr>
        <p:spPr/>
        <p:txBody>
          <a:bodyPr vert="eaVert"/>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10"/>
          </p:nvPr>
        </p:nvSpPr>
        <p:spPr/>
        <p:txBody>
          <a:bodyPr/>
          <a:lstStyle/>
          <a:p>
            <a:fld id="{355198AB-6873-054A-AB06-26C5505BAFA0}"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6966DED7-2298-EF44-BC75-CCD61101EBFF}" type="slidenum">
              <a:rPr kumimoji="1" lang="zh-CN" altLang="en-US" smtClean="0"/>
            </a:fld>
            <a:endParaRPr kumimoji="1"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zh-CN" altLang="en-US"/>
              <a:t>单击此处编辑母版标题样式</a:t>
            </a:r>
            <a:endParaRPr kumimoji="1"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10"/>
          </p:nvPr>
        </p:nvSpPr>
        <p:spPr/>
        <p:txBody>
          <a:bodyPr/>
          <a:lstStyle/>
          <a:p>
            <a:fld id="{355198AB-6873-054A-AB06-26C5505BAFA0}"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6966DED7-2298-EF44-BC75-CCD61101EBFF}" type="slidenum">
              <a:rPr kumimoji="1" lang="zh-CN" altLang="en-US" smtClean="0"/>
            </a:fld>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矩形 11"/>
          <p:cNvSpPr/>
          <p:nvPr userDrawn="1"/>
        </p:nvSpPr>
        <p:spPr>
          <a:xfrm>
            <a:off x="0" y="-13323"/>
            <a:ext cx="12192000" cy="610481"/>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sp>
        <p:nvSpPr>
          <p:cNvPr id="2" name="标题占位符 1"/>
          <p:cNvSpPr>
            <a:spLocks noGrp="1"/>
          </p:cNvSpPr>
          <p:nvPr>
            <p:ph type="title"/>
          </p:nvPr>
        </p:nvSpPr>
        <p:spPr>
          <a:xfrm>
            <a:off x="838200" y="787078"/>
            <a:ext cx="10515600" cy="903610"/>
          </a:xfrm>
          <a:prstGeom prst="rect">
            <a:avLst/>
          </a:prstGeom>
        </p:spPr>
        <p:txBody>
          <a:bodyPr vert="horz" lIns="91440" tIns="45720" rIns="91440" bIns="45720" rtlCol="0" anchor="ctr">
            <a:normAutofit/>
          </a:bodyPr>
          <a:lstStyle/>
          <a:p>
            <a:r>
              <a:rPr kumimoji="1" lang="zh-CN" altLang="en-US" dirty="0"/>
              <a:t>单击此处编辑母版标题样式</a:t>
            </a:r>
            <a:endParaRPr kumimoji="1"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dirty="0"/>
              <a:t>单击此处编辑母版文本样式</a:t>
            </a:r>
            <a:endParaRPr kumimoji="1" lang="zh-CN" altLang="en-US" dirty="0"/>
          </a:p>
          <a:p>
            <a:pPr lvl="1"/>
            <a:r>
              <a:rPr kumimoji="1" lang="zh-CN" altLang="en-US" dirty="0"/>
              <a:t>二级</a:t>
            </a:r>
            <a:endParaRPr kumimoji="1" lang="zh-CN" altLang="en-US" dirty="0"/>
          </a:p>
          <a:p>
            <a:pPr lvl="2"/>
            <a:r>
              <a:rPr kumimoji="1" lang="zh-CN" altLang="en-US" dirty="0"/>
              <a:t>三级</a:t>
            </a:r>
            <a:endParaRPr kumimoji="1" lang="zh-CN" altLang="en-US" dirty="0"/>
          </a:p>
          <a:p>
            <a:pPr lvl="3"/>
            <a:r>
              <a:rPr kumimoji="1" lang="zh-CN" altLang="en-US" dirty="0"/>
              <a:t>四级</a:t>
            </a:r>
            <a:endParaRPr kumimoji="1" lang="zh-CN" altLang="en-US" dirty="0"/>
          </a:p>
          <a:p>
            <a:pPr lvl="4"/>
            <a:r>
              <a:rPr kumimoji="1" lang="zh-CN" altLang="en-US" dirty="0"/>
              <a:t>五级</a:t>
            </a:r>
            <a:endParaRPr kumimoji="1" lang="zh-CN" altLang="en-US" dirty="0"/>
          </a:p>
        </p:txBody>
      </p:sp>
      <p:sp>
        <p:nvSpPr>
          <p:cNvPr id="4" name="日期占位符 3"/>
          <p:cNvSpPr>
            <a:spLocks noGrp="1"/>
          </p:cNvSpPr>
          <p:nvPr>
            <p:ph type="dt" sz="half" idx="2"/>
          </p:nvPr>
        </p:nvSpPr>
        <p:spPr>
          <a:xfrm>
            <a:off x="11074077" y="6492875"/>
            <a:ext cx="1106347"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5198AB-6873-054A-AB06-26C5505BAFA0}" type="datetimeFigureOut">
              <a:rPr kumimoji="1" lang="zh-CN" altLang="en-US" smtClean="0"/>
            </a:fld>
            <a:endParaRPr kumimoji="1" lang="zh-CN" altLang="en-US"/>
          </a:p>
        </p:txBody>
      </p:sp>
      <p:sp>
        <p:nvSpPr>
          <p:cNvPr id="5" name="页脚占位符 4"/>
          <p:cNvSpPr>
            <a:spLocks noGrp="1"/>
          </p:cNvSpPr>
          <p:nvPr>
            <p:ph type="ftr" sz="quarter" idx="3"/>
          </p:nvPr>
        </p:nvSpPr>
        <p:spPr>
          <a:xfrm>
            <a:off x="9556828" y="6492874"/>
            <a:ext cx="1505674"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11563109" y="96654"/>
            <a:ext cx="617315" cy="365125"/>
          </a:xfrm>
          <a:prstGeom prst="rect">
            <a:avLst/>
          </a:prstGeom>
        </p:spPr>
        <p:txBody>
          <a:bodyPr vert="horz" lIns="91440" tIns="45720" rIns="91440" bIns="45720" rtlCol="0" anchor="ctr"/>
          <a:lstStyle>
            <a:lvl1pPr algn="r">
              <a:defRPr sz="2000">
                <a:solidFill>
                  <a:schemeClr val="bg1"/>
                </a:solidFill>
              </a:defRPr>
            </a:lvl1pPr>
          </a:lstStyle>
          <a:p>
            <a:pPr algn="ctr"/>
            <a:fld id="{6966DED7-2298-EF44-BC75-CCD61101EBFF}" type="slidenum">
              <a:rPr kumimoji="1" lang="zh-CN" altLang="en-US" smtClean="0"/>
            </a:fld>
            <a:endParaRPr kumimoji="1" lang="zh-CN" altLang="en-US" dirty="0"/>
          </a:p>
        </p:txBody>
      </p:sp>
      <p:pic>
        <p:nvPicPr>
          <p:cNvPr id="14" name="Picture 4"/>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152878" y="21714"/>
            <a:ext cx="2977333" cy="566113"/>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chart" Target="../charts/chart2.xml"/><Relationship Id="rId1" Type="http://schemas.openxmlformats.org/officeDocument/2006/relationships/chart" Target="../charts/chart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chart" Target="../charts/chart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chart" Target="../charts/chart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4.emf"/><Relationship Id="rId1"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5.emf"/></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直接连接符 7"/>
          <p:cNvCxnSpPr/>
          <p:nvPr/>
        </p:nvCxnSpPr>
        <p:spPr>
          <a:xfrm>
            <a:off x="620647" y="991340"/>
            <a:ext cx="7490619" cy="0"/>
          </a:xfrm>
          <a:prstGeom prst="line">
            <a:avLst/>
          </a:prstGeom>
          <a:ln w="19050" cmpd="sng">
            <a:solidFill>
              <a:schemeClr val="accent5">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1249894" y="756499"/>
            <a:ext cx="0" cy="3816888"/>
          </a:xfrm>
          <a:prstGeom prst="line">
            <a:avLst/>
          </a:prstGeom>
          <a:ln w="19050" cmpd="sng">
            <a:solidFill>
              <a:schemeClr val="accent5">
                <a:lumMod val="50000"/>
              </a:schemeClr>
            </a:solidFill>
            <a:prstDash val="lgDashDot"/>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411972" y="5086915"/>
            <a:ext cx="6254002" cy="0"/>
          </a:xfrm>
          <a:prstGeom prst="line">
            <a:avLst/>
          </a:prstGeom>
          <a:ln w="15875" cmpd="sng">
            <a:solidFill>
              <a:schemeClr val="accent5">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11095703" y="2853976"/>
            <a:ext cx="0" cy="3642258"/>
          </a:xfrm>
          <a:prstGeom prst="line">
            <a:avLst/>
          </a:prstGeom>
          <a:ln w="19050" cmpd="sng">
            <a:solidFill>
              <a:schemeClr val="accent5">
                <a:lumMod val="50000"/>
              </a:schemeClr>
            </a:solidFill>
            <a:prstDash val="lgDashDot"/>
          </a:ln>
        </p:spPr>
        <p:style>
          <a:lnRef idx="1">
            <a:schemeClr val="accent1"/>
          </a:lnRef>
          <a:fillRef idx="0">
            <a:schemeClr val="accent1"/>
          </a:fillRef>
          <a:effectRef idx="0">
            <a:schemeClr val="accent1"/>
          </a:effectRef>
          <a:fontRef idx="minor">
            <a:schemeClr val="tx1"/>
          </a:fontRef>
        </p:style>
      </p:cxnSp>
      <p:sp>
        <p:nvSpPr>
          <p:cNvPr id="27" name="矩形: 圆角 26"/>
          <p:cNvSpPr/>
          <p:nvPr/>
        </p:nvSpPr>
        <p:spPr>
          <a:xfrm>
            <a:off x="3576920" y="3840434"/>
            <a:ext cx="5136774" cy="45165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微软雅黑" panose="020B0503020204020204" charset="-122"/>
              <a:cs typeface="汉仪君黑-45简" panose="020B0604020202020204" charset="-122"/>
            </a:endParaRPr>
          </a:p>
        </p:txBody>
      </p:sp>
      <p:sp>
        <p:nvSpPr>
          <p:cNvPr id="28" name="文本框 27"/>
          <p:cNvSpPr txBox="1"/>
          <p:nvPr/>
        </p:nvSpPr>
        <p:spPr>
          <a:xfrm>
            <a:off x="4809599" y="3879601"/>
            <a:ext cx="4380827" cy="368300"/>
          </a:xfrm>
          <a:prstGeom prst="rect">
            <a:avLst/>
          </a:prstGeom>
          <a:noFill/>
        </p:spPr>
        <p:txBody>
          <a:bodyPr wrap="square" rtlCol="0">
            <a:spAutoFit/>
          </a:bodyPr>
          <a:lstStyle/>
          <a:p>
            <a:r>
              <a:rPr lang="zh-CN" altLang="en-US" dirty="0">
                <a:solidFill>
                  <a:schemeClr val="bg1"/>
                </a:solidFill>
                <a:latin typeface="腾讯字体包" panose="02010600010101010101" charset="-128"/>
                <a:ea typeface="腾讯字体包" panose="02010600010101010101" charset="-128"/>
                <a:cs typeface="腾讯字体包" panose="02010600010101010101" charset="-128"/>
              </a:rPr>
              <a:t>汇报人：软件工程</a:t>
            </a:r>
            <a:r>
              <a:rPr lang="en-US" altLang="zh-CN" dirty="0">
                <a:solidFill>
                  <a:schemeClr val="bg1"/>
                </a:solidFill>
                <a:latin typeface="腾讯字体包" panose="02010600010101010101" charset="-128"/>
                <a:ea typeface="腾讯字体包" panose="02010600010101010101" charset="-128"/>
                <a:cs typeface="腾讯字体包" panose="02010600010101010101" charset="-128"/>
              </a:rPr>
              <a:t>A</a:t>
            </a:r>
            <a:r>
              <a:rPr lang="zh-CN" altLang="en-US" dirty="0">
                <a:solidFill>
                  <a:schemeClr val="bg1"/>
                </a:solidFill>
                <a:latin typeface="腾讯字体包" panose="02010600010101010101" charset="-128"/>
                <a:ea typeface="腾讯字体包" panose="02010600010101010101" charset="-128"/>
                <a:cs typeface="腾讯字体包" panose="02010600010101010101" charset="-128"/>
              </a:rPr>
              <a:t>组 </a:t>
            </a:r>
            <a:endParaRPr lang="en-US" altLang="zh-CN" dirty="0">
              <a:solidFill>
                <a:schemeClr val="bg1"/>
              </a:solidFill>
              <a:latin typeface="腾讯字体包" panose="02010600010101010101" charset="-128"/>
              <a:ea typeface="腾讯字体包" panose="02010600010101010101" charset="-128"/>
              <a:cs typeface="腾讯字体包" panose="02010600010101010101" charset="-128"/>
            </a:endParaRPr>
          </a:p>
        </p:txBody>
      </p:sp>
      <p:cxnSp>
        <p:nvCxnSpPr>
          <p:cNvPr id="33" name="直接连接符 32"/>
          <p:cNvCxnSpPr/>
          <p:nvPr/>
        </p:nvCxnSpPr>
        <p:spPr>
          <a:xfrm>
            <a:off x="1048355" y="1220494"/>
            <a:ext cx="7490619" cy="0"/>
          </a:xfrm>
          <a:prstGeom prst="line">
            <a:avLst/>
          </a:prstGeom>
          <a:ln w="15875" cmpd="sng">
            <a:solidFill>
              <a:schemeClr val="accent5">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5096540" y="4883226"/>
            <a:ext cx="6254002" cy="0"/>
          </a:xfrm>
          <a:prstGeom prst="line">
            <a:avLst/>
          </a:prstGeom>
          <a:ln w="19050" cmpd="sng">
            <a:solidFill>
              <a:schemeClr val="accent5">
                <a:lumMod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721995" y="1996440"/>
            <a:ext cx="10745470" cy="11080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400" b="1" dirty="0">
                <a:solidFill>
                  <a:srgbClr val="005BAC"/>
                </a:solidFill>
                <a:latin typeface="腾讯字体包" panose="02010600010101010101" charset="-128"/>
                <a:ea typeface="腾讯字体包" panose="02010600010101010101" charset="-128"/>
                <a:cs typeface="腾讯字体包" panose="02010600010101010101" charset="-128"/>
              </a:rPr>
              <a:t>智能文本标注系统（</a:t>
            </a:r>
            <a:r>
              <a:rPr lang="en-US" altLang="zh-CN" sz="4400" b="1" dirty="0">
                <a:solidFill>
                  <a:srgbClr val="005BAC"/>
                </a:solidFill>
                <a:latin typeface="腾讯字体包" panose="02010600010101010101" charset="-128"/>
                <a:ea typeface="腾讯字体包" panose="02010600010101010101" charset="-128"/>
                <a:cs typeface="腾讯字体包" panose="02010600010101010101" charset="-128"/>
              </a:rPr>
              <a:t>ITAS</a:t>
            </a:r>
            <a:r>
              <a:rPr lang="zh-CN" altLang="en-US" sz="4400" b="1" dirty="0">
                <a:solidFill>
                  <a:srgbClr val="005BAC"/>
                </a:solidFill>
                <a:latin typeface="腾讯字体包" panose="02010600010101010101" charset="-128"/>
                <a:ea typeface="腾讯字体包" panose="02010600010101010101" charset="-128"/>
                <a:cs typeface="腾讯字体包" panose="02010600010101010101" charset="-128"/>
              </a:rPr>
              <a:t>）</a:t>
            </a:r>
            <a:endParaRPr lang="zh-CN" altLang="en-US" sz="4400" b="1" dirty="0">
              <a:solidFill>
                <a:srgbClr val="005BAC"/>
              </a:solidFill>
              <a:latin typeface="腾讯字体包" panose="02010600010101010101" charset="-128"/>
              <a:ea typeface="腾讯字体包" panose="02010600010101010101" charset="-128"/>
              <a:cs typeface="腾讯字体包" panose="02010600010101010101" charset="-128"/>
            </a:endParaRPr>
          </a:p>
        </p:txBody>
      </p:sp>
      <p:pic>
        <p:nvPicPr>
          <p:cNvPr id="3" name="图片 2" descr="图标"/>
          <p:cNvPicPr>
            <a:picLocks noChangeAspect="1"/>
          </p:cNvPicPr>
          <p:nvPr/>
        </p:nvPicPr>
        <p:blipFill>
          <a:blip r:embed="rId1"/>
          <a:stretch>
            <a:fillRect/>
          </a:stretch>
        </p:blipFill>
        <p:spPr>
          <a:xfrm>
            <a:off x="9451340" y="546735"/>
            <a:ext cx="1899285" cy="1899285"/>
          </a:xfrm>
          <a:prstGeom prst="rect">
            <a:avLst/>
          </a:prstGeom>
        </p:spPr>
      </p:pic>
      <p:sp>
        <p:nvSpPr>
          <p:cNvPr id="121" name="TextBox 27"/>
          <p:cNvSpPr txBox="1"/>
          <p:nvPr/>
        </p:nvSpPr>
        <p:spPr>
          <a:xfrm>
            <a:off x="1478280" y="5165725"/>
            <a:ext cx="8943975" cy="1337945"/>
          </a:xfrm>
          <a:prstGeom prst="rect">
            <a:avLst/>
          </a:prstGeom>
          <a:noFill/>
        </p:spPr>
        <p:txBody>
          <a:bodyPr wrap="square">
            <a:spAutoFit/>
          </a:bodyPr>
          <a:lstStyle/>
          <a:p>
            <a:pPr algn="ctr">
              <a:lnSpc>
                <a:spcPct val="150000"/>
              </a:lnSpc>
            </a:pPr>
            <a:r>
              <a:rPr lang="en-US" dirty="0">
                <a:solidFill>
                  <a:srgbClr val="0070C0"/>
                </a:solidFill>
                <a:latin typeface="腾讯字体包" panose="02010600010101010101" charset="-128"/>
                <a:ea typeface="腾讯字体包" panose="02010600010101010101" charset="-128"/>
                <a:cs typeface="腾讯字体包" panose="02010600010101010101" charset="-128"/>
              </a:rPr>
              <a:t>   </a:t>
            </a:r>
            <a:r>
              <a:rPr dirty="0">
                <a:solidFill>
                  <a:srgbClr val="0070C0"/>
                </a:solidFill>
                <a:latin typeface="腾讯字体包" panose="02010600010101010101" charset="-128"/>
                <a:ea typeface="腾讯字体包" panose="02010600010101010101" charset="-128"/>
                <a:cs typeface="腾讯字体包" panose="02010600010101010101" charset="-128"/>
              </a:rPr>
              <a:t>孙烨-BY2306093 </a:t>
            </a:r>
            <a:r>
              <a:rPr i="0" kern="1200" spc="0" baseline="0" dirty="0">
                <a:solidFill>
                  <a:srgbClr val="0070C0"/>
                </a:solidFill>
                <a:latin typeface="腾讯字体包" panose="02010600010101010101" charset="-128"/>
                <a:ea typeface="腾讯字体包" panose="02010600010101010101" charset="-128"/>
                <a:cs typeface="腾讯字体包" panose="02010600010101010101" charset="-128"/>
              </a:rPr>
              <a:t>   苏丁力-BY2306092</a:t>
            </a:r>
            <a:r>
              <a:rPr dirty="0">
                <a:solidFill>
                  <a:srgbClr val="0070C0"/>
                </a:solidFill>
                <a:latin typeface="腾讯字体包" panose="02010600010101010101" charset="-128"/>
                <a:ea typeface="腾讯字体包" panose="02010600010101010101" charset="-128"/>
                <a:cs typeface="腾讯字体包" panose="02010600010101010101" charset="-128"/>
              </a:rPr>
              <a:t>    </a:t>
            </a:r>
            <a:r>
              <a:rPr dirty="0">
                <a:solidFill>
                  <a:srgbClr val="0070C0"/>
                </a:solidFill>
                <a:latin typeface="腾讯字体包" panose="02010600010101010101" charset="-128"/>
                <a:ea typeface="腾讯字体包" panose="02010600010101010101" charset="-128"/>
                <a:cs typeface="腾讯字体包" panose="02010600010101010101" charset="-128"/>
                <a:sym typeface="+mn-ea"/>
              </a:rPr>
              <a:t>曾祥华-BY2206062</a:t>
            </a:r>
            <a:r>
              <a:rPr i="0" kern="1200" spc="0" baseline="0" dirty="0">
                <a:solidFill>
                  <a:srgbClr val="0070C0"/>
                </a:solidFill>
                <a:latin typeface="腾讯字体包" panose="02010600010101010101" charset="-128"/>
                <a:ea typeface="腾讯字体包" panose="02010600010101010101" charset="-128"/>
                <a:cs typeface="腾讯字体包" panose="02010600010101010101" charset="-128"/>
              </a:rPr>
              <a:t>  </a:t>
            </a:r>
            <a:r>
              <a:rPr dirty="0">
                <a:solidFill>
                  <a:srgbClr val="0070C0"/>
                </a:solidFill>
                <a:latin typeface="腾讯字体包" panose="02010600010101010101" charset="-128"/>
                <a:ea typeface="腾讯字体包" panose="02010600010101010101" charset="-128"/>
                <a:cs typeface="腾讯字体包" panose="02010600010101010101" charset="-128"/>
              </a:rPr>
              <a:t> </a:t>
            </a:r>
            <a:endParaRPr dirty="0">
              <a:solidFill>
                <a:srgbClr val="0070C0"/>
              </a:solidFill>
              <a:latin typeface="腾讯字体包" panose="02010600010101010101" charset="-128"/>
              <a:ea typeface="腾讯字体包" panose="02010600010101010101" charset="-128"/>
              <a:cs typeface="腾讯字体包" panose="02010600010101010101" charset="-128"/>
            </a:endParaRPr>
          </a:p>
          <a:p>
            <a:pPr algn="ctr">
              <a:lnSpc>
                <a:spcPct val="150000"/>
              </a:lnSpc>
            </a:pPr>
            <a:r>
              <a:rPr i="0" kern="1200" spc="0" baseline="0" dirty="0">
                <a:solidFill>
                  <a:srgbClr val="0070C0"/>
                </a:solidFill>
                <a:latin typeface="腾讯字体包" panose="02010600010101010101" charset="-128"/>
                <a:ea typeface="腾讯字体包" panose="02010600010101010101" charset="-128"/>
                <a:cs typeface="腾讯字体包" panose="02010600010101010101" charset="-128"/>
              </a:rPr>
              <a:t>侯越-BY2306087</a:t>
            </a:r>
            <a:r>
              <a:rPr dirty="0">
                <a:solidFill>
                  <a:srgbClr val="0070C0"/>
                </a:solidFill>
                <a:latin typeface="腾讯字体包" panose="02010600010101010101" charset="-128"/>
                <a:ea typeface="腾讯字体包" panose="02010600010101010101" charset="-128"/>
                <a:cs typeface="腾讯字体包" panose="02010600010101010101" charset="-128"/>
                <a:sym typeface="+mn-ea"/>
              </a:rPr>
              <a:t>    </a:t>
            </a:r>
            <a:r>
              <a:rPr dirty="0">
                <a:solidFill>
                  <a:srgbClr val="0070C0"/>
                </a:solidFill>
                <a:latin typeface="腾讯字体包" panose="02010600010101010101" charset="-128"/>
                <a:ea typeface="腾讯字体包" panose="02010600010101010101" charset="-128"/>
                <a:cs typeface="腾讯字体包" panose="02010600010101010101" charset="-128"/>
              </a:rPr>
              <a:t>郭鑫-BY</a:t>
            </a:r>
            <a:r>
              <a:rPr dirty="0">
                <a:solidFill>
                  <a:srgbClr val="0070C0"/>
                </a:solidFill>
                <a:latin typeface="腾讯字体包" panose="02010600010101010101" charset="-128"/>
                <a:ea typeface="腾讯字体包" panose="02010600010101010101" charset="-128"/>
                <a:cs typeface="腾讯字体包" panose="02010600010101010101" charset="-128"/>
                <a:sym typeface="+mn-ea"/>
              </a:rPr>
              <a:t>2306085</a:t>
            </a:r>
            <a:r>
              <a:rPr i="0" kern="1200" spc="0" baseline="0" dirty="0">
                <a:solidFill>
                  <a:srgbClr val="0070C0"/>
                </a:solidFill>
                <a:latin typeface="腾讯字体包" panose="02010600010101010101" charset="-128"/>
                <a:ea typeface="腾讯字体包" panose="02010600010101010101" charset="-128"/>
                <a:cs typeface="腾讯字体包" panose="02010600010101010101" charset="-128"/>
              </a:rPr>
              <a:t>    </a:t>
            </a:r>
            <a:r>
              <a:rPr dirty="0">
                <a:solidFill>
                  <a:srgbClr val="0070C0"/>
                </a:solidFill>
                <a:latin typeface="腾讯字体包" panose="02010600010101010101" charset="-128"/>
                <a:ea typeface="腾讯字体包" panose="02010600010101010101" charset="-128"/>
                <a:cs typeface="腾讯字体包" panose="02010600010101010101" charset="-128"/>
                <a:sym typeface="+mn-ea"/>
              </a:rPr>
              <a:t>魏家龙-BY2306095</a:t>
            </a:r>
            <a:r>
              <a:rPr dirty="0">
                <a:solidFill>
                  <a:srgbClr val="0070C0"/>
                </a:solidFill>
                <a:latin typeface="腾讯字体包" panose="02010600010101010101" charset="-128"/>
                <a:ea typeface="腾讯字体包" panose="02010600010101010101" charset="-128"/>
                <a:cs typeface="腾讯字体包" panose="02010600010101010101" charset="-128"/>
              </a:rPr>
              <a:t>  </a:t>
            </a:r>
            <a:endParaRPr dirty="0">
              <a:solidFill>
                <a:srgbClr val="0070C0"/>
              </a:solidFill>
              <a:latin typeface="腾讯字体包" panose="02010600010101010101" charset="-128"/>
              <a:ea typeface="腾讯字体包" panose="02010600010101010101" charset="-128"/>
              <a:cs typeface="腾讯字体包" panose="02010600010101010101" charset="-128"/>
            </a:endParaRPr>
          </a:p>
          <a:p>
            <a:pPr algn="ctr">
              <a:lnSpc>
                <a:spcPct val="150000"/>
              </a:lnSpc>
            </a:pPr>
            <a:r>
              <a:rPr dirty="0">
                <a:solidFill>
                  <a:srgbClr val="0070C0"/>
                </a:solidFill>
                <a:latin typeface="腾讯字体包" panose="02010600010101010101" charset="-128"/>
                <a:ea typeface="腾讯字体包" panose="02010600010101010101" charset="-128"/>
                <a:cs typeface="腾讯字体包" panose="02010600010101010101" charset="-128"/>
                <a:sym typeface="+mn-ea"/>
              </a:rPr>
              <a:t>刘顺博-SY2306133</a:t>
            </a:r>
            <a:r>
              <a:rPr i="0" kern="1200" spc="0" baseline="0" dirty="0">
                <a:solidFill>
                  <a:srgbClr val="0070C0"/>
                </a:solidFill>
                <a:latin typeface="腾讯字体包" panose="02010600010101010101" charset="-128"/>
                <a:ea typeface="腾讯字体包" panose="02010600010101010101" charset="-128"/>
                <a:cs typeface="腾讯字体包" panose="02010600010101010101" charset="-128"/>
              </a:rPr>
              <a:t>  </a:t>
            </a:r>
            <a:r>
              <a:rPr dirty="0">
                <a:solidFill>
                  <a:srgbClr val="0070C0"/>
                </a:solidFill>
                <a:latin typeface="腾讯字体包" panose="02010600010101010101" charset="-128"/>
                <a:ea typeface="腾讯字体包" panose="02010600010101010101" charset="-128"/>
                <a:cs typeface="腾讯字体包" panose="02010600010101010101" charset="-128"/>
              </a:rPr>
              <a:t>  </a:t>
            </a:r>
            <a:r>
              <a:rPr dirty="0">
                <a:solidFill>
                  <a:srgbClr val="0070C0"/>
                </a:solidFill>
                <a:latin typeface="腾讯字体包" panose="02010600010101010101" charset="-128"/>
                <a:ea typeface="腾讯字体包" panose="02010600010101010101" charset="-128"/>
                <a:cs typeface="腾讯字体包" panose="02010600010101010101" charset="-128"/>
                <a:sym typeface="+mn-ea"/>
              </a:rPr>
              <a:t>窦建玲-ZY2306321</a:t>
            </a:r>
            <a:r>
              <a:rPr dirty="0">
                <a:solidFill>
                  <a:srgbClr val="0070C0"/>
                </a:solidFill>
                <a:latin typeface="腾讯字体包" panose="02010600010101010101" charset="-128"/>
                <a:ea typeface="腾讯字体包" panose="02010600010101010101" charset="-128"/>
                <a:cs typeface="腾讯字体包" panose="02010600010101010101" charset="-128"/>
              </a:rPr>
              <a:t>    </a:t>
            </a:r>
            <a:r>
              <a:rPr dirty="0">
                <a:solidFill>
                  <a:srgbClr val="0070C0"/>
                </a:solidFill>
                <a:latin typeface="腾讯字体包" panose="02010600010101010101" charset="-128"/>
                <a:ea typeface="腾讯字体包" panose="02010600010101010101" charset="-128"/>
                <a:cs typeface="腾讯字体包" panose="02010600010101010101" charset="-128"/>
                <a:sym typeface="+mn-ea"/>
              </a:rPr>
              <a:t>张宸恺-ZY2306342</a:t>
            </a:r>
            <a:endParaRPr i="0" kern="1200" spc="0" baseline="0" dirty="0">
              <a:solidFill>
                <a:srgbClr val="0070C0"/>
              </a:solidFill>
              <a:latin typeface="腾讯字体包" panose="02010600010101010101" charset="-128"/>
              <a:ea typeface="腾讯字体包" panose="02010600010101010101" charset="-128"/>
              <a:cs typeface="腾讯字体包" panose="02010600010101010101" charset="-128"/>
              <a:sym typeface="+mn-ea"/>
            </a:endParaRPr>
          </a:p>
        </p:txBody>
      </p:sp>
      <p:sp>
        <p:nvSpPr>
          <p:cNvPr id="2" name="矩形 1"/>
          <p:cNvSpPr/>
          <p:nvPr/>
        </p:nvSpPr>
        <p:spPr>
          <a:xfrm>
            <a:off x="4565015" y="3088005"/>
            <a:ext cx="3215640" cy="5702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rgbClr val="005BAC"/>
                </a:solidFill>
                <a:latin typeface="腾讯字体包" panose="02010600010101010101" charset="-128"/>
                <a:ea typeface="腾讯字体包" panose="02010600010101010101" charset="-128"/>
                <a:cs typeface="腾讯字体包" panose="02010600010101010101" charset="-128"/>
              </a:rPr>
              <a:t>需求分析</a:t>
            </a:r>
            <a:r>
              <a:rPr lang="en-US" altLang="zh-CN" sz="2800" dirty="0">
                <a:solidFill>
                  <a:srgbClr val="005BAC"/>
                </a:solidFill>
                <a:latin typeface="腾讯字体包" panose="02010600010101010101" charset="-128"/>
                <a:ea typeface="腾讯字体包" panose="02010600010101010101" charset="-128"/>
                <a:cs typeface="腾讯字体包" panose="02010600010101010101" charset="-128"/>
              </a:rPr>
              <a:t>III</a:t>
            </a:r>
            <a:endParaRPr lang="en-US" altLang="zh-CN" sz="2800" dirty="0">
              <a:solidFill>
                <a:srgbClr val="005BAC"/>
              </a:solidFill>
              <a:latin typeface="腾讯字体包" panose="02010600010101010101" charset="-128"/>
              <a:ea typeface="腾讯字体包" panose="02010600010101010101" charset="-128"/>
              <a:cs typeface="腾讯字体包" panose="02010600010101010101"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nvGrpSpPr>
        <p:grpSpPr>
          <a:xfrm>
            <a:off x="283625" y="712715"/>
            <a:ext cx="11520000" cy="576000"/>
            <a:chOff x="582710" y="712715"/>
            <a:chExt cx="11527790" cy="572075"/>
          </a:xfrm>
        </p:grpSpPr>
        <p:sp>
          <p:nvSpPr>
            <p:cNvPr id="17" name="矩形 16"/>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文本框 17"/>
            <p:cNvSpPr txBox="1"/>
            <p:nvPr/>
          </p:nvSpPr>
          <p:spPr>
            <a:xfrm>
              <a:off x="676055" y="712715"/>
              <a:ext cx="1143444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2800" dirty="0">
                  <a:latin typeface="腾讯字体包" panose="02010600010101010101" charset="-128"/>
                  <a:ea typeface="腾讯字体包" panose="02010600010101010101" charset="-128"/>
                </a:rPr>
                <a:t>HI</a:t>
              </a:r>
              <a:r>
                <a:rPr kumimoji="1" lang="zh-CN" altLang="en-US" sz="2800" dirty="0">
                  <a:latin typeface="腾讯字体包" panose="02010600010101010101" charset="-128"/>
                  <a:ea typeface="腾讯字体包" panose="02010600010101010101" charset="-128"/>
                </a:rPr>
                <a:t>组反馈分析</a:t>
              </a:r>
              <a:endParaRPr kumimoji="1" lang="zh-CN" altLang="en-US" sz="2800" dirty="0">
                <a:latin typeface="腾讯字体包" panose="02010600010101010101" charset="-128"/>
                <a:ea typeface="腾讯字体包" panose="02010600010101010101" charset="-128"/>
              </a:endParaRPr>
            </a:p>
          </p:txBody>
        </p:sp>
      </p:grpSp>
      <p:graphicFrame>
        <p:nvGraphicFramePr>
          <p:cNvPr id="11" name="图表 10"/>
          <p:cNvGraphicFramePr/>
          <p:nvPr/>
        </p:nvGraphicFramePr>
        <p:xfrm>
          <a:off x="6621449" y="1332629"/>
          <a:ext cx="5101200" cy="306000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13" name="图表 12"/>
          <p:cNvGraphicFramePr/>
          <p:nvPr/>
        </p:nvGraphicFramePr>
        <p:xfrm>
          <a:off x="469352" y="1342005"/>
          <a:ext cx="5101200" cy="306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9" name="表格 18"/>
          <p:cNvGraphicFramePr>
            <a:graphicFrameLocks noGrp="1"/>
          </p:cNvGraphicFramePr>
          <p:nvPr/>
        </p:nvGraphicFramePr>
        <p:xfrm>
          <a:off x="2850266" y="4774315"/>
          <a:ext cx="6480000" cy="1483360"/>
        </p:xfrm>
        <a:graphic>
          <a:graphicData uri="http://schemas.openxmlformats.org/drawingml/2006/table">
            <a:tbl>
              <a:tblPr firstRow="1" firstCol="1" bandRow="1">
                <a:tableStyleId>{5C22544A-7EE6-4342-B048-85BDC9FD1C3A}</a:tableStyleId>
              </a:tblPr>
              <a:tblGrid>
                <a:gridCol w="1296000"/>
                <a:gridCol w="1296000"/>
                <a:gridCol w="1296000"/>
                <a:gridCol w="1296000"/>
                <a:gridCol w="1296000"/>
              </a:tblGrid>
              <a:tr h="370840">
                <a:tc>
                  <a:txBody>
                    <a:bodyPr/>
                    <a:lstStyle/>
                    <a:p>
                      <a:pPr algn="ctr"/>
                      <a:r>
                        <a:rPr lang="zh-CN" altLang="en-US" sz="1600" dirty="0">
                          <a:latin typeface="腾讯字体包" panose="02010600010101010101" charset="-128"/>
                          <a:ea typeface="腾讯字体包" panose="02010600010101010101" charset="-128"/>
                          <a:cs typeface="Times New Roman" panose="02020603050405020304" pitchFamily="18" charset="0"/>
                        </a:rPr>
                        <a:t>严重性</a:t>
                      </a:r>
                      <a:endParaRPr lang="zh-CN" altLang="en-US" sz="1600" dirty="0">
                        <a:latin typeface="腾讯字体包" panose="02010600010101010101" charset="-128"/>
                        <a:ea typeface="腾讯字体包" panose="02010600010101010101" charset="-128"/>
                        <a:cs typeface="Times New Roman" panose="02020603050405020304" pitchFamily="18" charset="0"/>
                      </a:endParaRPr>
                    </a:p>
                  </a:txBody>
                  <a:tcPr/>
                </a:tc>
                <a:tc>
                  <a:txBody>
                    <a:bodyPr/>
                    <a:lstStyle/>
                    <a:p>
                      <a:pPr algn="ctr"/>
                      <a:r>
                        <a:rPr lang="zh-CN" altLang="en-US" sz="1600" dirty="0">
                          <a:latin typeface="腾讯字体包" panose="02010600010101010101" charset="-128"/>
                          <a:ea typeface="腾讯字体包" panose="02010600010101010101" charset="-128"/>
                          <a:cs typeface="Times New Roman" panose="02020603050405020304" pitchFamily="18" charset="0"/>
                        </a:rPr>
                        <a:t>轻微</a:t>
                      </a:r>
                      <a:endParaRPr lang="zh-CN" altLang="en-US" sz="1600" dirty="0">
                        <a:latin typeface="腾讯字体包" panose="02010600010101010101" charset="-128"/>
                        <a:ea typeface="腾讯字体包" panose="02010600010101010101" charset="-128"/>
                        <a:cs typeface="Times New Roman" panose="02020603050405020304" pitchFamily="18" charset="0"/>
                      </a:endParaRPr>
                    </a:p>
                  </a:txBody>
                  <a:tcPr/>
                </a:tc>
                <a:tc>
                  <a:txBody>
                    <a:bodyPr/>
                    <a:lstStyle/>
                    <a:p>
                      <a:pPr algn="ctr"/>
                      <a:r>
                        <a:rPr lang="zh-CN" altLang="en-US" sz="1600" dirty="0">
                          <a:latin typeface="腾讯字体包" panose="02010600010101010101" charset="-128"/>
                          <a:ea typeface="腾讯字体包" panose="02010600010101010101" charset="-128"/>
                          <a:cs typeface="Times New Roman" panose="02020603050405020304" pitchFamily="18" charset="0"/>
                        </a:rPr>
                        <a:t>一般</a:t>
                      </a:r>
                      <a:endParaRPr lang="zh-CN" altLang="en-US" sz="1600" dirty="0">
                        <a:latin typeface="腾讯字体包" panose="02010600010101010101" charset="-128"/>
                        <a:ea typeface="腾讯字体包" panose="02010600010101010101" charset="-128"/>
                        <a:cs typeface="Times New Roman" panose="02020603050405020304" pitchFamily="18" charset="0"/>
                      </a:endParaRPr>
                    </a:p>
                  </a:txBody>
                  <a:tcPr/>
                </a:tc>
                <a:tc>
                  <a:txBody>
                    <a:bodyPr/>
                    <a:lstStyle/>
                    <a:p>
                      <a:pPr algn="ctr"/>
                      <a:r>
                        <a:rPr lang="zh-CN" altLang="en-US" sz="1600" dirty="0">
                          <a:latin typeface="腾讯字体包" panose="02010600010101010101" charset="-128"/>
                          <a:ea typeface="腾讯字体包" panose="02010600010101010101" charset="-128"/>
                          <a:cs typeface="Times New Roman" panose="02020603050405020304" pitchFamily="18" charset="0"/>
                        </a:rPr>
                        <a:t>中等</a:t>
                      </a:r>
                      <a:endParaRPr lang="zh-CN" altLang="en-US" sz="1600" dirty="0">
                        <a:latin typeface="腾讯字体包" panose="02010600010101010101" charset="-128"/>
                        <a:ea typeface="腾讯字体包" panose="02010600010101010101" charset="-128"/>
                        <a:cs typeface="Times New Roman" panose="02020603050405020304" pitchFamily="18" charset="0"/>
                      </a:endParaRPr>
                    </a:p>
                  </a:txBody>
                  <a:tcPr/>
                </a:tc>
                <a:tc>
                  <a:txBody>
                    <a:bodyPr/>
                    <a:lstStyle/>
                    <a:p>
                      <a:pPr algn="ctr"/>
                      <a:r>
                        <a:rPr lang="zh-CN" altLang="en-US" sz="1600" dirty="0">
                          <a:latin typeface="腾讯字体包" panose="02010600010101010101" charset="-128"/>
                          <a:ea typeface="腾讯字体包" panose="02010600010101010101" charset="-128"/>
                          <a:cs typeface="Times New Roman" panose="02020603050405020304" pitchFamily="18" charset="0"/>
                        </a:rPr>
                        <a:t>总计</a:t>
                      </a:r>
                      <a:endParaRPr lang="zh-CN" altLang="en-US" sz="1600" dirty="0">
                        <a:latin typeface="腾讯字体包" panose="02010600010101010101" charset="-128"/>
                        <a:ea typeface="腾讯字体包" panose="02010600010101010101" charset="-128"/>
                        <a:cs typeface="Times New Roman" panose="02020603050405020304" pitchFamily="18" charset="0"/>
                      </a:endParaRPr>
                    </a:p>
                  </a:txBody>
                  <a:tcPr/>
                </a:tc>
              </a:tr>
              <a:tr h="370840">
                <a:tc>
                  <a:txBody>
                    <a:bodyPr/>
                    <a:lstStyle/>
                    <a:p>
                      <a:pPr algn="ctr"/>
                      <a:r>
                        <a:rPr lang="en-US" altLang="zh-CN" sz="1600" dirty="0">
                          <a:latin typeface="腾讯字体包" panose="02010600010101010101" charset="-128"/>
                          <a:ea typeface="腾讯字体包" panose="02010600010101010101" charset="-128"/>
                          <a:cs typeface="腾讯字体包" panose="02010600010101010101" charset="-128"/>
                        </a:rPr>
                        <a:t>H</a:t>
                      </a:r>
                      <a:r>
                        <a:rPr lang="zh-CN" altLang="en-US" sz="1600" dirty="0">
                          <a:latin typeface="腾讯字体包" panose="02010600010101010101" charset="-128"/>
                          <a:ea typeface="腾讯字体包" panose="02010600010101010101" charset="-128"/>
                          <a:cs typeface="腾讯字体包" panose="02010600010101010101" charset="-128"/>
                        </a:rPr>
                        <a:t>组</a:t>
                      </a:r>
                      <a:endParaRPr lang="zh-CN" altLang="en-US" sz="1600" dirty="0">
                        <a:latin typeface="腾讯字体包" panose="02010600010101010101" charset="-128"/>
                        <a:ea typeface="腾讯字体包" panose="02010600010101010101" charset="-128"/>
                        <a:cs typeface="腾讯字体包" panose="02010600010101010101" charset="-128"/>
                      </a:endParaRPr>
                    </a:p>
                  </a:txBody>
                  <a:tcPr/>
                </a:tc>
                <a:tc>
                  <a:txBody>
                    <a:bodyPr/>
                    <a:lstStyle/>
                    <a:p>
                      <a:pPr algn="ctr"/>
                      <a:r>
                        <a:rPr lang="en-US" altLang="zh-CN" sz="1600" dirty="0">
                          <a:latin typeface="腾讯字体包" panose="02010600010101010101" charset="-128"/>
                          <a:ea typeface="腾讯字体包" panose="02010600010101010101" charset="-128"/>
                          <a:cs typeface="Times New Roman" panose="02020603050405020304" pitchFamily="18" charset="0"/>
                        </a:rPr>
                        <a:t>1</a:t>
                      </a:r>
                      <a:endParaRPr lang="en-US" altLang="zh-CN" sz="1600" dirty="0">
                        <a:latin typeface="腾讯字体包" panose="02010600010101010101" charset="-128"/>
                        <a:ea typeface="腾讯字体包" panose="02010600010101010101" charset="-128"/>
                        <a:cs typeface="Times New Roman" panose="02020603050405020304" pitchFamily="18" charset="0"/>
                      </a:endParaRPr>
                    </a:p>
                  </a:txBody>
                  <a:tcPr/>
                </a:tc>
                <a:tc>
                  <a:txBody>
                    <a:bodyPr/>
                    <a:lstStyle/>
                    <a:p>
                      <a:pPr algn="ctr"/>
                      <a:r>
                        <a:rPr lang="en-US" altLang="zh-CN" sz="1600" dirty="0">
                          <a:latin typeface="腾讯字体包" panose="02010600010101010101" charset="-128"/>
                          <a:ea typeface="腾讯字体包" panose="02010600010101010101" charset="-128"/>
                          <a:cs typeface="Times New Roman" panose="02020603050405020304" pitchFamily="18" charset="0"/>
                        </a:rPr>
                        <a:t>13</a:t>
                      </a:r>
                      <a:endParaRPr lang="en-US" altLang="zh-CN" sz="1600" dirty="0">
                        <a:latin typeface="腾讯字体包" panose="02010600010101010101" charset="-128"/>
                        <a:ea typeface="腾讯字体包" panose="02010600010101010101" charset="-128"/>
                        <a:cs typeface="Times New Roman" panose="02020603050405020304" pitchFamily="18" charset="0"/>
                      </a:endParaRPr>
                    </a:p>
                  </a:txBody>
                  <a:tcPr/>
                </a:tc>
                <a:tc>
                  <a:txBody>
                    <a:bodyPr/>
                    <a:lstStyle/>
                    <a:p>
                      <a:pPr algn="ctr"/>
                      <a:r>
                        <a:rPr lang="en-US" altLang="zh-CN" sz="1600" dirty="0">
                          <a:latin typeface="腾讯字体包" panose="02010600010101010101" charset="-128"/>
                          <a:ea typeface="腾讯字体包" panose="02010600010101010101" charset="-128"/>
                          <a:cs typeface="Times New Roman" panose="02020603050405020304" pitchFamily="18" charset="0"/>
                        </a:rPr>
                        <a:t>0</a:t>
                      </a:r>
                      <a:endParaRPr lang="en-US" altLang="zh-CN" sz="1600" dirty="0">
                        <a:latin typeface="腾讯字体包" panose="02010600010101010101" charset="-128"/>
                        <a:ea typeface="腾讯字体包" panose="02010600010101010101" charset="-128"/>
                        <a:cs typeface="Times New Roman" panose="02020603050405020304" pitchFamily="18" charset="0"/>
                      </a:endParaRPr>
                    </a:p>
                  </a:txBody>
                  <a:tcPr/>
                </a:tc>
                <a:tc>
                  <a:txBody>
                    <a:bodyPr/>
                    <a:lstStyle/>
                    <a:p>
                      <a:pPr algn="ctr"/>
                      <a:r>
                        <a:rPr lang="en-US" altLang="zh-CN" sz="1600" dirty="0">
                          <a:latin typeface="腾讯字体包" panose="02010600010101010101" charset="-128"/>
                          <a:ea typeface="腾讯字体包" panose="02010600010101010101" charset="-128"/>
                          <a:cs typeface="Times New Roman" panose="02020603050405020304" pitchFamily="18" charset="0"/>
                        </a:rPr>
                        <a:t>14</a:t>
                      </a:r>
                      <a:endParaRPr lang="en-US" altLang="zh-CN" sz="1600" dirty="0">
                        <a:latin typeface="腾讯字体包" panose="02010600010101010101" charset="-128"/>
                        <a:ea typeface="腾讯字体包" panose="02010600010101010101" charset="-128"/>
                        <a:cs typeface="Times New Roman" panose="02020603050405020304" pitchFamily="18" charset="0"/>
                      </a:endParaRPr>
                    </a:p>
                  </a:txBody>
                  <a:tcPr/>
                </a:tc>
              </a:tr>
              <a:tr h="370840">
                <a:tc>
                  <a:txBody>
                    <a:bodyPr/>
                    <a:lstStyle/>
                    <a:p>
                      <a:pPr algn="ctr"/>
                      <a:r>
                        <a:rPr lang="en-US" altLang="zh-CN" sz="1600" dirty="0">
                          <a:latin typeface="腾讯字体包" panose="02010600010101010101" charset="-128"/>
                          <a:ea typeface="腾讯字体包" panose="02010600010101010101" charset="-128"/>
                          <a:cs typeface="腾讯字体包" panose="02010600010101010101" charset="-128"/>
                        </a:rPr>
                        <a:t>I</a:t>
                      </a:r>
                      <a:r>
                        <a:rPr lang="zh-CN" altLang="en-US" sz="1600" dirty="0">
                          <a:latin typeface="腾讯字体包" panose="02010600010101010101" charset="-128"/>
                          <a:ea typeface="腾讯字体包" panose="02010600010101010101" charset="-128"/>
                          <a:cs typeface="腾讯字体包" panose="02010600010101010101" charset="-128"/>
                        </a:rPr>
                        <a:t>组</a:t>
                      </a:r>
                      <a:endParaRPr lang="zh-CN" altLang="en-US" sz="1600" dirty="0">
                        <a:latin typeface="腾讯字体包" panose="02010600010101010101" charset="-128"/>
                        <a:ea typeface="腾讯字体包" panose="02010600010101010101" charset="-128"/>
                        <a:cs typeface="腾讯字体包" panose="02010600010101010101" charset="-128"/>
                      </a:endParaRPr>
                    </a:p>
                  </a:txBody>
                  <a:tcPr/>
                </a:tc>
                <a:tc>
                  <a:txBody>
                    <a:bodyPr/>
                    <a:lstStyle/>
                    <a:p>
                      <a:pPr algn="ctr"/>
                      <a:r>
                        <a:rPr lang="en-US" altLang="zh-CN" sz="1600" dirty="0">
                          <a:latin typeface="腾讯字体包" panose="02010600010101010101" charset="-128"/>
                          <a:ea typeface="腾讯字体包" panose="02010600010101010101" charset="-128"/>
                          <a:cs typeface="Times New Roman" panose="02020603050405020304" pitchFamily="18" charset="0"/>
                        </a:rPr>
                        <a:t>6</a:t>
                      </a:r>
                      <a:endParaRPr lang="en-US" altLang="zh-CN" sz="1600" dirty="0">
                        <a:latin typeface="腾讯字体包" panose="02010600010101010101" charset="-128"/>
                        <a:ea typeface="腾讯字体包" panose="02010600010101010101" charset="-128"/>
                        <a:cs typeface="Times New Roman" panose="02020603050405020304" pitchFamily="18" charset="0"/>
                      </a:endParaRPr>
                    </a:p>
                  </a:txBody>
                  <a:tcPr/>
                </a:tc>
                <a:tc>
                  <a:txBody>
                    <a:bodyPr/>
                    <a:lstStyle/>
                    <a:p>
                      <a:pPr algn="ctr"/>
                      <a:r>
                        <a:rPr lang="en-US" altLang="zh-CN" sz="1600" dirty="0">
                          <a:latin typeface="腾讯字体包" panose="02010600010101010101" charset="-128"/>
                          <a:ea typeface="腾讯字体包" panose="02010600010101010101" charset="-128"/>
                          <a:cs typeface="Times New Roman" panose="02020603050405020304" pitchFamily="18" charset="0"/>
                        </a:rPr>
                        <a:t>1</a:t>
                      </a:r>
                      <a:endParaRPr lang="en-US" altLang="zh-CN" sz="1600" dirty="0">
                        <a:latin typeface="腾讯字体包" panose="02010600010101010101" charset="-128"/>
                        <a:ea typeface="腾讯字体包" panose="02010600010101010101" charset="-128"/>
                        <a:cs typeface="Times New Roman" panose="02020603050405020304" pitchFamily="18" charset="0"/>
                      </a:endParaRPr>
                    </a:p>
                  </a:txBody>
                  <a:tcPr/>
                </a:tc>
                <a:tc>
                  <a:txBody>
                    <a:bodyPr/>
                    <a:lstStyle/>
                    <a:p>
                      <a:pPr algn="ctr"/>
                      <a:r>
                        <a:rPr lang="en-US" altLang="zh-CN" sz="1600" dirty="0">
                          <a:latin typeface="腾讯字体包" panose="02010600010101010101" charset="-128"/>
                          <a:ea typeface="腾讯字体包" panose="02010600010101010101" charset="-128"/>
                          <a:cs typeface="Times New Roman" panose="02020603050405020304" pitchFamily="18" charset="0"/>
                        </a:rPr>
                        <a:t>8</a:t>
                      </a:r>
                      <a:endParaRPr lang="en-US" altLang="zh-CN" sz="1600" dirty="0">
                        <a:latin typeface="腾讯字体包" panose="02010600010101010101" charset="-128"/>
                        <a:ea typeface="腾讯字体包" panose="02010600010101010101" charset="-128"/>
                        <a:cs typeface="Times New Roman" panose="02020603050405020304" pitchFamily="18" charset="0"/>
                      </a:endParaRPr>
                    </a:p>
                  </a:txBody>
                  <a:tcPr/>
                </a:tc>
                <a:tc>
                  <a:txBody>
                    <a:bodyPr/>
                    <a:lstStyle/>
                    <a:p>
                      <a:pPr algn="ctr"/>
                      <a:r>
                        <a:rPr lang="en-US" altLang="zh-CN" sz="1600" dirty="0">
                          <a:latin typeface="腾讯字体包" panose="02010600010101010101" charset="-128"/>
                          <a:ea typeface="腾讯字体包" panose="02010600010101010101" charset="-128"/>
                          <a:cs typeface="Times New Roman" panose="02020603050405020304" pitchFamily="18" charset="0"/>
                        </a:rPr>
                        <a:t>15</a:t>
                      </a:r>
                      <a:endParaRPr lang="en-US" altLang="zh-CN" sz="1600" dirty="0">
                        <a:latin typeface="腾讯字体包" panose="02010600010101010101" charset="-128"/>
                        <a:ea typeface="腾讯字体包" panose="02010600010101010101" charset="-128"/>
                        <a:cs typeface="Times New Roman" panose="02020603050405020304" pitchFamily="18" charset="0"/>
                      </a:endParaRPr>
                    </a:p>
                  </a:txBody>
                  <a:tcPr/>
                </a:tc>
              </a:tr>
              <a:tr h="370840">
                <a:tc>
                  <a:txBody>
                    <a:bodyPr/>
                    <a:lstStyle/>
                    <a:p>
                      <a:pPr algn="ctr"/>
                      <a:r>
                        <a:rPr lang="zh-CN" altLang="en-US" sz="1600" dirty="0">
                          <a:latin typeface="腾讯字体包" panose="02010600010101010101" charset="-128"/>
                          <a:ea typeface="腾讯字体包" panose="02010600010101010101" charset="-128"/>
                          <a:cs typeface="Times New Roman" panose="02020603050405020304" pitchFamily="18" charset="0"/>
                        </a:rPr>
                        <a:t>总计</a:t>
                      </a:r>
                      <a:endParaRPr lang="zh-CN" altLang="en-US" sz="1600" dirty="0">
                        <a:latin typeface="腾讯字体包" panose="02010600010101010101" charset="-128"/>
                        <a:ea typeface="腾讯字体包" panose="02010600010101010101" charset="-128"/>
                        <a:cs typeface="Times New Roman" panose="02020603050405020304" pitchFamily="18" charset="0"/>
                      </a:endParaRPr>
                    </a:p>
                  </a:txBody>
                  <a:tcPr/>
                </a:tc>
                <a:tc>
                  <a:txBody>
                    <a:bodyPr/>
                    <a:lstStyle/>
                    <a:p>
                      <a:pPr algn="ctr"/>
                      <a:r>
                        <a:rPr lang="en-US" altLang="zh-CN" sz="1600" dirty="0">
                          <a:latin typeface="腾讯字体包" panose="02010600010101010101" charset="-128"/>
                          <a:ea typeface="腾讯字体包" panose="02010600010101010101" charset="-128"/>
                          <a:cs typeface="Times New Roman" panose="02020603050405020304" pitchFamily="18" charset="0"/>
                        </a:rPr>
                        <a:t>7</a:t>
                      </a:r>
                      <a:endParaRPr lang="en-US" altLang="zh-CN" sz="1600" dirty="0">
                        <a:latin typeface="腾讯字体包" panose="02010600010101010101" charset="-128"/>
                        <a:ea typeface="腾讯字体包" panose="02010600010101010101" charset="-128"/>
                        <a:cs typeface="Times New Roman" panose="02020603050405020304" pitchFamily="18" charset="0"/>
                      </a:endParaRPr>
                    </a:p>
                  </a:txBody>
                  <a:tcPr/>
                </a:tc>
                <a:tc>
                  <a:txBody>
                    <a:bodyPr/>
                    <a:lstStyle/>
                    <a:p>
                      <a:pPr algn="ctr"/>
                      <a:r>
                        <a:rPr lang="en-US" altLang="zh-CN" sz="1600" dirty="0">
                          <a:latin typeface="腾讯字体包" panose="02010600010101010101" charset="-128"/>
                          <a:ea typeface="腾讯字体包" panose="02010600010101010101" charset="-128"/>
                          <a:cs typeface="Times New Roman" panose="02020603050405020304" pitchFamily="18" charset="0"/>
                        </a:rPr>
                        <a:t>14</a:t>
                      </a:r>
                      <a:endParaRPr lang="en-US" altLang="zh-CN" sz="1600" dirty="0">
                        <a:latin typeface="腾讯字体包" panose="02010600010101010101" charset="-128"/>
                        <a:ea typeface="腾讯字体包" panose="02010600010101010101" charset="-128"/>
                        <a:cs typeface="Times New Roman" panose="02020603050405020304" pitchFamily="18" charset="0"/>
                      </a:endParaRPr>
                    </a:p>
                  </a:txBody>
                  <a:tcPr/>
                </a:tc>
                <a:tc>
                  <a:txBody>
                    <a:bodyPr/>
                    <a:lstStyle/>
                    <a:p>
                      <a:pPr algn="ctr"/>
                      <a:r>
                        <a:rPr lang="en-US" altLang="zh-CN" sz="1600" dirty="0">
                          <a:latin typeface="腾讯字体包" panose="02010600010101010101" charset="-128"/>
                          <a:ea typeface="腾讯字体包" panose="02010600010101010101" charset="-128"/>
                          <a:cs typeface="Times New Roman" panose="02020603050405020304" pitchFamily="18" charset="0"/>
                        </a:rPr>
                        <a:t>8</a:t>
                      </a:r>
                      <a:endParaRPr lang="en-US" altLang="zh-CN" sz="1600" dirty="0">
                        <a:latin typeface="腾讯字体包" panose="02010600010101010101" charset="-128"/>
                        <a:ea typeface="腾讯字体包" panose="02010600010101010101" charset="-128"/>
                        <a:cs typeface="Times New Roman" panose="02020603050405020304" pitchFamily="18" charset="0"/>
                      </a:endParaRPr>
                    </a:p>
                  </a:txBody>
                  <a:tcPr/>
                </a:tc>
                <a:tc>
                  <a:txBody>
                    <a:bodyPr/>
                    <a:lstStyle/>
                    <a:p>
                      <a:pPr algn="ctr"/>
                      <a:r>
                        <a:rPr lang="en-US" altLang="zh-CN" sz="1600" u="sng" dirty="0">
                          <a:solidFill>
                            <a:srgbClr val="C00000"/>
                          </a:solidFill>
                          <a:latin typeface="腾讯字体包" panose="02010600010101010101" charset="-128"/>
                          <a:ea typeface="腾讯字体包" panose="02010600010101010101" charset="-128"/>
                          <a:cs typeface="Times New Roman" panose="02020603050405020304" pitchFamily="18" charset="0"/>
                        </a:rPr>
                        <a:t>29</a:t>
                      </a:r>
                      <a:endParaRPr lang="en-US" altLang="zh-CN" sz="1600" u="sng" dirty="0">
                        <a:solidFill>
                          <a:srgbClr val="C00000"/>
                        </a:solidFill>
                        <a:latin typeface="腾讯字体包" panose="02010600010101010101" charset="-128"/>
                        <a:ea typeface="腾讯字体包" panose="02010600010101010101" charset="-128"/>
                        <a:cs typeface="Times New Roman" panose="02020603050405020304" pitchFamily="18" charset="0"/>
                      </a:endParaRPr>
                    </a:p>
                  </a:txBody>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nvGrpSpPr>
        <p:grpSpPr>
          <a:xfrm>
            <a:off x="283625" y="712715"/>
            <a:ext cx="11520000" cy="576000"/>
            <a:chOff x="582710" y="712715"/>
            <a:chExt cx="11527790" cy="572075"/>
          </a:xfrm>
        </p:grpSpPr>
        <p:sp>
          <p:nvSpPr>
            <p:cNvPr id="17" name="矩形 16"/>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文本框 17"/>
            <p:cNvSpPr txBox="1"/>
            <p:nvPr/>
          </p:nvSpPr>
          <p:spPr>
            <a:xfrm>
              <a:off x="676055" y="712715"/>
              <a:ext cx="1143444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2800" dirty="0">
                  <a:latin typeface="腾讯字体包" panose="02010600010101010101" charset="-128"/>
                  <a:ea typeface="腾讯字体包" panose="02010600010101010101" charset="-128"/>
                </a:rPr>
                <a:t>HI</a:t>
              </a:r>
              <a:r>
                <a:rPr kumimoji="1" lang="zh-CN" altLang="en-US" sz="2800" dirty="0">
                  <a:latin typeface="腾讯字体包" panose="02010600010101010101" charset="-128"/>
                  <a:ea typeface="腾讯字体包" panose="02010600010101010101" charset="-128"/>
                </a:rPr>
                <a:t>组反馈分析</a:t>
              </a:r>
              <a:endParaRPr kumimoji="1" lang="zh-CN" altLang="en-US" sz="2800" dirty="0">
                <a:latin typeface="腾讯字体包" panose="02010600010101010101" charset="-128"/>
                <a:ea typeface="腾讯字体包" panose="02010600010101010101" charset="-128"/>
              </a:endParaRPr>
            </a:p>
          </p:txBody>
        </p:sp>
      </p:grpSp>
      <p:graphicFrame>
        <p:nvGraphicFramePr>
          <p:cNvPr id="19" name="表格 18"/>
          <p:cNvGraphicFramePr>
            <a:graphicFrameLocks noGrp="1"/>
          </p:cNvGraphicFramePr>
          <p:nvPr/>
        </p:nvGraphicFramePr>
        <p:xfrm>
          <a:off x="3539666" y="4770413"/>
          <a:ext cx="5101200" cy="1483360"/>
        </p:xfrm>
        <a:graphic>
          <a:graphicData uri="http://schemas.openxmlformats.org/drawingml/2006/table">
            <a:tbl>
              <a:tblPr firstRow="1" firstCol="1" bandRow="1">
                <a:tableStyleId>{5C22544A-7EE6-4342-B048-85BDC9FD1C3A}</a:tableStyleId>
              </a:tblPr>
              <a:tblGrid>
                <a:gridCol w="1020240"/>
                <a:gridCol w="1020240"/>
                <a:gridCol w="1020240"/>
                <a:gridCol w="1020240"/>
                <a:gridCol w="1020240"/>
              </a:tblGrid>
              <a:tr h="370840">
                <a:tc>
                  <a:txBody>
                    <a:bodyPr/>
                    <a:lstStyle/>
                    <a:p>
                      <a:pPr algn="ctr"/>
                      <a:r>
                        <a:rPr lang="zh-CN" altLang="en-US" sz="1600" dirty="0">
                          <a:latin typeface="腾讯字体包" panose="02010600010101010101" charset="-128"/>
                          <a:ea typeface="腾讯字体包" panose="02010600010101010101" charset="-128"/>
                          <a:cs typeface="Times New Roman" panose="02020603050405020304" pitchFamily="18" charset="0"/>
                        </a:rPr>
                        <a:t>问题类别</a:t>
                      </a:r>
                      <a:endParaRPr lang="zh-CN" altLang="en-US" sz="1600" dirty="0">
                        <a:latin typeface="腾讯字体包" panose="02010600010101010101" charset="-128"/>
                        <a:ea typeface="腾讯字体包" panose="02010600010101010101" charset="-128"/>
                        <a:cs typeface="Times New Roman" panose="02020603050405020304" pitchFamily="18" charset="0"/>
                      </a:endParaRPr>
                    </a:p>
                  </a:txBody>
                  <a:tcPr/>
                </a:tc>
                <a:tc>
                  <a:txBody>
                    <a:bodyPr/>
                    <a:lstStyle/>
                    <a:p>
                      <a:pPr algn="ctr"/>
                      <a:r>
                        <a:rPr lang="zh-CN" altLang="en-US" sz="1600" dirty="0">
                          <a:latin typeface="腾讯字体包" panose="02010600010101010101" charset="-128"/>
                          <a:ea typeface="腾讯字体包" panose="02010600010101010101" charset="-128"/>
                          <a:cs typeface="Times New Roman" panose="02020603050405020304" pitchFamily="18" charset="0"/>
                        </a:rPr>
                        <a:t>一致性</a:t>
                      </a:r>
                      <a:endParaRPr lang="zh-CN" altLang="en-US" sz="1600" dirty="0">
                        <a:latin typeface="腾讯字体包" panose="02010600010101010101" charset="-128"/>
                        <a:ea typeface="腾讯字体包" panose="02010600010101010101" charset="-128"/>
                        <a:cs typeface="Times New Roman" panose="02020603050405020304" pitchFamily="18" charset="0"/>
                      </a:endParaRPr>
                    </a:p>
                  </a:txBody>
                  <a:tcPr/>
                </a:tc>
                <a:tc>
                  <a:txBody>
                    <a:bodyPr/>
                    <a:lstStyle/>
                    <a:p>
                      <a:pPr algn="ctr"/>
                      <a:r>
                        <a:rPr lang="zh-CN" altLang="en-US" sz="1600" dirty="0">
                          <a:latin typeface="腾讯字体包" panose="02010600010101010101" charset="-128"/>
                          <a:ea typeface="腾讯字体包" panose="02010600010101010101" charset="-128"/>
                          <a:cs typeface="Times New Roman" panose="02020603050405020304" pitchFamily="18" charset="0"/>
                        </a:rPr>
                        <a:t>规范性</a:t>
                      </a:r>
                      <a:endParaRPr lang="zh-CN" altLang="en-US" sz="1600" dirty="0">
                        <a:latin typeface="腾讯字体包" panose="02010600010101010101" charset="-128"/>
                        <a:ea typeface="腾讯字体包" panose="02010600010101010101" charset="-128"/>
                        <a:cs typeface="Times New Roman" panose="02020603050405020304" pitchFamily="18" charset="0"/>
                      </a:endParaRPr>
                    </a:p>
                  </a:txBody>
                  <a:tcPr/>
                </a:tc>
                <a:tc>
                  <a:txBody>
                    <a:bodyPr/>
                    <a:lstStyle/>
                    <a:p>
                      <a:pPr algn="ctr"/>
                      <a:r>
                        <a:rPr lang="zh-CN" altLang="en-US" sz="1600" dirty="0">
                          <a:latin typeface="腾讯字体包" panose="02010600010101010101" charset="-128"/>
                          <a:ea typeface="腾讯字体包" panose="02010600010101010101" charset="-128"/>
                          <a:cs typeface="Times New Roman" panose="02020603050405020304" pitchFamily="18" charset="0"/>
                        </a:rPr>
                        <a:t>准确性</a:t>
                      </a:r>
                      <a:endParaRPr lang="zh-CN" altLang="en-US" sz="1600" dirty="0">
                        <a:latin typeface="腾讯字体包" panose="02010600010101010101" charset="-128"/>
                        <a:ea typeface="腾讯字体包" panose="02010600010101010101" charset="-128"/>
                        <a:cs typeface="Times New Roman" panose="02020603050405020304" pitchFamily="18" charset="0"/>
                      </a:endParaRPr>
                    </a:p>
                  </a:txBody>
                  <a:tcPr/>
                </a:tc>
                <a:tc>
                  <a:txBody>
                    <a:bodyPr/>
                    <a:lstStyle/>
                    <a:p>
                      <a:pPr algn="ctr"/>
                      <a:r>
                        <a:rPr lang="zh-CN" altLang="en-US" sz="1600" dirty="0">
                          <a:latin typeface="腾讯字体包" panose="02010600010101010101" charset="-128"/>
                          <a:ea typeface="腾讯字体包" panose="02010600010101010101" charset="-128"/>
                          <a:cs typeface="Times New Roman" panose="02020603050405020304" pitchFamily="18" charset="0"/>
                        </a:rPr>
                        <a:t>完整性</a:t>
                      </a:r>
                      <a:endParaRPr lang="zh-CN" altLang="en-US" sz="1600" dirty="0">
                        <a:latin typeface="腾讯字体包" panose="02010600010101010101" charset="-128"/>
                        <a:ea typeface="腾讯字体包" panose="02010600010101010101" charset="-128"/>
                        <a:cs typeface="Times New Roman" panose="02020603050405020304" pitchFamily="18" charset="0"/>
                      </a:endParaRPr>
                    </a:p>
                  </a:txBody>
                  <a:tcPr/>
                </a:tc>
              </a:tr>
              <a:tr h="370840">
                <a:tc>
                  <a:txBody>
                    <a:bodyPr/>
                    <a:lstStyle/>
                    <a:p>
                      <a:pPr algn="ctr"/>
                      <a:r>
                        <a:rPr lang="en-US" altLang="zh-CN" sz="1600" dirty="0">
                          <a:latin typeface="腾讯字体包" panose="02010600010101010101" charset="-128"/>
                          <a:ea typeface="腾讯字体包" panose="02010600010101010101" charset="-128"/>
                          <a:cs typeface="腾讯字体包" panose="02010600010101010101" charset="-128"/>
                        </a:rPr>
                        <a:t>H</a:t>
                      </a:r>
                      <a:r>
                        <a:rPr lang="zh-CN" altLang="en-US" sz="1600" dirty="0">
                          <a:latin typeface="腾讯字体包" panose="02010600010101010101" charset="-128"/>
                          <a:ea typeface="腾讯字体包" panose="02010600010101010101" charset="-128"/>
                          <a:cs typeface="腾讯字体包" panose="02010600010101010101" charset="-128"/>
                        </a:rPr>
                        <a:t>组</a:t>
                      </a:r>
                      <a:endParaRPr lang="zh-CN" altLang="en-US" sz="1600" dirty="0">
                        <a:latin typeface="腾讯字体包" panose="02010600010101010101" charset="-128"/>
                        <a:ea typeface="腾讯字体包" panose="02010600010101010101" charset="-128"/>
                        <a:cs typeface="腾讯字体包" panose="02010600010101010101" charset="-128"/>
                      </a:endParaRPr>
                    </a:p>
                  </a:txBody>
                  <a:tcPr/>
                </a:tc>
                <a:tc>
                  <a:txBody>
                    <a:bodyPr/>
                    <a:lstStyle/>
                    <a:p>
                      <a:pPr algn="ctr"/>
                      <a:r>
                        <a:rPr lang="en-US" altLang="zh-CN" sz="1600" dirty="0">
                          <a:latin typeface="腾讯字体包" panose="02010600010101010101" charset="-128"/>
                          <a:ea typeface="腾讯字体包" panose="02010600010101010101" charset="-128"/>
                          <a:cs typeface="Times New Roman" panose="02020603050405020304" pitchFamily="18" charset="0"/>
                        </a:rPr>
                        <a:t>4</a:t>
                      </a:r>
                      <a:endParaRPr lang="en-US" altLang="zh-CN" sz="1600" dirty="0">
                        <a:latin typeface="腾讯字体包" panose="02010600010101010101" charset="-128"/>
                        <a:ea typeface="腾讯字体包" panose="02010600010101010101" charset="-128"/>
                        <a:cs typeface="Times New Roman" panose="02020603050405020304" pitchFamily="18" charset="0"/>
                      </a:endParaRPr>
                    </a:p>
                  </a:txBody>
                  <a:tcPr/>
                </a:tc>
                <a:tc>
                  <a:txBody>
                    <a:bodyPr/>
                    <a:lstStyle/>
                    <a:p>
                      <a:pPr algn="ctr"/>
                      <a:r>
                        <a:rPr lang="en-US" altLang="zh-CN" sz="1600" dirty="0">
                          <a:latin typeface="腾讯字体包" panose="02010600010101010101" charset="-128"/>
                          <a:ea typeface="腾讯字体包" panose="02010600010101010101" charset="-128"/>
                          <a:cs typeface="Times New Roman" panose="02020603050405020304" pitchFamily="18" charset="0"/>
                        </a:rPr>
                        <a:t>1</a:t>
                      </a:r>
                      <a:endParaRPr lang="en-US" altLang="zh-CN" sz="1600" dirty="0">
                        <a:latin typeface="腾讯字体包" panose="02010600010101010101" charset="-128"/>
                        <a:ea typeface="腾讯字体包" panose="02010600010101010101" charset="-128"/>
                        <a:cs typeface="Times New Roman" panose="02020603050405020304" pitchFamily="18" charset="0"/>
                      </a:endParaRPr>
                    </a:p>
                  </a:txBody>
                  <a:tcPr/>
                </a:tc>
                <a:tc>
                  <a:txBody>
                    <a:bodyPr/>
                    <a:lstStyle/>
                    <a:p>
                      <a:pPr algn="ctr"/>
                      <a:r>
                        <a:rPr lang="en-US" altLang="zh-CN" sz="1600" dirty="0">
                          <a:latin typeface="腾讯字体包" panose="02010600010101010101" charset="-128"/>
                          <a:ea typeface="腾讯字体包" panose="02010600010101010101" charset="-128"/>
                          <a:cs typeface="Times New Roman" panose="02020603050405020304" pitchFamily="18" charset="0"/>
                        </a:rPr>
                        <a:t>7</a:t>
                      </a:r>
                      <a:endParaRPr lang="en-US" altLang="zh-CN" sz="1600" dirty="0">
                        <a:latin typeface="腾讯字体包" panose="02010600010101010101" charset="-128"/>
                        <a:ea typeface="腾讯字体包" panose="02010600010101010101" charset="-128"/>
                        <a:cs typeface="Times New Roman" panose="02020603050405020304" pitchFamily="18" charset="0"/>
                      </a:endParaRPr>
                    </a:p>
                  </a:txBody>
                  <a:tcPr/>
                </a:tc>
                <a:tc>
                  <a:txBody>
                    <a:bodyPr/>
                    <a:lstStyle/>
                    <a:p>
                      <a:pPr algn="ctr"/>
                      <a:r>
                        <a:rPr lang="en-US" altLang="zh-CN" sz="1600" dirty="0">
                          <a:latin typeface="腾讯字体包" panose="02010600010101010101" charset="-128"/>
                          <a:ea typeface="腾讯字体包" panose="02010600010101010101" charset="-128"/>
                          <a:cs typeface="Times New Roman" panose="02020603050405020304" pitchFamily="18" charset="0"/>
                        </a:rPr>
                        <a:t>2</a:t>
                      </a:r>
                      <a:endParaRPr lang="en-US" altLang="zh-CN" sz="1600" dirty="0">
                        <a:latin typeface="腾讯字体包" panose="02010600010101010101" charset="-128"/>
                        <a:ea typeface="腾讯字体包" panose="02010600010101010101" charset="-128"/>
                        <a:cs typeface="Times New Roman" panose="02020603050405020304" pitchFamily="18" charset="0"/>
                      </a:endParaRPr>
                    </a:p>
                  </a:txBody>
                  <a:tcPr/>
                </a:tc>
              </a:tr>
              <a:tr h="370840">
                <a:tc>
                  <a:txBody>
                    <a:bodyPr/>
                    <a:lstStyle/>
                    <a:p>
                      <a:pPr algn="ctr"/>
                      <a:r>
                        <a:rPr lang="en-US" altLang="zh-CN" sz="1600" dirty="0">
                          <a:latin typeface="腾讯字体包" panose="02010600010101010101" charset="-128"/>
                          <a:ea typeface="腾讯字体包" panose="02010600010101010101" charset="-128"/>
                          <a:cs typeface="腾讯字体包" panose="02010600010101010101" charset="-128"/>
                        </a:rPr>
                        <a:t>I</a:t>
                      </a:r>
                      <a:r>
                        <a:rPr lang="zh-CN" altLang="en-US" sz="1600" dirty="0">
                          <a:latin typeface="腾讯字体包" panose="02010600010101010101" charset="-128"/>
                          <a:ea typeface="腾讯字体包" panose="02010600010101010101" charset="-128"/>
                          <a:cs typeface="腾讯字体包" panose="02010600010101010101" charset="-128"/>
                        </a:rPr>
                        <a:t>组</a:t>
                      </a:r>
                      <a:endParaRPr lang="zh-CN" altLang="en-US" sz="1600" dirty="0">
                        <a:latin typeface="腾讯字体包" panose="02010600010101010101" charset="-128"/>
                        <a:ea typeface="腾讯字体包" panose="02010600010101010101" charset="-128"/>
                        <a:cs typeface="腾讯字体包" panose="02010600010101010101" charset="-128"/>
                      </a:endParaRPr>
                    </a:p>
                  </a:txBody>
                  <a:tcPr/>
                </a:tc>
                <a:tc>
                  <a:txBody>
                    <a:bodyPr/>
                    <a:lstStyle/>
                    <a:p>
                      <a:pPr algn="ctr"/>
                      <a:r>
                        <a:rPr lang="en-US" altLang="zh-CN" sz="1600" dirty="0">
                          <a:latin typeface="腾讯字体包" panose="02010600010101010101" charset="-128"/>
                          <a:ea typeface="腾讯字体包" panose="02010600010101010101" charset="-128"/>
                          <a:cs typeface="Times New Roman" panose="02020603050405020304" pitchFamily="18" charset="0"/>
                        </a:rPr>
                        <a:t>1</a:t>
                      </a:r>
                      <a:endParaRPr lang="en-US" altLang="zh-CN" sz="1600" dirty="0">
                        <a:latin typeface="腾讯字体包" panose="02010600010101010101" charset="-128"/>
                        <a:ea typeface="腾讯字体包" panose="02010600010101010101" charset="-128"/>
                        <a:cs typeface="Times New Roman" panose="02020603050405020304" pitchFamily="18" charset="0"/>
                      </a:endParaRPr>
                    </a:p>
                  </a:txBody>
                  <a:tcPr/>
                </a:tc>
                <a:tc>
                  <a:txBody>
                    <a:bodyPr/>
                    <a:lstStyle/>
                    <a:p>
                      <a:pPr algn="ctr"/>
                      <a:r>
                        <a:rPr lang="en-US" altLang="zh-CN" sz="1600" dirty="0">
                          <a:latin typeface="腾讯字体包" panose="02010600010101010101" charset="-128"/>
                          <a:ea typeface="腾讯字体包" panose="02010600010101010101" charset="-128"/>
                          <a:cs typeface="Times New Roman" panose="02020603050405020304" pitchFamily="18" charset="0"/>
                        </a:rPr>
                        <a:t>2</a:t>
                      </a:r>
                      <a:endParaRPr lang="en-US" altLang="zh-CN" sz="1600" dirty="0">
                        <a:latin typeface="腾讯字体包" panose="02010600010101010101" charset="-128"/>
                        <a:ea typeface="腾讯字体包" panose="02010600010101010101" charset="-128"/>
                        <a:cs typeface="Times New Roman" panose="02020603050405020304" pitchFamily="18" charset="0"/>
                      </a:endParaRPr>
                    </a:p>
                  </a:txBody>
                  <a:tcPr/>
                </a:tc>
                <a:tc>
                  <a:txBody>
                    <a:bodyPr/>
                    <a:lstStyle/>
                    <a:p>
                      <a:pPr algn="ctr"/>
                      <a:r>
                        <a:rPr lang="en-US" altLang="zh-CN" sz="1600" dirty="0">
                          <a:latin typeface="腾讯字体包" panose="02010600010101010101" charset="-128"/>
                          <a:ea typeface="腾讯字体包" panose="02010600010101010101" charset="-128"/>
                          <a:cs typeface="Times New Roman" panose="02020603050405020304" pitchFamily="18" charset="0"/>
                        </a:rPr>
                        <a:t>7</a:t>
                      </a:r>
                      <a:endParaRPr lang="en-US" altLang="zh-CN" sz="1600" dirty="0">
                        <a:latin typeface="腾讯字体包" panose="02010600010101010101" charset="-128"/>
                        <a:ea typeface="腾讯字体包" panose="02010600010101010101" charset="-128"/>
                        <a:cs typeface="Times New Roman" panose="02020603050405020304" pitchFamily="18" charset="0"/>
                      </a:endParaRPr>
                    </a:p>
                  </a:txBody>
                  <a:tcPr/>
                </a:tc>
                <a:tc>
                  <a:txBody>
                    <a:bodyPr/>
                    <a:lstStyle/>
                    <a:p>
                      <a:pPr algn="ctr"/>
                      <a:r>
                        <a:rPr lang="en-US" altLang="zh-CN" sz="1600" dirty="0">
                          <a:latin typeface="腾讯字体包" panose="02010600010101010101" charset="-128"/>
                          <a:ea typeface="腾讯字体包" panose="02010600010101010101" charset="-128"/>
                          <a:cs typeface="Times New Roman" panose="02020603050405020304" pitchFamily="18" charset="0"/>
                        </a:rPr>
                        <a:t>5</a:t>
                      </a:r>
                      <a:endParaRPr lang="en-US" altLang="zh-CN" sz="1600" dirty="0">
                        <a:latin typeface="腾讯字体包" panose="02010600010101010101" charset="-128"/>
                        <a:ea typeface="腾讯字体包" panose="02010600010101010101" charset="-128"/>
                        <a:cs typeface="Times New Roman" panose="02020603050405020304" pitchFamily="18" charset="0"/>
                      </a:endParaRPr>
                    </a:p>
                  </a:txBody>
                  <a:tcPr/>
                </a:tc>
              </a:tr>
              <a:tr h="370840">
                <a:tc>
                  <a:txBody>
                    <a:bodyPr/>
                    <a:lstStyle/>
                    <a:p>
                      <a:pPr algn="ctr"/>
                      <a:r>
                        <a:rPr lang="zh-CN" altLang="en-US" sz="1600" dirty="0">
                          <a:latin typeface="腾讯字体包" panose="02010600010101010101" charset="-128"/>
                          <a:ea typeface="腾讯字体包" panose="02010600010101010101" charset="-128"/>
                          <a:cs typeface="Times New Roman" panose="02020603050405020304" pitchFamily="18" charset="0"/>
                        </a:rPr>
                        <a:t>总计</a:t>
                      </a:r>
                      <a:endParaRPr lang="zh-CN" altLang="en-US" sz="1600" dirty="0">
                        <a:latin typeface="腾讯字体包" panose="02010600010101010101" charset="-128"/>
                        <a:ea typeface="腾讯字体包" panose="02010600010101010101" charset="-128"/>
                        <a:cs typeface="Times New Roman" panose="02020603050405020304" pitchFamily="18" charset="0"/>
                      </a:endParaRPr>
                    </a:p>
                  </a:txBody>
                  <a:tcPr/>
                </a:tc>
                <a:tc>
                  <a:txBody>
                    <a:bodyPr/>
                    <a:lstStyle/>
                    <a:p>
                      <a:pPr algn="ctr"/>
                      <a:r>
                        <a:rPr lang="en-US" altLang="zh-CN" sz="1600" dirty="0">
                          <a:latin typeface="腾讯字体包" panose="02010600010101010101" charset="-128"/>
                          <a:ea typeface="腾讯字体包" panose="02010600010101010101" charset="-128"/>
                          <a:cs typeface="Times New Roman" panose="02020603050405020304" pitchFamily="18" charset="0"/>
                        </a:rPr>
                        <a:t>5</a:t>
                      </a:r>
                      <a:endParaRPr lang="en-US" altLang="zh-CN" sz="1600" dirty="0">
                        <a:latin typeface="腾讯字体包" panose="02010600010101010101" charset="-128"/>
                        <a:ea typeface="腾讯字体包" panose="02010600010101010101" charset="-128"/>
                        <a:cs typeface="Times New Roman" panose="02020603050405020304" pitchFamily="18" charset="0"/>
                      </a:endParaRPr>
                    </a:p>
                  </a:txBody>
                  <a:tcPr/>
                </a:tc>
                <a:tc>
                  <a:txBody>
                    <a:bodyPr/>
                    <a:lstStyle/>
                    <a:p>
                      <a:pPr algn="ctr"/>
                      <a:r>
                        <a:rPr lang="en-US" altLang="zh-CN" sz="1600" dirty="0">
                          <a:latin typeface="腾讯字体包" panose="02010600010101010101" charset="-128"/>
                          <a:ea typeface="腾讯字体包" panose="02010600010101010101" charset="-128"/>
                          <a:cs typeface="Times New Roman" panose="02020603050405020304" pitchFamily="18" charset="0"/>
                        </a:rPr>
                        <a:t>3</a:t>
                      </a:r>
                      <a:endParaRPr lang="en-US" altLang="zh-CN" sz="1600" dirty="0">
                        <a:latin typeface="腾讯字体包" panose="02010600010101010101" charset="-128"/>
                        <a:ea typeface="腾讯字体包" panose="02010600010101010101" charset="-128"/>
                        <a:cs typeface="Times New Roman" panose="02020603050405020304" pitchFamily="18" charset="0"/>
                      </a:endParaRPr>
                    </a:p>
                  </a:txBody>
                  <a:tcPr/>
                </a:tc>
                <a:tc>
                  <a:txBody>
                    <a:bodyPr/>
                    <a:lstStyle/>
                    <a:p>
                      <a:pPr algn="ctr"/>
                      <a:r>
                        <a:rPr lang="en-US" altLang="zh-CN" sz="1600" dirty="0">
                          <a:latin typeface="腾讯字体包" panose="02010600010101010101" charset="-128"/>
                          <a:ea typeface="腾讯字体包" panose="02010600010101010101" charset="-128"/>
                          <a:cs typeface="Times New Roman" panose="02020603050405020304" pitchFamily="18" charset="0"/>
                        </a:rPr>
                        <a:t>14</a:t>
                      </a:r>
                      <a:endParaRPr lang="en-US" altLang="zh-CN" sz="1600" dirty="0">
                        <a:latin typeface="腾讯字体包" panose="02010600010101010101" charset="-128"/>
                        <a:ea typeface="腾讯字体包" panose="02010600010101010101" charset="-128"/>
                        <a:cs typeface="Times New Roman" panose="02020603050405020304" pitchFamily="18" charset="0"/>
                      </a:endParaRPr>
                    </a:p>
                  </a:txBody>
                  <a:tcPr/>
                </a:tc>
                <a:tc>
                  <a:txBody>
                    <a:bodyPr/>
                    <a:lstStyle/>
                    <a:p>
                      <a:pPr algn="ctr"/>
                      <a:r>
                        <a:rPr lang="en-US" altLang="zh-CN" sz="1600" dirty="0">
                          <a:latin typeface="腾讯字体包" panose="02010600010101010101" charset="-128"/>
                          <a:ea typeface="腾讯字体包" panose="02010600010101010101" charset="-128"/>
                          <a:cs typeface="Times New Roman" panose="02020603050405020304" pitchFamily="18" charset="0"/>
                        </a:rPr>
                        <a:t>7</a:t>
                      </a:r>
                      <a:endParaRPr lang="en-US" altLang="zh-CN" sz="1600" dirty="0">
                        <a:latin typeface="腾讯字体包" panose="02010600010101010101" charset="-128"/>
                        <a:ea typeface="腾讯字体包" panose="02010600010101010101" charset="-128"/>
                        <a:cs typeface="Times New Roman" panose="02020603050405020304" pitchFamily="18" charset="0"/>
                      </a:endParaRPr>
                    </a:p>
                  </a:txBody>
                  <a:tcPr/>
                </a:tc>
              </a:tr>
            </a:tbl>
          </a:graphicData>
        </a:graphic>
      </p:graphicFrame>
      <p:graphicFrame>
        <p:nvGraphicFramePr>
          <p:cNvPr id="2" name="图表 1"/>
          <p:cNvGraphicFramePr/>
          <p:nvPr/>
        </p:nvGraphicFramePr>
        <p:xfrm>
          <a:off x="3539666" y="1439838"/>
          <a:ext cx="5101200" cy="3060000"/>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263940" y="718430"/>
            <a:ext cx="11520000" cy="576000"/>
            <a:chOff x="582710" y="712715"/>
            <a:chExt cx="11527790" cy="572075"/>
          </a:xfrm>
        </p:grpSpPr>
        <p:sp>
          <p:nvSpPr>
            <p:cNvPr id="8" name="矩形 7"/>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 name="文本框 8"/>
            <p:cNvSpPr txBox="1"/>
            <p:nvPr/>
          </p:nvSpPr>
          <p:spPr>
            <a:xfrm>
              <a:off x="676055" y="712715"/>
              <a:ext cx="11434445" cy="51841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2800" dirty="0">
                  <a:latin typeface="腾讯字体包" panose="02010600010101010101" charset="-128"/>
                  <a:ea typeface="腾讯字体包" panose="02010600010101010101" charset="-128"/>
                </a:rPr>
                <a:t>HI</a:t>
              </a:r>
              <a:r>
                <a:rPr kumimoji="1" lang="zh-CN" altLang="en-US" sz="2800" dirty="0">
                  <a:latin typeface="腾讯字体包" panose="02010600010101010101" charset="-128"/>
                  <a:ea typeface="腾讯字体包" panose="02010600010101010101" charset="-128"/>
                </a:rPr>
                <a:t>组反馈分析</a:t>
              </a:r>
              <a:endParaRPr kumimoji="1" lang="zh-CN" altLang="en-US" sz="2800" dirty="0">
                <a:latin typeface="腾讯字体包" panose="02010600010101010101" charset="-128"/>
                <a:ea typeface="腾讯字体包" panose="02010600010101010101" charset="-128"/>
              </a:endParaRPr>
            </a:p>
          </p:txBody>
        </p:sp>
      </p:grpSp>
      <p:sp>
        <p:nvSpPr>
          <p:cNvPr id="11" name="内容占位符 10"/>
          <p:cNvSpPr>
            <a:spLocks noGrp="1"/>
          </p:cNvSpPr>
          <p:nvPr>
            <p:ph idx="1"/>
          </p:nvPr>
        </p:nvSpPr>
        <p:spPr>
          <a:xfrm>
            <a:off x="447675" y="1405255"/>
            <a:ext cx="6294120" cy="5155565"/>
          </a:xfrm>
        </p:spPr>
        <p:txBody>
          <a:bodyPr>
            <a:normAutofit/>
          </a:bodyPr>
          <a:lstStyle/>
          <a:p>
            <a:pPr marL="285750" indent="-285750" algn="l">
              <a:lnSpc>
                <a:spcPct val="125000"/>
              </a:lnSpc>
              <a:spcAft>
                <a:spcPts val="0"/>
              </a:spcAft>
              <a:buClrTx/>
              <a:buSzTx/>
              <a:buFont typeface="Arial" panose="020B0604020202020204" pitchFamily="34" charset="0"/>
              <a:buChar char="•"/>
            </a:pPr>
            <a:r>
              <a:rPr lang="en-US" altLang="zh-CN" sz="1800" dirty="0">
                <a:solidFill>
                  <a:schemeClr val="accent1">
                    <a:lumMod val="75000"/>
                  </a:schemeClr>
                </a:solidFill>
                <a:latin typeface="腾讯字体包" panose="02010600010101010101" charset="-128"/>
                <a:ea typeface="腾讯字体包" panose="02010600010101010101" charset="-128"/>
              </a:rPr>
              <a:t>RUCM</a:t>
            </a:r>
            <a:r>
              <a:rPr lang="zh-CN" altLang="en-US" sz="1800" dirty="0">
                <a:solidFill>
                  <a:schemeClr val="accent1">
                    <a:lumMod val="75000"/>
                  </a:schemeClr>
                </a:solidFill>
                <a:latin typeface="腾讯字体包" panose="02010600010101010101" charset="-128"/>
                <a:ea typeface="腾讯字体包" panose="02010600010101010101" charset="-128"/>
              </a:rPr>
              <a:t>图中未显示流程图中的三个备选分支</a:t>
            </a:r>
            <a:endParaRPr lang="en-US" altLang="zh-CN" sz="1800" dirty="0">
              <a:solidFill>
                <a:schemeClr val="accent1">
                  <a:lumMod val="75000"/>
                </a:schemeClr>
              </a:solidFill>
              <a:latin typeface="腾讯字体包" panose="02010600010101010101" charset="-128"/>
              <a:ea typeface="腾讯字体包" panose="02010600010101010101" charset="-128"/>
            </a:endParaRPr>
          </a:p>
          <a:p>
            <a:pPr marL="285750" indent="-285750" algn="l">
              <a:lnSpc>
                <a:spcPct val="125000"/>
              </a:lnSpc>
              <a:spcAft>
                <a:spcPts val="0"/>
              </a:spcAft>
              <a:buClrTx/>
              <a:buSzTx/>
              <a:buFont typeface="Arial" panose="020B0604020202020204" pitchFamily="34" charset="0"/>
              <a:buChar char="•"/>
            </a:pPr>
            <a:r>
              <a:rPr lang="zh-CN" altLang="en-US" sz="1800" dirty="0">
                <a:solidFill>
                  <a:schemeClr val="accent1">
                    <a:lumMod val="75000"/>
                  </a:schemeClr>
                </a:solidFill>
                <a:latin typeface="腾讯字体包" panose="02010600010101010101" charset="-128"/>
                <a:ea typeface="腾讯字体包" panose="02010600010101010101" charset="-128"/>
              </a:rPr>
              <a:t>系统总体用例图不规范</a:t>
            </a:r>
            <a:endParaRPr lang="en-US" altLang="zh-CN" sz="1800" dirty="0">
              <a:solidFill>
                <a:schemeClr val="accent1">
                  <a:lumMod val="75000"/>
                </a:schemeClr>
              </a:solidFill>
              <a:latin typeface="腾讯字体包" panose="02010600010101010101" charset="-128"/>
              <a:ea typeface="腾讯字体包" panose="02010600010101010101" charset="-128"/>
            </a:endParaRPr>
          </a:p>
          <a:p>
            <a:pPr marL="285750" indent="-285750" algn="l">
              <a:lnSpc>
                <a:spcPct val="125000"/>
              </a:lnSpc>
              <a:spcAft>
                <a:spcPts val="0"/>
              </a:spcAft>
              <a:buClrTx/>
              <a:buSzTx/>
              <a:buFont typeface="Arial" panose="020B0604020202020204" pitchFamily="34" charset="0"/>
              <a:buChar char="•"/>
            </a:pPr>
            <a:r>
              <a:rPr lang="zh-CN" altLang="en-US" sz="1800" dirty="0">
                <a:solidFill>
                  <a:schemeClr val="accent1">
                    <a:lumMod val="75000"/>
                  </a:schemeClr>
                </a:solidFill>
                <a:latin typeface="腾讯字体包" panose="02010600010101010101" charset="-128"/>
                <a:ea typeface="腾讯字体包" panose="02010600010101010101" charset="-128"/>
              </a:rPr>
              <a:t>性能描述缺少定量指标</a:t>
            </a:r>
            <a:endParaRPr lang="en-US" altLang="zh-CN" sz="1800" dirty="0">
              <a:solidFill>
                <a:schemeClr val="accent1">
                  <a:lumMod val="75000"/>
                </a:schemeClr>
              </a:solidFill>
              <a:latin typeface="腾讯字体包" panose="02010600010101010101" charset="-128"/>
              <a:ea typeface="腾讯字体包" panose="02010600010101010101" charset="-128"/>
            </a:endParaRPr>
          </a:p>
          <a:p>
            <a:pPr marL="285750" indent="-285750" algn="l">
              <a:lnSpc>
                <a:spcPct val="125000"/>
              </a:lnSpc>
              <a:spcAft>
                <a:spcPts val="0"/>
              </a:spcAft>
              <a:buClrTx/>
              <a:buSzTx/>
              <a:buFont typeface="Arial" panose="020B0604020202020204" pitchFamily="34" charset="0"/>
              <a:buChar char="•"/>
            </a:pPr>
            <a:r>
              <a:rPr lang="zh-CN" altLang="en-US" sz="1800" dirty="0">
                <a:solidFill>
                  <a:schemeClr val="accent1">
                    <a:lumMod val="75000"/>
                  </a:schemeClr>
                </a:solidFill>
                <a:latin typeface="腾讯字体包" panose="02010600010101010101" charset="-128"/>
                <a:ea typeface="腾讯字体包" panose="02010600010101010101" charset="-128"/>
              </a:rPr>
              <a:t>需求规格书中缺少错误处理描述</a:t>
            </a:r>
            <a:endParaRPr lang="en-US" altLang="zh-CN" sz="1800" dirty="0">
              <a:solidFill>
                <a:schemeClr val="accent1">
                  <a:lumMod val="75000"/>
                </a:schemeClr>
              </a:solidFill>
              <a:latin typeface="腾讯字体包" panose="02010600010101010101" charset="-128"/>
              <a:ea typeface="腾讯字体包" panose="02010600010101010101" charset="-128"/>
            </a:endParaRPr>
          </a:p>
          <a:p>
            <a:pPr marL="285750" indent="-285750" algn="l">
              <a:lnSpc>
                <a:spcPct val="125000"/>
              </a:lnSpc>
              <a:spcAft>
                <a:spcPts val="0"/>
              </a:spcAft>
              <a:buClrTx/>
              <a:buSzTx/>
              <a:buFont typeface="Arial" panose="020B0604020202020204" pitchFamily="34" charset="0"/>
              <a:buChar char="•"/>
            </a:pPr>
            <a:r>
              <a:rPr lang="zh-CN" altLang="en-US" sz="1800" dirty="0">
                <a:solidFill>
                  <a:schemeClr val="accent1">
                    <a:lumMod val="75000"/>
                  </a:schemeClr>
                </a:solidFill>
                <a:latin typeface="腾讯字体包" panose="02010600010101010101" charset="-128"/>
                <a:ea typeface="腾讯字体包" panose="02010600010101010101" charset="-128"/>
              </a:rPr>
              <a:t>软件接口描述不准确</a:t>
            </a:r>
            <a:endParaRPr lang="en-US" altLang="zh-CN" sz="1800" dirty="0">
              <a:solidFill>
                <a:schemeClr val="accent1">
                  <a:lumMod val="75000"/>
                </a:schemeClr>
              </a:solidFill>
              <a:latin typeface="腾讯字体包" panose="02010600010101010101" charset="-128"/>
              <a:ea typeface="腾讯字体包" panose="02010600010101010101" charset="-128"/>
            </a:endParaRPr>
          </a:p>
          <a:p>
            <a:pPr marL="285750" indent="-285750" algn="l">
              <a:lnSpc>
                <a:spcPct val="125000"/>
              </a:lnSpc>
              <a:spcAft>
                <a:spcPts val="0"/>
              </a:spcAft>
              <a:buClrTx/>
              <a:buSzTx/>
              <a:buFont typeface="Arial" panose="020B0604020202020204" pitchFamily="34" charset="0"/>
              <a:buChar char="•"/>
            </a:pPr>
            <a:r>
              <a:rPr lang="zh-CN" altLang="en-US" sz="1800" dirty="0">
                <a:solidFill>
                  <a:schemeClr val="accent1">
                    <a:lumMod val="75000"/>
                  </a:schemeClr>
                </a:solidFill>
                <a:latin typeface="腾讯字体包" panose="02010600010101010101" charset="-128"/>
                <a:ea typeface="腾讯字体包" panose="02010600010101010101" charset="-128"/>
              </a:rPr>
              <a:t>规格说明部分有待调整</a:t>
            </a:r>
            <a:endParaRPr lang="en-US" altLang="zh-CN" sz="1800" dirty="0">
              <a:solidFill>
                <a:schemeClr val="accent1">
                  <a:lumMod val="75000"/>
                </a:schemeClr>
              </a:solidFill>
              <a:latin typeface="腾讯字体包" panose="02010600010101010101" charset="-128"/>
              <a:ea typeface="腾讯字体包" panose="02010600010101010101" charset="-128"/>
            </a:endParaRPr>
          </a:p>
          <a:p>
            <a:pPr marL="285750" indent="-285750" algn="l">
              <a:lnSpc>
                <a:spcPct val="125000"/>
              </a:lnSpc>
              <a:spcAft>
                <a:spcPts val="0"/>
              </a:spcAft>
              <a:buClrTx/>
              <a:buSzTx/>
              <a:buFont typeface="Arial" panose="020B0604020202020204" pitchFamily="34" charset="0"/>
              <a:buChar char="•"/>
            </a:pPr>
            <a:r>
              <a:rPr lang="zh-CN" altLang="en-US" sz="1800" dirty="0">
                <a:solidFill>
                  <a:schemeClr val="accent1">
                    <a:lumMod val="75000"/>
                  </a:schemeClr>
                </a:solidFill>
                <a:latin typeface="腾讯字体包" panose="02010600010101010101" charset="-128"/>
                <a:ea typeface="腾讯字体包" panose="02010600010101010101" charset="-128"/>
              </a:rPr>
              <a:t>引用格式错误</a:t>
            </a:r>
            <a:endParaRPr lang="en-US" altLang="zh-CN" sz="1800" dirty="0">
              <a:solidFill>
                <a:schemeClr val="accent1">
                  <a:lumMod val="75000"/>
                </a:schemeClr>
              </a:solidFill>
              <a:latin typeface="腾讯字体包" panose="02010600010101010101" charset="-128"/>
              <a:ea typeface="腾讯字体包" panose="02010600010101010101" charset="-128"/>
            </a:endParaRPr>
          </a:p>
          <a:p>
            <a:pPr marL="285750" indent="-285750" algn="l">
              <a:lnSpc>
                <a:spcPct val="125000"/>
              </a:lnSpc>
              <a:spcAft>
                <a:spcPts val="0"/>
              </a:spcAft>
              <a:buClrTx/>
              <a:buSzTx/>
              <a:buFont typeface="Arial" panose="020B0604020202020204" pitchFamily="34" charset="0"/>
              <a:buChar char="•"/>
            </a:pPr>
            <a:r>
              <a:rPr lang="zh-CN" altLang="en-US" sz="1800" dirty="0">
                <a:solidFill>
                  <a:schemeClr val="accent1">
                    <a:lumMod val="75000"/>
                  </a:schemeClr>
                </a:solidFill>
                <a:latin typeface="腾讯字体包" panose="02010600010101010101" charset="-128"/>
                <a:ea typeface="腾讯字体包" panose="02010600010101010101" charset="-128"/>
              </a:rPr>
              <a:t>标点符号错误</a:t>
            </a:r>
            <a:endParaRPr lang="en-US" altLang="zh-CN" sz="1800" dirty="0">
              <a:solidFill>
                <a:schemeClr val="accent1">
                  <a:lumMod val="75000"/>
                </a:schemeClr>
              </a:solidFill>
              <a:latin typeface="腾讯字体包" panose="02010600010101010101" charset="-128"/>
              <a:ea typeface="腾讯字体包" panose="02010600010101010101" charset="-128"/>
            </a:endParaRPr>
          </a:p>
          <a:p>
            <a:pPr marL="285750" indent="-285750" algn="l">
              <a:lnSpc>
                <a:spcPct val="125000"/>
              </a:lnSpc>
              <a:spcAft>
                <a:spcPts val="0"/>
              </a:spcAft>
              <a:buClrTx/>
              <a:buSzTx/>
              <a:buFont typeface="Arial" panose="020B0604020202020204" pitchFamily="34" charset="0"/>
              <a:buChar char="•"/>
            </a:pPr>
            <a:r>
              <a:rPr lang="en-US" altLang="zh-CN" sz="1800" dirty="0">
                <a:solidFill>
                  <a:schemeClr val="accent1">
                    <a:lumMod val="75000"/>
                  </a:schemeClr>
                </a:solidFill>
                <a:latin typeface="腾讯字体包" panose="02010600010101010101" charset="-128"/>
                <a:ea typeface="腾讯字体包" panose="02010600010101010101" charset="-128"/>
              </a:rPr>
              <a:t>…</a:t>
            </a:r>
            <a:endParaRPr lang="zh-CN" sz="1800" dirty="0">
              <a:latin typeface="腾讯字体包" panose="02010600010101010101" charset="-128"/>
              <a:ea typeface="腾讯字体包" panose="02010600010101010101" charset="-128"/>
            </a:endParaRPr>
          </a:p>
        </p:txBody>
      </p:sp>
      <p:graphicFrame>
        <p:nvGraphicFramePr>
          <p:cNvPr id="2" name="图表 1"/>
          <p:cNvGraphicFramePr/>
          <p:nvPr/>
        </p:nvGraphicFramePr>
        <p:xfrm>
          <a:off x="5484806" y="1619480"/>
          <a:ext cx="6480000" cy="4320000"/>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283845" y="1541780"/>
            <a:ext cx="10331450" cy="5072380"/>
          </a:xfrm>
        </p:spPr>
        <p:txBody>
          <a:bodyPr>
            <a:normAutofit/>
          </a:bodyPr>
          <a:lstStyle/>
          <a:p>
            <a:pPr marL="0" algn="l">
              <a:lnSpc>
                <a:spcPct val="125000"/>
              </a:lnSpc>
              <a:spcAft>
                <a:spcPts val="0"/>
              </a:spcAft>
              <a:buClrTx/>
              <a:buSzTx/>
              <a:buNone/>
            </a:pPr>
            <a:endParaRPr lang="zh-CN" altLang="en-US" sz="1800" dirty="0">
              <a:effectLst/>
              <a:latin typeface="腾讯字体包" panose="02010600010101010101" charset="-128"/>
              <a:ea typeface="腾讯字体包" panose="02010600010101010101" charset="-128"/>
              <a:cs typeface="腾讯字体包" panose="02010600010101010101" charset="-128"/>
            </a:endParaRPr>
          </a:p>
          <a:p>
            <a:pPr algn="l">
              <a:lnSpc>
                <a:spcPct val="125000"/>
              </a:lnSpc>
              <a:spcAft>
                <a:spcPts val="0"/>
              </a:spcAft>
              <a:buClrTx/>
              <a:buSzTx/>
              <a:buChar char="•"/>
            </a:pPr>
            <a:r>
              <a:rPr lang="en-US" altLang="zh-CN" sz="2220" dirty="0">
                <a:solidFill>
                  <a:srgbClr val="3F51B6"/>
                </a:solidFill>
                <a:effectLst/>
                <a:uFillTx/>
                <a:latin typeface="腾讯字体包" panose="02010600010101010101" charset="-128"/>
                <a:ea typeface="腾讯字体包" panose="02010600010101010101" charset="-128"/>
              </a:rPr>
              <a:t>1</a:t>
            </a:r>
            <a:r>
              <a:rPr lang="zh-CN" altLang="en-US" sz="2220" dirty="0">
                <a:solidFill>
                  <a:srgbClr val="3F51B6"/>
                </a:solidFill>
                <a:effectLst/>
                <a:uFillTx/>
                <a:latin typeface="腾讯字体包" panose="02010600010101010101" charset="-128"/>
                <a:ea typeface="腾讯字体包" panose="02010600010101010101" charset="-128"/>
              </a:rPr>
              <a:t>：数据流图显示不全</a:t>
            </a:r>
            <a:endParaRPr lang="zh-CN" altLang="en-US" sz="2220" dirty="0">
              <a:solidFill>
                <a:srgbClr val="3F51B6"/>
              </a:solidFill>
              <a:effectLst/>
              <a:uFillTx/>
              <a:latin typeface="腾讯字体包" panose="02010600010101010101" charset="-128"/>
              <a:ea typeface="腾讯字体包" panose="02010600010101010101" charset="-128"/>
            </a:endParaRPr>
          </a:p>
          <a:p>
            <a:pPr algn="l">
              <a:lnSpc>
                <a:spcPct val="125000"/>
              </a:lnSpc>
              <a:spcAft>
                <a:spcPts val="0"/>
              </a:spcAft>
              <a:buClrTx/>
              <a:buSzTx/>
              <a:buChar char="•"/>
            </a:pPr>
            <a:r>
              <a:rPr lang="zh-CN" altLang="en-US" sz="1800" dirty="0">
                <a:effectLst/>
                <a:latin typeface="腾讯字体包" panose="02010600010101010101" charset="-128"/>
                <a:ea typeface="腾讯字体包" panose="02010600010101010101" charset="-128"/>
                <a:cs typeface="腾讯字体包" panose="02010600010101010101" charset="-128"/>
                <a:sym typeface="+mn-ea"/>
              </a:rPr>
              <a:t>原因：在</a:t>
            </a:r>
            <a:r>
              <a:rPr lang="en-US" altLang="zh-CN" sz="1800" dirty="0">
                <a:effectLst/>
                <a:latin typeface="腾讯字体包" panose="02010600010101010101" charset="-128"/>
                <a:ea typeface="腾讯字体包" panose="02010600010101010101" charset="-128"/>
                <a:cs typeface="腾讯字体包" panose="02010600010101010101" charset="-128"/>
                <a:sym typeface="+mn-ea"/>
              </a:rPr>
              <a:t>word</a:t>
            </a:r>
            <a:r>
              <a:rPr lang="zh-CN" altLang="en-US" sz="1800" dirty="0">
                <a:effectLst/>
                <a:latin typeface="腾讯字体包" panose="02010600010101010101" charset="-128"/>
                <a:ea typeface="腾讯字体包" panose="02010600010101010101" charset="-128"/>
                <a:cs typeface="腾讯字体包" panose="02010600010101010101" charset="-128"/>
                <a:sym typeface="+mn-ea"/>
              </a:rPr>
              <a:t>文档中直接更新数据流图导致。</a:t>
            </a:r>
            <a:endParaRPr lang="zh-CN" altLang="en-US" sz="1800" dirty="0">
              <a:effectLst/>
              <a:latin typeface="腾讯字体包" panose="02010600010101010101" charset="-128"/>
              <a:ea typeface="腾讯字体包" panose="02010600010101010101" charset="-128"/>
              <a:cs typeface="腾讯字体包" panose="02010600010101010101" charset="-128"/>
            </a:endParaRPr>
          </a:p>
          <a:p>
            <a:pPr algn="l">
              <a:lnSpc>
                <a:spcPct val="125000"/>
              </a:lnSpc>
              <a:spcAft>
                <a:spcPts val="0"/>
              </a:spcAft>
              <a:buClrTx/>
              <a:buSzTx/>
            </a:pPr>
            <a:r>
              <a:rPr lang="zh-CN" altLang="en-US" sz="1800" dirty="0">
                <a:effectLst/>
                <a:latin typeface="腾讯字体包" panose="02010600010101010101" charset="-128"/>
                <a:ea typeface="腾讯字体包" panose="02010600010101010101" charset="-128"/>
                <a:cs typeface="腾讯字体包" panose="02010600010101010101" charset="-128"/>
                <a:sym typeface="+mn-ea"/>
              </a:rPr>
              <a:t>修正方案：在绘图工具更新数据流图。</a:t>
            </a:r>
            <a:endParaRPr lang="zh-CN" altLang="en-US" sz="1800" dirty="0">
              <a:solidFill>
                <a:srgbClr val="3F51B6"/>
              </a:solidFill>
              <a:effectLst/>
              <a:uFillTx/>
              <a:latin typeface="腾讯字体包" panose="02010600010101010101" charset="-128"/>
              <a:ea typeface="腾讯字体包" panose="02010600010101010101" charset="-128"/>
            </a:endParaRPr>
          </a:p>
          <a:p>
            <a:pPr algn="l">
              <a:lnSpc>
                <a:spcPct val="125000"/>
              </a:lnSpc>
              <a:spcAft>
                <a:spcPts val="0"/>
              </a:spcAft>
              <a:buClrTx/>
              <a:buSzTx/>
              <a:buChar char="•"/>
            </a:pPr>
            <a:r>
              <a:rPr lang="en-US" altLang="zh-CN" sz="2220" dirty="0">
                <a:solidFill>
                  <a:srgbClr val="3F51B6"/>
                </a:solidFill>
                <a:effectLst/>
                <a:uFillTx/>
                <a:latin typeface="腾讯字体包" panose="02010600010101010101" charset="-128"/>
                <a:ea typeface="腾讯字体包" panose="02010600010101010101" charset="-128"/>
              </a:rPr>
              <a:t>2</a:t>
            </a:r>
            <a:r>
              <a:rPr lang="zh-CN" altLang="en-US" sz="2220" dirty="0">
                <a:solidFill>
                  <a:srgbClr val="3F51B6"/>
                </a:solidFill>
                <a:effectLst/>
                <a:uFillTx/>
                <a:latin typeface="腾讯字体包" panose="02010600010101010101" charset="-128"/>
                <a:ea typeface="腾讯字体包" panose="02010600010101010101" charset="-128"/>
              </a:rPr>
              <a:t>：总体描述文档结构逻辑不连贯</a:t>
            </a:r>
            <a:endParaRPr lang="zh-CN" altLang="en-US" sz="2220" dirty="0">
              <a:solidFill>
                <a:srgbClr val="3F51B6"/>
              </a:solidFill>
              <a:effectLst/>
              <a:uFillTx/>
              <a:latin typeface="腾讯字体包" panose="02010600010101010101" charset="-128"/>
              <a:ea typeface="腾讯字体包" panose="02010600010101010101" charset="-128"/>
            </a:endParaRPr>
          </a:p>
          <a:p>
            <a:pPr algn="l">
              <a:lnSpc>
                <a:spcPct val="125000"/>
              </a:lnSpc>
              <a:spcAft>
                <a:spcPts val="0"/>
              </a:spcAft>
              <a:buClrTx/>
              <a:buSzTx/>
              <a:buChar char="•"/>
            </a:pPr>
            <a:r>
              <a:rPr lang="zh-CN" altLang="en-US" sz="1800" dirty="0">
                <a:effectLst/>
                <a:latin typeface="腾讯字体包" panose="02010600010101010101" charset="-128"/>
                <a:ea typeface="腾讯字体包" panose="02010600010101010101" charset="-128"/>
                <a:cs typeface="腾讯字体包" panose="02010600010101010101" charset="-128"/>
                <a:sym typeface="+mn-ea"/>
              </a:rPr>
              <a:t>修正方案：迁移</a:t>
            </a:r>
            <a:r>
              <a:rPr lang="en-US" altLang="zh-CN" sz="1800" dirty="0">
                <a:effectLst/>
                <a:latin typeface="腾讯字体包" panose="02010600010101010101" charset="-128"/>
                <a:ea typeface="腾讯字体包" panose="02010600010101010101" charset="-128"/>
                <a:cs typeface="腾讯字体包" panose="02010600010101010101" charset="-128"/>
                <a:sym typeface="+mn-ea"/>
              </a:rPr>
              <a:t>“2.8</a:t>
            </a:r>
            <a:r>
              <a:rPr lang="zh-CN" altLang="en-US" sz="1800" dirty="0">
                <a:effectLst/>
                <a:latin typeface="腾讯字体包" panose="02010600010101010101" charset="-128"/>
                <a:ea typeface="腾讯字体包" panose="02010600010101010101" charset="-128"/>
                <a:cs typeface="腾讯字体包" panose="02010600010101010101" charset="-128"/>
                <a:sym typeface="+mn-ea"/>
              </a:rPr>
              <a:t>需求分配</a:t>
            </a:r>
            <a:r>
              <a:rPr lang="en-US" altLang="zh-CN" sz="1800" dirty="0">
                <a:effectLst/>
                <a:latin typeface="腾讯字体包" panose="02010600010101010101" charset="-128"/>
                <a:ea typeface="腾讯字体包" panose="02010600010101010101" charset="-128"/>
                <a:cs typeface="腾讯字体包" panose="02010600010101010101" charset="-128"/>
                <a:sym typeface="+mn-ea"/>
              </a:rPr>
              <a:t>”</a:t>
            </a:r>
            <a:r>
              <a:rPr lang="zh-CN" altLang="en-US" sz="1800" dirty="0">
                <a:effectLst/>
                <a:latin typeface="腾讯字体包" panose="02010600010101010101" charset="-128"/>
                <a:ea typeface="腾讯字体包" panose="02010600010101010101" charset="-128"/>
                <a:cs typeface="腾讯字体包" panose="02010600010101010101" charset="-128"/>
                <a:sym typeface="+mn-ea"/>
              </a:rPr>
              <a:t>至</a:t>
            </a:r>
            <a:r>
              <a:rPr lang="en-US" altLang="zh-CN" sz="1800" dirty="0">
                <a:effectLst/>
                <a:latin typeface="腾讯字体包" panose="02010600010101010101" charset="-128"/>
                <a:ea typeface="腾讯字体包" panose="02010600010101010101" charset="-128"/>
                <a:cs typeface="腾讯字体包" panose="02010600010101010101" charset="-128"/>
                <a:sym typeface="+mn-ea"/>
              </a:rPr>
              <a:t>2.6</a:t>
            </a:r>
            <a:r>
              <a:rPr lang="zh-CN" altLang="en-US" sz="1800" dirty="0">
                <a:effectLst/>
                <a:latin typeface="腾讯字体包" panose="02010600010101010101" charset="-128"/>
                <a:ea typeface="腾讯字体包" panose="02010600010101010101" charset="-128"/>
                <a:cs typeface="腾讯字体包" panose="02010600010101010101" charset="-128"/>
                <a:sym typeface="+mn-ea"/>
              </a:rPr>
              <a:t>位置，并将</a:t>
            </a:r>
            <a:r>
              <a:rPr lang="en-US" altLang="zh-CN" sz="1800" dirty="0">
                <a:effectLst/>
                <a:latin typeface="腾讯字体包" panose="02010600010101010101" charset="-128"/>
                <a:ea typeface="腾讯字体包" panose="02010600010101010101" charset="-128"/>
                <a:cs typeface="腾讯字体包" panose="02010600010101010101" charset="-128"/>
                <a:sym typeface="+mn-ea"/>
              </a:rPr>
              <a:t>“</a:t>
            </a:r>
            <a:r>
              <a:rPr lang="zh-CN" altLang="en-US" sz="1800" dirty="0">
                <a:effectLst/>
                <a:latin typeface="腾讯字体包" panose="02010600010101010101" charset="-128"/>
                <a:ea typeface="腾讯字体包" panose="02010600010101010101" charset="-128"/>
                <a:cs typeface="腾讯字体包" panose="02010600010101010101" charset="-128"/>
                <a:sym typeface="+mn-ea"/>
              </a:rPr>
              <a:t>2.6约束</a:t>
            </a:r>
            <a:r>
              <a:rPr lang="en-US" altLang="zh-CN" sz="1800" dirty="0">
                <a:effectLst/>
                <a:latin typeface="腾讯字体包" panose="02010600010101010101" charset="-128"/>
                <a:ea typeface="腾讯字体包" panose="02010600010101010101" charset="-128"/>
                <a:cs typeface="腾讯字体包" panose="02010600010101010101" charset="-128"/>
                <a:sym typeface="+mn-ea"/>
              </a:rPr>
              <a:t>”</a:t>
            </a:r>
            <a:r>
              <a:rPr lang="zh-CN" altLang="en-US" sz="1800" dirty="0">
                <a:effectLst/>
                <a:latin typeface="腾讯字体包" panose="02010600010101010101" charset="-128"/>
                <a:ea typeface="腾讯字体包" panose="02010600010101010101" charset="-128"/>
                <a:cs typeface="腾讯字体包" panose="02010600010101010101" charset="-128"/>
                <a:sym typeface="+mn-ea"/>
              </a:rPr>
              <a:t>与</a:t>
            </a:r>
            <a:r>
              <a:rPr lang="en-US" altLang="zh-CN" sz="1800" dirty="0">
                <a:effectLst/>
                <a:latin typeface="腾讯字体包" panose="02010600010101010101" charset="-128"/>
                <a:ea typeface="腾讯字体包" panose="02010600010101010101" charset="-128"/>
                <a:cs typeface="腾讯字体包" panose="02010600010101010101" charset="-128"/>
                <a:sym typeface="+mn-ea"/>
              </a:rPr>
              <a:t>“</a:t>
            </a:r>
            <a:r>
              <a:rPr lang="zh-CN" altLang="en-US" sz="1800" dirty="0">
                <a:effectLst/>
                <a:latin typeface="腾讯字体包" panose="02010600010101010101" charset="-128"/>
                <a:ea typeface="腾讯字体包" panose="02010600010101010101" charset="-128"/>
                <a:cs typeface="腾讯字体包" panose="02010600010101010101" charset="-128"/>
                <a:sym typeface="+mn-ea"/>
              </a:rPr>
              <a:t>2.7假设与依赖</a:t>
            </a:r>
            <a:r>
              <a:rPr lang="en-US" altLang="zh-CN" sz="1800" dirty="0">
                <a:effectLst/>
                <a:latin typeface="腾讯字体包" panose="02010600010101010101" charset="-128"/>
                <a:ea typeface="腾讯字体包" panose="02010600010101010101" charset="-128"/>
                <a:cs typeface="腾讯字体包" panose="02010600010101010101" charset="-128"/>
                <a:sym typeface="+mn-ea"/>
              </a:rPr>
              <a:t>”</a:t>
            </a:r>
            <a:r>
              <a:rPr lang="zh-CN" altLang="en-US" sz="1800" dirty="0">
                <a:effectLst/>
                <a:latin typeface="腾讯字体包" panose="02010600010101010101" charset="-128"/>
                <a:ea typeface="腾讯字体包" panose="02010600010101010101" charset="-128"/>
                <a:cs typeface="腾讯字体包" panose="02010600010101010101" charset="-128"/>
                <a:sym typeface="+mn-ea"/>
              </a:rPr>
              <a:t>依次后移。</a:t>
            </a:r>
            <a:endParaRPr lang="zh-CN" altLang="en-US" sz="1800" dirty="0">
              <a:effectLst/>
              <a:latin typeface="腾讯字体包" panose="02010600010101010101" charset="-128"/>
              <a:ea typeface="腾讯字体包" panose="02010600010101010101" charset="-128"/>
              <a:cs typeface="腾讯字体包" panose="02010600010101010101" charset="-128"/>
              <a:sym typeface="+mn-ea"/>
            </a:endParaRPr>
          </a:p>
          <a:p>
            <a:pPr algn="l">
              <a:lnSpc>
                <a:spcPct val="125000"/>
              </a:lnSpc>
              <a:spcAft>
                <a:spcPts val="0"/>
              </a:spcAft>
              <a:buClrTx/>
              <a:buSzTx/>
              <a:buChar char="•"/>
            </a:pPr>
            <a:r>
              <a:rPr lang="zh-CN" altLang="en-US" sz="1800" dirty="0">
                <a:effectLst/>
                <a:latin typeface="腾讯字体包" panose="02010600010101010101" charset="-128"/>
                <a:ea typeface="腾讯字体包" panose="02010600010101010101" charset="-128"/>
                <a:cs typeface="腾讯字体包" panose="02010600010101010101" charset="-128"/>
                <a:sym typeface="+mn-ea"/>
              </a:rPr>
              <a:t>补充工作：根据总体用例图进一步细化需求分配模块，使其与主要用例对应。</a:t>
            </a:r>
            <a:endParaRPr lang="zh-CN" altLang="en-US" sz="1800" dirty="0">
              <a:effectLst/>
              <a:latin typeface="腾讯字体包" panose="02010600010101010101" charset="-128"/>
              <a:ea typeface="腾讯字体包" panose="02010600010101010101" charset="-128"/>
              <a:cs typeface="腾讯字体包" panose="02010600010101010101" charset="-128"/>
              <a:sym typeface="+mn-ea"/>
            </a:endParaRPr>
          </a:p>
          <a:p>
            <a:pPr algn="l">
              <a:lnSpc>
                <a:spcPct val="125000"/>
              </a:lnSpc>
              <a:spcAft>
                <a:spcPts val="0"/>
              </a:spcAft>
              <a:buClrTx/>
              <a:buSzTx/>
              <a:buChar char="•"/>
            </a:pPr>
            <a:r>
              <a:rPr lang="en-US" altLang="zh-CN" sz="2220" dirty="0">
                <a:solidFill>
                  <a:srgbClr val="3F51B6"/>
                </a:solidFill>
                <a:effectLst/>
                <a:uFillTx/>
                <a:latin typeface="腾讯字体包" panose="02010600010101010101" charset="-128"/>
                <a:ea typeface="腾讯字体包" panose="02010600010101010101" charset="-128"/>
                <a:sym typeface="+mn-ea"/>
              </a:rPr>
              <a:t>3</a:t>
            </a:r>
            <a:r>
              <a:rPr lang="zh-CN" altLang="en-US" sz="2220" dirty="0">
                <a:solidFill>
                  <a:srgbClr val="3F51B6"/>
                </a:solidFill>
                <a:effectLst/>
                <a:uFillTx/>
                <a:latin typeface="腾讯字体包" panose="02010600010101010101" charset="-128"/>
                <a:ea typeface="腾讯字体包" panose="02010600010101010101" charset="-128"/>
                <a:sym typeface="+mn-ea"/>
              </a:rPr>
              <a:t>：参考文献格式问题</a:t>
            </a:r>
            <a:endParaRPr lang="zh-CN" altLang="en-US" sz="2220" dirty="0">
              <a:solidFill>
                <a:srgbClr val="3F51B6"/>
              </a:solidFill>
              <a:effectLst/>
              <a:uFillTx/>
              <a:latin typeface="腾讯字体包" panose="02010600010101010101" charset="-128"/>
              <a:ea typeface="腾讯字体包" panose="02010600010101010101" charset="-128"/>
            </a:endParaRPr>
          </a:p>
          <a:p>
            <a:pPr algn="l">
              <a:lnSpc>
                <a:spcPct val="125000"/>
              </a:lnSpc>
              <a:spcAft>
                <a:spcPts val="0"/>
              </a:spcAft>
              <a:buClrTx/>
              <a:buSzTx/>
              <a:buChar char="•"/>
            </a:pPr>
            <a:r>
              <a:rPr lang="zh-CN" altLang="en-US" sz="1800" dirty="0">
                <a:effectLst/>
                <a:latin typeface="腾讯字体包" panose="02010600010101010101" charset="-128"/>
                <a:ea typeface="腾讯字体包" panose="02010600010101010101" charset="-128"/>
                <a:cs typeface="腾讯字体包" panose="02010600010101010101" charset="-128"/>
                <a:sym typeface="+mn-ea"/>
              </a:rPr>
              <a:t>修正方案：以标准格式注明参考文献。</a:t>
            </a:r>
            <a:endParaRPr lang="zh-CN" altLang="en-US" sz="1800" dirty="0">
              <a:effectLst/>
              <a:latin typeface="腾讯字体包" panose="02010600010101010101" charset="-128"/>
              <a:ea typeface="腾讯字体包" panose="02010600010101010101" charset="-128"/>
              <a:cs typeface="腾讯字体包" panose="02010600010101010101" charset="-128"/>
              <a:sym typeface="+mn-ea"/>
            </a:endParaRPr>
          </a:p>
        </p:txBody>
      </p:sp>
      <p:grpSp>
        <p:nvGrpSpPr>
          <p:cNvPr id="16" name="组合 15"/>
          <p:cNvGrpSpPr/>
          <p:nvPr/>
        </p:nvGrpSpPr>
        <p:grpSpPr>
          <a:xfrm>
            <a:off x="283625" y="712715"/>
            <a:ext cx="11520000" cy="576000"/>
            <a:chOff x="582710" y="712715"/>
            <a:chExt cx="11527790" cy="572075"/>
          </a:xfrm>
        </p:grpSpPr>
        <p:sp>
          <p:nvSpPr>
            <p:cNvPr id="17" name="矩形 16"/>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文本框 17"/>
            <p:cNvSpPr txBox="1"/>
            <p:nvPr/>
          </p:nvSpPr>
          <p:spPr>
            <a:xfrm>
              <a:off x="676055" y="712715"/>
              <a:ext cx="11434445" cy="51841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dirty="0">
                  <a:latin typeface="腾讯字体包" panose="02010600010101010101" charset="-128"/>
                  <a:ea typeface="腾讯字体包" panose="02010600010101010101" charset="-128"/>
                </a:rPr>
                <a:t>总体需求：文档调整</a:t>
              </a:r>
              <a:endParaRPr kumimoji="1" lang="zh-CN" altLang="en-US" sz="2800" dirty="0">
                <a:latin typeface="腾讯字体包" panose="02010600010101010101" charset="-128"/>
                <a:ea typeface="腾讯字体包" panose="02010600010101010101" charset="-128"/>
              </a:endParaRPr>
            </a:p>
          </p:txBody>
        </p:sp>
      </p:grpSp>
      <p:pic>
        <p:nvPicPr>
          <p:cNvPr id="1258375344" name="图片 1"/>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5916295" y="948055"/>
            <a:ext cx="5964555" cy="27813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283845" y="1268095"/>
            <a:ext cx="8657590" cy="5346065"/>
          </a:xfrm>
        </p:spPr>
        <p:txBody>
          <a:bodyPr>
            <a:normAutofit/>
          </a:bodyPr>
          <a:lstStyle/>
          <a:p>
            <a:pPr marL="0" algn="l">
              <a:lnSpc>
                <a:spcPct val="125000"/>
              </a:lnSpc>
              <a:spcAft>
                <a:spcPts val="0"/>
              </a:spcAft>
              <a:buClrTx/>
              <a:buSzTx/>
              <a:buNone/>
            </a:pPr>
            <a:endParaRPr lang="zh-CN" altLang="en-US" sz="1800" dirty="0">
              <a:effectLst/>
              <a:latin typeface="腾讯字体包" panose="02010600010101010101" charset="-128"/>
              <a:ea typeface="腾讯字体包" panose="02010600010101010101" charset="-128"/>
              <a:cs typeface="腾讯字体包" panose="02010600010101010101" charset="-128"/>
            </a:endParaRPr>
          </a:p>
          <a:p>
            <a:pPr algn="l">
              <a:lnSpc>
                <a:spcPct val="125000"/>
              </a:lnSpc>
              <a:spcAft>
                <a:spcPts val="0"/>
              </a:spcAft>
              <a:buClrTx/>
              <a:buSzTx/>
              <a:buChar char="•"/>
            </a:pPr>
            <a:r>
              <a:rPr lang="en-US" altLang="zh-CN" sz="2220" dirty="0">
                <a:solidFill>
                  <a:srgbClr val="3F51B6"/>
                </a:solidFill>
                <a:effectLst/>
                <a:uFillTx/>
                <a:latin typeface="腾讯字体包" panose="02010600010101010101" charset="-128"/>
                <a:ea typeface="腾讯字体包" panose="02010600010101010101" charset="-128"/>
              </a:rPr>
              <a:t>1</a:t>
            </a:r>
            <a:r>
              <a:rPr lang="zh-CN" altLang="en-US" sz="2220" dirty="0">
                <a:solidFill>
                  <a:srgbClr val="3F51B6"/>
                </a:solidFill>
                <a:effectLst/>
                <a:uFillTx/>
                <a:latin typeface="腾讯字体包" panose="02010600010101010101" charset="-128"/>
                <a:ea typeface="腾讯字体包" panose="02010600010101010101" charset="-128"/>
              </a:rPr>
              <a:t>：术语解释补充</a:t>
            </a:r>
            <a:endParaRPr lang="zh-CN" altLang="en-US" sz="2220" dirty="0">
              <a:solidFill>
                <a:srgbClr val="0D0D0D"/>
              </a:solidFill>
              <a:effectLst/>
              <a:uFillTx/>
              <a:latin typeface="Times New Roman" panose="02020603050405020304" pitchFamily="18" charset="0"/>
            </a:endParaRPr>
          </a:p>
          <a:p>
            <a:pPr algn="l">
              <a:lnSpc>
                <a:spcPct val="125000"/>
              </a:lnSpc>
              <a:spcAft>
                <a:spcPts val="0"/>
              </a:spcAft>
              <a:buClrTx/>
              <a:buSzTx/>
            </a:pPr>
            <a:r>
              <a:rPr sz="1800" dirty="0">
                <a:effectLst/>
                <a:latin typeface="腾讯字体包" panose="02010600010101010101" charset="-128"/>
                <a:ea typeface="腾讯字体包" panose="02010600010101010101" charset="-128"/>
                <a:cs typeface="腾讯字体包" panose="02010600010101010101" charset="-128"/>
                <a:sym typeface="+mn-ea"/>
              </a:rPr>
              <a:t>补齐一些特定模型等术语的解释，如LSTM，NER等。</a:t>
            </a:r>
            <a:endParaRPr sz="1800" dirty="0">
              <a:effectLst/>
              <a:latin typeface="腾讯字体包" panose="02010600010101010101" charset="-128"/>
              <a:ea typeface="腾讯字体包" panose="02010600010101010101" charset="-128"/>
              <a:cs typeface="腾讯字体包" panose="02010600010101010101" charset="-128"/>
              <a:sym typeface="+mn-ea"/>
            </a:endParaRPr>
          </a:p>
          <a:p>
            <a:pPr algn="l">
              <a:lnSpc>
                <a:spcPct val="125000"/>
              </a:lnSpc>
              <a:spcAft>
                <a:spcPts val="0"/>
              </a:spcAft>
              <a:buClrTx/>
              <a:buSzTx/>
            </a:pPr>
            <a:r>
              <a:rPr lang="en-US" altLang="zh-CN" sz="2220" dirty="0">
                <a:solidFill>
                  <a:srgbClr val="3F51B6"/>
                </a:solidFill>
                <a:effectLst/>
                <a:uFillTx/>
                <a:latin typeface="腾讯字体包" panose="02010600010101010101" charset="-128"/>
                <a:ea typeface="腾讯字体包" panose="02010600010101010101" charset="-128"/>
              </a:rPr>
              <a:t>2</a:t>
            </a:r>
            <a:r>
              <a:rPr lang="zh-CN" altLang="en-US" sz="2220" dirty="0">
                <a:solidFill>
                  <a:srgbClr val="3F51B6"/>
                </a:solidFill>
                <a:effectLst/>
                <a:uFillTx/>
                <a:latin typeface="腾讯字体包" panose="02010600010101010101" charset="-128"/>
                <a:ea typeface="腾讯字体包" panose="02010600010101010101" charset="-128"/>
              </a:rPr>
              <a:t>：性能约束指标量化</a:t>
            </a:r>
            <a:endParaRPr lang="zh-CN" altLang="en-US" sz="2220" dirty="0">
              <a:solidFill>
                <a:srgbClr val="3F51B6"/>
              </a:solidFill>
              <a:effectLst/>
              <a:uFillTx/>
              <a:latin typeface="腾讯字体包" panose="02010600010101010101" charset="-128"/>
              <a:ea typeface="腾讯字体包" panose="02010600010101010101" charset="-128"/>
            </a:endParaRPr>
          </a:p>
          <a:p>
            <a:pPr algn="l">
              <a:lnSpc>
                <a:spcPct val="125000"/>
              </a:lnSpc>
              <a:spcAft>
                <a:spcPts val="0"/>
              </a:spcAft>
              <a:buClrTx/>
              <a:buSzTx/>
            </a:pPr>
            <a:r>
              <a:rPr sz="1800" dirty="0">
                <a:effectLst/>
                <a:latin typeface="腾讯字体包" panose="02010600010101010101" charset="-128"/>
                <a:ea typeface="腾讯字体包" panose="02010600010101010101" charset="-128"/>
                <a:cs typeface="腾讯字体包" panose="02010600010101010101" charset="-128"/>
                <a:sym typeface="+mn-ea"/>
              </a:rPr>
              <a:t>打开文档时间&lt;5秒。</a:t>
            </a:r>
            <a:endParaRPr sz="1800" dirty="0">
              <a:effectLst/>
              <a:latin typeface="腾讯字体包" panose="02010600010101010101" charset="-128"/>
              <a:ea typeface="腾讯字体包" panose="02010600010101010101" charset="-128"/>
              <a:cs typeface="腾讯字体包" panose="02010600010101010101" charset="-128"/>
              <a:sym typeface="+mn-ea"/>
            </a:endParaRPr>
          </a:p>
          <a:p>
            <a:pPr algn="l">
              <a:lnSpc>
                <a:spcPct val="125000"/>
              </a:lnSpc>
              <a:spcAft>
                <a:spcPts val="0"/>
              </a:spcAft>
              <a:buClrTx/>
              <a:buSzTx/>
            </a:pPr>
            <a:r>
              <a:rPr sz="1800" dirty="0">
                <a:effectLst/>
                <a:latin typeface="腾讯字体包" panose="02010600010101010101" charset="-128"/>
                <a:ea typeface="腾讯字体包" panose="02010600010101010101" charset="-128"/>
                <a:cs typeface="腾讯字体包" panose="02010600010101010101" charset="-128"/>
                <a:sym typeface="+mn-ea"/>
              </a:rPr>
              <a:t>标注完成的结算时间&lt;0.5秒。</a:t>
            </a:r>
            <a:endParaRPr sz="1800" dirty="0">
              <a:effectLst/>
              <a:latin typeface="腾讯字体包" panose="02010600010101010101" charset="-128"/>
              <a:ea typeface="腾讯字体包" panose="02010600010101010101" charset="-128"/>
              <a:cs typeface="腾讯字体包" panose="02010600010101010101" charset="-128"/>
              <a:sym typeface="+mn-ea"/>
            </a:endParaRPr>
          </a:p>
          <a:p>
            <a:pPr algn="l">
              <a:lnSpc>
                <a:spcPct val="125000"/>
              </a:lnSpc>
              <a:spcAft>
                <a:spcPts val="0"/>
              </a:spcAft>
              <a:buClrTx/>
              <a:buSzTx/>
            </a:pPr>
            <a:r>
              <a:rPr sz="1800" dirty="0">
                <a:effectLst/>
                <a:latin typeface="腾讯字体包" panose="02010600010101010101" charset="-128"/>
                <a:ea typeface="腾讯字体包" panose="02010600010101010101" charset="-128"/>
                <a:cs typeface="腾讯字体包" panose="02010600010101010101" charset="-128"/>
                <a:sym typeface="+mn-ea"/>
              </a:rPr>
              <a:t>文档上传与格式转换5~10秒每篇，支持批量上传。</a:t>
            </a:r>
            <a:endParaRPr sz="1800" dirty="0">
              <a:effectLst/>
              <a:latin typeface="腾讯字体包" panose="02010600010101010101" charset="-128"/>
              <a:ea typeface="腾讯字体包" panose="02010600010101010101" charset="-128"/>
              <a:cs typeface="腾讯字体包" panose="02010600010101010101" charset="-128"/>
              <a:sym typeface="+mn-ea"/>
            </a:endParaRPr>
          </a:p>
          <a:p>
            <a:pPr algn="l">
              <a:lnSpc>
                <a:spcPct val="125000"/>
              </a:lnSpc>
              <a:spcAft>
                <a:spcPts val="0"/>
              </a:spcAft>
              <a:buClrTx/>
              <a:buSzTx/>
            </a:pPr>
            <a:r>
              <a:rPr sz="1800" dirty="0">
                <a:effectLst/>
                <a:latin typeface="腾讯字体包" panose="02010600010101010101" charset="-128"/>
                <a:ea typeface="腾讯字体包" panose="02010600010101010101" charset="-128"/>
                <a:cs typeface="腾讯字体包" panose="02010600010101010101" charset="-128"/>
                <a:sym typeface="+mn-ea"/>
              </a:rPr>
              <a:t>预设模型F1&gt;0.7</a:t>
            </a:r>
            <a:r>
              <a:rPr lang="zh-CN" sz="1800" dirty="0">
                <a:effectLst/>
                <a:latin typeface="腾讯字体包" panose="02010600010101010101" charset="-128"/>
                <a:ea typeface="腾讯字体包" panose="02010600010101010101" charset="-128"/>
                <a:cs typeface="腾讯字体包" panose="02010600010101010101" charset="-128"/>
                <a:sym typeface="+mn-ea"/>
              </a:rPr>
              <a:t>。</a:t>
            </a:r>
            <a:endParaRPr lang="zh-CN" sz="1800" dirty="0">
              <a:effectLst/>
              <a:latin typeface="腾讯字体包" panose="02010600010101010101" charset="-128"/>
              <a:ea typeface="腾讯字体包" panose="02010600010101010101" charset="-128"/>
              <a:cs typeface="腾讯字体包" panose="02010600010101010101" charset="-128"/>
              <a:sym typeface="+mn-ea"/>
            </a:endParaRPr>
          </a:p>
          <a:p>
            <a:pPr algn="l">
              <a:lnSpc>
                <a:spcPct val="125000"/>
              </a:lnSpc>
              <a:spcAft>
                <a:spcPts val="0"/>
              </a:spcAft>
              <a:buClrTx/>
              <a:buSzTx/>
            </a:pPr>
            <a:r>
              <a:rPr lang="zh-CN" sz="1800" dirty="0">
                <a:effectLst/>
                <a:latin typeface="腾讯字体包" panose="02010600010101010101" charset="-128"/>
                <a:ea typeface="腾讯字体包" panose="02010600010101010101" charset="-128"/>
                <a:cs typeface="腾讯字体包" panose="02010600010101010101" charset="-128"/>
                <a:sym typeface="+mn-ea"/>
              </a:rPr>
              <a:t>标注无偏移。</a:t>
            </a:r>
            <a:endParaRPr sz="1800" dirty="0">
              <a:effectLst/>
              <a:latin typeface="腾讯字体包" panose="02010600010101010101" charset="-128"/>
              <a:ea typeface="腾讯字体包" panose="02010600010101010101" charset="-128"/>
              <a:cs typeface="腾讯字体包" panose="02010600010101010101" charset="-128"/>
              <a:sym typeface="+mn-ea"/>
            </a:endParaRPr>
          </a:p>
          <a:p>
            <a:pPr algn="l">
              <a:lnSpc>
                <a:spcPct val="125000"/>
              </a:lnSpc>
              <a:spcAft>
                <a:spcPts val="0"/>
              </a:spcAft>
              <a:buClrTx/>
              <a:buSzTx/>
            </a:pPr>
            <a:r>
              <a:rPr lang="en-US" altLang="zh-CN" sz="2220" dirty="0">
                <a:solidFill>
                  <a:srgbClr val="3F51B6"/>
                </a:solidFill>
                <a:effectLst/>
                <a:uFillTx/>
                <a:latin typeface="腾讯字体包" panose="02010600010101010101" charset="-128"/>
                <a:ea typeface="腾讯字体包" panose="02010600010101010101" charset="-128"/>
                <a:sym typeface="+mn-ea"/>
              </a:rPr>
              <a:t>3</a:t>
            </a:r>
            <a:r>
              <a:rPr lang="zh-CN" altLang="en-US" sz="2220" dirty="0">
                <a:solidFill>
                  <a:srgbClr val="3F51B6"/>
                </a:solidFill>
                <a:effectLst/>
                <a:uFillTx/>
                <a:latin typeface="腾讯字体包" panose="02010600010101010101" charset="-128"/>
                <a:ea typeface="腾讯字体包" panose="02010600010101010101" charset="-128"/>
                <a:sym typeface="+mn-ea"/>
              </a:rPr>
              <a:t>：系统运行环境</a:t>
            </a:r>
            <a:endParaRPr lang="zh-CN" altLang="en-US" sz="2220" dirty="0">
              <a:solidFill>
                <a:srgbClr val="3F51B6"/>
              </a:solidFill>
              <a:effectLst/>
              <a:uFillTx/>
              <a:latin typeface="腾讯字体包" panose="02010600010101010101" charset="-128"/>
              <a:ea typeface="腾讯字体包" panose="02010600010101010101" charset="-128"/>
            </a:endParaRPr>
          </a:p>
          <a:p>
            <a:pPr algn="l">
              <a:lnSpc>
                <a:spcPct val="125000"/>
              </a:lnSpc>
              <a:spcAft>
                <a:spcPts val="0"/>
              </a:spcAft>
              <a:buClrTx/>
              <a:buSzTx/>
              <a:buChar char="•"/>
            </a:pPr>
            <a:r>
              <a:rPr lang="zh-CN" altLang="en-US" sz="1800" dirty="0">
                <a:effectLst/>
                <a:latin typeface="腾讯字体包" panose="02010600010101010101" charset="-128"/>
                <a:ea typeface="腾讯字体包" panose="02010600010101010101" charset="-128"/>
                <a:cs typeface="腾讯字体包" panose="02010600010101010101" charset="-128"/>
                <a:sym typeface="+mn-ea"/>
              </a:rPr>
              <a:t>添加系统运行的软件环境依赖（如操作系统、浏览器、网络）</a:t>
            </a:r>
            <a:r>
              <a:rPr sz="1800" dirty="0">
                <a:effectLst/>
                <a:latin typeface="腾讯字体包" panose="02010600010101010101" charset="-128"/>
                <a:ea typeface="腾讯字体包" panose="02010600010101010101" charset="-128"/>
                <a:cs typeface="腾讯字体包" panose="02010600010101010101" charset="-128"/>
                <a:sym typeface="+mn-ea"/>
              </a:rPr>
              <a:t>。</a:t>
            </a:r>
            <a:endParaRPr lang="zh-CN" altLang="en-US" sz="1800" dirty="0">
              <a:effectLst/>
              <a:latin typeface="腾讯字体包" panose="02010600010101010101" charset="-128"/>
              <a:ea typeface="腾讯字体包" panose="02010600010101010101" charset="-128"/>
              <a:cs typeface="腾讯字体包" panose="02010600010101010101" charset="-128"/>
              <a:sym typeface="+mn-ea"/>
            </a:endParaRPr>
          </a:p>
        </p:txBody>
      </p:sp>
      <p:grpSp>
        <p:nvGrpSpPr>
          <p:cNvPr id="16" name="组合 15"/>
          <p:cNvGrpSpPr/>
          <p:nvPr/>
        </p:nvGrpSpPr>
        <p:grpSpPr>
          <a:xfrm>
            <a:off x="283625" y="712715"/>
            <a:ext cx="11520000" cy="576000"/>
            <a:chOff x="582710" y="712715"/>
            <a:chExt cx="11527790" cy="572075"/>
          </a:xfrm>
        </p:grpSpPr>
        <p:sp>
          <p:nvSpPr>
            <p:cNvPr id="17" name="矩形 16"/>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文本框 17"/>
            <p:cNvSpPr txBox="1"/>
            <p:nvPr/>
          </p:nvSpPr>
          <p:spPr>
            <a:xfrm>
              <a:off x="676055" y="712715"/>
              <a:ext cx="11434445" cy="51841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dirty="0">
                  <a:latin typeface="腾讯字体包" panose="02010600010101010101" charset="-128"/>
                  <a:ea typeface="腾讯字体包" panose="02010600010101010101" charset="-128"/>
                </a:rPr>
                <a:t>总体需求：内容添加</a:t>
              </a:r>
              <a:endParaRPr kumimoji="1" lang="zh-CN" altLang="en-US" sz="2800" dirty="0">
                <a:latin typeface="腾讯字体包" panose="02010600010101010101" charset="-128"/>
                <a:ea typeface="腾讯字体包" panose="02010600010101010101" charset="-128"/>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2147482621"/>
          <p:cNvGraphicFramePr/>
          <p:nvPr/>
        </p:nvGraphicFramePr>
        <p:xfrm>
          <a:off x="3912870" y="1288415"/>
          <a:ext cx="8441055" cy="5459730"/>
        </p:xfrm>
        <a:graphic>
          <a:graphicData uri="http://schemas.openxmlformats.org/presentationml/2006/ole">
            <mc:AlternateContent xmlns:mc="http://schemas.openxmlformats.org/markup-compatibility/2006">
              <mc:Choice xmlns:v="urn:schemas-microsoft-com:vml" Requires="v">
                <p:oleObj spid="_x0000_s3" name="" r:id="rId1" imgW="10026015" imgH="5428615" progId="Visio.Drawing.15">
                  <p:embed/>
                </p:oleObj>
              </mc:Choice>
              <mc:Fallback>
                <p:oleObj name="" r:id="rId1" imgW="10026015" imgH="5428615" progId="Visio.Drawing.15">
                  <p:embed/>
                  <p:pic>
                    <p:nvPicPr>
                      <p:cNvPr id="0" name="图片 3075"/>
                      <p:cNvPicPr/>
                      <p:nvPr/>
                    </p:nvPicPr>
                    <p:blipFill>
                      <a:blip r:embed="rId2"/>
                      <a:stretch>
                        <a:fillRect/>
                      </a:stretch>
                    </p:blipFill>
                    <p:spPr>
                      <a:xfrm>
                        <a:off x="3912870" y="1288415"/>
                        <a:ext cx="8441055" cy="5459730"/>
                      </a:xfrm>
                      <a:prstGeom prst="rect">
                        <a:avLst/>
                      </a:prstGeom>
                      <a:noFill/>
                      <a:ln w="38100">
                        <a:noFill/>
                        <a:miter/>
                      </a:ln>
                    </p:spPr>
                  </p:pic>
                </p:oleObj>
              </mc:Fallback>
            </mc:AlternateContent>
          </a:graphicData>
        </a:graphic>
      </p:graphicFrame>
      <p:sp>
        <p:nvSpPr>
          <p:cNvPr id="5" name="内容占位符 4"/>
          <p:cNvSpPr>
            <a:spLocks noGrp="1"/>
          </p:cNvSpPr>
          <p:nvPr>
            <p:ph idx="1"/>
          </p:nvPr>
        </p:nvSpPr>
        <p:spPr>
          <a:xfrm>
            <a:off x="283845" y="1097915"/>
            <a:ext cx="3636010" cy="5273040"/>
          </a:xfrm>
        </p:spPr>
        <p:txBody>
          <a:bodyPr>
            <a:normAutofit/>
          </a:bodyPr>
          <a:lstStyle/>
          <a:p>
            <a:pPr marL="0" algn="l">
              <a:lnSpc>
                <a:spcPct val="125000"/>
              </a:lnSpc>
              <a:spcAft>
                <a:spcPts val="0"/>
              </a:spcAft>
              <a:buClrTx/>
              <a:buSzTx/>
              <a:buNone/>
            </a:pPr>
            <a:endParaRPr lang="zh-CN" altLang="en-US" sz="1800" dirty="0">
              <a:effectLst/>
              <a:latin typeface="腾讯字体包" panose="02010600010101010101" charset="-128"/>
              <a:ea typeface="腾讯字体包" panose="02010600010101010101" charset="-128"/>
              <a:cs typeface="腾讯字体包" panose="02010600010101010101" charset="-128"/>
            </a:endParaRPr>
          </a:p>
          <a:p>
            <a:pPr algn="l">
              <a:lnSpc>
                <a:spcPct val="125000"/>
              </a:lnSpc>
              <a:spcAft>
                <a:spcPts val="0"/>
              </a:spcAft>
              <a:buClrTx/>
              <a:buSzTx/>
              <a:buChar char="•"/>
            </a:pPr>
            <a:r>
              <a:rPr lang="en-US" altLang="zh-CN" sz="2220" dirty="0">
                <a:solidFill>
                  <a:srgbClr val="3F51B6"/>
                </a:solidFill>
                <a:effectLst/>
                <a:uFillTx/>
                <a:latin typeface="腾讯字体包" panose="02010600010101010101" charset="-128"/>
                <a:ea typeface="腾讯字体包" panose="02010600010101010101" charset="-128"/>
              </a:rPr>
              <a:t>1</a:t>
            </a:r>
            <a:r>
              <a:rPr lang="zh-CN" altLang="en-US" sz="2220" dirty="0">
                <a:solidFill>
                  <a:srgbClr val="3F51B6"/>
                </a:solidFill>
                <a:effectLst/>
                <a:uFillTx/>
                <a:latin typeface="腾讯字体包" panose="02010600010101010101" charset="-128"/>
                <a:ea typeface="腾讯字体包" panose="02010600010101010101" charset="-128"/>
              </a:rPr>
              <a:t>：问题阐述</a:t>
            </a:r>
            <a:endParaRPr lang="zh-CN" altLang="en-US" sz="2220" dirty="0">
              <a:solidFill>
                <a:srgbClr val="3F51B6"/>
              </a:solidFill>
              <a:effectLst/>
              <a:uFillTx/>
              <a:latin typeface="腾讯字体包" panose="02010600010101010101" charset="-128"/>
              <a:ea typeface="腾讯字体包" panose="02010600010101010101" charset="-128"/>
            </a:endParaRPr>
          </a:p>
          <a:p>
            <a:pPr algn="l">
              <a:lnSpc>
                <a:spcPct val="125000"/>
              </a:lnSpc>
              <a:spcAft>
                <a:spcPts val="0"/>
              </a:spcAft>
              <a:buClrTx/>
              <a:buSzTx/>
            </a:pPr>
            <a:r>
              <a:rPr lang="zh-CN" sz="1800" dirty="0">
                <a:effectLst/>
                <a:latin typeface="腾讯字体包" panose="02010600010101010101" charset="-128"/>
                <a:ea typeface="腾讯字体包" panose="02010600010101010101" charset="-128"/>
                <a:cs typeface="腾讯字体包" panose="02010600010101010101" charset="-128"/>
                <a:sym typeface="+mn-ea"/>
              </a:rPr>
              <a:t>箭头指意不明确。</a:t>
            </a:r>
            <a:endParaRPr lang="zh-CN" sz="1800" dirty="0">
              <a:effectLst/>
              <a:latin typeface="腾讯字体包" panose="02010600010101010101" charset="-128"/>
              <a:ea typeface="腾讯字体包" panose="02010600010101010101" charset="-128"/>
              <a:cs typeface="腾讯字体包" panose="02010600010101010101" charset="-128"/>
              <a:sym typeface="+mn-ea"/>
            </a:endParaRPr>
          </a:p>
          <a:p>
            <a:pPr algn="l">
              <a:lnSpc>
                <a:spcPct val="125000"/>
              </a:lnSpc>
              <a:spcAft>
                <a:spcPts val="0"/>
              </a:spcAft>
              <a:buClrTx/>
              <a:buSzTx/>
            </a:pPr>
            <a:r>
              <a:rPr lang="zh-CN" sz="1800" dirty="0">
                <a:effectLst/>
                <a:latin typeface="腾讯字体包" panose="02010600010101010101" charset="-128"/>
                <a:ea typeface="腾讯字体包" panose="02010600010101010101" charset="-128"/>
                <a:cs typeface="腾讯字体包" panose="02010600010101010101" charset="-128"/>
                <a:sym typeface="+mn-ea"/>
              </a:rPr>
              <a:t>部分功能在具体需求中未体现。</a:t>
            </a:r>
            <a:endParaRPr lang="zh-CN" sz="1800" dirty="0">
              <a:effectLst/>
              <a:latin typeface="腾讯字体包" panose="02010600010101010101" charset="-128"/>
              <a:ea typeface="腾讯字体包" panose="02010600010101010101" charset="-128"/>
              <a:cs typeface="腾讯字体包" panose="02010600010101010101" charset="-128"/>
              <a:sym typeface="+mn-ea"/>
            </a:endParaRPr>
          </a:p>
          <a:p>
            <a:pPr algn="l">
              <a:lnSpc>
                <a:spcPct val="125000"/>
              </a:lnSpc>
              <a:spcAft>
                <a:spcPts val="0"/>
              </a:spcAft>
              <a:buClrTx/>
              <a:buSzTx/>
            </a:pPr>
            <a:r>
              <a:rPr lang="zh-CN" sz="1800" dirty="0">
                <a:effectLst/>
                <a:latin typeface="腾讯字体包" panose="02010600010101010101" charset="-128"/>
                <a:ea typeface="腾讯字体包" panose="02010600010101010101" charset="-128"/>
                <a:cs typeface="腾讯字体包" panose="02010600010101010101" charset="-128"/>
                <a:sym typeface="+mn-ea"/>
              </a:rPr>
              <a:t>三种抽取方式在图中未体现。</a:t>
            </a:r>
            <a:endParaRPr lang="zh-CN" sz="1800" dirty="0">
              <a:effectLst/>
              <a:latin typeface="腾讯字体包" panose="02010600010101010101" charset="-128"/>
              <a:ea typeface="腾讯字体包" panose="02010600010101010101" charset="-128"/>
              <a:cs typeface="腾讯字体包" panose="02010600010101010101" charset="-128"/>
              <a:sym typeface="+mn-ea"/>
            </a:endParaRPr>
          </a:p>
          <a:p>
            <a:pPr algn="l">
              <a:lnSpc>
                <a:spcPct val="125000"/>
              </a:lnSpc>
              <a:spcAft>
                <a:spcPts val="0"/>
              </a:spcAft>
              <a:buClrTx/>
              <a:buSzTx/>
            </a:pPr>
            <a:r>
              <a:rPr lang="zh-CN" sz="1800" dirty="0">
                <a:effectLst/>
                <a:latin typeface="腾讯字体包" panose="02010600010101010101" charset="-128"/>
                <a:ea typeface="腾讯字体包" panose="02010600010101010101" charset="-128"/>
                <a:cs typeface="腾讯字体包" panose="02010600010101010101" charset="-128"/>
                <a:sym typeface="+mn-ea"/>
              </a:rPr>
              <a:t>模型预设、社区协作、框架共享在图中未体现。</a:t>
            </a:r>
            <a:endParaRPr lang="zh-CN" sz="1800" dirty="0">
              <a:effectLst/>
              <a:latin typeface="腾讯字体包" panose="02010600010101010101" charset="-128"/>
              <a:ea typeface="腾讯字体包" panose="02010600010101010101" charset="-128"/>
              <a:cs typeface="腾讯字体包" panose="02010600010101010101" charset="-128"/>
              <a:sym typeface="+mn-ea"/>
            </a:endParaRPr>
          </a:p>
          <a:p>
            <a:pPr algn="l">
              <a:lnSpc>
                <a:spcPct val="125000"/>
              </a:lnSpc>
              <a:spcAft>
                <a:spcPts val="0"/>
              </a:spcAft>
              <a:buClrTx/>
              <a:buSzTx/>
            </a:pPr>
            <a:r>
              <a:rPr lang="en-US" altLang="zh-CN" sz="1800" dirty="0">
                <a:effectLst/>
                <a:latin typeface="腾讯字体包" panose="02010600010101010101" charset="-128"/>
                <a:ea typeface="腾讯字体包" panose="02010600010101010101" charset="-128"/>
                <a:cs typeface="腾讯字体包" panose="02010600010101010101" charset="-128"/>
                <a:sym typeface="+mn-ea"/>
              </a:rPr>
              <a:t>ChatGPT</a:t>
            </a:r>
            <a:r>
              <a:rPr lang="zh-CN" altLang="en-US" sz="1800" dirty="0">
                <a:effectLst/>
                <a:latin typeface="腾讯字体包" panose="02010600010101010101" charset="-128"/>
                <a:ea typeface="腾讯字体包" panose="02010600010101010101" charset="-128"/>
                <a:cs typeface="腾讯字体包" panose="02010600010101010101" charset="-128"/>
                <a:sym typeface="+mn-ea"/>
              </a:rPr>
              <a:t>大写。</a:t>
            </a:r>
            <a:endParaRPr lang="zh-CN" sz="1800" dirty="0">
              <a:effectLst/>
              <a:latin typeface="腾讯字体包" panose="02010600010101010101" charset="-128"/>
              <a:ea typeface="腾讯字体包" panose="02010600010101010101" charset="-128"/>
              <a:cs typeface="腾讯字体包" panose="02010600010101010101" charset="-128"/>
              <a:sym typeface="+mn-ea"/>
            </a:endParaRPr>
          </a:p>
          <a:p>
            <a:pPr marL="0" indent="0" algn="l">
              <a:lnSpc>
                <a:spcPct val="125000"/>
              </a:lnSpc>
              <a:spcAft>
                <a:spcPts val="0"/>
              </a:spcAft>
              <a:buClrTx/>
              <a:buSzTx/>
              <a:buNone/>
            </a:pPr>
            <a:r>
              <a:rPr lang="en-US" altLang="zh-CN" sz="2220" dirty="0">
                <a:solidFill>
                  <a:srgbClr val="3F51B6"/>
                </a:solidFill>
                <a:effectLst/>
                <a:uFillTx/>
                <a:latin typeface="腾讯字体包" panose="02010600010101010101" charset="-128"/>
                <a:ea typeface="腾讯字体包" panose="02010600010101010101" charset="-128"/>
                <a:sym typeface="+mn-ea"/>
              </a:rPr>
              <a:t>2</a:t>
            </a:r>
            <a:r>
              <a:rPr lang="zh-CN" altLang="en-US" sz="2220" dirty="0">
                <a:solidFill>
                  <a:srgbClr val="3F51B6"/>
                </a:solidFill>
                <a:effectLst/>
                <a:uFillTx/>
                <a:latin typeface="腾讯字体包" panose="02010600010101010101" charset="-128"/>
                <a:ea typeface="腾讯字体包" panose="02010600010101010101" charset="-128"/>
                <a:sym typeface="+mn-ea"/>
              </a:rPr>
              <a:t>：解决方案</a:t>
            </a:r>
            <a:endParaRPr lang="zh-CN" altLang="en-US" sz="2220" dirty="0">
              <a:solidFill>
                <a:srgbClr val="3F51B6"/>
              </a:solidFill>
              <a:effectLst/>
              <a:uFillTx/>
              <a:latin typeface="腾讯字体包" panose="02010600010101010101" charset="-128"/>
              <a:ea typeface="腾讯字体包" panose="02010600010101010101" charset="-128"/>
            </a:endParaRPr>
          </a:p>
          <a:p>
            <a:pPr algn="l">
              <a:lnSpc>
                <a:spcPct val="125000"/>
              </a:lnSpc>
              <a:spcAft>
                <a:spcPts val="0"/>
              </a:spcAft>
              <a:buClrTx/>
              <a:buSzTx/>
              <a:buChar char="•"/>
            </a:pPr>
            <a:r>
              <a:rPr lang="zh-CN" altLang="en-US" sz="1800" dirty="0">
                <a:effectLst/>
                <a:latin typeface="腾讯字体包" panose="02010600010101010101" charset="-128"/>
                <a:ea typeface="腾讯字体包" panose="02010600010101010101" charset="-128"/>
                <a:cs typeface="腾讯字体包" panose="02010600010101010101" charset="-128"/>
                <a:sym typeface="+mn-ea"/>
              </a:rPr>
              <a:t>用例图调整。</a:t>
            </a:r>
            <a:endParaRPr lang="zh-CN" altLang="en-US" sz="1800" dirty="0">
              <a:effectLst/>
              <a:latin typeface="腾讯字体包" panose="02010600010101010101" charset="-128"/>
              <a:ea typeface="腾讯字体包" panose="02010600010101010101" charset="-128"/>
              <a:cs typeface="腾讯字体包" panose="02010600010101010101" charset="-128"/>
              <a:sym typeface="+mn-ea"/>
            </a:endParaRPr>
          </a:p>
          <a:p>
            <a:pPr algn="l">
              <a:lnSpc>
                <a:spcPct val="125000"/>
              </a:lnSpc>
              <a:spcAft>
                <a:spcPts val="0"/>
              </a:spcAft>
              <a:buClrTx/>
              <a:buSzTx/>
              <a:buChar char="•"/>
            </a:pPr>
            <a:r>
              <a:rPr lang="zh-CN" altLang="en-US" sz="1800" dirty="0">
                <a:effectLst/>
                <a:latin typeface="腾讯字体包" panose="02010600010101010101" charset="-128"/>
                <a:ea typeface="腾讯字体包" panose="02010600010101010101" charset="-128"/>
                <a:cs typeface="腾讯字体包" panose="02010600010101010101" charset="-128"/>
                <a:sym typeface="+mn-ea"/>
              </a:rPr>
              <a:t>丰富对总体功能的描述。</a:t>
            </a:r>
            <a:endParaRPr lang="zh-CN" altLang="en-US" sz="1800" dirty="0">
              <a:effectLst/>
              <a:latin typeface="腾讯字体包" panose="02010600010101010101" charset="-128"/>
              <a:ea typeface="腾讯字体包" panose="02010600010101010101" charset="-128"/>
              <a:cs typeface="腾讯字体包" panose="02010600010101010101" charset="-128"/>
              <a:sym typeface="+mn-ea"/>
            </a:endParaRPr>
          </a:p>
        </p:txBody>
      </p:sp>
      <p:grpSp>
        <p:nvGrpSpPr>
          <p:cNvPr id="16" name="组合 15"/>
          <p:cNvGrpSpPr/>
          <p:nvPr/>
        </p:nvGrpSpPr>
        <p:grpSpPr>
          <a:xfrm>
            <a:off x="283625" y="712715"/>
            <a:ext cx="11520000" cy="576000"/>
            <a:chOff x="582710" y="712715"/>
            <a:chExt cx="11527790" cy="572075"/>
          </a:xfrm>
        </p:grpSpPr>
        <p:sp>
          <p:nvSpPr>
            <p:cNvPr id="17" name="矩形 16"/>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文本框 17"/>
            <p:cNvSpPr txBox="1"/>
            <p:nvPr/>
          </p:nvSpPr>
          <p:spPr>
            <a:xfrm>
              <a:off x="676055" y="712715"/>
              <a:ext cx="11434445" cy="51841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dirty="0">
                  <a:latin typeface="腾讯字体包" panose="02010600010101010101" charset="-128"/>
                  <a:ea typeface="腾讯字体包" panose="02010600010101010101" charset="-128"/>
                </a:rPr>
                <a:t>总体需求：总体用例图</a:t>
              </a:r>
              <a:endParaRPr kumimoji="1" lang="zh-CN" altLang="en-US" sz="2800" dirty="0">
                <a:latin typeface="腾讯字体包" panose="02010600010101010101" charset="-128"/>
                <a:ea typeface="腾讯字体包" panose="02010600010101010101" charset="-128"/>
              </a:endParaRPr>
            </a:p>
          </p:txBody>
        </p:sp>
      </p:grpSp>
      <p:sp>
        <p:nvSpPr>
          <p:cNvPr id="4" name="文本框 3"/>
          <p:cNvSpPr txBox="1"/>
          <p:nvPr/>
        </p:nvSpPr>
        <p:spPr>
          <a:xfrm>
            <a:off x="7887335" y="6410960"/>
            <a:ext cx="1082040" cy="337185"/>
          </a:xfrm>
          <a:prstGeom prst="rect">
            <a:avLst/>
          </a:prstGeom>
          <a:noFill/>
        </p:spPr>
        <p:txBody>
          <a:bodyPr wrap="square">
            <a:spAutoFit/>
          </a:bodyPr>
          <a:lstStyle/>
          <a:p>
            <a:r>
              <a:rPr lang="zh-CN" altLang="en-US" sz="1600" dirty="0">
                <a:latin typeface="腾讯字体包" panose="02010600010101010101" charset="-128"/>
                <a:ea typeface="腾讯字体包" panose="02010600010101010101" charset="-128"/>
                <a:cs typeface="腾讯字体包" panose="02010600010101010101" charset="-128"/>
              </a:rPr>
              <a:t>原</a:t>
            </a:r>
            <a:r>
              <a:rPr lang="en-US" altLang="zh-CN" sz="1600" dirty="0">
                <a:latin typeface="腾讯字体包" panose="02010600010101010101" charset="-128"/>
                <a:ea typeface="腾讯字体包" panose="02010600010101010101" charset="-128"/>
                <a:cs typeface="腾讯字体包" panose="02010600010101010101" charset="-128"/>
              </a:rPr>
              <a:t>用例图</a:t>
            </a:r>
            <a:endParaRPr lang="en-US" altLang="zh-CN" sz="1600" dirty="0">
              <a:latin typeface="腾讯字体包" panose="02010600010101010101" charset="-128"/>
              <a:ea typeface="腾讯字体包" panose="02010600010101010101" charset="-128"/>
              <a:cs typeface="腾讯字体包" panose="02010600010101010101" charset="-128"/>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00437" y="758328"/>
            <a:ext cx="4242787" cy="584775"/>
            <a:chOff x="582710" y="700015"/>
            <a:chExt cx="3281155" cy="584775"/>
          </a:xfrm>
        </p:grpSpPr>
        <p:sp>
          <p:nvSpPr>
            <p:cNvPr id="6" name="矩形 5"/>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676165" y="700015"/>
              <a:ext cx="3187700" cy="521970"/>
            </a:xfrm>
            <a:prstGeom prst="rect">
              <a:avLst/>
            </a:prstGeom>
            <a:noFill/>
          </p:spPr>
          <p:txBody>
            <a:bodyPr wrap="square" rtlCol="0">
              <a:spAutoFit/>
            </a:bodyPr>
            <a:lstStyle/>
            <a:p>
              <a:r>
                <a:rPr kumimoji="1" lang="zh-CN" altLang="en-US" sz="2800" dirty="0">
                  <a:latin typeface="腾讯字体包" panose="02010600010101010101" charset="-128"/>
                  <a:ea typeface="腾讯字体包" panose="02010600010101010101" charset="-128"/>
                </a:rPr>
                <a:t>用例图调整</a:t>
              </a:r>
              <a:endParaRPr kumimoji="1" lang="zh-CN" altLang="en-US" sz="2800" dirty="0">
                <a:latin typeface="腾讯字体包" panose="02010600010101010101" charset="-128"/>
                <a:ea typeface="腾讯字体包" panose="02010600010101010101" charset="-128"/>
              </a:endParaRPr>
            </a:p>
          </p:txBody>
        </p:sp>
      </p:grpSp>
      <p:sp>
        <p:nvSpPr>
          <p:cNvPr id="15" name="内容占位符 2"/>
          <p:cNvSpPr txBox="1"/>
          <p:nvPr/>
        </p:nvSpPr>
        <p:spPr>
          <a:xfrm>
            <a:off x="746207" y="1835200"/>
            <a:ext cx="7159052" cy="437547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endParaRPr kumimoji="1" lang="en-US" altLang="zh-CN" sz="2400" dirty="0"/>
          </a:p>
        </p:txBody>
      </p:sp>
      <p:sp>
        <p:nvSpPr>
          <p:cNvPr id="16" name="内容占位符 2"/>
          <p:cNvSpPr txBox="1"/>
          <p:nvPr/>
        </p:nvSpPr>
        <p:spPr>
          <a:xfrm>
            <a:off x="746207" y="1598493"/>
            <a:ext cx="7581523" cy="39928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endParaRPr kumimoji="1" lang="zh-CN" altLang="en-US" sz="2000" dirty="0"/>
          </a:p>
        </p:txBody>
      </p:sp>
      <p:sp>
        <p:nvSpPr>
          <p:cNvPr id="3" name="文本框 2"/>
          <p:cNvSpPr txBox="1"/>
          <p:nvPr/>
        </p:nvSpPr>
        <p:spPr>
          <a:xfrm>
            <a:off x="5006285" y="6274610"/>
            <a:ext cx="2049145" cy="337185"/>
          </a:xfrm>
          <a:prstGeom prst="rect">
            <a:avLst/>
          </a:prstGeom>
          <a:noFill/>
        </p:spPr>
        <p:txBody>
          <a:bodyPr wrap="square">
            <a:spAutoFit/>
          </a:bodyPr>
          <a:lstStyle/>
          <a:p>
            <a:r>
              <a:rPr lang="en-US" altLang="zh-CN" sz="1600" dirty="0">
                <a:latin typeface="腾讯字体包" panose="02010600010101010101" charset="-128"/>
                <a:ea typeface="腾讯字体包" panose="02010600010101010101" charset="-128"/>
                <a:cs typeface="腾讯字体包" panose="02010600010101010101" charset="-128"/>
              </a:rPr>
              <a:t>ITAS系统总体用例图</a:t>
            </a:r>
            <a:endParaRPr lang="en-US" altLang="zh-CN" sz="1600" dirty="0">
              <a:latin typeface="腾讯字体包" panose="02010600010101010101" charset="-128"/>
              <a:ea typeface="腾讯字体包" panose="02010600010101010101" charset="-128"/>
              <a:cs typeface="腾讯字体包" panose="02010600010101010101" charset="-128"/>
            </a:endParaRPr>
          </a:p>
        </p:txBody>
      </p:sp>
      <p:sp>
        <p:nvSpPr>
          <p:cNvPr id="4" name="Rectangle 2"/>
          <p:cNvSpPr>
            <a:spLocks noChangeArrowheads="1"/>
          </p:cNvSpPr>
          <p:nvPr/>
        </p:nvSpPr>
        <p:spPr bwMode="auto">
          <a:xfrm>
            <a:off x="2946400" y="159849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9" name="图片 8"/>
          <p:cNvPicPr>
            <a:picLocks noChangeAspect="1"/>
          </p:cNvPicPr>
          <p:nvPr/>
        </p:nvPicPr>
        <p:blipFill>
          <a:blip r:embed="rId1"/>
          <a:stretch>
            <a:fillRect/>
          </a:stretch>
        </p:blipFill>
        <p:spPr>
          <a:xfrm>
            <a:off x="1393185" y="1266683"/>
            <a:ext cx="9441316" cy="494399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283845" y="1649095"/>
            <a:ext cx="7990840" cy="5017135"/>
          </a:xfrm>
        </p:spPr>
        <p:txBody>
          <a:bodyPr>
            <a:normAutofit/>
          </a:bodyPr>
          <a:lstStyle/>
          <a:p>
            <a:pPr marL="228600" lvl="1" algn="l">
              <a:lnSpc>
                <a:spcPct val="125000"/>
              </a:lnSpc>
              <a:spcBef>
                <a:spcPts val="1000"/>
              </a:spcBef>
              <a:spcAft>
                <a:spcPts val="0"/>
              </a:spcAft>
              <a:buClrTx/>
              <a:buSzTx/>
            </a:pPr>
            <a:r>
              <a:rPr lang="en-US" altLang="zh-CN" sz="2220" dirty="0">
                <a:solidFill>
                  <a:srgbClr val="3F51B6"/>
                </a:solidFill>
                <a:effectLst/>
                <a:uFillTx/>
                <a:latin typeface="腾讯字体包" panose="02010600010101010101" charset="-128"/>
                <a:ea typeface="腾讯字体包" panose="02010600010101010101" charset="-128"/>
              </a:rPr>
              <a:t>1：RUCM表基本流中一句话表述了不止一个动作或行为</a:t>
            </a:r>
            <a:endParaRPr lang="en-US" altLang="zh-CN" sz="2220" dirty="0">
              <a:solidFill>
                <a:srgbClr val="3F51B6"/>
              </a:solidFill>
              <a:effectLst/>
              <a:uFillTx/>
              <a:latin typeface="腾讯字体包" panose="02010600010101010101" charset="-128"/>
              <a:ea typeface="腾讯字体包" panose="02010600010101010101" charset="-128"/>
            </a:endParaRPr>
          </a:p>
          <a:p>
            <a:pPr lvl="1" algn="l">
              <a:lnSpc>
                <a:spcPct val="125000"/>
              </a:lnSpc>
              <a:spcAft>
                <a:spcPts val="0"/>
              </a:spcAft>
              <a:buClrTx/>
              <a:buSzTx/>
            </a:pPr>
            <a:r>
              <a:rPr lang="zh-CN" sz="1540" dirty="0">
                <a:effectLst/>
                <a:latin typeface="腾讯字体包" panose="02010600010101010101" charset="-128"/>
                <a:ea typeface="腾讯字体包" panose="02010600010101010101" charset="-128"/>
                <a:cs typeface="腾讯字体包" panose="02010600010101010101" charset="-128"/>
                <a:sym typeface="+mn-ea"/>
              </a:rPr>
              <a:t>解决方案：</a:t>
            </a:r>
            <a:endParaRPr lang="zh-CN" sz="1540" dirty="0">
              <a:effectLst/>
              <a:latin typeface="腾讯字体包" panose="02010600010101010101" charset="-128"/>
              <a:ea typeface="腾讯字体包" panose="02010600010101010101" charset="-128"/>
              <a:cs typeface="腾讯字体包" panose="02010600010101010101" charset="-128"/>
              <a:sym typeface="+mn-ea"/>
            </a:endParaRPr>
          </a:p>
          <a:p>
            <a:pPr marL="457200" lvl="1" indent="0" algn="l">
              <a:lnSpc>
                <a:spcPct val="125000"/>
              </a:lnSpc>
              <a:spcAft>
                <a:spcPts val="0"/>
              </a:spcAft>
              <a:buClrTx/>
              <a:buSzTx/>
              <a:buNone/>
            </a:pPr>
            <a:r>
              <a:rPr lang="zh-CN" sz="1540" dirty="0">
                <a:effectLst/>
                <a:latin typeface="腾讯字体包" panose="02010600010101010101" charset="-128"/>
                <a:ea typeface="腾讯字体包" panose="02010600010101010101" charset="-128"/>
                <a:cs typeface="腾讯字体包" panose="02010600010101010101" charset="-128"/>
                <a:sym typeface="+mn-ea"/>
              </a:rPr>
              <a:t>①进一步细化基本流，分离不同动作</a:t>
            </a:r>
            <a:r>
              <a:rPr sz="1540" dirty="0">
                <a:effectLst/>
                <a:latin typeface="腾讯字体包" panose="02010600010101010101" charset="-128"/>
                <a:ea typeface="腾讯字体包" panose="02010600010101010101" charset="-128"/>
                <a:cs typeface="腾讯字体包" panose="02010600010101010101" charset="-128"/>
                <a:sym typeface="+mn-ea"/>
              </a:rPr>
              <a:t>。</a:t>
            </a:r>
            <a:endParaRPr sz="1540" dirty="0">
              <a:effectLst/>
              <a:latin typeface="腾讯字体包" panose="02010600010101010101" charset="-128"/>
              <a:ea typeface="腾讯字体包" panose="02010600010101010101" charset="-128"/>
              <a:cs typeface="腾讯字体包" panose="02010600010101010101" charset="-128"/>
              <a:sym typeface="+mn-ea"/>
            </a:endParaRPr>
          </a:p>
          <a:p>
            <a:pPr marL="457200" lvl="1" indent="0" algn="l">
              <a:lnSpc>
                <a:spcPct val="125000"/>
              </a:lnSpc>
              <a:spcAft>
                <a:spcPts val="0"/>
              </a:spcAft>
              <a:buClrTx/>
              <a:buSzTx/>
              <a:buNone/>
            </a:pPr>
            <a:r>
              <a:rPr lang="zh-CN" sz="1540" dirty="0">
                <a:effectLst/>
                <a:latin typeface="腾讯字体包" panose="02010600010101010101" charset="-128"/>
                <a:ea typeface="腾讯字体包" panose="02010600010101010101" charset="-128"/>
                <a:cs typeface="腾讯字体包" panose="02010600010101010101" charset="-128"/>
                <a:sym typeface="+mn-ea"/>
              </a:rPr>
              <a:t>②采用MEANWHILE语法对同时进行的多动作进行表述。</a:t>
            </a:r>
            <a:endParaRPr lang="zh-CN" sz="1540" dirty="0">
              <a:effectLst/>
              <a:latin typeface="腾讯字体包" panose="02010600010101010101" charset="-128"/>
              <a:ea typeface="腾讯字体包" panose="02010600010101010101" charset="-128"/>
              <a:cs typeface="腾讯字体包" panose="02010600010101010101" charset="-128"/>
              <a:sym typeface="+mn-ea"/>
            </a:endParaRPr>
          </a:p>
          <a:p>
            <a:pPr algn="l">
              <a:lnSpc>
                <a:spcPct val="125000"/>
              </a:lnSpc>
              <a:spcAft>
                <a:spcPts val="0"/>
              </a:spcAft>
              <a:buClrTx/>
              <a:buSzTx/>
            </a:pPr>
            <a:r>
              <a:rPr lang="en-US" altLang="zh-CN" sz="2220" dirty="0">
                <a:solidFill>
                  <a:srgbClr val="3F51B6"/>
                </a:solidFill>
                <a:effectLst/>
                <a:uFillTx/>
                <a:latin typeface="腾讯字体包" panose="02010600010101010101" charset="-128"/>
                <a:ea typeface="腾讯字体包" panose="02010600010101010101" charset="-128"/>
              </a:rPr>
              <a:t>2</a:t>
            </a:r>
            <a:r>
              <a:rPr lang="zh-CN" altLang="en-US" sz="2220" dirty="0">
                <a:solidFill>
                  <a:srgbClr val="3F51B6"/>
                </a:solidFill>
                <a:effectLst/>
                <a:uFillTx/>
                <a:latin typeface="腾讯字体包" panose="02010600010101010101" charset="-128"/>
                <a:ea typeface="腾讯字体包" panose="02010600010101010101" charset="-128"/>
              </a:rPr>
              <a:t>：部分</a:t>
            </a:r>
            <a:r>
              <a:rPr lang="en-US" altLang="zh-CN" sz="2220" dirty="0">
                <a:solidFill>
                  <a:srgbClr val="3F51B6"/>
                </a:solidFill>
                <a:effectLst/>
                <a:uFillTx/>
                <a:latin typeface="腾讯字体包" panose="02010600010101010101" charset="-128"/>
                <a:ea typeface="腾讯字体包" panose="02010600010101010101" charset="-128"/>
              </a:rPr>
              <a:t>RUCM</a:t>
            </a:r>
            <a:r>
              <a:rPr lang="zh-CN" altLang="en-US" sz="2220" dirty="0">
                <a:solidFill>
                  <a:srgbClr val="3F51B6"/>
                </a:solidFill>
                <a:effectLst/>
                <a:uFillTx/>
                <a:latin typeface="腾讯字体包" panose="02010600010101010101" charset="-128"/>
                <a:ea typeface="腾讯字体包" panose="02010600010101010101" charset="-128"/>
              </a:rPr>
              <a:t>表及流程图无备选事件流</a:t>
            </a:r>
            <a:endParaRPr lang="zh-CN" altLang="en-US" sz="2220" dirty="0">
              <a:solidFill>
                <a:srgbClr val="3F51B6"/>
              </a:solidFill>
              <a:effectLst/>
              <a:uFillTx/>
              <a:latin typeface="腾讯字体包" panose="02010600010101010101" charset="-128"/>
              <a:ea typeface="腾讯字体包" panose="02010600010101010101" charset="-128"/>
            </a:endParaRPr>
          </a:p>
          <a:p>
            <a:pPr lvl="1" algn="l">
              <a:lnSpc>
                <a:spcPct val="125000"/>
              </a:lnSpc>
              <a:spcAft>
                <a:spcPts val="0"/>
              </a:spcAft>
              <a:buClrTx/>
              <a:buSzTx/>
            </a:pPr>
            <a:r>
              <a:rPr lang="zh-CN" sz="1540" dirty="0">
                <a:effectLst/>
                <a:latin typeface="腾讯字体包" panose="02010600010101010101" charset="-128"/>
                <a:ea typeface="腾讯字体包" panose="02010600010101010101" charset="-128"/>
                <a:cs typeface="腾讯字体包" panose="02010600010101010101" charset="-128"/>
                <a:sym typeface="+mn-ea"/>
              </a:rPr>
              <a:t>解决方案：</a:t>
            </a:r>
            <a:r>
              <a:rPr lang="zh-CN" altLang="en-US" sz="1540" dirty="0">
                <a:effectLst/>
                <a:latin typeface="腾讯字体包" panose="02010600010101010101" charset="-128"/>
                <a:ea typeface="腾讯字体包" panose="02010600010101010101" charset="-128"/>
                <a:cs typeface="腾讯字体包" panose="02010600010101010101" charset="-128"/>
                <a:sym typeface="+mn-ea"/>
              </a:rPr>
              <a:t>重新设计不完善的</a:t>
            </a:r>
            <a:r>
              <a:rPr lang="en-US" altLang="zh-CN" sz="1540" dirty="0">
                <a:effectLst/>
                <a:latin typeface="腾讯字体包" panose="02010600010101010101" charset="-128"/>
                <a:ea typeface="腾讯字体包" panose="02010600010101010101" charset="-128"/>
                <a:cs typeface="腾讯字体包" panose="02010600010101010101" charset="-128"/>
                <a:sym typeface="+mn-ea"/>
              </a:rPr>
              <a:t>RUCM</a:t>
            </a:r>
            <a:r>
              <a:rPr lang="zh-CN" altLang="en-US" sz="1540" dirty="0">
                <a:effectLst/>
                <a:latin typeface="腾讯字体包" panose="02010600010101010101" charset="-128"/>
                <a:ea typeface="腾讯字体包" panose="02010600010101010101" charset="-128"/>
                <a:cs typeface="腾讯字体包" panose="02010600010101010101" charset="-128"/>
                <a:sym typeface="+mn-ea"/>
              </a:rPr>
              <a:t>表及流程图。</a:t>
            </a:r>
            <a:endParaRPr lang="zh-CN" altLang="en-US" sz="1540" dirty="0">
              <a:effectLst/>
              <a:latin typeface="腾讯字体包" panose="02010600010101010101" charset="-128"/>
              <a:ea typeface="腾讯字体包" panose="02010600010101010101" charset="-128"/>
              <a:cs typeface="腾讯字体包" panose="02010600010101010101" charset="-128"/>
              <a:sym typeface="+mn-ea"/>
            </a:endParaRPr>
          </a:p>
          <a:p>
            <a:pPr lvl="1" algn="l">
              <a:lnSpc>
                <a:spcPct val="125000"/>
              </a:lnSpc>
              <a:spcAft>
                <a:spcPts val="0"/>
              </a:spcAft>
              <a:buClrTx/>
              <a:buSzTx/>
            </a:pPr>
            <a:r>
              <a:rPr lang="en-US" altLang="zh-CN" sz="1540" dirty="0">
                <a:effectLst/>
                <a:latin typeface="腾讯字体包" panose="02010600010101010101" charset="-128"/>
                <a:ea typeface="腾讯字体包" panose="02010600010101010101" charset="-128"/>
                <a:cs typeface="腾讯字体包" panose="02010600010101010101" charset="-128"/>
                <a:sym typeface="+mn-ea"/>
              </a:rPr>
              <a:t>p.s. </a:t>
            </a:r>
            <a:r>
              <a:rPr lang="zh-CN" altLang="en-US" sz="1540" dirty="0">
                <a:effectLst/>
                <a:latin typeface="腾讯字体包" panose="02010600010101010101" charset="-128"/>
                <a:ea typeface="腾讯字体包" panose="02010600010101010101" charset="-128"/>
                <a:cs typeface="腾讯字体包" panose="02010600010101010101" charset="-128"/>
                <a:sym typeface="+mn-ea"/>
              </a:rPr>
              <a:t>更新设计后部分流程图重新设计和作图</a:t>
            </a:r>
            <a:endParaRPr lang="zh-CN" altLang="en-US" sz="1540" dirty="0">
              <a:effectLst/>
              <a:latin typeface="腾讯字体包" panose="02010600010101010101" charset="-128"/>
              <a:ea typeface="腾讯字体包" panose="02010600010101010101" charset="-128"/>
              <a:cs typeface="腾讯字体包" panose="02010600010101010101" charset="-128"/>
              <a:sym typeface="+mn-ea"/>
            </a:endParaRPr>
          </a:p>
          <a:p>
            <a:pPr algn="l">
              <a:lnSpc>
                <a:spcPct val="125000"/>
              </a:lnSpc>
              <a:spcAft>
                <a:spcPts val="0"/>
              </a:spcAft>
              <a:buClrTx/>
              <a:buSzTx/>
            </a:pPr>
            <a:r>
              <a:rPr lang="en-US" altLang="zh-CN" sz="2220" dirty="0">
                <a:solidFill>
                  <a:srgbClr val="3F51B6"/>
                </a:solidFill>
                <a:effectLst/>
                <a:uFillTx/>
                <a:latin typeface="腾讯字体包" panose="02010600010101010101" charset="-128"/>
                <a:ea typeface="腾讯字体包" panose="02010600010101010101" charset="-128"/>
                <a:sym typeface="+mn-ea"/>
              </a:rPr>
              <a:t>3</a:t>
            </a:r>
            <a:r>
              <a:rPr lang="zh-CN" altLang="en-US" sz="2220" dirty="0">
                <a:solidFill>
                  <a:srgbClr val="3F51B6"/>
                </a:solidFill>
                <a:effectLst/>
                <a:uFillTx/>
                <a:latin typeface="腾讯字体包" panose="02010600010101010101" charset="-128"/>
                <a:ea typeface="腾讯字体包" panose="02010600010101010101" charset="-128"/>
                <a:sym typeface="+mn-ea"/>
              </a:rPr>
              <a:t>：部分流程图语义模糊、表述不完整</a:t>
            </a:r>
            <a:endParaRPr lang="zh-CN" altLang="en-US" sz="2220" dirty="0">
              <a:solidFill>
                <a:srgbClr val="3F51B6"/>
              </a:solidFill>
              <a:effectLst/>
              <a:uFillTx/>
              <a:latin typeface="腾讯字体包" panose="02010600010101010101" charset="-128"/>
              <a:ea typeface="腾讯字体包" panose="02010600010101010101" charset="-128"/>
              <a:sym typeface="+mn-ea"/>
            </a:endParaRPr>
          </a:p>
          <a:p>
            <a:pPr lvl="1" algn="l">
              <a:lnSpc>
                <a:spcPct val="125000"/>
              </a:lnSpc>
              <a:spcAft>
                <a:spcPts val="0"/>
              </a:spcAft>
              <a:buClrTx/>
              <a:buSzTx/>
            </a:pPr>
            <a:r>
              <a:rPr lang="zh-CN" altLang="en-US" sz="1540" dirty="0">
                <a:effectLst/>
                <a:latin typeface="腾讯字体包" panose="02010600010101010101" charset="-128"/>
                <a:ea typeface="腾讯字体包" panose="02010600010101010101" charset="-128"/>
                <a:cs typeface="腾讯字体包" panose="02010600010101010101" charset="-128"/>
                <a:sym typeface="+mn-ea"/>
              </a:rPr>
              <a:t>解决方案：修改语义模糊流程图内容。</a:t>
            </a:r>
            <a:endParaRPr lang="zh-CN" altLang="en-US" sz="1540" dirty="0">
              <a:effectLst/>
              <a:latin typeface="腾讯字体包" panose="02010600010101010101" charset="-128"/>
              <a:ea typeface="腾讯字体包" panose="02010600010101010101" charset="-128"/>
              <a:cs typeface="腾讯字体包" panose="02010600010101010101" charset="-128"/>
              <a:sym typeface="+mn-ea"/>
            </a:endParaRPr>
          </a:p>
          <a:p>
            <a:pPr marL="0" indent="0" algn="l">
              <a:lnSpc>
                <a:spcPct val="125000"/>
              </a:lnSpc>
              <a:spcAft>
                <a:spcPts val="0"/>
              </a:spcAft>
              <a:buClrTx/>
              <a:buSzTx/>
              <a:buNone/>
            </a:pPr>
            <a:endParaRPr lang="zh-CN" altLang="en-US" sz="1800" dirty="0">
              <a:solidFill>
                <a:srgbClr val="3F51B6"/>
              </a:solidFill>
              <a:effectLst/>
              <a:uFillTx/>
              <a:latin typeface="腾讯字体包" panose="02010600010101010101" charset="-128"/>
              <a:ea typeface="腾讯字体包" panose="02010600010101010101" charset="-128"/>
              <a:cs typeface="腾讯字体包" panose="02010600010101010101" charset="-128"/>
              <a:sym typeface="+mn-ea"/>
            </a:endParaRPr>
          </a:p>
        </p:txBody>
      </p:sp>
      <p:grpSp>
        <p:nvGrpSpPr>
          <p:cNvPr id="16" name="组合 15"/>
          <p:cNvGrpSpPr/>
          <p:nvPr/>
        </p:nvGrpSpPr>
        <p:grpSpPr>
          <a:xfrm>
            <a:off x="283625" y="712715"/>
            <a:ext cx="11520000" cy="576000"/>
            <a:chOff x="582710" y="712715"/>
            <a:chExt cx="11527790" cy="572075"/>
          </a:xfrm>
        </p:grpSpPr>
        <p:sp>
          <p:nvSpPr>
            <p:cNvPr id="17" name="矩形 16"/>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文本框 17"/>
            <p:cNvSpPr txBox="1"/>
            <p:nvPr/>
          </p:nvSpPr>
          <p:spPr>
            <a:xfrm>
              <a:off x="676055" y="712715"/>
              <a:ext cx="11434445" cy="51841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2800" dirty="0">
                  <a:latin typeface="腾讯字体包" panose="02010600010101010101" charset="-128"/>
                  <a:ea typeface="腾讯字体包" panose="02010600010101010101" charset="-128"/>
                  <a:sym typeface="+mn-ea"/>
                </a:rPr>
                <a:t>RUCM</a:t>
              </a:r>
              <a:r>
                <a:rPr kumimoji="1" lang="zh-CN" altLang="en-US" sz="2800" dirty="0">
                  <a:latin typeface="腾讯字体包" panose="02010600010101010101" charset="-128"/>
                  <a:ea typeface="腾讯字体包" panose="02010600010101010101" charset="-128"/>
                  <a:sym typeface="+mn-ea"/>
                </a:rPr>
                <a:t>表、对应流程图：</a:t>
              </a:r>
              <a:r>
                <a:rPr kumimoji="1" lang="zh-CN" altLang="en-US" sz="2800" dirty="0">
                  <a:solidFill>
                    <a:schemeClr val="accent5"/>
                  </a:solidFill>
                  <a:latin typeface="腾讯字体包" panose="02010600010101010101" charset="-128"/>
                  <a:ea typeface="腾讯字体包" panose="02010600010101010101" charset="-128"/>
                  <a:sym typeface="+mn-ea"/>
                </a:rPr>
                <a:t>接受</a:t>
              </a:r>
              <a:r>
                <a:rPr kumimoji="1" lang="zh-CN" altLang="en-US" sz="2800" dirty="0">
                  <a:latin typeface="腾讯字体包" panose="02010600010101010101" charset="-128"/>
                  <a:ea typeface="腾讯字体包" panose="02010600010101010101" charset="-128"/>
                </a:rPr>
                <a:t>问题描述及解决方案</a:t>
              </a:r>
              <a:endParaRPr kumimoji="1" lang="zh-CN" altLang="en-US" sz="2800" dirty="0">
                <a:latin typeface="腾讯字体包" panose="02010600010101010101" charset="-128"/>
                <a:ea typeface="腾讯字体包" panose="02010600010101010101" charset="-128"/>
              </a:endParaRPr>
            </a:p>
          </p:txBody>
        </p:sp>
      </p:grpSp>
      <p:pic>
        <p:nvPicPr>
          <p:cNvPr id="2" name="图片 1"/>
          <p:cNvPicPr>
            <a:picLocks noChangeAspect="1"/>
          </p:cNvPicPr>
          <p:nvPr/>
        </p:nvPicPr>
        <p:blipFill>
          <a:blip r:embed="rId1"/>
          <a:stretch>
            <a:fillRect/>
          </a:stretch>
        </p:blipFill>
        <p:spPr>
          <a:xfrm>
            <a:off x="7608570" y="1274445"/>
            <a:ext cx="3699510" cy="2760345"/>
          </a:xfrm>
          <a:prstGeom prst="rect">
            <a:avLst/>
          </a:prstGeom>
        </p:spPr>
      </p:pic>
      <p:pic>
        <p:nvPicPr>
          <p:cNvPr id="1486921103" name="图片 1"/>
          <p:cNvPicPr>
            <a:picLocks noChangeAspect="1"/>
          </p:cNvPicPr>
          <p:nvPr/>
        </p:nvPicPr>
        <p:blipFill>
          <a:blip r:embed="rId2"/>
          <a:srcRect t="44913"/>
          <a:stretch>
            <a:fillRect/>
          </a:stretch>
        </p:blipFill>
        <p:spPr>
          <a:xfrm>
            <a:off x="7703820" y="4065270"/>
            <a:ext cx="2148205" cy="24790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273685" y="1517015"/>
            <a:ext cx="7684770" cy="4660900"/>
          </a:xfrm>
        </p:spPr>
        <p:txBody>
          <a:bodyPr>
            <a:normAutofit/>
          </a:bodyPr>
          <a:lstStyle/>
          <a:p>
            <a:pPr algn="l">
              <a:lnSpc>
                <a:spcPct val="125000"/>
              </a:lnSpc>
              <a:spcAft>
                <a:spcPts val="0"/>
              </a:spcAft>
              <a:buClrTx/>
              <a:buSzTx/>
            </a:pPr>
            <a:r>
              <a:rPr lang="en-US" altLang="zh-CN" sz="2220" dirty="0">
                <a:solidFill>
                  <a:srgbClr val="3F51B6"/>
                </a:solidFill>
                <a:effectLst/>
                <a:uFillTx/>
                <a:latin typeface="腾讯字体包" panose="02010600010101010101" charset="-128"/>
                <a:ea typeface="腾讯字体包" panose="02010600010101010101" charset="-128"/>
              </a:rPr>
              <a:t>1：流程图、活动图元素混淆使用</a:t>
            </a:r>
            <a:endParaRPr lang="en-US" altLang="zh-CN" sz="2220" dirty="0">
              <a:solidFill>
                <a:srgbClr val="3F51B6"/>
              </a:solidFill>
              <a:effectLst/>
              <a:uFillTx/>
              <a:latin typeface="腾讯字体包" panose="02010600010101010101" charset="-128"/>
              <a:ea typeface="腾讯字体包" panose="02010600010101010101" charset="-128"/>
            </a:endParaRPr>
          </a:p>
          <a:p>
            <a:pPr lvl="1" algn="l">
              <a:lnSpc>
                <a:spcPct val="125000"/>
              </a:lnSpc>
              <a:spcAft>
                <a:spcPts val="0"/>
              </a:spcAft>
              <a:buClrTx/>
              <a:buSzTx/>
            </a:pPr>
            <a:r>
              <a:rPr lang="zh-CN" sz="1540" dirty="0">
                <a:effectLst/>
                <a:latin typeface="腾讯字体包" panose="02010600010101010101" charset="-128"/>
                <a:ea typeface="腾讯字体包" panose="02010600010101010101" charset="-128"/>
                <a:cs typeface="腾讯字体包" panose="02010600010101010101" charset="-128"/>
                <a:sym typeface="+mn-ea"/>
              </a:rPr>
              <a:t>流程图画法参考了visual </a:t>
            </a:r>
            <a:r>
              <a:rPr lang="en-US" altLang="zh-CN" sz="1540" dirty="0">
                <a:latin typeface="腾讯字体包" panose="02010600010101010101" charset="-128"/>
                <a:ea typeface="腾讯字体包" panose="02010600010101010101" charset="-128"/>
                <a:sym typeface="+mn-ea"/>
              </a:rPr>
              <a:t>paradigm</a:t>
            </a:r>
            <a:r>
              <a:rPr lang="zh-CN" altLang="en-US" sz="1540" dirty="0">
                <a:latin typeface="腾讯字体包" panose="02010600010101010101" charset="-128"/>
                <a:ea typeface="腾讯字体包" panose="02010600010101010101" charset="-128"/>
                <a:sym typeface="+mn-ea"/>
              </a:rPr>
              <a:t>提供的样</a:t>
            </a:r>
            <a:r>
              <a:rPr lang="zh-CN" sz="1540" dirty="0">
                <a:effectLst/>
                <a:latin typeface="腾讯字体包" panose="02010600010101010101" charset="-128"/>
                <a:ea typeface="腾讯字体包" panose="02010600010101010101" charset="-128"/>
                <a:cs typeface="腾讯字体包" panose="02010600010101010101" charset="-128"/>
                <a:sym typeface="+mn-ea"/>
              </a:rPr>
              <a:t>例，具体绘图使用plantUML代码生成流程图，应符合规范</a:t>
            </a:r>
            <a:r>
              <a:rPr lang="zh-CN" altLang="en-US" sz="1540" dirty="0">
                <a:latin typeface="腾讯字体包" panose="02010600010101010101" charset="-128"/>
                <a:ea typeface="腾讯字体包" panose="02010600010101010101" charset="-128"/>
                <a:cs typeface="腾讯字体包" panose="02010600010101010101" charset="-128"/>
                <a:sym typeface="+mn-ea"/>
              </a:rPr>
              <a:t>，</a:t>
            </a:r>
            <a:r>
              <a:rPr lang="zh-CN" altLang="en-US" sz="1540" dirty="0">
                <a:effectLst/>
                <a:latin typeface="腾讯字体包" panose="02010600010101010101" charset="-128"/>
                <a:ea typeface="腾讯字体包" panose="02010600010101010101" charset="-128"/>
                <a:cs typeface="腾讯字体包" panose="02010600010101010101" charset="-128"/>
                <a:sym typeface="+mn-ea"/>
              </a:rPr>
              <a:t>将</a:t>
            </a:r>
            <a:r>
              <a:rPr lang="zh-CN" altLang="en-US" sz="1540" dirty="0">
                <a:latin typeface="腾讯字体包" panose="02010600010101010101" charset="-128"/>
                <a:ea typeface="腾讯字体包" panose="02010600010101010101" charset="-128"/>
                <a:sym typeface="+mn-ea"/>
              </a:rPr>
              <a:t>根据建议进一步更新。</a:t>
            </a:r>
            <a:endParaRPr lang="zh-CN" sz="1540" dirty="0">
              <a:effectLst/>
              <a:latin typeface="腾讯字体包" panose="02010600010101010101" charset="-128"/>
              <a:ea typeface="腾讯字体包" panose="02010600010101010101" charset="-128"/>
              <a:cs typeface="腾讯字体包" panose="02010600010101010101" charset="-128"/>
              <a:sym typeface="+mn-ea"/>
            </a:endParaRPr>
          </a:p>
          <a:p>
            <a:pPr algn="l">
              <a:lnSpc>
                <a:spcPct val="125000"/>
              </a:lnSpc>
              <a:spcAft>
                <a:spcPts val="0"/>
              </a:spcAft>
              <a:buClrTx/>
              <a:buSzTx/>
            </a:pPr>
            <a:r>
              <a:rPr lang="en-US" altLang="zh-CN" sz="2220" dirty="0">
                <a:solidFill>
                  <a:srgbClr val="3F51B6"/>
                </a:solidFill>
                <a:effectLst/>
                <a:uFillTx/>
                <a:latin typeface="腾讯字体包" panose="02010600010101010101" charset="-128"/>
                <a:ea typeface="腾讯字体包" panose="02010600010101010101" charset="-128"/>
              </a:rPr>
              <a:t>2</a:t>
            </a:r>
            <a:r>
              <a:rPr lang="zh-CN" altLang="en-US" sz="2220" dirty="0">
                <a:solidFill>
                  <a:srgbClr val="3F51B6"/>
                </a:solidFill>
                <a:effectLst/>
                <a:uFillTx/>
                <a:latin typeface="腾讯字体包" panose="02010600010101010101" charset="-128"/>
                <a:ea typeface="腾讯字体包" panose="02010600010101010101" charset="-128"/>
              </a:rPr>
              <a:t>：</a:t>
            </a:r>
            <a:r>
              <a:rPr lang="zh-CN" altLang="en-US" sz="2220" dirty="0">
                <a:solidFill>
                  <a:srgbClr val="3F51B6"/>
                </a:solidFill>
                <a:effectLst/>
                <a:uFillTx/>
                <a:latin typeface="腾讯字体包" panose="02010600010101010101" charset="-128"/>
                <a:ea typeface="腾讯字体包" panose="02010600010101010101" charset="-128"/>
                <a:sym typeface="+mn-ea"/>
              </a:rPr>
              <a:t>RUCM表后应配置活动图，目前图注为流程图</a:t>
            </a:r>
            <a:endParaRPr lang="zh-CN" altLang="en-US" sz="2220" dirty="0">
              <a:solidFill>
                <a:srgbClr val="3F51B6"/>
              </a:solidFill>
              <a:effectLst/>
              <a:uFillTx/>
              <a:latin typeface="腾讯字体包" panose="02010600010101010101" charset="-128"/>
              <a:ea typeface="腾讯字体包" panose="02010600010101010101" charset="-128"/>
              <a:sym typeface="+mn-ea"/>
            </a:endParaRPr>
          </a:p>
          <a:p>
            <a:pPr marL="457200" lvl="1" indent="0" algn="l">
              <a:lnSpc>
                <a:spcPct val="125000"/>
              </a:lnSpc>
              <a:spcAft>
                <a:spcPts val="0"/>
              </a:spcAft>
              <a:buClrTx/>
              <a:buSzTx/>
              <a:buNone/>
            </a:pPr>
            <a:r>
              <a:rPr lang="zh-CN" sz="1540" dirty="0">
                <a:effectLst/>
                <a:latin typeface="腾讯字体包" panose="02010600010101010101" charset="-128"/>
                <a:ea typeface="腾讯字体包" panose="02010600010101010101" charset="-128"/>
                <a:cs typeface="腾讯字体包" panose="02010600010101010101" charset="-128"/>
                <a:sym typeface="+mn-ea"/>
              </a:rPr>
              <a:t>①</a:t>
            </a:r>
            <a:r>
              <a:rPr lang="zh-CN" altLang="en-US" sz="1540" dirty="0">
                <a:effectLst/>
                <a:latin typeface="腾讯字体包" panose="02010600010101010101" charset="-128"/>
                <a:ea typeface="腾讯字体包" panose="02010600010101010101" charset="-128"/>
                <a:cs typeface="腾讯字体包" panose="02010600010101010101" charset="-128"/>
                <a:sym typeface="+mn-ea"/>
              </a:rPr>
              <a:t>本文档</a:t>
            </a:r>
            <a:r>
              <a:rPr lang="en-US" altLang="zh-CN" sz="1540" dirty="0">
                <a:effectLst/>
                <a:latin typeface="腾讯字体包" panose="02010600010101010101" charset="-128"/>
                <a:ea typeface="腾讯字体包" panose="02010600010101010101" charset="-128"/>
                <a:cs typeface="腾讯字体包" panose="02010600010101010101" charset="-128"/>
                <a:sym typeface="+mn-ea"/>
              </a:rPr>
              <a:t>RUCM</a:t>
            </a:r>
            <a:r>
              <a:rPr lang="zh-CN" altLang="en-US" sz="1540" dirty="0">
                <a:effectLst/>
                <a:latin typeface="腾讯字体包" panose="02010600010101010101" charset="-128"/>
                <a:ea typeface="腾讯字体包" panose="02010600010101010101" charset="-128"/>
                <a:cs typeface="腾讯字体包" panose="02010600010101010101" charset="-128"/>
                <a:sym typeface="+mn-ea"/>
              </a:rPr>
              <a:t>表针对无并发控制的简单用例，在功能简单、无并发控制、无需区分系统与用户任务的时候，</a:t>
            </a:r>
            <a:r>
              <a:rPr lang="zh-CN" altLang="en-US" sz="1540" dirty="0">
                <a:latin typeface="腾讯字体包" panose="02010600010101010101" charset="-128"/>
                <a:ea typeface="腾讯字体包" panose="02010600010101010101" charset="-128"/>
                <a:cs typeface="腾讯字体包" panose="02010600010101010101" charset="-128"/>
                <a:sym typeface="+mn-ea"/>
              </a:rPr>
              <a:t>故使用流程图</a:t>
            </a:r>
            <a:r>
              <a:rPr lang="zh-CN" altLang="en-US" sz="1540" dirty="0">
                <a:effectLst/>
                <a:latin typeface="腾讯字体包" panose="02010600010101010101" charset="-128"/>
                <a:ea typeface="腾讯字体包" panose="02010600010101010101" charset="-128"/>
                <a:cs typeface="腾讯字体包" panose="02010600010101010101" charset="-128"/>
                <a:sym typeface="+mn-ea"/>
              </a:rPr>
              <a:t>。</a:t>
            </a:r>
            <a:endParaRPr lang="zh-CN" altLang="en-US" sz="1540" dirty="0">
              <a:effectLst/>
              <a:latin typeface="腾讯字体包" panose="02010600010101010101" charset="-128"/>
              <a:ea typeface="腾讯字体包" panose="02010600010101010101" charset="-128"/>
              <a:cs typeface="腾讯字体包" panose="02010600010101010101" charset="-128"/>
              <a:sym typeface="+mn-ea"/>
            </a:endParaRPr>
          </a:p>
          <a:p>
            <a:pPr marL="0" lvl="1" indent="457200" algn="l">
              <a:lnSpc>
                <a:spcPct val="125000"/>
              </a:lnSpc>
              <a:spcAft>
                <a:spcPts val="0"/>
              </a:spcAft>
              <a:buClrTx/>
              <a:buSzTx/>
              <a:buNone/>
            </a:pPr>
            <a:r>
              <a:rPr lang="zh-CN" altLang="en-US" sz="1540" dirty="0">
                <a:effectLst/>
                <a:latin typeface="腾讯字体包" panose="02010600010101010101" charset="-128"/>
                <a:ea typeface="腾讯字体包" panose="02010600010101010101" charset="-128"/>
                <a:cs typeface="腾讯字体包" panose="02010600010101010101" charset="-128"/>
                <a:sym typeface="+mn-ea"/>
              </a:rPr>
              <a:t>②</a:t>
            </a:r>
            <a:r>
              <a:rPr lang="zh-CN" sz="1540" dirty="0">
                <a:effectLst/>
                <a:latin typeface="腾讯字体包" panose="02010600010101010101" charset="-128"/>
                <a:ea typeface="腾讯字体包" panose="02010600010101010101" charset="-128"/>
                <a:cs typeface="腾讯字体包" panose="02010600010101010101" charset="-128"/>
                <a:sym typeface="+mn-ea"/>
              </a:rPr>
              <a:t>在总体功能中</a:t>
            </a:r>
            <a:r>
              <a:rPr lang="zh-CN" sz="1540" dirty="0">
                <a:solidFill>
                  <a:schemeClr val="tx1"/>
                </a:solidFill>
                <a:effectLst/>
                <a:latin typeface="腾讯字体包" panose="02010600010101010101" charset="-128"/>
                <a:ea typeface="腾讯字体包" panose="02010600010101010101" charset="-128"/>
                <a:cs typeface="腾讯字体包" panose="02010600010101010101" charset="-128"/>
                <a:sym typeface="+mn-ea"/>
              </a:rPr>
              <a:t>已存在</a:t>
            </a:r>
            <a:r>
              <a:rPr lang="zh-CN" sz="1540" dirty="0">
                <a:effectLst/>
                <a:latin typeface="腾讯字体包" panose="02010600010101010101" charset="-128"/>
                <a:ea typeface="腾讯字体包" panose="02010600010101010101" charset="-128"/>
                <a:cs typeface="腾讯字体包" panose="02010600010101010101" charset="-128"/>
                <a:sym typeface="+mn-ea"/>
              </a:rPr>
              <a:t>足以描述功能的泳道</a:t>
            </a:r>
            <a:r>
              <a:rPr lang="zh-CN" sz="1540" dirty="0">
                <a:solidFill>
                  <a:srgbClr val="C00000"/>
                </a:solidFill>
                <a:effectLst/>
                <a:latin typeface="腾讯字体包" panose="02010600010101010101" charset="-128"/>
                <a:ea typeface="腾讯字体包" panose="02010600010101010101" charset="-128"/>
                <a:cs typeface="腾讯字体包" panose="02010600010101010101" charset="-128"/>
                <a:sym typeface="+mn-ea"/>
              </a:rPr>
              <a:t>活动图</a:t>
            </a:r>
            <a:r>
              <a:rPr lang="zh-CN" sz="1540" dirty="0">
                <a:effectLst/>
                <a:latin typeface="腾讯字体包" panose="02010600010101010101" charset="-128"/>
                <a:ea typeface="腾讯字体包" panose="02010600010101010101" charset="-128"/>
                <a:cs typeface="腾讯字体包" panose="02010600010101010101" charset="-128"/>
                <a:sym typeface="+mn-ea"/>
              </a:rPr>
              <a:t>。</a:t>
            </a:r>
            <a:endParaRPr lang="zh-CN" altLang="en-US" sz="1540" dirty="0">
              <a:effectLst/>
              <a:latin typeface="腾讯字体包" panose="02010600010101010101" charset="-128"/>
              <a:ea typeface="腾讯字体包" panose="02010600010101010101" charset="-128"/>
              <a:cs typeface="腾讯字体包" panose="02010600010101010101" charset="-128"/>
              <a:sym typeface="+mn-ea"/>
            </a:endParaRPr>
          </a:p>
          <a:p>
            <a:pPr algn="l">
              <a:lnSpc>
                <a:spcPct val="125000"/>
              </a:lnSpc>
              <a:spcAft>
                <a:spcPts val="0"/>
              </a:spcAft>
              <a:buClrTx/>
              <a:buSzTx/>
              <a:buChar char="•"/>
            </a:pPr>
            <a:r>
              <a:rPr lang="en-US" altLang="zh-CN" sz="2220" dirty="0">
                <a:solidFill>
                  <a:srgbClr val="3F51B6"/>
                </a:solidFill>
                <a:effectLst/>
                <a:uFillTx/>
                <a:latin typeface="腾讯字体包" panose="02010600010101010101" charset="-128"/>
                <a:ea typeface="腾讯字体包" panose="02010600010101010101" charset="-128"/>
                <a:cs typeface="腾讯字体包" panose="02010600010101010101" charset="-128"/>
                <a:sym typeface="+mn-ea"/>
              </a:rPr>
              <a:t>2.2</a:t>
            </a:r>
            <a:r>
              <a:rPr lang="zh-CN" altLang="en-US" sz="2220" dirty="0">
                <a:solidFill>
                  <a:srgbClr val="3F51B6"/>
                </a:solidFill>
                <a:effectLst/>
                <a:uFillTx/>
                <a:latin typeface="腾讯字体包" panose="02010600010101010101" charset="-128"/>
                <a:ea typeface="腾讯字体包" panose="02010600010101010101" charset="-128"/>
                <a:cs typeface="腾讯字体包" panose="02010600010101010101" charset="-128"/>
                <a:sym typeface="+mn-ea"/>
              </a:rPr>
              <a:t>：在具体用例需求中使用活动图替换流程图</a:t>
            </a:r>
            <a:endParaRPr lang="zh-CN" altLang="en-US" sz="1800" dirty="0">
              <a:solidFill>
                <a:srgbClr val="3F51B6"/>
              </a:solidFill>
              <a:effectLst/>
              <a:uFillTx/>
              <a:latin typeface="腾讯字体包" panose="02010600010101010101" charset="-128"/>
              <a:ea typeface="腾讯字体包" panose="02010600010101010101" charset="-128"/>
              <a:sym typeface="+mn-ea"/>
            </a:endParaRPr>
          </a:p>
          <a:p>
            <a:pPr lvl="1" algn="l">
              <a:lnSpc>
                <a:spcPct val="125000"/>
              </a:lnSpc>
              <a:spcAft>
                <a:spcPts val="0"/>
              </a:spcAft>
              <a:buClrTx/>
              <a:buSzTx/>
              <a:buChar char="•"/>
            </a:pPr>
            <a:r>
              <a:rPr lang="zh-CN" altLang="en-US" sz="1540" dirty="0">
                <a:effectLst/>
                <a:latin typeface="腾讯字体包" panose="02010600010101010101" charset="-128"/>
                <a:ea typeface="腾讯字体包" panose="02010600010101010101" charset="-128"/>
                <a:cs typeface="腾讯字体包" panose="02010600010101010101" charset="-128"/>
                <a:sym typeface="+mn-ea"/>
              </a:rPr>
              <a:t>本系统中单一用例的对象一般是固定唯一的，更加侧重任务流程，因此采用针对过程的流程图。</a:t>
            </a:r>
            <a:endParaRPr lang="zh-CN" altLang="en-US" sz="1540" dirty="0">
              <a:effectLst/>
              <a:latin typeface="腾讯字体包" panose="02010600010101010101" charset="-128"/>
              <a:ea typeface="腾讯字体包" panose="02010600010101010101" charset="-128"/>
              <a:cs typeface="腾讯字体包" panose="02010600010101010101" charset="-128"/>
              <a:sym typeface="+mn-ea"/>
            </a:endParaRPr>
          </a:p>
          <a:p>
            <a:pPr algn="l">
              <a:lnSpc>
                <a:spcPct val="125000"/>
              </a:lnSpc>
              <a:spcAft>
                <a:spcPts val="0"/>
              </a:spcAft>
              <a:buClrTx/>
              <a:buSzTx/>
              <a:buChar char="•"/>
            </a:pPr>
            <a:endParaRPr lang="en-US" altLang="zh-CN" sz="2220" dirty="0">
              <a:solidFill>
                <a:srgbClr val="3F51B6"/>
              </a:solidFill>
              <a:effectLst/>
              <a:uFillTx/>
              <a:latin typeface="腾讯字体包" panose="02010600010101010101" charset="-128"/>
              <a:ea typeface="腾讯字体包" panose="02010600010101010101" charset="-128"/>
              <a:cs typeface="腾讯字体包" panose="02010600010101010101" charset="-128"/>
              <a:sym typeface="+mn-ea"/>
            </a:endParaRPr>
          </a:p>
        </p:txBody>
      </p:sp>
      <p:grpSp>
        <p:nvGrpSpPr>
          <p:cNvPr id="16" name="组合 15"/>
          <p:cNvGrpSpPr/>
          <p:nvPr/>
        </p:nvGrpSpPr>
        <p:grpSpPr>
          <a:xfrm>
            <a:off x="283625" y="712715"/>
            <a:ext cx="11520000" cy="576000"/>
            <a:chOff x="582710" y="712715"/>
            <a:chExt cx="11527790" cy="572075"/>
          </a:xfrm>
        </p:grpSpPr>
        <p:sp>
          <p:nvSpPr>
            <p:cNvPr id="17" name="矩形 16"/>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文本框 17"/>
            <p:cNvSpPr txBox="1"/>
            <p:nvPr/>
          </p:nvSpPr>
          <p:spPr>
            <a:xfrm>
              <a:off x="676055" y="712715"/>
              <a:ext cx="11434445" cy="51841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2800" dirty="0">
                  <a:latin typeface="腾讯字体包" panose="02010600010101010101" charset="-128"/>
                  <a:ea typeface="腾讯字体包" panose="02010600010101010101" charset="-128"/>
                  <a:sym typeface="+mn-ea"/>
                </a:rPr>
                <a:t>RUCM</a:t>
              </a:r>
              <a:r>
                <a:rPr kumimoji="1" lang="zh-CN" altLang="en-US" sz="2800" dirty="0">
                  <a:latin typeface="腾讯字体包" panose="02010600010101010101" charset="-128"/>
                  <a:ea typeface="腾讯字体包" panose="02010600010101010101" charset="-128"/>
                  <a:sym typeface="+mn-ea"/>
                </a:rPr>
                <a:t>表、对应流程图：</a:t>
              </a:r>
              <a:r>
                <a:rPr kumimoji="1" lang="zh-CN" altLang="en-US" sz="2800" dirty="0">
                  <a:solidFill>
                    <a:schemeClr val="accent2"/>
                  </a:solidFill>
                  <a:latin typeface="腾讯字体包" panose="02010600010101010101" charset="-128"/>
                  <a:ea typeface="腾讯字体包" panose="02010600010101010101" charset="-128"/>
                  <a:sym typeface="+mn-ea"/>
                </a:rPr>
                <a:t>已采纳</a:t>
              </a:r>
              <a:r>
                <a:rPr kumimoji="1" lang="zh-CN" altLang="en-US" sz="2800" dirty="0">
                  <a:latin typeface="腾讯字体包" panose="02010600010101010101" charset="-128"/>
                  <a:ea typeface="腾讯字体包" panose="02010600010101010101" charset="-128"/>
                  <a:sym typeface="+mn-ea"/>
                </a:rPr>
                <a:t>建议描述</a:t>
              </a:r>
              <a:endParaRPr kumimoji="1" lang="zh-CN" altLang="en-US" sz="2800" dirty="0">
                <a:latin typeface="腾讯字体包" panose="02010600010101010101" charset="-128"/>
                <a:ea typeface="腾讯字体包" panose="02010600010101010101" charset="-128"/>
                <a:sym typeface="+mn-ea"/>
              </a:endParaRPr>
            </a:p>
          </p:txBody>
        </p:sp>
      </p:grpSp>
      <p:pic>
        <p:nvPicPr>
          <p:cNvPr id="2" name="图片 1"/>
          <p:cNvPicPr>
            <a:picLocks noChangeAspect="1"/>
          </p:cNvPicPr>
          <p:nvPr/>
        </p:nvPicPr>
        <p:blipFill>
          <a:blip r:embed="rId1"/>
          <a:stretch>
            <a:fillRect/>
          </a:stretch>
        </p:blipFill>
        <p:spPr>
          <a:xfrm>
            <a:off x="7938135" y="1234440"/>
            <a:ext cx="3806825" cy="238442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283845" y="1691640"/>
            <a:ext cx="11519535" cy="3475355"/>
          </a:xfrm>
        </p:spPr>
        <p:txBody>
          <a:bodyPr>
            <a:normAutofit fontScale="90000" lnSpcReduction="20000"/>
          </a:bodyPr>
          <a:lstStyle/>
          <a:p>
            <a:pPr algn="l">
              <a:lnSpc>
                <a:spcPct val="125000"/>
              </a:lnSpc>
              <a:spcAft>
                <a:spcPts val="0"/>
              </a:spcAft>
              <a:buClrTx/>
              <a:buSzTx/>
            </a:pPr>
            <a:r>
              <a:rPr lang="en-US" altLang="zh-CN" sz="2220" dirty="0">
                <a:solidFill>
                  <a:srgbClr val="3F51B6"/>
                </a:solidFill>
                <a:effectLst/>
                <a:uFillTx/>
                <a:latin typeface="腾讯字体包" panose="02010600010101010101" charset="-128"/>
                <a:ea typeface="腾讯字体包" panose="02010600010101010101" charset="-128"/>
              </a:rPr>
              <a:t>1：用例融合</a:t>
            </a:r>
            <a:endParaRPr lang="en-US" altLang="zh-CN" sz="2220" dirty="0">
              <a:solidFill>
                <a:srgbClr val="3F51B6"/>
              </a:solidFill>
              <a:effectLst/>
              <a:uFillTx/>
              <a:latin typeface="腾讯字体包" panose="02010600010101010101" charset="-128"/>
              <a:ea typeface="腾讯字体包" panose="02010600010101010101" charset="-128"/>
            </a:endParaRPr>
          </a:p>
          <a:p>
            <a:pPr lvl="1" algn="l">
              <a:lnSpc>
                <a:spcPct val="125000"/>
              </a:lnSpc>
              <a:spcAft>
                <a:spcPts val="0"/>
              </a:spcAft>
              <a:buClrTx/>
              <a:buSzTx/>
            </a:pPr>
            <a:r>
              <a:rPr lang="zh-CN" sz="1540" dirty="0">
                <a:solidFill>
                  <a:schemeClr val="accent1"/>
                </a:solidFill>
                <a:effectLst/>
                <a:latin typeface="腾讯字体包" panose="02010600010101010101" charset="-128"/>
                <a:ea typeface="腾讯字体包" panose="02010600010101010101" charset="-128"/>
                <a:cs typeface="腾讯字体包" panose="02010600010101010101" charset="-128"/>
                <a:sym typeface="+mn-ea"/>
              </a:rPr>
              <a:t>段落提取、信息标注、标注完成</a:t>
            </a:r>
            <a:r>
              <a:rPr lang="zh-CN" sz="1540" dirty="0">
                <a:effectLst/>
                <a:latin typeface="腾讯字体包" panose="02010600010101010101" charset="-128"/>
                <a:ea typeface="腾讯字体包" panose="02010600010101010101" charset="-128"/>
                <a:cs typeface="腾讯字体包" panose="02010600010101010101" charset="-128"/>
                <a:sym typeface="+mn-ea"/>
              </a:rPr>
              <a:t>三个模块合并</a:t>
            </a:r>
            <a:endParaRPr lang="zh-CN" sz="1540" dirty="0">
              <a:effectLst/>
              <a:latin typeface="腾讯字体包" panose="02010600010101010101" charset="-128"/>
              <a:ea typeface="腾讯字体包" panose="02010600010101010101" charset="-128"/>
              <a:cs typeface="腾讯字体包" panose="02010600010101010101" charset="-128"/>
              <a:sym typeface="+mn-ea"/>
            </a:endParaRPr>
          </a:p>
          <a:p>
            <a:pPr lvl="1" algn="l">
              <a:lnSpc>
                <a:spcPct val="125000"/>
              </a:lnSpc>
              <a:spcAft>
                <a:spcPts val="0"/>
              </a:spcAft>
              <a:buClrTx/>
              <a:buSzTx/>
            </a:pPr>
            <a:r>
              <a:rPr lang="zh-CN" sz="1540" dirty="0">
                <a:effectLst/>
                <a:latin typeface="腾讯字体包" panose="02010600010101010101" charset="-128"/>
                <a:ea typeface="腾讯字体包" panose="02010600010101010101" charset="-128"/>
                <a:cs typeface="腾讯字体包" panose="02010600010101010101" charset="-128"/>
                <a:sym typeface="+mn-ea"/>
              </a:rPr>
              <a:t>合并为</a:t>
            </a:r>
            <a:r>
              <a:rPr lang="zh-CN" sz="1540" dirty="0">
                <a:solidFill>
                  <a:schemeClr val="accent1"/>
                </a:solidFill>
                <a:effectLst/>
                <a:latin typeface="腾讯字体包" panose="02010600010101010101" charset="-128"/>
                <a:ea typeface="腾讯字体包" panose="02010600010101010101" charset="-128"/>
                <a:cs typeface="腾讯字体包" panose="02010600010101010101" charset="-128"/>
                <a:sym typeface="+mn-ea"/>
              </a:rPr>
              <a:t>执行标注任务</a:t>
            </a:r>
            <a:r>
              <a:rPr lang="zh-CN" sz="1540" dirty="0">
                <a:effectLst/>
                <a:latin typeface="腾讯字体包" panose="02010600010101010101" charset="-128"/>
                <a:ea typeface="腾讯字体包" panose="02010600010101010101" charset="-128"/>
                <a:cs typeface="腾讯字体包" panose="02010600010101010101" charset="-128"/>
                <a:sym typeface="+mn-ea"/>
              </a:rPr>
              <a:t>。</a:t>
            </a:r>
            <a:endParaRPr lang="zh-CN" sz="1540" dirty="0">
              <a:effectLst/>
              <a:latin typeface="腾讯字体包" panose="02010600010101010101" charset="-128"/>
              <a:ea typeface="腾讯字体包" panose="02010600010101010101" charset="-128"/>
              <a:cs typeface="腾讯字体包" panose="02010600010101010101" charset="-128"/>
              <a:sym typeface="+mn-ea"/>
            </a:endParaRPr>
          </a:p>
          <a:p>
            <a:pPr lvl="1" algn="l">
              <a:lnSpc>
                <a:spcPct val="125000"/>
              </a:lnSpc>
              <a:spcAft>
                <a:spcPts val="0"/>
              </a:spcAft>
              <a:buClrTx/>
              <a:buSzTx/>
            </a:pPr>
            <a:r>
              <a:rPr lang="zh-CN" sz="1540" dirty="0">
                <a:effectLst/>
                <a:latin typeface="腾讯字体包" panose="02010600010101010101" charset="-128"/>
                <a:ea typeface="腾讯字体包" panose="02010600010101010101" charset="-128"/>
                <a:cs typeface="腾讯字体包" panose="02010600010101010101" charset="-128"/>
                <a:sym typeface="+mn-ea"/>
              </a:rPr>
              <a:t>合并</a:t>
            </a:r>
            <a:r>
              <a:rPr lang="zh-CN" sz="1540" dirty="0">
                <a:solidFill>
                  <a:schemeClr val="accent1"/>
                </a:solidFill>
                <a:effectLst/>
                <a:latin typeface="腾讯字体包" panose="02010600010101010101" charset="-128"/>
                <a:ea typeface="腾讯字体包" panose="02010600010101010101" charset="-128"/>
                <a:cs typeface="腾讯字体包" panose="02010600010101010101" charset="-128"/>
                <a:sym typeface="+mn-ea"/>
              </a:rPr>
              <a:t>管理员注册、标注员注册</a:t>
            </a:r>
            <a:r>
              <a:rPr lang="zh-CN" sz="1540" dirty="0">
                <a:effectLst/>
                <a:latin typeface="腾讯字体包" panose="02010600010101010101" charset="-128"/>
                <a:ea typeface="腾讯字体包" panose="02010600010101010101" charset="-128"/>
                <a:cs typeface="腾讯字体包" panose="02010600010101010101" charset="-128"/>
                <a:sym typeface="+mn-ea"/>
              </a:rPr>
              <a:t>。</a:t>
            </a:r>
            <a:endParaRPr sz="1540" dirty="0">
              <a:effectLst/>
              <a:latin typeface="腾讯字体包" panose="02010600010101010101" charset="-128"/>
              <a:ea typeface="腾讯字体包" panose="02010600010101010101" charset="-128"/>
              <a:cs typeface="腾讯字体包" panose="02010600010101010101" charset="-128"/>
              <a:sym typeface="+mn-ea"/>
            </a:endParaRPr>
          </a:p>
          <a:p>
            <a:pPr algn="l">
              <a:lnSpc>
                <a:spcPct val="125000"/>
              </a:lnSpc>
              <a:spcAft>
                <a:spcPts val="0"/>
              </a:spcAft>
              <a:buClrTx/>
              <a:buSzTx/>
            </a:pPr>
            <a:endParaRPr lang="en-US" altLang="zh-CN" sz="2220" dirty="0">
              <a:solidFill>
                <a:srgbClr val="3F51B6"/>
              </a:solidFill>
              <a:effectLst/>
              <a:uFillTx/>
              <a:latin typeface="腾讯字体包" panose="02010600010101010101" charset="-128"/>
              <a:ea typeface="腾讯字体包" panose="02010600010101010101" charset="-128"/>
            </a:endParaRPr>
          </a:p>
          <a:p>
            <a:pPr algn="l">
              <a:lnSpc>
                <a:spcPct val="125000"/>
              </a:lnSpc>
              <a:spcAft>
                <a:spcPts val="0"/>
              </a:spcAft>
              <a:buClrTx/>
              <a:buSzTx/>
            </a:pPr>
            <a:r>
              <a:rPr lang="en-US" altLang="zh-CN" sz="2220" dirty="0">
                <a:solidFill>
                  <a:srgbClr val="3F51B6"/>
                </a:solidFill>
                <a:effectLst/>
                <a:uFillTx/>
                <a:latin typeface="腾讯字体包" panose="02010600010101010101" charset="-128"/>
                <a:ea typeface="腾讯字体包" panose="02010600010101010101" charset="-128"/>
              </a:rPr>
              <a:t>2</a:t>
            </a:r>
            <a:r>
              <a:rPr lang="zh-CN" altLang="en-US" sz="2220" dirty="0">
                <a:solidFill>
                  <a:srgbClr val="3F51B6"/>
                </a:solidFill>
                <a:effectLst/>
                <a:uFillTx/>
                <a:latin typeface="腾讯字体包" panose="02010600010101010101" charset="-128"/>
                <a:ea typeface="腾讯字体包" panose="02010600010101010101" charset="-128"/>
              </a:rPr>
              <a:t>：根据修改后的总体用例图修改对应部分文档</a:t>
            </a:r>
            <a:endParaRPr lang="zh-CN" altLang="en-US" sz="2220" dirty="0">
              <a:solidFill>
                <a:srgbClr val="3F51B6"/>
              </a:solidFill>
              <a:effectLst/>
              <a:uFillTx/>
              <a:latin typeface="腾讯字体包" panose="02010600010101010101" charset="-128"/>
              <a:ea typeface="腾讯字体包" panose="02010600010101010101" charset="-128"/>
            </a:endParaRPr>
          </a:p>
          <a:p>
            <a:pPr lvl="1" algn="l">
              <a:lnSpc>
                <a:spcPct val="125000"/>
              </a:lnSpc>
              <a:spcAft>
                <a:spcPts val="0"/>
              </a:spcAft>
              <a:buClrTx/>
              <a:buSzTx/>
            </a:pPr>
            <a:r>
              <a:rPr lang="zh-CN" sz="1540" dirty="0">
                <a:solidFill>
                  <a:schemeClr val="accent1"/>
                </a:solidFill>
                <a:effectLst>
                  <a:outerShdw blurRad="38100" dist="25400" dir="5400000" algn="ctr" rotWithShape="0">
                    <a:srgbClr val="6E747A">
                      <a:alpha val="43000"/>
                    </a:srgbClr>
                  </a:outerShdw>
                </a:effectLst>
                <a:latin typeface="腾讯字体包" panose="02010600010101010101" charset="-128"/>
                <a:ea typeface="腾讯字体包" panose="02010600010101010101" charset="-128"/>
                <a:cs typeface="腾讯字体包" panose="02010600010101010101" charset="-128"/>
                <a:sym typeface="+mn-ea"/>
              </a:rPr>
              <a:t>删除</a:t>
            </a:r>
            <a:r>
              <a:rPr lang="zh-CN" sz="1540" dirty="0">
                <a:effectLst/>
                <a:latin typeface="腾讯字体包" panose="02010600010101010101" charset="-128"/>
                <a:ea typeface="腾讯字体包" panose="02010600010101010101" charset="-128"/>
                <a:cs typeface="腾讯字体包" panose="02010600010101010101" charset="-128"/>
                <a:sym typeface="+mn-ea"/>
              </a:rPr>
              <a:t>：删除</a:t>
            </a:r>
            <a:r>
              <a:rPr lang="zh-CN" sz="1540" dirty="0">
                <a:solidFill>
                  <a:schemeClr val="accent6"/>
                </a:solidFill>
                <a:effectLst/>
                <a:latin typeface="腾讯字体包" panose="02010600010101010101" charset="-128"/>
                <a:ea typeface="腾讯字体包" panose="02010600010101010101" charset="-128"/>
                <a:cs typeface="腾讯字体包" panose="02010600010101010101" charset="-128"/>
                <a:sym typeface="+mn-ea"/>
              </a:rPr>
              <a:t>任务质量查看</a:t>
            </a:r>
            <a:r>
              <a:rPr lang="zh-CN" sz="1540" dirty="0">
                <a:effectLst/>
                <a:latin typeface="腾讯字体包" panose="02010600010101010101" charset="-128"/>
                <a:ea typeface="腾讯字体包" panose="02010600010101010101" charset="-128"/>
                <a:cs typeface="腾讯字体包" panose="02010600010101010101" charset="-128"/>
                <a:sym typeface="+mn-ea"/>
              </a:rPr>
              <a:t>模块（标注员）。</a:t>
            </a:r>
            <a:endParaRPr lang="zh-CN" sz="1540" dirty="0">
              <a:effectLst/>
              <a:latin typeface="腾讯字体包" panose="02010600010101010101" charset="-128"/>
              <a:ea typeface="腾讯字体包" panose="02010600010101010101" charset="-128"/>
              <a:cs typeface="腾讯字体包" panose="02010600010101010101" charset="-128"/>
              <a:sym typeface="+mn-ea"/>
            </a:endParaRPr>
          </a:p>
          <a:p>
            <a:pPr lvl="1" algn="l">
              <a:lnSpc>
                <a:spcPct val="125000"/>
              </a:lnSpc>
              <a:spcAft>
                <a:spcPts val="0"/>
              </a:spcAft>
              <a:buClrTx/>
              <a:buSzTx/>
            </a:pPr>
            <a:r>
              <a:rPr lang="zh-CN" sz="1540" dirty="0">
                <a:solidFill>
                  <a:schemeClr val="accent1"/>
                </a:solidFill>
                <a:effectLst/>
                <a:latin typeface="腾讯字体包" panose="02010600010101010101" charset="-128"/>
                <a:ea typeface="腾讯字体包" panose="02010600010101010101" charset="-128"/>
                <a:cs typeface="腾讯字体包" panose="02010600010101010101" charset="-128"/>
                <a:sym typeface="+mn-ea"/>
              </a:rPr>
              <a:t>更名</a:t>
            </a:r>
            <a:r>
              <a:rPr lang="zh-CN" sz="1540" dirty="0">
                <a:effectLst/>
                <a:latin typeface="腾讯字体包" panose="02010600010101010101" charset="-128"/>
                <a:ea typeface="腾讯字体包" panose="02010600010101010101" charset="-128"/>
                <a:cs typeface="腾讯字体包" panose="02010600010101010101" charset="-128"/>
                <a:sym typeface="+mn-ea"/>
              </a:rPr>
              <a:t>：</a:t>
            </a:r>
            <a:r>
              <a:rPr lang="zh-CN" sz="1540" dirty="0">
                <a:solidFill>
                  <a:schemeClr val="tx1"/>
                </a:solidFill>
                <a:effectLst/>
                <a:latin typeface="腾讯字体包" panose="02010600010101010101" charset="-128"/>
                <a:ea typeface="腾讯字体包" panose="02010600010101010101" charset="-128"/>
                <a:cs typeface="腾讯字体包" panose="02010600010101010101" charset="-128"/>
                <a:sym typeface="+mn-ea"/>
              </a:rPr>
              <a:t>共享预设库模块</a:t>
            </a:r>
            <a:r>
              <a:rPr lang="zh-CN" sz="1540" dirty="0">
                <a:effectLst/>
                <a:latin typeface="腾讯字体包" panose="02010600010101010101" charset="-128"/>
                <a:ea typeface="腾讯字体包" panose="02010600010101010101" charset="-128"/>
                <a:cs typeface="腾讯字体包" panose="02010600010101010101" charset="-128"/>
                <a:sym typeface="+mn-ea"/>
              </a:rPr>
              <a:t>更名为</a:t>
            </a:r>
            <a:r>
              <a:rPr lang="zh-CN" sz="1540" dirty="0">
                <a:solidFill>
                  <a:schemeClr val="accent6"/>
                </a:solidFill>
                <a:effectLst/>
                <a:latin typeface="腾讯字体包" panose="02010600010101010101" charset="-128"/>
                <a:ea typeface="腾讯字体包" panose="02010600010101010101" charset="-128"/>
                <a:cs typeface="腾讯字体包" panose="02010600010101010101" charset="-128"/>
                <a:sym typeface="+mn-ea"/>
              </a:rPr>
              <a:t>用户模型上传</a:t>
            </a:r>
            <a:r>
              <a:rPr lang="zh-CN" altLang="en-US" sz="1540" dirty="0">
                <a:effectLst/>
                <a:latin typeface="腾讯字体包" panose="02010600010101010101" charset="-128"/>
                <a:ea typeface="腾讯字体包" panose="02010600010101010101" charset="-128"/>
                <a:cs typeface="腾讯字体包" panose="02010600010101010101" charset="-128"/>
                <a:sym typeface="+mn-ea"/>
              </a:rPr>
              <a:t>。</a:t>
            </a:r>
            <a:endParaRPr lang="zh-CN" altLang="en-US" sz="1540" dirty="0">
              <a:effectLst/>
              <a:latin typeface="腾讯字体包" panose="02010600010101010101" charset="-128"/>
              <a:ea typeface="腾讯字体包" panose="02010600010101010101" charset="-128"/>
              <a:cs typeface="腾讯字体包" panose="02010600010101010101" charset="-128"/>
              <a:sym typeface="+mn-ea"/>
            </a:endParaRPr>
          </a:p>
          <a:p>
            <a:pPr marL="457200" lvl="1" indent="0" algn="l">
              <a:lnSpc>
                <a:spcPct val="125000"/>
              </a:lnSpc>
              <a:spcAft>
                <a:spcPts val="0"/>
              </a:spcAft>
              <a:buClrTx/>
              <a:buSzTx/>
              <a:buNone/>
            </a:pPr>
            <a:r>
              <a:rPr lang="en-US" altLang="zh-CN" sz="1540" dirty="0">
                <a:effectLst/>
                <a:latin typeface="腾讯字体包" panose="02010600010101010101" charset="-128"/>
                <a:ea typeface="腾讯字体包" panose="02010600010101010101" charset="-128"/>
                <a:cs typeface="腾讯字体包" panose="02010600010101010101" charset="-128"/>
                <a:sym typeface="+mn-ea"/>
              </a:rPr>
              <a:t>          </a:t>
            </a:r>
            <a:r>
              <a:rPr lang="zh-CN" sz="1540" dirty="0">
                <a:solidFill>
                  <a:schemeClr val="tx1"/>
                </a:solidFill>
                <a:effectLst/>
                <a:latin typeface="腾讯字体包" panose="02010600010101010101" charset="-128"/>
                <a:ea typeface="腾讯字体包" panose="02010600010101010101" charset="-128"/>
                <a:cs typeface="腾讯字体包" panose="02010600010101010101" charset="-128"/>
                <a:sym typeface="+mn-ea"/>
              </a:rPr>
              <a:t>模型调用模块</a:t>
            </a:r>
            <a:r>
              <a:rPr lang="zh-CN" sz="1540" dirty="0">
                <a:effectLst/>
                <a:latin typeface="腾讯字体包" panose="02010600010101010101" charset="-128"/>
                <a:ea typeface="腾讯字体包" panose="02010600010101010101" charset="-128"/>
                <a:cs typeface="腾讯字体包" panose="02010600010101010101" charset="-128"/>
                <a:sym typeface="+mn-ea"/>
              </a:rPr>
              <a:t>更名为</a:t>
            </a:r>
            <a:r>
              <a:rPr lang="zh-CN" sz="1540" dirty="0">
                <a:solidFill>
                  <a:schemeClr val="accent6"/>
                </a:solidFill>
                <a:effectLst/>
                <a:latin typeface="腾讯字体包" panose="02010600010101010101" charset="-128"/>
                <a:ea typeface="腾讯字体包" panose="02010600010101010101" charset="-128"/>
                <a:cs typeface="腾讯字体包" panose="02010600010101010101" charset="-128"/>
                <a:sym typeface="+mn-ea"/>
              </a:rPr>
              <a:t>信息提取</a:t>
            </a:r>
            <a:r>
              <a:rPr lang="zh-CN" sz="1540" dirty="0">
                <a:effectLst/>
                <a:latin typeface="腾讯字体包" panose="02010600010101010101" charset="-128"/>
                <a:ea typeface="腾讯字体包" panose="02010600010101010101" charset="-128"/>
                <a:cs typeface="腾讯字体包" panose="02010600010101010101" charset="-128"/>
                <a:sym typeface="+mn-ea"/>
              </a:rPr>
              <a:t>。</a:t>
            </a:r>
            <a:endParaRPr lang="zh-CN" altLang="en-US" sz="1540" dirty="0">
              <a:effectLst/>
              <a:latin typeface="腾讯字体包" panose="02010600010101010101" charset="-128"/>
              <a:ea typeface="腾讯字体包" panose="02010600010101010101" charset="-128"/>
              <a:cs typeface="腾讯字体包" panose="02010600010101010101" charset="-128"/>
              <a:sym typeface="+mn-ea"/>
            </a:endParaRPr>
          </a:p>
          <a:p>
            <a:pPr lvl="1" algn="l">
              <a:lnSpc>
                <a:spcPct val="125000"/>
              </a:lnSpc>
              <a:spcAft>
                <a:spcPts val="0"/>
              </a:spcAft>
              <a:buClrTx/>
              <a:buSzTx/>
            </a:pPr>
            <a:r>
              <a:rPr lang="zh-CN" altLang="en-US" sz="1540" dirty="0">
                <a:solidFill>
                  <a:schemeClr val="accent1"/>
                </a:solidFill>
                <a:effectLst>
                  <a:outerShdw blurRad="38100" dist="25400" dir="5400000" algn="ctr" rotWithShape="0">
                    <a:srgbClr val="6E747A">
                      <a:alpha val="43000"/>
                    </a:srgbClr>
                  </a:outerShdw>
                </a:effectLst>
                <a:latin typeface="腾讯字体包" panose="02010600010101010101" charset="-128"/>
                <a:ea typeface="腾讯字体包" panose="02010600010101010101" charset="-128"/>
                <a:cs typeface="腾讯字体包" panose="02010600010101010101" charset="-128"/>
                <a:sym typeface="+mn-ea"/>
              </a:rPr>
              <a:t>调整</a:t>
            </a:r>
            <a:r>
              <a:rPr lang="zh-CN" altLang="en-US" sz="1540" dirty="0">
                <a:effectLst/>
                <a:latin typeface="腾讯字体包" panose="02010600010101010101" charset="-128"/>
                <a:ea typeface="腾讯字体包" panose="02010600010101010101" charset="-128"/>
                <a:cs typeface="腾讯字体包" panose="02010600010101010101" charset="-128"/>
                <a:sym typeface="+mn-ea"/>
              </a:rPr>
              <a:t>：模型微调模块替换为</a:t>
            </a:r>
            <a:r>
              <a:rPr lang="zh-CN" sz="1540" dirty="0">
                <a:solidFill>
                  <a:schemeClr val="accent6"/>
                </a:solidFill>
                <a:effectLst/>
                <a:latin typeface="腾讯字体包" panose="02010600010101010101" charset="-128"/>
                <a:ea typeface="腾讯字体包" panose="02010600010101010101" charset="-128"/>
                <a:cs typeface="腾讯字体包" panose="02010600010101010101" charset="-128"/>
                <a:sym typeface="+mn-ea"/>
              </a:rPr>
              <a:t>第三方接口调用</a:t>
            </a:r>
            <a:r>
              <a:rPr lang="zh-CN" altLang="en-US" sz="1540" dirty="0">
                <a:effectLst/>
                <a:latin typeface="腾讯字体包" panose="02010600010101010101" charset="-128"/>
                <a:ea typeface="腾讯字体包" panose="02010600010101010101" charset="-128"/>
                <a:cs typeface="腾讯字体包" panose="02010600010101010101" charset="-128"/>
                <a:sym typeface="+mn-ea"/>
              </a:rPr>
              <a:t>。</a:t>
            </a:r>
            <a:endParaRPr lang="zh-CN" altLang="en-US" sz="1540" dirty="0">
              <a:effectLst/>
              <a:latin typeface="腾讯字体包" panose="02010600010101010101" charset="-128"/>
              <a:ea typeface="腾讯字体包" panose="02010600010101010101" charset="-128"/>
              <a:cs typeface="腾讯字体包" panose="02010600010101010101" charset="-128"/>
              <a:sym typeface="+mn-ea"/>
            </a:endParaRPr>
          </a:p>
          <a:p>
            <a:pPr marL="457200" lvl="1" indent="0" algn="l">
              <a:lnSpc>
                <a:spcPct val="125000"/>
              </a:lnSpc>
              <a:spcAft>
                <a:spcPts val="0"/>
              </a:spcAft>
              <a:buClrTx/>
              <a:buSzTx/>
              <a:buNone/>
            </a:pPr>
            <a:endParaRPr lang="zh-CN" altLang="en-US" sz="1540" dirty="0">
              <a:effectLst/>
              <a:latin typeface="腾讯字体包" panose="02010600010101010101" charset="-128"/>
              <a:ea typeface="腾讯字体包" panose="02010600010101010101" charset="-128"/>
              <a:cs typeface="腾讯字体包" panose="02010600010101010101" charset="-128"/>
              <a:sym typeface="+mn-ea"/>
            </a:endParaRPr>
          </a:p>
        </p:txBody>
      </p:sp>
      <p:grpSp>
        <p:nvGrpSpPr>
          <p:cNvPr id="16" name="组合 15"/>
          <p:cNvGrpSpPr/>
          <p:nvPr/>
        </p:nvGrpSpPr>
        <p:grpSpPr>
          <a:xfrm>
            <a:off x="283625" y="712715"/>
            <a:ext cx="11530160" cy="576000"/>
            <a:chOff x="582710" y="712715"/>
            <a:chExt cx="11537957" cy="572075"/>
          </a:xfrm>
        </p:grpSpPr>
        <p:sp>
          <p:nvSpPr>
            <p:cNvPr id="17" name="矩形 16"/>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文本框 17"/>
            <p:cNvSpPr txBox="1"/>
            <p:nvPr/>
          </p:nvSpPr>
          <p:spPr>
            <a:xfrm>
              <a:off x="686222" y="712715"/>
              <a:ext cx="11434445" cy="51841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2800" dirty="0">
                  <a:latin typeface="腾讯字体包" panose="02010600010101010101" charset="-128"/>
                  <a:ea typeface="腾讯字体包" panose="02010600010101010101" charset="-128"/>
                  <a:sym typeface="+mn-ea"/>
                </a:rPr>
                <a:t>RUCM</a:t>
              </a:r>
              <a:r>
                <a:rPr kumimoji="1" lang="zh-CN" altLang="en-US" sz="2800" dirty="0">
                  <a:latin typeface="腾讯字体包" panose="02010600010101010101" charset="-128"/>
                  <a:ea typeface="腾讯字体包" panose="02010600010101010101" charset="-128"/>
                  <a:sym typeface="+mn-ea"/>
                </a:rPr>
                <a:t>表、对应流程图：组内自查</a:t>
              </a:r>
              <a:r>
                <a:rPr kumimoji="1" lang="zh-CN" altLang="en-US" sz="2800" dirty="0">
                  <a:solidFill>
                    <a:schemeClr val="accent6">
                      <a:lumMod val="75000"/>
                    </a:schemeClr>
                  </a:solidFill>
                  <a:latin typeface="腾讯字体包" panose="02010600010101010101" charset="-128"/>
                  <a:ea typeface="腾讯字体包" panose="02010600010101010101" charset="-128"/>
                  <a:sym typeface="+mn-ea"/>
                </a:rPr>
                <a:t>更新</a:t>
              </a:r>
              <a:endParaRPr kumimoji="1" lang="zh-CN" altLang="en-US" sz="2800" dirty="0">
                <a:solidFill>
                  <a:schemeClr val="accent6">
                    <a:lumMod val="75000"/>
                  </a:schemeClr>
                </a:solidFill>
                <a:latin typeface="腾讯字体包" panose="02010600010101010101" charset="-128"/>
                <a:ea typeface="腾讯字体包" panose="02010600010101010101" charset="-128"/>
                <a:sym typeface="+mn-ea"/>
              </a:endParaRPr>
            </a:p>
          </p:txBody>
        </p:sp>
      </p:grpSp>
      <p:sp>
        <p:nvSpPr>
          <p:cNvPr id="2" name="文本框 1"/>
          <p:cNvSpPr txBox="1"/>
          <p:nvPr/>
        </p:nvSpPr>
        <p:spPr>
          <a:xfrm>
            <a:off x="283845" y="5302250"/>
            <a:ext cx="7869555" cy="814705"/>
          </a:xfrm>
          <a:prstGeom prst="rect">
            <a:avLst/>
          </a:prstGeom>
          <a:noFill/>
        </p:spPr>
        <p:txBody>
          <a:bodyPr wrap="square" rtlCol="0" anchor="t">
            <a:spAutoFit/>
          </a:bodyPr>
          <a:lstStyle/>
          <a:p>
            <a:pPr marL="342900" indent="-342900" algn="l">
              <a:lnSpc>
                <a:spcPct val="125000"/>
              </a:lnSpc>
              <a:spcAft>
                <a:spcPts val="0"/>
              </a:spcAft>
              <a:buClrTx/>
              <a:buSzTx/>
              <a:buFont typeface="Arial" panose="020B0604020202020204" pitchFamily="34" charset="0"/>
              <a:buChar char="•"/>
            </a:pPr>
            <a:r>
              <a:rPr lang="en-US" altLang="zh-CN" sz="2220" dirty="0">
                <a:solidFill>
                  <a:srgbClr val="3F51B6"/>
                </a:solidFill>
                <a:effectLst/>
                <a:uFillTx/>
                <a:latin typeface="腾讯字体包" panose="02010600010101010101" charset="-128"/>
                <a:ea typeface="腾讯字体包" panose="02010600010101010101" charset="-128"/>
                <a:sym typeface="+mn-ea"/>
              </a:rPr>
              <a:t>3</a:t>
            </a:r>
            <a:r>
              <a:rPr lang="zh-CN" altLang="en-US" sz="2220" dirty="0">
                <a:solidFill>
                  <a:srgbClr val="3F51B6"/>
                </a:solidFill>
                <a:effectLst/>
                <a:uFillTx/>
                <a:latin typeface="腾讯字体包" panose="02010600010101010101" charset="-128"/>
                <a:ea typeface="宋体" panose="02010600030101010101" pitchFamily="2" charset="-122"/>
                <a:sym typeface="+mn-ea"/>
              </a:rPr>
              <a:t>：</a:t>
            </a:r>
            <a:r>
              <a:rPr lang="zh-CN" altLang="en-US" sz="2220" dirty="0">
                <a:solidFill>
                  <a:srgbClr val="3F51B6"/>
                </a:solidFill>
                <a:effectLst/>
                <a:uFillTx/>
                <a:latin typeface="腾讯字体包" panose="02010600010101010101" charset="-128"/>
                <a:ea typeface="腾讯字体包" panose="02010600010101010101" charset="-128"/>
                <a:sym typeface="+mn-ea"/>
              </a:rPr>
              <a:t>更新需求后部分</a:t>
            </a:r>
            <a:r>
              <a:rPr lang="en-US" altLang="zh-CN" sz="2220" dirty="0">
                <a:solidFill>
                  <a:srgbClr val="3F51B6"/>
                </a:solidFill>
                <a:effectLst/>
                <a:uFillTx/>
                <a:latin typeface="腾讯字体包" panose="02010600010101010101" charset="-128"/>
                <a:ea typeface="腾讯字体包" panose="02010600010101010101" charset="-128"/>
                <a:sym typeface="+mn-ea"/>
              </a:rPr>
              <a:t>RUCM</a:t>
            </a:r>
            <a:r>
              <a:rPr lang="zh-CN" altLang="en-US" sz="2220" dirty="0">
                <a:solidFill>
                  <a:srgbClr val="3F51B6"/>
                </a:solidFill>
                <a:effectLst/>
                <a:uFillTx/>
                <a:latin typeface="腾讯字体包" panose="02010600010101010101" charset="-128"/>
                <a:ea typeface="腾讯字体包" panose="02010600010101010101" charset="-128"/>
                <a:sym typeface="+mn-ea"/>
              </a:rPr>
              <a:t>表及其流程图图文不一致</a:t>
            </a:r>
            <a:endParaRPr lang="zh-CN" altLang="en-US" sz="2220" dirty="0">
              <a:solidFill>
                <a:srgbClr val="3F51B6"/>
              </a:solidFill>
              <a:effectLst/>
              <a:uFillTx/>
              <a:latin typeface="腾讯字体包" panose="02010600010101010101" charset="-128"/>
              <a:ea typeface="腾讯字体包" panose="02010600010101010101" charset="-128"/>
              <a:sym typeface="+mn-ea"/>
            </a:endParaRPr>
          </a:p>
          <a:p>
            <a:pPr marL="742950" lvl="1" indent="-285750" algn="l">
              <a:lnSpc>
                <a:spcPct val="125000"/>
              </a:lnSpc>
              <a:spcAft>
                <a:spcPts val="0"/>
              </a:spcAft>
              <a:buClrTx/>
              <a:buSzTx/>
              <a:buFont typeface="Arial" panose="020B0604020202020204" pitchFamily="34" charset="0"/>
              <a:buChar char="•"/>
            </a:pPr>
            <a:r>
              <a:rPr lang="zh-CN" altLang="en-US" sz="1540" dirty="0">
                <a:effectLst/>
                <a:latin typeface="腾讯字体包" panose="02010600010101010101" charset="-128"/>
                <a:ea typeface="腾讯字体包" panose="02010600010101010101" charset="-128"/>
                <a:cs typeface="腾讯字体包" panose="02010600010101010101" charset="-128"/>
                <a:sym typeface="+mn-ea"/>
              </a:rPr>
              <a:t>修改图表内容，保持图文一致。</a:t>
            </a:r>
            <a:endParaRPr lang="zh-CN" altLang="en-US" sz="1540" dirty="0">
              <a:effectLst/>
              <a:latin typeface="腾讯字体包" panose="02010600010101010101" charset="-128"/>
              <a:ea typeface="腾讯字体包" panose="02010600010101010101" charset="-128"/>
              <a:cs typeface="腾讯字体包" panose="02010600010101010101" charset="-128"/>
              <a:sym typeface="+mn-ea"/>
            </a:endParaRPr>
          </a:p>
        </p:txBody>
      </p:sp>
      <p:grpSp>
        <p:nvGrpSpPr>
          <p:cNvPr id="3" name="组合 2"/>
          <p:cNvGrpSpPr/>
          <p:nvPr/>
        </p:nvGrpSpPr>
        <p:grpSpPr>
          <a:xfrm>
            <a:off x="5260340" y="1104265"/>
            <a:ext cx="6737985" cy="3553460"/>
            <a:chOff x="3901" y="2840"/>
            <a:chExt cx="13968" cy="6020"/>
          </a:xfrm>
        </p:grpSpPr>
        <p:pic>
          <p:nvPicPr>
            <p:cNvPr id="1099089229" name="图片 4"/>
            <p:cNvPicPr>
              <a:picLocks noChangeAspect="1" noChangeArrowheads="1"/>
            </p:cNvPicPr>
            <p:nvPr/>
          </p:nvPicPr>
          <p:blipFill>
            <a:blip r:embed="rId1" cstate="print">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a:xfrm>
              <a:off x="3901" y="2840"/>
              <a:ext cx="4530" cy="5510"/>
            </a:xfrm>
            <a:prstGeom prst="rect">
              <a:avLst/>
            </a:prstGeom>
            <a:noFill/>
            <a:ln>
              <a:noFill/>
            </a:ln>
          </p:spPr>
        </p:pic>
        <p:pic>
          <p:nvPicPr>
            <p:cNvPr id="82245355" name="图片 6"/>
            <p:cNvPicPr>
              <a:picLocks noChangeAspect="1" noChangeArrowheads="1"/>
            </p:cNvPicPr>
            <p:nvPr/>
          </p:nvPicPr>
          <p:blipFill>
            <a:blip r:embed="rId2" cstate="print">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a:xfrm>
              <a:off x="12089" y="2840"/>
              <a:ext cx="5780" cy="6020"/>
            </a:xfrm>
            <a:prstGeom prst="rect">
              <a:avLst/>
            </a:prstGeom>
            <a:noFill/>
            <a:ln>
              <a:noFill/>
            </a:ln>
          </p:spPr>
        </p:pic>
        <p:pic>
          <p:nvPicPr>
            <p:cNvPr id="642459580" name="图片 5"/>
            <p:cNvPicPr>
              <a:picLocks noChangeAspect="1" noChangeArrowheads="1"/>
            </p:cNvPicPr>
            <p:nvPr/>
          </p:nvPicPr>
          <p:blipFill>
            <a:blip r:embed="rId3" cstate="print">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a:xfrm>
              <a:off x="8208" y="2840"/>
              <a:ext cx="4890" cy="5510"/>
            </a:xfrm>
            <a:prstGeom prst="rect">
              <a:avLst/>
            </a:prstGeom>
            <a:noFill/>
            <a:ln>
              <a:noFill/>
            </a:ln>
          </p:spPr>
        </p:pic>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283845" y="1449070"/>
            <a:ext cx="11519535" cy="5089525"/>
          </a:xfrm>
        </p:spPr>
        <p:txBody>
          <a:bodyPr>
            <a:normAutofit/>
          </a:bodyPr>
          <a:lstStyle/>
          <a:p>
            <a:pPr algn="l">
              <a:lnSpc>
                <a:spcPct val="125000"/>
              </a:lnSpc>
              <a:spcAft>
                <a:spcPts val="0"/>
              </a:spcAft>
              <a:buClrTx/>
              <a:buSzTx/>
            </a:pPr>
            <a:r>
              <a:rPr lang="en-US" altLang="zh-CN" sz="2220" dirty="0">
                <a:solidFill>
                  <a:srgbClr val="3F51B6"/>
                </a:solidFill>
                <a:effectLst/>
                <a:uFillTx/>
                <a:latin typeface="腾讯字体包" panose="02010600010101010101" charset="-128"/>
                <a:ea typeface="腾讯字体包" panose="02010600010101010101" charset="-128"/>
              </a:rPr>
              <a:t>1：各个用例间的依赖关系体现不明显  (</a:t>
            </a:r>
            <a:r>
              <a:rPr lang="zh-CN" altLang="en-US" sz="2220" dirty="0">
                <a:solidFill>
                  <a:srgbClr val="3F51B6"/>
                </a:solidFill>
                <a:effectLst/>
                <a:uFillTx/>
                <a:latin typeface="腾讯字体包" panose="02010600010101010101" charset="-128"/>
                <a:ea typeface="腾讯字体包" panose="02010600010101010101" charset="-128"/>
              </a:rPr>
              <a:t>作图规范）</a:t>
            </a:r>
            <a:endParaRPr lang="en-US" altLang="zh-CN" sz="2220" dirty="0">
              <a:solidFill>
                <a:srgbClr val="3F51B6"/>
              </a:solidFill>
              <a:effectLst/>
              <a:uFillTx/>
              <a:latin typeface="腾讯字体包" panose="02010600010101010101" charset="-128"/>
              <a:ea typeface="腾讯字体包" panose="02010600010101010101" charset="-128"/>
            </a:endParaRPr>
          </a:p>
          <a:p>
            <a:pPr lvl="1" algn="l">
              <a:lnSpc>
                <a:spcPct val="125000"/>
              </a:lnSpc>
              <a:spcAft>
                <a:spcPts val="0"/>
              </a:spcAft>
              <a:buClrTx/>
              <a:buSzTx/>
            </a:pPr>
            <a:r>
              <a:rPr lang="zh-CN" sz="1540" dirty="0">
                <a:effectLst/>
                <a:latin typeface="腾讯字体包" panose="02010600010101010101" charset="-128"/>
                <a:ea typeface="腾讯字体包" panose="02010600010101010101" charset="-128"/>
                <a:cs typeface="腾讯字体包" panose="02010600010101010101" charset="-128"/>
                <a:sym typeface="+mn-ea"/>
              </a:rPr>
              <a:t>总体用例图体现了依赖关系，在新增箭头解释后更加易读。</a:t>
            </a:r>
            <a:endParaRPr lang="zh-CN" sz="1540" dirty="0">
              <a:effectLst/>
              <a:latin typeface="腾讯字体包" panose="02010600010101010101" charset="-128"/>
              <a:ea typeface="腾讯字体包" panose="02010600010101010101" charset="-128"/>
              <a:cs typeface="腾讯字体包" panose="02010600010101010101" charset="-128"/>
              <a:sym typeface="+mn-ea"/>
            </a:endParaRPr>
          </a:p>
          <a:p>
            <a:pPr lvl="1" algn="l">
              <a:lnSpc>
                <a:spcPct val="125000"/>
              </a:lnSpc>
              <a:spcAft>
                <a:spcPts val="0"/>
              </a:spcAft>
              <a:buClrTx/>
              <a:buSzTx/>
            </a:pPr>
            <a:r>
              <a:rPr lang="zh-CN" sz="1540" dirty="0">
                <a:effectLst/>
                <a:latin typeface="腾讯字体包" panose="02010600010101010101" charset="-128"/>
                <a:ea typeface="腾讯字体包" panose="02010600010101010101" charset="-128"/>
                <a:cs typeface="腾讯字体包" panose="02010600010101010101" charset="-128"/>
                <a:sym typeface="+mn-ea"/>
              </a:rPr>
              <a:t>在具体需求用例中添加对前置用例的描述。</a:t>
            </a:r>
            <a:endParaRPr sz="1540" dirty="0">
              <a:effectLst/>
              <a:latin typeface="腾讯字体包" panose="02010600010101010101" charset="-128"/>
              <a:ea typeface="腾讯字体包" panose="02010600010101010101" charset="-128"/>
              <a:cs typeface="腾讯字体包" panose="02010600010101010101" charset="-128"/>
              <a:sym typeface="+mn-ea"/>
            </a:endParaRPr>
          </a:p>
          <a:p>
            <a:pPr algn="l">
              <a:lnSpc>
                <a:spcPct val="125000"/>
              </a:lnSpc>
              <a:spcAft>
                <a:spcPts val="0"/>
              </a:spcAft>
              <a:buClrTx/>
              <a:buSzTx/>
            </a:pPr>
            <a:r>
              <a:rPr lang="en-US" altLang="zh-CN" sz="2220" dirty="0">
                <a:solidFill>
                  <a:srgbClr val="3F51B6"/>
                </a:solidFill>
                <a:effectLst/>
                <a:uFillTx/>
                <a:latin typeface="腾讯字体包" panose="02010600010101010101" charset="-128"/>
                <a:ea typeface="腾讯字体包" panose="02010600010101010101" charset="-128"/>
              </a:rPr>
              <a:t>2</a:t>
            </a:r>
            <a:r>
              <a:rPr lang="zh-CN" altLang="en-US" sz="2220" dirty="0">
                <a:solidFill>
                  <a:srgbClr val="3F51B6"/>
                </a:solidFill>
                <a:effectLst/>
                <a:uFillTx/>
                <a:latin typeface="腾讯字体包" panose="02010600010101010101" charset="-128"/>
                <a:ea typeface="腾讯字体包" panose="02010600010101010101" charset="-128"/>
              </a:rPr>
              <a:t>：代码风格一致性不属于健壮性</a:t>
            </a:r>
            <a:r>
              <a:rPr lang="zh-CN" altLang="en-US" sz="2220" dirty="0">
                <a:solidFill>
                  <a:srgbClr val="3F51B6"/>
                </a:solidFill>
                <a:effectLst/>
                <a:uFillTx/>
                <a:latin typeface="腾讯字体包" panose="02010600010101010101" charset="-128"/>
                <a:ea typeface="腾讯字体包" panose="02010600010101010101" charset="-128"/>
                <a:sym typeface="+mn-ea"/>
              </a:rPr>
              <a:t>（非功能需求）</a:t>
            </a:r>
            <a:endParaRPr lang="zh-CN" altLang="en-US" sz="2220" dirty="0">
              <a:solidFill>
                <a:srgbClr val="3F51B6"/>
              </a:solidFill>
              <a:effectLst/>
              <a:uFillTx/>
              <a:latin typeface="腾讯字体包" panose="02010600010101010101" charset="-128"/>
              <a:ea typeface="腾讯字体包" panose="02010600010101010101" charset="-128"/>
            </a:endParaRPr>
          </a:p>
          <a:p>
            <a:pPr lvl="1" algn="l">
              <a:lnSpc>
                <a:spcPct val="125000"/>
              </a:lnSpc>
              <a:spcAft>
                <a:spcPts val="0"/>
              </a:spcAft>
              <a:buClrTx/>
              <a:buSzTx/>
            </a:pPr>
            <a:r>
              <a:rPr lang="zh-CN" altLang="en-US" sz="1540" dirty="0">
                <a:effectLst/>
                <a:latin typeface="腾讯字体包" panose="02010600010101010101" charset="-128"/>
                <a:ea typeface="腾讯字体包" panose="02010600010101010101" charset="-128"/>
                <a:cs typeface="腾讯字体包" panose="02010600010101010101" charset="-128"/>
                <a:sym typeface="+mn-ea"/>
              </a:rPr>
              <a:t>将文档的健壮性模块更名为</a:t>
            </a:r>
            <a:r>
              <a:rPr lang="zh-CN" altLang="en-US" sz="1540" dirty="0">
                <a:solidFill>
                  <a:schemeClr val="accent6"/>
                </a:solidFill>
                <a:effectLst/>
                <a:latin typeface="腾讯字体包" panose="02010600010101010101" charset="-128"/>
                <a:ea typeface="腾讯字体包" panose="02010600010101010101" charset="-128"/>
                <a:cs typeface="腾讯字体包" panose="02010600010101010101" charset="-128"/>
                <a:sym typeface="+mn-ea"/>
              </a:rPr>
              <a:t>可维护性</a:t>
            </a:r>
            <a:r>
              <a:rPr lang="zh-CN" altLang="en-US" sz="1540" dirty="0">
                <a:effectLst/>
                <a:latin typeface="腾讯字体包" panose="02010600010101010101" charset="-128"/>
                <a:ea typeface="腾讯字体包" panose="02010600010101010101" charset="-128"/>
                <a:cs typeface="腾讯字体包" panose="02010600010101010101" charset="-128"/>
                <a:sym typeface="+mn-ea"/>
              </a:rPr>
              <a:t>。</a:t>
            </a:r>
            <a:endParaRPr lang="zh-CN" altLang="en-US" sz="1540" dirty="0">
              <a:effectLst/>
              <a:latin typeface="腾讯字体包" panose="02010600010101010101" charset="-128"/>
              <a:ea typeface="腾讯字体包" panose="02010600010101010101" charset="-128"/>
              <a:cs typeface="腾讯字体包" panose="02010600010101010101" charset="-128"/>
              <a:sym typeface="+mn-ea"/>
            </a:endParaRPr>
          </a:p>
          <a:p>
            <a:pPr algn="l">
              <a:lnSpc>
                <a:spcPct val="125000"/>
              </a:lnSpc>
              <a:spcAft>
                <a:spcPts val="0"/>
              </a:spcAft>
              <a:buClrTx/>
              <a:buSzTx/>
            </a:pPr>
            <a:r>
              <a:rPr lang="en-US" altLang="zh-CN" sz="2220" dirty="0">
                <a:solidFill>
                  <a:srgbClr val="3F51B6"/>
                </a:solidFill>
                <a:effectLst/>
                <a:uFillTx/>
                <a:latin typeface="腾讯字体包" panose="02010600010101010101" charset="-128"/>
                <a:ea typeface="腾讯字体包" panose="02010600010101010101" charset="-128"/>
                <a:sym typeface="+mn-ea"/>
              </a:rPr>
              <a:t>3</a:t>
            </a:r>
            <a:r>
              <a:rPr lang="zh-CN" altLang="en-US" sz="2220" dirty="0">
                <a:solidFill>
                  <a:srgbClr val="3F51B6"/>
                </a:solidFill>
                <a:effectLst/>
                <a:uFillTx/>
                <a:latin typeface="腾讯字体包" panose="02010600010101010101" charset="-128"/>
                <a:ea typeface="腾讯字体包" panose="02010600010101010101" charset="-128"/>
                <a:sym typeface="+mn-ea"/>
              </a:rPr>
              <a:t>：缺失系统故障模块（非功能需求）</a:t>
            </a:r>
            <a:endParaRPr lang="zh-CN" altLang="en-US" sz="2220" dirty="0">
              <a:solidFill>
                <a:srgbClr val="3F51B6"/>
              </a:solidFill>
              <a:effectLst/>
              <a:uFillTx/>
              <a:latin typeface="腾讯字体包" panose="02010600010101010101" charset="-128"/>
              <a:ea typeface="腾讯字体包" panose="02010600010101010101" charset="-128"/>
            </a:endParaRPr>
          </a:p>
          <a:p>
            <a:pPr lvl="1" algn="l">
              <a:lnSpc>
                <a:spcPct val="125000"/>
              </a:lnSpc>
              <a:spcAft>
                <a:spcPts val="0"/>
              </a:spcAft>
              <a:buClrTx/>
              <a:buSzTx/>
            </a:pPr>
            <a:r>
              <a:rPr lang="zh-CN" altLang="en-US" sz="1540" dirty="0">
                <a:effectLst/>
                <a:latin typeface="腾讯字体包" panose="02010600010101010101" charset="-128"/>
                <a:ea typeface="腾讯字体包" panose="02010600010101010101" charset="-128"/>
                <a:cs typeface="腾讯字体包" panose="02010600010101010101" charset="-128"/>
                <a:sym typeface="+mn-ea"/>
              </a:rPr>
              <a:t>增加故障处理相关内容。</a:t>
            </a:r>
            <a:endParaRPr lang="zh-CN" altLang="en-US" sz="1540" dirty="0">
              <a:effectLst/>
              <a:latin typeface="腾讯字体包" panose="02010600010101010101" charset="-128"/>
              <a:ea typeface="腾讯字体包" panose="02010600010101010101" charset="-128"/>
              <a:cs typeface="腾讯字体包" panose="02010600010101010101" charset="-128"/>
              <a:sym typeface="+mn-ea"/>
            </a:endParaRPr>
          </a:p>
          <a:p>
            <a:pPr algn="l">
              <a:lnSpc>
                <a:spcPct val="125000"/>
              </a:lnSpc>
              <a:spcAft>
                <a:spcPts val="0"/>
              </a:spcAft>
              <a:buClrTx/>
              <a:buSzTx/>
            </a:pPr>
            <a:r>
              <a:rPr lang="en-US" altLang="zh-CN" sz="2220" dirty="0">
                <a:solidFill>
                  <a:srgbClr val="3F51B6"/>
                </a:solidFill>
                <a:effectLst/>
                <a:uFillTx/>
                <a:latin typeface="腾讯字体包" panose="02010600010101010101" charset="-128"/>
                <a:ea typeface="腾讯字体包" panose="02010600010101010101" charset="-128"/>
                <a:sym typeface="+mn-ea"/>
              </a:rPr>
              <a:t>4</a:t>
            </a:r>
            <a:r>
              <a:rPr lang="zh-CN" altLang="en-US" sz="2220" dirty="0">
                <a:solidFill>
                  <a:srgbClr val="3F51B6"/>
                </a:solidFill>
                <a:effectLst/>
                <a:uFillTx/>
                <a:latin typeface="腾讯字体包" panose="02010600010101010101" charset="-128"/>
                <a:ea typeface="腾讯字体包" panose="02010600010101010101" charset="-128"/>
                <a:sym typeface="+mn-ea"/>
              </a:rPr>
              <a:t>：文字勘误</a:t>
            </a:r>
            <a:endParaRPr lang="zh-CN" altLang="en-US" sz="2220" dirty="0">
              <a:solidFill>
                <a:srgbClr val="3F51B6"/>
              </a:solidFill>
              <a:effectLst/>
              <a:uFillTx/>
              <a:latin typeface="腾讯字体包" panose="02010600010101010101" charset="-128"/>
              <a:ea typeface="腾讯字体包" panose="02010600010101010101" charset="-128"/>
            </a:endParaRPr>
          </a:p>
          <a:p>
            <a:pPr lvl="1" algn="l">
              <a:lnSpc>
                <a:spcPct val="125000"/>
              </a:lnSpc>
              <a:spcAft>
                <a:spcPts val="0"/>
              </a:spcAft>
              <a:buClrTx/>
              <a:buSzTx/>
            </a:pPr>
            <a:r>
              <a:rPr lang="zh-CN" altLang="en-US" sz="1540" dirty="0">
                <a:effectLst/>
                <a:latin typeface="腾讯字体包" panose="02010600010101010101" charset="-128"/>
                <a:ea typeface="腾讯字体包" panose="02010600010101010101" charset="-128"/>
                <a:cs typeface="腾讯字体包" panose="02010600010101010101" charset="-128"/>
                <a:sym typeface="+mn-ea"/>
              </a:rPr>
              <a:t>审阅文档修正文字、语法错误。</a:t>
            </a:r>
            <a:endParaRPr lang="zh-CN" altLang="en-US" sz="1540" dirty="0">
              <a:effectLst/>
              <a:latin typeface="腾讯字体包" panose="02010600010101010101" charset="-128"/>
              <a:ea typeface="腾讯字体包" panose="02010600010101010101" charset="-128"/>
              <a:cs typeface="腾讯字体包" panose="02010600010101010101" charset="-128"/>
              <a:sym typeface="+mn-ea"/>
            </a:endParaRPr>
          </a:p>
          <a:p>
            <a:pPr algn="l">
              <a:lnSpc>
                <a:spcPct val="125000"/>
              </a:lnSpc>
              <a:spcAft>
                <a:spcPts val="0"/>
              </a:spcAft>
              <a:buClrTx/>
              <a:buSzTx/>
            </a:pPr>
            <a:endParaRPr lang="zh-CN" altLang="en-US" sz="1800" dirty="0">
              <a:effectLst/>
              <a:latin typeface="腾讯字体包" panose="02010600010101010101" charset="-128"/>
              <a:ea typeface="腾讯字体包" panose="02010600010101010101" charset="-128"/>
              <a:cs typeface="腾讯字体包" panose="02010600010101010101" charset="-128"/>
              <a:sym typeface="+mn-ea"/>
            </a:endParaRPr>
          </a:p>
        </p:txBody>
      </p:sp>
      <p:grpSp>
        <p:nvGrpSpPr>
          <p:cNvPr id="16" name="组合 15"/>
          <p:cNvGrpSpPr/>
          <p:nvPr/>
        </p:nvGrpSpPr>
        <p:grpSpPr>
          <a:xfrm>
            <a:off x="283625" y="712715"/>
            <a:ext cx="11530160" cy="576000"/>
            <a:chOff x="582710" y="712715"/>
            <a:chExt cx="11537957" cy="572075"/>
          </a:xfrm>
        </p:grpSpPr>
        <p:sp>
          <p:nvSpPr>
            <p:cNvPr id="17" name="矩形 16"/>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文本框 17"/>
            <p:cNvSpPr txBox="1"/>
            <p:nvPr/>
          </p:nvSpPr>
          <p:spPr>
            <a:xfrm>
              <a:off x="686222" y="712715"/>
              <a:ext cx="11434445" cy="51841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dirty="0">
                  <a:latin typeface="腾讯字体包" panose="02010600010101010101" charset="-128"/>
                  <a:ea typeface="腾讯字体包" panose="02010600010101010101" charset="-128"/>
                  <a:sym typeface="+mn-ea"/>
                </a:rPr>
                <a:t>其他建议及解决方案：</a:t>
              </a:r>
              <a:endParaRPr kumimoji="1" lang="zh-CN" altLang="en-US" sz="2800" dirty="0">
                <a:latin typeface="腾讯字体包" panose="02010600010101010101" charset="-128"/>
                <a:ea typeface="腾讯字体包" panose="02010600010101010101" charset="-128"/>
                <a:sym typeface="+mn-ea"/>
              </a:endParaRPr>
            </a:p>
          </p:txBody>
        </p:sp>
      </p:grpSp>
      <p:sp>
        <p:nvSpPr>
          <p:cNvPr id="2" name="文本框 1"/>
          <p:cNvSpPr txBox="1"/>
          <p:nvPr/>
        </p:nvSpPr>
        <p:spPr>
          <a:xfrm>
            <a:off x="6391275" y="3758565"/>
            <a:ext cx="4909820" cy="706755"/>
          </a:xfrm>
          <a:prstGeom prst="rect">
            <a:avLst/>
          </a:prstGeom>
          <a:solidFill>
            <a:schemeClr val="accent5">
              <a:alpha val="40000"/>
            </a:schemeClr>
          </a:solidFill>
        </p:spPr>
        <p:txBody>
          <a:bodyPr wrap="square" rtlCol="0" anchor="t">
            <a:spAutoFit/>
          </a:bodyPr>
          <a:lstStyle/>
          <a:p>
            <a:pPr>
              <a:lnSpc>
                <a:spcPct val="125000"/>
              </a:lnSpc>
              <a:spcAft>
                <a:spcPts val="0"/>
              </a:spcAft>
              <a:buClrTx/>
              <a:buSzTx/>
            </a:pPr>
            <a:r>
              <a:rPr lang="en-US" altLang="zh-CN" sz="1600" dirty="0">
                <a:latin typeface="腾讯字体包" panose="02010600010101010101" charset="-128"/>
                <a:ea typeface="腾讯字体包" panose="02010600010101010101" charset="-128"/>
                <a:cs typeface="腾讯字体包" panose="02010600010101010101" charset="-128"/>
                <a:sym typeface="+mn-ea"/>
              </a:rPr>
              <a:t>I</a:t>
            </a:r>
            <a:r>
              <a:rPr lang="zh-CN" altLang="en-US" sz="1600" dirty="0">
                <a:latin typeface="腾讯字体包" panose="02010600010101010101" charset="-128"/>
                <a:ea typeface="腾讯字体包" panose="02010600010101010101" charset="-128"/>
                <a:cs typeface="腾讯字体包" panose="02010600010101010101" charset="-128"/>
                <a:sym typeface="+mn-ea"/>
              </a:rPr>
              <a:t>组</a:t>
            </a:r>
            <a:r>
              <a:rPr lang="en-US" altLang="zh-CN" sz="1600" dirty="0">
                <a:latin typeface="腾讯字体包" panose="02010600010101010101" charset="-128"/>
                <a:ea typeface="腾讯字体包" panose="02010600010101010101" charset="-128"/>
                <a:cs typeface="腾讯字体包" panose="02010600010101010101" charset="-128"/>
                <a:sym typeface="+mn-ea"/>
              </a:rPr>
              <a:t>“</a:t>
            </a:r>
            <a:r>
              <a:rPr lang="zh-CN" altLang="en-US" sz="1600" dirty="0">
                <a:latin typeface="腾讯字体包" panose="02010600010101010101" charset="-128"/>
                <a:ea typeface="腾讯字体包" panose="02010600010101010101" charset="-128"/>
                <a:cs typeface="腾讯字体包" panose="02010600010101010101" charset="-128"/>
                <a:sym typeface="+mn-ea"/>
              </a:rPr>
              <a:t>需求规格书中缺少详细描述系统如何处理错误情况，包括系统故障等</a:t>
            </a:r>
            <a:r>
              <a:rPr lang="en-US" altLang="zh-CN" sz="1600" dirty="0">
                <a:latin typeface="腾讯字体包" panose="02010600010101010101" charset="-128"/>
                <a:ea typeface="腾讯字体包" panose="02010600010101010101" charset="-128"/>
                <a:cs typeface="腾讯字体包" panose="02010600010101010101" charset="-128"/>
                <a:sym typeface="+mn-ea"/>
              </a:rPr>
              <a:t>”</a:t>
            </a:r>
            <a:endParaRPr lang="en-US" altLang="zh-CN" sz="1600" dirty="0">
              <a:latin typeface="腾讯字体包" panose="02010600010101010101" charset="-128"/>
              <a:ea typeface="腾讯字体包" panose="02010600010101010101" charset="-128"/>
              <a:cs typeface="腾讯字体包" panose="02010600010101010101" charset="-128"/>
              <a:sym typeface="+mn-ea"/>
            </a:endParaRPr>
          </a:p>
        </p:txBody>
      </p:sp>
      <p:sp>
        <p:nvSpPr>
          <p:cNvPr id="100" name="文本框 99"/>
          <p:cNvSpPr txBox="1"/>
          <p:nvPr/>
        </p:nvSpPr>
        <p:spPr>
          <a:xfrm>
            <a:off x="5065395" y="4792345"/>
            <a:ext cx="6235700" cy="706755"/>
          </a:xfrm>
          <a:prstGeom prst="rect">
            <a:avLst/>
          </a:prstGeom>
          <a:solidFill>
            <a:schemeClr val="accent5">
              <a:alpha val="40000"/>
            </a:schemeClr>
          </a:solidFill>
          <a:ln w="9525">
            <a:noFill/>
          </a:ln>
        </p:spPr>
        <p:txBody>
          <a:bodyPr wrap="square">
            <a:spAutoFit/>
          </a:bodyPr>
          <a:lstStyle/>
          <a:p>
            <a:pPr>
              <a:lnSpc>
                <a:spcPct val="125000"/>
              </a:lnSpc>
              <a:spcAft>
                <a:spcPts val="0"/>
              </a:spcAft>
              <a:buClrTx/>
              <a:buSzTx/>
              <a:buFontTx/>
            </a:pPr>
            <a:r>
              <a:rPr lang="en-US" altLang="zh-CN" sz="1600" dirty="0">
                <a:latin typeface="腾讯字体包" panose="02010600010101010101" charset="-128"/>
                <a:ea typeface="腾讯字体包" panose="02010600010101010101" charset="-128"/>
                <a:cs typeface="腾讯字体包" panose="02010600010101010101" charset="-128"/>
                <a:sym typeface="+mn-ea"/>
              </a:rPr>
              <a:t>I</a:t>
            </a:r>
            <a:r>
              <a:rPr lang="zh-CN" altLang="en-US" sz="1600" dirty="0">
                <a:latin typeface="腾讯字体包" panose="02010600010101010101" charset="-128"/>
                <a:ea typeface="腾讯字体包" panose="02010600010101010101" charset="-128"/>
                <a:cs typeface="腾讯字体包" panose="02010600010101010101" charset="-128"/>
                <a:sym typeface="+mn-ea"/>
              </a:rPr>
              <a:t>组</a:t>
            </a:r>
            <a:r>
              <a:rPr lang="en-US" altLang="zh-CN" sz="1600" dirty="0">
                <a:latin typeface="腾讯字体包" panose="02010600010101010101" charset="-128"/>
                <a:ea typeface="腾讯字体包" panose="02010600010101010101" charset="-128"/>
                <a:cs typeface="腾讯字体包" panose="02010600010101010101" charset="-128"/>
                <a:sym typeface="+mn-ea"/>
              </a:rPr>
              <a:t>“</a:t>
            </a:r>
            <a:r>
              <a:rPr lang="en-US" altLang="zh-CN" sz="1600" b="0" dirty="0">
                <a:latin typeface="腾讯字体包" panose="02010600010101010101" charset="-128"/>
                <a:ea typeface="腾讯字体包" panose="02010600010101010101" charset="-128"/>
                <a:cs typeface="腾讯字体包" panose="02010600010101010101" charset="-128"/>
              </a:rPr>
              <a:t>需要补齐后文对于一些特定模型以及提到的术语（如LSTM，NER等）”“修改chatGPT为ChatGPT”</a:t>
            </a:r>
            <a:r>
              <a:rPr lang="zh-CN" altLang="en-US" sz="1600" b="0" dirty="0">
                <a:latin typeface="腾讯字体包" panose="02010600010101010101" charset="-128"/>
                <a:ea typeface="腾讯字体包" panose="02010600010101010101" charset="-128"/>
                <a:cs typeface="腾讯字体包" panose="02010600010101010101" charset="-128"/>
              </a:rPr>
              <a:t>等</a:t>
            </a:r>
            <a:endParaRPr lang="zh-CN" altLang="en-US" sz="1600" b="0" dirty="0">
              <a:latin typeface="腾讯字体包" panose="02010600010101010101" charset="-128"/>
              <a:ea typeface="腾讯字体包" panose="02010600010101010101" charset="-128"/>
              <a:cs typeface="腾讯字体包" panose="02010600010101010101" charset="-128"/>
            </a:endParaRPr>
          </a:p>
        </p:txBody>
      </p:sp>
      <p:sp>
        <p:nvSpPr>
          <p:cNvPr id="3" name="文本框 2"/>
          <p:cNvSpPr txBox="1"/>
          <p:nvPr/>
        </p:nvSpPr>
        <p:spPr>
          <a:xfrm>
            <a:off x="7131685" y="2954020"/>
            <a:ext cx="4169410" cy="398780"/>
          </a:xfrm>
          <a:prstGeom prst="rect">
            <a:avLst/>
          </a:prstGeom>
          <a:solidFill>
            <a:schemeClr val="accent5">
              <a:alpha val="40000"/>
            </a:schemeClr>
          </a:solidFill>
          <a:ln w="9525">
            <a:noFill/>
          </a:ln>
        </p:spPr>
        <p:txBody>
          <a:bodyPr wrap="square">
            <a:spAutoFit/>
          </a:bodyPr>
          <a:lstStyle/>
          <a:p>
            <a:pPr algn="l">
              <a:lnSpc>
                <a:spcPct val="125000"/>
              </a:lnSpc>
              <a:spcAft>
                <a:spcPts val="0"/>
              </a:spcAft>
              <a:buClrTx/>
              <a:buSzTx/>
              <a:buFontTx/>
            </a:pPr>
            <a:r>
              <a:rPr lang="zh-CN" altLang="en-US" sz="1600" dirty="0">
                <a:latin typeface="腾讯字体包" panose="02010600010101010101" charset="-128"/>
                <a:ea typeface="腾讯字体包" panose="02010600010101010101" charset="-128"/>
                <a:cs typeface="腾讯字体包" panose="02010600010101010101" charset="-128"/>
                <a:sym typeface="+mn-ea"/>
              </a:rPr>
              <a:t>I组</a:t>
            </a:r>
            <a:r>
              <a:rPr lang="zh-CN" altLang="en-US" sz="1600" dirty="0">
                <a:latin typeface="腾讯字体包" panose="02010600010101010101" charset="-128"/>
                <a:ea typeface="腾讯字体包" panose="02010600010101010101" charset="-128"/>
                <a:cs typeface="腾讯字体包" panose="02010600010101010101" charset="-128"/>
              </a:rPr>
              <a:t>“代码风格一致性</a:t>
            </a:r>
            <a:r>
              <a:rPr lang="zh-CN" altLang="en-US" sz="1600" dirty="0">
                <a:latin typeface="腾讯字体包" panose="02010600010101010101" charset="-128"/>
                <a:ea typeface="腾讯字体包" panose="02010600010101010101" charset="-128"/>
                <a:cs typeface="腾讯字体包" panose="02010600010101010101" charset="-128"/>
                <a:sym typeface="+mn-ea"/>
              </a:rPr>
              <a:t>是否属于可靠性需求”</a:t>
            </a:r>
            <a:endParaRPr lang="zh-CN" altLang="en-US" sz="1600" dirty="0">
              <a:latin typeface="腾讯字体包" panose="02010600010101010101" charset="-128"/>
              <a:ea typeface="腾讯字体包" panose="02010600010101010101" charset="-128"/>
              <a:cs typeface="腾讯字体包" panose="02010600010101010101" charset="-128"/>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直接连接符 7"/>
          <p:cNvCxnSpPr/>
          <p:nvPr/>
        </p:nvCxnSpPr>
        <p:spPr>
          <a:xfrm>
            <a:off x="620647" y="991340"/>
            <a:ext cx="7490619" cy="0"/>
          </a:xfrm>
          <a:prstGeom prst="line">
            <a:avLst/>
          </a:prstGeom>
          <a:ln w="19050" cmpd="sng">
            <a:solidFill>
              <a:schemeClr val="accent5">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1249894" y="756499"/>
            <a:ext cx="0" cy="3816888"/>
          </a:xfrm>
          <a:prstGeom prst="line">
            <a:avLst/>
          </a:prstGeom>
          <a:ln w="19050" cmpd="sng">
            <a:solidFill>
              <a:schemeClr val="accent5">
                <a:lumMod val="50000"/>
              </a:schemeClr>
            </a:solidFill>
            <a:prstDash val="lgDashDot"/>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411972" y="5401240"/>
            <a:ext cx="6254002" cy="0"/>
          </a:xfrm>
          <a:prstGeom prst="line">
            <a:avLst/>
          </a:prstGeom>
          <a:ln w="15875" cmpd="sng">
            <a:solidFill>
              <a:schemeClr val="accent5">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11095703" y="2853976"/>
            <a:ext cx="0" cy="3642258"/>
          </a:xfrm>
          <a:prstGeom prst="line">
            <a:avLst/>
          </a:prstGeom>
          <a:ln w="19050" cmpd="sng">
            <a:solidFill>
              <a:schemeClr val="accent5">
                <a:lumMod val="50000"/>
              </a:schemeClr>
            </a:solidFill>
            <a:prstDash val="lgDashDot"/>
          </a:ln>
        </p:spPr>
        <p:style>
          <a:lnRef idx="1">
            <a:schemeClr val="accent1"/>
          </a:lnRef>
          <a:fillRef idx="0">
            <a:schemeClr val="accent1"/>
          </a:fillRef>
          <a:effectRef idx="0">
            <a:schemeClr val="accent1"/>
          </a:effectRef>
          <a:fontRef idx="minor">
            <a:schemeClr val="tx1"/>
          </a:fontRef>
        </p:style>
      </p:cxnSp>
      <p:sp>
        <p:nvSpPr>
          <p:cNvPr id="27" name="矩形: 圆角 26"/>
          <p:cNvSpPr/>
          <p:nvPr/>
        </p:nvSpPr>
        <p:spPr>
          <a:xfrm>
            <a:off x="3344691" y="3730563"/>
            <a:ext cx="5136774" cy="45165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微软雅黑" panose="020B0503020204020204" charset="-122"/>
              <a:cs typeface="汉仪君黑-45简" panose="020B0604020202020204" charset="-122"/>
            </a:endParaRPr>
          </a:p>
        </p:txBody>
      </p:sp>
      <p:sp>
        <p:nvSpPr>
          <p:cNvPr id="28" name="文本框 27"/>
          <p:cNvSpPr txBox="1"/>
          <p:nvPr/>
        </p:nvSpPr>
        <p:spPr>
          <a:xfrm>
            <a:off x="4561436" y="3771724"/>
            <a:ext cx="2455394" cy="368300"/>
          </a:xfrm>
          <a:prstGeom prst="rect">
            <a:avLst/>
          </a:prstGeom>
          <a:noFill/>
        </p:spPr>
        <p:txBody>
          <a:bodyPr wrap="square" rtlCol="0">
            <a:spAutoFit/>
          </a:bodyPr>
          <a:lstStyle/>
          <a:p>
            <a:r>
              <a:rPr lang="zh-CN" altLang="en-US" dirty="0">
                <a:solidFill>
                  <a:schemeClr val="bg1"/>
                </a:solidFill>
                <a:latin typeface="腾讯字体包" panose="02010600010101010101" charset="-128"/>
                <a:ea typeface="腾讯字体包" panose="02010600010101010101" charset="-128"/>
                <a:cs typeface="腾讯字体包" panose="02010600010101010101" charset="-128"/>
              </a:rPr>
              <a:t>汇报人：软件工程</a:t>
            </a:r>
            <a:r>
              <a:rPr lang="en-US" altLang="zh-CN" dirty="0">
                <a:solidFill>
                  <a:schemeClr val="bg1"/>
                </a:solidFill>
                <a:latin typeface="腾讯字体包" panose="02010600010101010101" charset="-128"/>
                <a:ea typeface="腾讯字体包" panose="02010600010101010101" charset="-128"/>
                <a:cs typeface="腾讯字体包" panose="02010600010101010101" charset="-128"/>
              </a:rPr>
              <a:t>A</a:t>
            </a:r>
            <a:r>
              <a:rPr lang="zh-CN" altLang="en-US" dirty="0">
                <a:solidFill>
                  <a:schemeClr val="bg1"/>
                </a:solidFill>
                <a:latin typeface="腾讯字体包" panose="02010600010101010101" charset="-128"/>
                <a:ea typeface="腾讯字体包" panose="02010600010101010101" charset="-128"/>
                <a:cs typeface="腾讯字体包" panose="02010600010101010101" charset="-128"/>
              </a:rPr>
              <a:t>组 </a:t>
            </a:r>
            <a:endParaRPr lang="en-US" altLang="zh-CN" dirty="0">
              <a:solidFill>
                <a:schemeClr val="bg1"/>
              </a:solidFill>
              <a:latin typeface="腾讯字体包" panose="02010600010101010101" charset="-128"/>
              <a:ea typeface="腾讯字体包" panose="02010600010101010101" charset="-128"/>
              <a:cs typeface="腾讯字体包" panose="02010600010101010101" charset="-128"/>
            </a:endParaRPr>
          </a:p>
        </p:txBody>
      </p:sp>
      <p:cxnSp>
        <p:nvCxnSpPr>
          <p:cNvPr id="33" name="直接连接符 32"/>
          <p:cNvCxnSpPr/>
          <p:nvPr/>
        </p:nvCxnSpPr>
        <p:spPr>
          <a:xfrm>
            <a:off x="1048355" y="1220494"/>
            <a:ext cx="7490619" cy="0"/>
          </a:xfrm>
          <a:prstGeom prst="line">
            <a:avLst/>
          </a:prstGeom>
          <a:ln w="15875" cmpd="sng">
            <a:solidFill>
              <a:schemeClr val="accent5">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5096540" y="5197551"/>
            <a:ext cx="6254002" cy="0"/>
          </a:xfrm>
          <a:prstGeom prst="line">
            <a:avLst/>
          </a:prstGeom>
          <a:ln w="19050" cmpd="sng">
            <a:solidFill>
              <a:schemeClr val="accent5">
                <a:lumMod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721995" y="2332990"/>
            <a:ext cx="10745470" cy="11080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dirty="0">
                <a:solidFill>
                  <a:srgbClr val="005BAC"/>
                </a:solidFill>
                <a:latin typeface="腾讯字体包" panose="02010600010101010101" charset="-128"/>
                <a:ea typeface="腾讯字体包" panose="02010600010101010101" charset="-128"/>
              </a:rPr>
              <a:t>请老师批评指正！</a:t>
            </a:r>
            <a:endParaRPr lang="zh-CN" altLang="en-US" sz="4800" dirty="0">
              <a:solidFill>
                <a:srgbClr val="005BAC"/>
              </a:solidFill>
              <a:latin typeface="腾讯字体包" panose="02010600010101010101" charset="-128"/>
              <a:ea typeface="腾讯字体包" panose="02010600010101010101" charset="-128"/>
            </a:endParaRPr>
          </a:p>
        </p:txBody>
      </p:sp>
    </p:spTree>
  </p:cSld>
  <p:clrMapOvr>
    <a:masterClrMapping/>
  </p:clrMapOvr>
</p:sld>
</file>

<file path=ppt/tags/tag1.xml><?xml version="1.0" encoding="utf-8"?>
<p:tagLst xmlns:p="http://schemas.openxmlformats.org/presentationml/2006/main">
  <p:tag name="COMMONDATA" val="eyJoZGlkIjoiNDlmNGM0MTY1Zjc1NDk4MTlmODIwZjc2MWI0MGI3MTgifQ=="/>
  <p:tag name="commondata" val="eyJoZGlkIjoiZWI2ODY4Mjc4MzcyZTA5OTVjNTdkOWI5NWI5OTQ2Nz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1791</Words>
  <Application>WPS 演示</Application>
  <PresentationFormat>宽屏</PresentationFormat>
  <Paragraphs>212</Paragraphs>
  <Slides>13</Slides>
  <Notes>1</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13</vt:i4>
      </vt:variant>
    </vt:vector>
  </HeadingPairs>
  <TitlesOfParts>
    <vt:vector size="27" baseType="lpstr">
      <vt:lpstr>Arial</vt:lpstr>
      <vt:lpstr>宋体</vt:lpstr>
      <vt:lpstr>Wingdings</vt:lpstr>
      <vt:lpstr>汉仪君黑-45简</vt:lpstr>
      <vt:lpstr>微软雅黑</vt:lpstr>
      <vt:lpstr>腾讯字体包</vt:lpstr>
      <vt:lpstr>等线</vt:lpstr>
      <vt:lpstr>Times New Roman</vt:lpstr>
      <vt:lpstr>黑体</vt:lpstr>
      <vt:lpstr>Arial Unicode MS</vt:lpstr>
      <vt:lpstr>等线 Light</vt:lpstr>
      <vt:lpstr>Calibri</vt:lpstr>
      <vt:lpstr>Office 主题​​</vt:lpstr>
      <vt:lpstr>Visio.Drawing.15</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面向CI的自动评测系统</dc:title>
  <dc:creator>周雨飞</dc:creator>
  <cp:lastModifiedBy>houyue</cp:lastModifiedBy>
  <cp:revision>136</cp:revision>
  <dcterms:created xsi:type="dcterms:W3CDTF">2024-03-21T11:14:00Z</dcterms:created>
  <dcterms:modified xsi:type="dcterms:W3CDTF">2024-04-12T12:14:33Z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079F26B6A7DB40C78D9F27C1CC767289_13</vt:lpwstr>
  </property>
  <property fmtid="{D5CDD505-2E9C-101B-9397-08002B2CF9AE}" pid="3" name="KSOProductBuildVer">
    <vt:lpwstr>2052-12.1.0.16729</vt:lpwstr>
  </property>
</Properties>
</file>