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9.svg" ContentType="image/svg+xml"/>
  <Override PartName="/ppt/media/image90.svg" ContentType="image/svg+xml"/>
  <Override PartName="/ppt/media/image91.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328" r:id="rId3"/>
    <p:sldId id="416" r:id="rId4"/>
    <p:sldId id="329" r:id="rId5"/>
    <p:sldId id="376" r:id="rId7"/>
    <p:sldId id="377" r:id="rId8"/>
    <p:sldId id="327" r:id="rId9"/>
    <p:sldId id="417" r:id="rId10"/>
    <p:sldId id="321" r:id="rId11"/>
    <p:sldId id="406" r:id="rId12"/>
    <p:sldId id="407" r:id="rId13"/>
    <p:sldId id="408" r:id="rId14"/>
    <p:sldId id="409" r:id="rId15"/>
    <p:sldId id="410" r:id="rId16"/>
    <p:sldId id="411" r:id="rId17"/>
    <p:sldId id="412" r:id="rId18"/>
    <p:sldId id="413" r:id="rId19"/>
    <p:sldId id="414" r:id="rId20"/>
    <p:sldId id="415" r:id="rId21"/>
    <p:sldId id="418" r:id="rId22"/>
    <p:sldId id="395" r:id="rId23"/>
    <p:sldId id="396" r:id="rId24"/>
    <p:sldId id="397" r:id="rId25"/>
    <p:sldId id="398" r:id="rId26"/>
    <p:sldId id="419" r:id="rId27"/>
    <p:sldId id="325" r:id="rId28"/>
    <p:sldId id="316" r:id="rId29"/>
    <p:sldId id="326" r:id="rId30"/>
    <p:sldId id="342" r:id="rId31"/>
    <p:sldId id="343" r:id="rId32"/>
    <p:sldId id="355" r:id="rId33"/>
    <p:sldId id="420" r:id="rId34"/>
  </p:sldIdLst>
  <p:sldSz cx="12192000" cy="6858000"/>
  <p:notesSz cx="6858000" cy="9144000"/>
  <p:embeddedFontLst>
    <p:embeddedFont>
      <p:font typeface="腾讯字体包" panose="02010600010101010101" charset="-128"/>
      <p:regular r:id="rId39"/>
    </p:embeddedFont>
    <p:embeddedFont>
      <p:font typeface="腾讯体 W7" panose="020C08030202040F0204" pitchFamily="34" charset="-122"/>
      <p:bold r:id="rId40"/>
    </p:embeddedFont>
    <p:embeddedFont>
      <p:font typeface="Calibri" panose="020F0502020204030204" charset="0"/>
      <p:regular r:id="rId41"/>
      <p:bold r:id="rId42"/>
      <p:italic r:id="rId43"/>
      <p:boldItalic r:id="rId44"/>
    </p:embeddedFont>
    <p:embeddedFont>
      <p:font typeface="微软雅黑" panose="020B0503020204020204" charset="-122"/>
      <p:regular r:id="rId45"/>
    </p:embeddedFont>
  </p:embeddedFontLst>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m z" initials="mz"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2100"/>
    <a:srgbClr val="005EFF"/>
    <a:srgbClr val="FFC55C"/>
    <a:srgbClr val="FFA100"/>
    <a:srgbClr val="FFA500"/>
    <a:srgbClr val="FFB52E"/>
    <a:srgbClr val="173B53"/>
    <a:srgbClr val="FFFF00"/>
    <a:srgbClr val="98A8D9"/>
    <a:srgbClr val="088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2367" autoAdjust="0"/>
  </p:normalViewPr>
  <p:slideViewPr>
    <p:cSldViewPr snapToGrid="0">
      <p:cViewPr>
        <p:scale>
          <a:sx n="66" d="100"/>
          <a:sy n="66" d="100"/>
        </p:scale>
        <p:origin x="1350"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6" Type="http://schemas.openxmlformats.org/officeDocument/2006/relationships/tags" Target="tags/tag43.xml"/><Relationship Id="rId45" Type="http://schemas.openxmlformats.org/officeDocument/2006/relationships/font" Target="fonts/font7.fntdata"/><Relationship Id="rId44" Type="http://schemas.openxmlformats.org/officeDocument/2006/relationships/font" Target="fonts/font6.fntdata"/><Relationship Id="rId43" Type="http://schemas.openxmlformats.org/officeDocument/2006/relationships/font" Target="fonts/font5.fntdata"/><Relationship Id="rId42" Type="http://schemas.openxmlformats.org/officeDocument/2006/relationships/font" Target="fonts/font4.fntdata"/><Relationship Id="rId41" Type="http://schemas.openxmlformats.org/officeDocument/2006/relationships/font" Target="fonts/font3.fntdata"/><Relationship Id="rId40" Type="http://schemas.openxmlformats.org/officeDocument/2006/relationships/font" Target="fonts/font2.fntdata"/><Relationship Id="rId4" Type="http://schemas.openxmlformats.org/officeDocument/2006/relationships/slide" Target="slides/slide2.xml"/><Relationship Id="rId39" Type="http://schemas.openxmlformats.org/officeDocument/2006/relationships/font" Target="fonts/font1.fntdata"/><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首次全国数据工作会议于2024年4月1日到2日在北京召开。国家数据局宣布：将开展数据标注基地建设。并着重强调：数据标注是构建人工智能模型的数据准备和预处理工作中不可或缺的一环。</a:t>
            </a:r>
            <a:endParaRPr lang="zh-CN" altLang="en-US" dirty="0"/>
          </a:p>
          <a:p>
            <a:r>
              <a:rPr lang="zh-CN" altLang="en-US" dirty="0"/>
              <a:t>党的十八大以来，以习近平同志为核心的党中央把发展人工智能提升到战略高度。习近平总书记强调， “发展人工智能，将为我国构建现代化经济体系、实现高质量发展提供重要支撑”。 2024年政府工作报告也同样提出：“深化大数据、人工智能等研发应用，开展‘人工智能+’行动，打造具有国际竞争力的数字产业集群。”</a:t>
            </a:r>
            <a:endParaRPr lang="zh-CN" altLang="en-US" dirty="0"/>
          </a:p>
          <a:p>
            <a:endParaRPr lang="zh-CN" altLang="en-US" dirty="0"/>
          </a:p>
          <a:p>
            <a:r>
              <a:rPr lang="zh-CN" altLang="en-US" dirty="0"/>
              <a:t>因此，加快数据标注与人工智能的研究与应用不仅有利于我国在这一轮人工智能技术竞赛中掌握主动权，更是我国在本轮产业革命中积累竞争优势的战略抓手。</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介绍市场对文本标注与挖掘系统的需求，目前，市场面临的主要痛点问题有三个。</a:t>
            </a:r>
            <a:endParaRPr lang="zh-CN" altLang="en-US" dirty="0"/>
          </a:p>
          <a:p>
            <a:r>
              <a:rPr lang="zh-CN" altLang="en-US" dirty="0"/>
              <a:t>首先，文献标注与信息提取的难度非常大，获取过程复杂且容易出错，这严重影响了研究的效率。其次，现有的大模型在零样本情况下识别精度较低，难以满足高精度的需求，导致研究结果的可靠性受到影响。最后，现有的竞品在操作上非常繁琐，功能集成度不高，难以形成一体化的解决方案。</a:t>
            </a:r>
            <a:endParaRPr lang="zh-CN" altLang="en-US" dirty="0"/>
          </a:p>
          <a:p>
            <a:r>
              <a:rPr lang="zh-CN" altLang="en-US" dirty="0"/>
              <a:t>综合这些痛点，我们亟需一种自动化、高精度且平台化的文本标注与挖掘系统，来提升研究效率和标注质量。</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接下来我们来看竞品分析，通过比较，我们可以更清晰地看到ITAS的优势。在定制化标注方面，Diigo提供的是通用化标注，而ChatPDF根本不具备标注功能。相比之下，ITAS提供高度定制化的标注功能，能够满足不同领域的具体需求。</a:t>
            </a:r>
            <a:endParaRPr lang="zh-CN" altLang="en-US" dirty="0"/>
          </a:p>
          <a:p>
            <a:r>
              <a:rPr lang="zh-CN" altLang="en-US" dirty="0"/>
              <a:t>在众包项目控制方面，Diigo和ChatPDF都没有这方面的功能，ITAS则提供平台化的管理，使得项目控制更加高效。</a:t>
            </a:r>
            <a:endParaRPr lang="zh-CN" altLang="en-US" dirty="0"/>
          </a:p>
          <a:p>
            <a:r>
              <a:rPr lang="zh-CN" altLang="en-US" dirty="0"/>
              <a:t>在智能实体识别方面，Diigo没有智能实体识别功能，ChatPDF的识别精度较低。ITAS则具备高精度的识别能力，显著提高了标注的准确性。</a:t>
            </a:r>
            <a:endParaRPr lang="zh-CN" altLang="en-US" dirty="0"/>
          </a:p>
          <a:p>
            <a:r>
              <a:rPr lang="zh-CN" altLang="en-US" dirty="0"/>
              <a:t>在社区共享协作方面，Diigo只支持文档共享，ChatPDF仅能共享模型，而ITAS不仅支持文档共享，还支持模型共享，促进了社区的协作与知识分享。</a:t>
            </a:r>
            <a:endParaRPr lang="zh-CN" altLang="en-US" dirty="0"/>
          </a:p>
          <a:p>
            <a:r>
              <a:rPr lang="zh-CN" altLang="en-US" dirty="0"/>
              <a:t>总的来说，ITAS通过提供高效精准的文献标注和提取服务，显著优于目前市场上的竞品，能够更好地满足研究人员的需求。</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今天我将介绍我们的项目设计，包括两个子系统和三类用户。</a:t>
            </a:r>
            <a:endParaRPr lang="zh-CN" altLang="en-US"/>
          </a:p>
          <a:p>
            <a:r>
              <a:rPr lang="zh-CN" altLang="en-US">
                <a:sym typeface="+mn-ea"/>
              </a:rPr>
              <a:t>首先，文本标注系统。这一系统帮助用户在多个专业领域中对科学文献进行段落和实体的标注，提供高效的标注工具和预定义的标注规则，大大提高了标注的准确性和一致性。</a:t>
            </a:r>
            <a:endParaRPr lang="zh-CN" altLang="en-US"/>
          </a:p>
          <a:p>
            <a:r>
              <a:rPr lang="zh-CN" altLang="en-US">
                <a:sym typeface="+mn-ea"/>
              </a:rPr>
              <a:t>其次，智能挖掘系统。通过自动化技术，这一系统可以提取和挖掘文献中的关键信息，利用大语言模型和自然语言处理技术，从大量未标注文本中快速准确地获取重要信息。</a:t>
            </a:r>
            <a:endParaRPr lang="zh-CN" altLang="en-US"/>
          </a:p>
          <a:p>
            <a:endParaRPr lang="zh-CN" altLang="en-US"/>
          </a:p>
          <a:p>
            <a:r>
              <a:rPr lang="zh-CN" altLang="en-US">
                <a:sym typeface="+mn-ea"/>
              </a:rPr>
              <a:t>我们的系统针对三类用户设计：</a:t>
            </a:r>
            <a:endParaRPr lang="zh-CN" altLang="en-US"/>
          </a:p>
          <a:p>
            <a:r>
              <a:rPr lang="zh-CN" altLang="en-US">
                <a:sym typeface="+mn-ea"/>
              </a:rPr>
              <a:t>系统标注管理员：来自科研机构、大学和企业，他们需要高质量的数据支持科研工作，负责定义标注预设、上传文档和管理标注项目。</a:t>
            </a:r>
            <a:endParaRPr lang="zh-CN" altLang="en-US"/>
          </a:p>
          <a:p>
            <a:r>
              <a:rPr lang="zh-CN" altLang="en-US">
                <a:sym typeface="+mn-ea"/>
              </a:rPr>
              <a:t>数据标注员：包括专业的标注团队和领域内的研究人员或学生，他们需要高效、直观的工具来完成大量文本标注任务。</a:t>
            </a:r>
            <a:endParaRPr lang="zh-CN" altLang="en-US"/>
          </a:p>
          <a:p>
            <a:r>
              <a:rPr lang="zh-CN" altLang="en-US">
                <a:sym typeface="+mn-ea"/>
              </a:rPr>
              <a:t>科研人员：研究人员、科学家、技术人员和数据分析师使用智能挖掘系统，从文献中获取如合成参数等关键信息，提高科研效率。</a:t>
            </a:r>
            <a:endParaRPr lang="zh-CN" altLang="en-US"/>
          </a:p>
          <a:p>
            <a:r>
              <a:rPr lang="zh-CN" altLang="en-US">
                <a:sym typeface="+mn-ea"/>
              </a:rPr>
              <a:t>通过文本标注和智能挖掘子系统，我们的项目旨在为科研工作提供高效、精准的支持工具，帮助研究人员更快地获取和利用知识。</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首先请允许我隆重介绍一下我们的项目团队，这是一个强大团结、能力互补且完备的团队</a:t>
            </a:r>
            <a:endParaRPr lang="zh-CN" altLang="en-US"/>
          </a:p>
          <a:p>
            <a:r>
              <a:rPr lang="zh-CN" altLang="en-US"/>
              <a:t>整个项目顺利上线离不开团队每一位同学的努力付出和巨大贡献，</a:t>
            </a:r>
            <a:endParaRPr lang="zh-CN" altLang="en-US"/>
          </a:p>
          <a:p>
            <a:r>
              <a:rPr lang="zh-CN" altLang="en-US"/>
              <a:t>各位同学来自各大实验室，都有丰富的开发测试和团队合作经验</a:t>
            </a:r>
            <a:endParaRPr lang="zh-CN" altLang="en-US"/>
          </a:p>
          <a:p>
            <a:r>
              <a:rPr lang="zh-CN" altLang="en-US"/>
              <a:t>我们的团队成员包括：</a:t>
            </a:r>
            <a:endParaRPr lang="zh-CN" altLang="en-US"/>
          </a:p>
          <a:p>
            <a:r>
              <a:rPr lang="zh-CN" altLang="en-US"/>
              <a:t>此外，</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我们的产品目前十分完善。项目进展顺利，开发情况如下</a:t>
            </a:r>
            <a:endParaRPr lang="zh-CN" altLang="en-US"/>
          </a:p>
          <a:p>
            <a:r>
              <a:rPr lang="zh-CN" altLang="en-US"/>
              <a:t>代码量总量</a:t>
            </a:r>
            <a:r>
              <a:rPr lang="en-US" altLang="zh-CN"/>
              <a:t>1</a:t>
            </a:r>
            <a:r>
              <a:rPr lang="zh-CN" altLang="en-US"/>
              <a:t>万</a:t>
            </a:r>
            <a:r>
              <a:rPr lang="en-US" altLang="zh-CN"/>
              <a:t>8</a:t>
            </a:r>
            <a:r>
              <a:rPr lang="zh-CN" altLang="en-US"/>
              <a:t>，，我们设计了</a:t>
            </a:r>
            <a:r>
              <a:rPr lang="en-US" altLang="zh-CN"/>
              <a:t>95</a:t>
            </a:r>
            <a:r>
              <a:rPr lang="zh-CN" altLang="en-US"/>
              <a:t>个测试用例，实现对</a:t>
            </a:r>
            <a:r>
              <a:rPr lang="en-US" altLang="zh-CN"/>
              <a:t>100</a:t>
            </a:r>
            <a:r>
              <a:rPr lang="zh-CN" altLang="en-US"/>
              <a:t>百的代码覆盖率；</a:t>
            </a:r>
            <a:endParaRPr lang="zh-CN" altLang="en-US"/>
          </a:p>
          <a:p>
            <a:r>
              <a:rPr lang="zh-CN" altLang="en-US"/>
              <a:t>并且经过组内的两轮测试和</a:t>
            </a:r>
            <a:r>
              <a:rPr lang="en-US" altLang="zh-CN"/>
              <a:t>4</a:t>
            </a:r>
            <a:r>
              <a:rPr lang="zh-CN" altLang="en-US"/>
              <a:t>轮其他组专家的测试，和来自</a:t>
            </a:r>
            <a:r>
              <a:rPr lang="en-US" altLang="zh-CN"/>
              <a:t>8</a:t>
            </a:r>
            <a:r>
              <a:rPr lang="zh-CN" altLang="en-US"/>
              <a:t>组专家的评审</a:t>
            </a:r>
            <a:endParaRPr lang="zh-CN" altLang="en-US"/>
          </a:p>
          <a:p>
            <a:r>
              <a:rPr lang="zh-CN" altLang="en-US"/>
              <a:t>我们的项目已经部署并正式上线，欢迎各位关注和使用</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接下来介绍我们产品的商业模式</a:t>
            </a:r>
            <a:endParaRPr lang="zh-CN" altLang="en-US"/>
          </a:p>
          <a:p>
            <a:r>
              <a:rPr lang="en-US" altLang="zh-CN"/>
              <a:t>ITAS</a:t>
            </a:r>
            <a:r>
              <a:rPr lang="zh-CN" altLang="en-US"/>
              <a:t>旨在为高校、研究机构提供平台级别的文本挖掘解决方案，</a:t>
            </a:r>
            <a:endParaRPr lang="zh-CN" altLang="en-US"/>
          </a:p>
          <a:p>
            <a:r>
              <a:rPr lang="zh-CN" altLang="en-US"/>
              <a:t>平台将文本标注、智能挖掘子系统一体化整合，可以很好的实现平台的领域扩展和定制化服务。</a:t>
            </a:r>
            <a:endParaRPr lang="zh-CN" altLang="en-US"/>
          </a:p>
          <a:p>
            <a:r>
              <a:rPr lang="zh-CN" altLang="en-US"/>
              <a:t>两个子系统还可以灵活适应不同场景的需要，进行服务选配；</a:t>
            </a:r>
            <a:endParaRPr lang="zh-CN" altLang="en-US"/>
          </a:p>
          <a:p>
            <a:r>
              <a:rPr lang="zh-CN" altLang="en-US"/>
              <a:t>具体地，标注子系统专精于标注领域文本；为领域文本的挖掘提供高精度的预训练预料</a:t>
            </a:r>
            <a:endParaRPr lang="zh-CN" altLang="en-US"/>
          </a:p>
          <a:p>
            <a:r>
              <a:rPr lang="zh-CN" altLang="en-US"/>
              <a:t>挖掘子系统主要面向科研用户，便于即插即用，直接使用现有模型完成对文本内容的自动挖掘</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我们的产品为用户提供三种订阅服务，包括</a:t>
            </a:r>
            <a:endParaRPr lang="zh-CN" altLang="en-US"/>
          </a:p>
          <a:p>
            <a:r>
              <a:rPr lang="zh-CN" altLang="en-US"/>
              <a:t>平台通过两个子系统可以灵活实现三种定制化方案</a:t>
            </a:r>
            <a:endParaRPr lang="zh-CN" altLang="en-US"/>
          </a:p>
          <a:p>
            <a:r>
              <a:rPr lang="zh-CN" altLang="en-US"/>
              <a:t>我们还为用户提供</a:t>
            </a:r>
            <a:endParaRPr lang="zh-CN" altLang="en-US"/>
          </a:p>
          <a:p>
            <a:r>
              <a:rPr lang="zh-CN" altLang="en-US"/>
              <a:t>此外我们的产品有社区共享功能，便于用户社区内协助、学习，或分享模型、</a:t>
            </a:r>
            <a:r>
              <a:rPr lang="en-US" altLang="zh-CN"/>
              <a:t>prompt</a:t>
            </a:r>
            <a:r>
              <a:rPr lang="zh-CN" altLang="en-US"/>
              <a:t>和相关知识</a:t>
            </a:r>
            <a:endParaRPr lang="zh-CN" altLang="en-US"/>
          </a:p>
          <a:p>
            <a:r>
              <a:rPr lang="zh-CN" altLang="en-US"/>
              <a:t>社区会将众包标注任务上传至社区，有经验的标注员可以通过此方式参与平台建设、争取外快；</a:t>
            </a:r>
            <a:endParaRPr lang="zh-CN" altLang="en-US"/>
          </a:p>
          <a:p>
            <a:r>
              <a:rPr lang="zh-CN" altLang="en-US"/>
              <a:t>我们还为模型开发者提供奖励机制，鼓励更多多样化的优秀模型开发者加入社区共建</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免费：免费体验挖掘子系统和共享社区</a:t>
            </a:r>
            <a:endParaRPr lang="zh-CN" altLang="en-US"/>
          </a:p>
          <a:p>
            <a:r>
              <a:rPr lang="zh-CN" altLang="en-US"/>
              <a:t>高级版：部分定制化方案+全部增值</a:t>
            </a:r>
            <a:endParaRPr lang="zh-CN" altLang="en-US"/>
          </a:p>
          <a:p>
            <a:r>
              <a:rPr lang="zh-CN" altLang="en-US"/>
              <a:t>专业版：提供完备的定制化，和完整的增值服务</a:t>
            </a:r>
            <a:endParaRPr lang="zh-CN" altLang="en-US"/>
          </a:p>
          <a:p>
            <a:r>
              <a:rPr lang="zh-CN" altLang="en-US"/>
              <a:t>此外所有的选配服务均可以进行定制化和自定义选配</a:t>
            </a:r>
            <a:endParaRPr lang="zh-CN" altLang="en-US"/>
          </a:p>
          <a:p>
            <a:r>
              <a:rPr lang="zh-CN" altLang="en-US">
                <a:sym typeface="+mn-ea"/>
              </a:rPr>
              <a:t>在融资的现场，我们团队为各位带来了小福利，现场优惠</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我们研发本产品的初心是将能够引领未来的创新技术应用并造福于社会。</a:t>
            </a:r>
            <a:endParaRPr lang="zh-CN" altLang="en-US"/>
          </a:p>
          <a:p>
            <a:r>
              <a:rPr lang="zh-CN" altLang="en-US"/>
              <a:t>推动学术研究的应用转化（快读）</a:t>
            </a:r>
            <a:endParaRPr lang="zh-CN" altLang="en-US"/>
          </a:p>
          <a:p>
            <a:r>
              <a:rPr lang="zh-CN" altLang="en-US">
                <a:sym typeface="+mn-ea"/>
              </a:rPr>
              <a:t>相信本产品能够带动技术创新，促进产学研紧密融合和进步，引领创新技术应用落地、造福社会</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自定义版式">
    <p:bg>
      <p:bgPr>
        <a:gradFill>
          <a:gsLst>
            <a:gs pos="0">
              <a:srgbClr val="04121D"/>
            </a:gs>
            <a:gs pos="50000">
              <a:srgbClr val="193F58"/>
            </a:gs>
            <a:gs pos="100000">
              <a:srgbClr val="04121D"/>
            </a:gs>
          </a:gsLst>
          <a:lin ang="5400000" scaled="1"/>
        </a:gradFill>
        <a:effectLst/>
      </p:bgPr>
    </p:bg>
    <p:spTree>
      <p:nvGrpSpPr>
        <p:cNvPr id="1" name=""/>
        <p:cNvGrpSpPr/>
        <p:nvPr/>
      </p:nvGrpSpPr>
      <p:grpSpPr>
        <a:xfrm>
          <a:off x="0" y="0"/>
          <a:ext cx="0" cy="0"/>
          <a:chOff x="0" y="0"/>
          <a:chExt cx="0" cy="0"/>
        </a:xfrm>
      </p:grpSpPr>
      <p:sp>
        <p:nvSpPr>
          <p:cNvPr id="14" name="标题 1"/>
          <p:cNvSpPr>
            <a:spLocks noGrp="1"/>
          </p:cNvSpPr>
          <p:nvPr>
            <p:ph type="title"/>
          </p:nvPr>
        </p:nvSpPr>
        <p:spPr>
          <a:xfrm>
            <a:off x="774311" y="22925"/>
            <a:ext cx="8521351" cy="954107"/>
          </a:xfrm>
        </p:spPr>
        <p:txBody>
          <a:bodyPr/>
          <a:lstStyle/>
          <a:p>
            <a:endParaRPr lang="zh-CN" altLang="en-US" dirty="0"/>
          </a:p>
        </p:txBody>
      </p:sp>
      <p:sp>
        <p:nvSpPr>
          <p:cNvPr id="2" name="矩形 1"/>
          <p:cNvSpPr/>
          <p:nvPr userDrawn="1"/>
        </p:nvSpPr>
        <p:spPr>
          <a:xfrm>
            <a:off x="0" y="6200774"/>
            <a:ext cx="12192000" cy="657225"/>
          </a:xfrm>
          <a:prstGeom prst="rect">
            <a:avLst/>
          </a:prstGeom>
          <a:solidFill>
            <a:srgbClr val="0024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bg>
      <p:bgPr>
        <a:gradFill>
          <a:gsLst>
            <a:gs pos="0">
              <a:srgbClr val="04121D"/>
            </a:gs>
            <a:gs pos="50000">
              <a:srgbClr val="193F58"/>
            </a:gs>
            <a:gs pos="100000">
              <a:srgbClr val="04121D"/>
            </a:gs>
          </a:gsLst>
          <a:lin ang="5400000" scaled="1"/>
        </a:gradFill>
        <a:effectLst/>
      </p:bgPr>
    </p:bg>
    <p:spTree>
      <p:nvGrpSpPr>
        <p:cNvPr id="1" name=""/>
        <p:cNvGrpSpPr/>
        <p:nvPr/>
      </p:nvGrpSpPr>
      <p:grpSpPr>
        <a:xfrm>
          <a:off x="0" y="0"/>
          <a:ext cx="0" cy="0"/>
          <a:chOff x="0" y="0"/>
          <a:chExt cx="0" cy="0"/>
        </a:xfrm>
      </p:grpSpPr>
      <p:sp>
        <p:nvSpPr>
          <p:cNvPr id="3" name="标题 1"/>
          <p:cNvSpPr>
            <a:spLocks noGrp="1"/>
          </p:cNvSpPr>
          <p:nvPr>
            <p:ph type="title"/>
          </p:nvPr>
        </p:nvSpPr>
        <p:spPr>
          <a:xfrm>
            <a:off x="774311" y="22925"/>
            <a:ext cx="8521351" cy="954107"/>
          </a:xfrm>
        </p:spPr>
        <p:txBody>
          <a:body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自定义版式">
    <p:bg>
      <p:bgPr>
        <a:gradFill>
          <a:gsLst>
            <a:gs pos="0">
              <a:srgbClr val="04121D"/>
            </a:gs>
            <a:gs pos="50000">
              <a:srgbClr val="193F58"/>
            </a:gs>
            <a:gs pos="100000">
              <a:srgbClr val="04121D"/>
            </a:gs>
          </a:gsLst>
          <a:lin ang="5400000" scaled="1"/>
        </a:gra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microsoft.com/office/2007/relationships/hdphoto" Target="../media/image6.wdp"/><Relationship Id="rId11" Type="http://schemas.openxmlformats.org/officeDocument/2006/relationships/notesSlide" Target="../notesSlides/notesSlide1.xml"/><Relationship Id="rId10" Type="http://schemas.openxmlformats.org/officeDocument/2006/relationships/slideLayout" Target="../slideLayouts/slideLayout1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GIF"/><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14.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27.GIF"/><Relationship Id="rId5" Type="http://schemas.openxmlformats.org/officeDocument/2006/relationships/image" Target="../media/image26.GIF"/><Relationship Id="rId4" Type="http://schemas.openxmlformats.org/officeDocument/2006/relationships/image" Target="../media/image25.GIF"/><Relationship Id="rId3" Type="http://schemas.openxmlformats.org/officeDocument/2006/relationships/image" Target="../media/image24.GIF"/><Relationship Id="rId2" Type="http://schemas.openxmlformats.org/officeDocument/2006/relationships/image" Target="../media/image23.GIF"/><Relationship Id="rId10" Type="http://schemas.openxmlformats.org/officeDocument/2006/relationships/notesSlide" Target="../notesSlides/notesSlide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microsoft.com/office/2007/relationships/hdphoto" Target="../media/image31.wdp"/><Relationship Id="rId1"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microsoft.com/office/2007/relationships/hdphoto" Target="../media/image33.wdp"/><Relationship Id="rId1" Type="http://schemas.openxmlformats.org/officeDocument/2006/relationships/image" Target="../media/image32.png"/></Relationships>
</file>

<file path=ppt/slides/_rels/slide8.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34.png"/><Relationship Id="rId11" Type="http://schemas.openxmlformats.org/officeDocument/2006/relationships/notesSlide" Target="../notesSlides/notesSlide5.xml"/><Relationship Id="rId10" Type="http://schemas.openxmlformats.org/officeDocument/2006/relationships/slideLayout" Target="../slideLayouts/slideLayout13.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41.GIF"/><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38.png"/><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42.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3.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44.GIF"/><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3.png"/><Relationship Id="rId4" Type="http://schemas.openxmlformats.org/officeDocument/2006/relationships/image" Target="../media/image45.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2.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5.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image" Target="../media/image46.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7.GIF"/><Relationship Id="rId5" Type="http://schemas.openxmlformats.org/officeDocument/2006/relationships/image" Target="../media/image45.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image" Target="../media/image46.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8.png"/><Relationship Id="rId4" Type="http://schemas.openxmlformats.org/officeDocument/2006/relationships/image" Target="../media/image45.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2.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8.png"/><Relationship Id="rId4" Type="http://schemas.openxmlformats.org/officeDocument/2006/relationships/image" Target="../media/image45.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2.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49.GIF"/><Relationship Id="rId5" Type="http://schemas.openxmlformats.org/officeDocument/2006/relationships/image" Target="../media/image48.png"/><Relationship Id="rId4" Type="http://schemas.openxmlformats.org/officeDocument/2006/relationships/image" Target="../media/image45.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49.GIF"/><Relationship Id="rId2" Type="http://schemas.openxmlformats.org/officeDocument/2006/relationships/image" Target="../media/image48.png"/><Relationship Id="rId1" Type="http://schemas.openxmlformats.org/officeDocument/2006/relationships/image" Target="../media/image40.png"/></Relationships>
</file>

<file path=ppt/slides/_rels/slide20.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0" Type="http://schemas.openxmlformats.org/officeDocument/2006/relationships/slideLayout" Target="../slideLayouts/slideLayout12.xml"/><Relationship Id="rId1" Type="http://schemas.openxmlformats.org/officeDocument/2006/relationships/image" Target="../media/image50.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4.png"/><Relationship Id="rId1" Type="http://schemas.openxmlformats.org/officeDocument/2006/relationships/image" Target="../media/image63.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25.xml.rels><?xml version="1.0" encoding="UTF-8" standalone="yes"?>
<Relationships xmlns="http://schemas.openxmlformats.org/package/2006/relationships"><Relationship Id="rId9" Type="http://schemas.openxmlformats.org/officeDocument/2006/relationships/image" Target="../media/image78.jpeg"/><Relationship Id="rId8" Type="http://schemas.openxmlformats.org/officeDocument/2006/relationships/image" Target="../media/image77.jpeg"/><Relationship Id="rId7" Type="http://schemas.openxmlformats.org/officeDocument/2006/relationships/image" Target="../media/image76.jpeg"/><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tags" Target="../tags/tag7.xml"/><Relationship Id="rId3" Type="http://schemas.openxmlformats.org/officeDocument/2006/relationships/image" Target="../media/image73.jpeg"/><Relationship Id="rId2" Type="http://schemas.openxmlformats.org/officeDocument/2006/relationships/image" Target="../media/image72.jpeg"/><Relationship Id="rId12" Type="http://schemas.openxmlformats.org/officeDocument/2006/relationships/notesSlide" Target="../notesSlides/notesSlide6.xml"/><Relationship Id="rId11" Type="http://schemas.openxmlformats.org/officeDocument/2006/relationships/slideLayout" Target="../slideLayouts/slideLayout12.xml"/><Relationship Id="rId10" Type="http://schemas.openxmlformats.org/officeDocument/2006/relationships/image" Target="../media/image79.jpeg"/><Relationship Id="rId1" Type="http://schemas.openxmlformats.org/officeDocument/2006/relationships/image" Target="../media/image71.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27.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image" Target="../media/image36.png"/><Relationship Id="rId4" Type="http://schemas.openxmlformats.org/officeDocument/2006/relationships/tags" Target="../tags/tag9.xml"/><Relationship Id="rId3" Type="http://schemas.openxmlformats.org/officeDocument/2006/relationships/image" Target="../media/image37.png"/><Relationship Id="rId25" Type="http://schemas.openxmlformats.org/officeDocument/2006/relationships/notesSlide" Target="../notesSlides/notesSlide8.xml"/><Relationship Id="rId24" Type="http://schemas.openxmlformats.org/officeDocument/2006/relationships/slideLayout" Target="../slideLayouts/slideLayout1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image" Target="../media/image87.png"/><Relationship Id="rId20" Type="http://schemas.openxmlformats.org/officeDocument/2006/relationships/tags" Target="../tags/tag20.xml"/><Relationship Id="rId2" Type="http://schemas.openxmlformats.org/officeDocument/2006/relationships/tags" Target="../tags/tag8.xml"/><Relationship Id="rId19" Type="http://schemas.openxmlformats.org/officeDocument/2006/relationships/image" Target="../media/image86.png"/><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image" Target="../media/image85.png"/><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image" Target="../media/image84.png"/><Relationship Id="rId11" Type="http://schemas.openxmlformats.org/officeDocument/2006/relationships/tags" Target="../tags/tag14.xml"/><Relationship Id="rId10" Type="http://schemas.openxmlformats.org/officeDocument/2006/relationships/image" Target="../media/image83.png"/><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5" Type="http://schemas.openxmlformats.org/officeDocument/2006/relationships/notesSlide" Target="../notesSlides/notesSlide9.xml"/><Relationship Id="rId24" Type="http://schemas.openxmlformats.org/officeDocument/2006/relationships/slideLayout" Target="../slideLayouts/slideLayout13.xml"/><Relationship Id="rId23" Type="http://schemas.openxmlformats.org/officeDocument/2006/relationships/image" Target="../media/image87.png"/><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image" Target="../media/image86.png"/><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84.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4.png"/></Relationships>
</file>

<file path=ppt/slides/_rels/slide30.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jpeg"/><Relationship Id="rId5" Type="http://schemas.openxmlformats.org/officeDocument/2006/relationships/image" Target="../media/image92.svg"/><Relationship Id="rId4" Type="http://schemas.openxmlformats.org/officeDocument/2006/relationships/image" Target="../media/image91.svg"/><Relationship Id="rId3" Type="http://schemas.openxmlformats.org/officeDocument/2006/relationships/image" Target="../media/image90.svg"/><Relationship Id="rId2" Type="http://schemas.openxmlformats.org/officeDocument/2006/relationships/image" Target="../media/image89.png"/><Relationship Id="rId18" Type="http://schemas.openxmlformats.org/officeDocument/2006/relationships/notesSlide" Target="../notesSlides/notesSlide11.xml"/><Relationship Id="rId17" Type="http://schemas.openxmlformats.org/officeDocument/2006/relationships/slideLayout" Target="../slideLayouts/slideLayout13.xml"/><Relationship Id="rId16" Type="http://schemas.openxmlformats.org/officeDocument/2006/relationships/image" Target="../media/image102.png"/><Relationship Id="rId15" Type="http://schemas.openxmlformats.org/officeDocument/2006/relationships/image" Target="../media/image3.png"/><Relationship Id="rId14" Type="http://schemas.microsoft.com/office/2007/relationships/hdphoto" Target="../media/image101.wdp"/><Relationship Id="rId13" Type="http://schemas.openxmlformats.org/officeDocument/2006/relationships/image" Target="../media/image100.png"/><Relationship Id="rId12" Type="http://schemas.openxmlformats.org/officeDocument/2006/relationships/image" Target="../media/image99.jpeg"/><Relationship Id="rId11" Type="http://schemas.openxmlformats.org/officeDocument/2006/relationships/image" Target="../media/image98.jpeg"/><Relationship Id="rId10" Type="http://schemas.openxmlformats.org/officeDocument/2006/relationships/image" Target="../media/image97.png"/><Relationship Id="rId1" Type="http://schemas.openxmlformats.org/officeDocument/2006/relationships/image" Target="../media/image88.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102.png"/><Relationship Id="rId3" Type="http://schemas.openxmlformats.org/officeDocument/2006/relationships/image" Target="../media/image3.png"/><Relationship Id="rId2" Type="http://schemas.microsoft.com/office/2007/relationships/hdphoto" Target="../media/image101.wdp"/><Relationship Id="rId1"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平行四边形 36"/>
          <p:cNvSpPr/>
          <p:nvPr/>
        </p:nvSpPr>
        <p:spPr>
          <a:xfrm>
            <a:off x="2324735" y="3414395"/>
            <a:ext cx="8822055" cy="917575"/>
          </a:xfrm>
          <a:prstGeom prst="parallelogram">
            <a:avLst>
              <a:gd name="adj" fmla="val 42087"/>
            </a:avLst>
          </a:prstGeom>
          <a:solidFill>
            <a:srgbClr val="FBA10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22" name="文本框 21"/>
          <p:cNvSpPr txBox="1"/>
          <p:nvPr/>
        </p:nvSpPr>
        <p:spPr>
          <a:xfrm>
            <a:off x="3784600" y="3458210"/>
            <a:ext cx="5902960" cy="829945"/>
          </a:xfrm>
          <a:prstGeom prst="rect">
            <a:avLst/>
          </a:prstGeom>
          <a:noFill/>
        </p:spPr>
        <p:txBody>
          <a:bodyPr wrap="square" rtlCol="0">
            <a:spAutoFit/>
          </a:bodyPr>
          <a:lstStyle/>
          <a:p>
            <a:r>
              <a:rPr lang="zh-CN" altLang="en-US" sz="4800" dirty="0">
                <a:solidFill>
                  <a:schemeClr val="bg1"/>
                </a:solidFill>
                <a:latin typeface="腾讯字体包" panose="02010600010101010101" charset="-128"/>
                <a:ea typeface="腾讯字体包" panose="02010600010101010101" charset="-128"/>
              </a:rPr>
              <a:t>标注先行，智能领航</a:t>
            </a:r>
            <a:endParaRPr lang="zh-CN" altLang="en-US" sz="4800" dirty="0">
              <a:solidFill>
                <a:schemeClr val="bg1"/>
              </a:solidFill>
              <a:latin typeface="腾讯字体包" panose="02010600010101010101" charset="-128"/>
              <a:ea typeface="腾讯字体包" panose="02010600010101010101" charset="-128"/>
            </a:endParaRPr>
          </a:p>
        </p:txBody>
      </p:sp>
      <p:sp>
        <p:nvSpPr>
          <p:cNvPr id="4" name="标题 1"/>
          <p:cNvSpPr txBox="1"/>
          <p:nvPr/>
        </p:nvSpPr>
        <p:spPr>
          <a:xfrm>
            <a:off x="3887969" y="2217163"/>
            <a:ext cx="7626376" cy="155448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altLang="zh-CN" sz="10000" b="1" dirty="0">
              <a:solidFill>
                <a:srgbClr val="088EFF"/>
              </a:solidFill>
              <a:latin typeface="字体圈欣意冠黑体" panose="00000500000000000000" pitchFamily="2" charset="-122"/>
              <a:ea typeface="字体圈欣意冠黑体" panose="00000500000000000000" pitchFamily="2" charset="-122"/>
            </a:endParaRPr>
          </a:p>
        </p:txBody>
      </p:sp>
      <p:sp>
        <p:nvSpPr>
          <p:cNvPr id="28" name="文本框 27"/>
          <p:cNvSpPr txBox="1"/>
          <p:nvPr/>
        </p:nvSpPr>
        <p:spPr>
          <a:xfrm>
            <a:off x="5138079" y="4751823"/>
            <a:ext cx="4380827" cy="368300"/>
          </a:xfrm>
          <a:prstGeom prst="rect">
            <a:avLst/>
          </a:prstGeom>
          <a:noFill/>
        </p:spPr>
        <p:txBody>
          <a:bodyPr wrap="square" rtlCol="0">
            <a:spAutoFit/>
          </a:bodyPr>
          <a:lstStyle/>
          <a:p>
            <a:r>
              <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软件工程</a:t>
            </a:r>
            <a:r>
              <a:rPr lang="en-US" altLang="zh-CN"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A</a:t>
            </a:r>
            <a:r>
              <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组 </a:t>
            </a:r>
            <a:endPar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21" name="TextBox 27"/>
          <p:cNvSpPr txBox="1"/>
          <p:nvPr/>
        </p:nvSpPr>
        <p:spPr>
          <a:xfrm>
            <a:off x="1478280" y="5165725"/>
            <a:ext cx="8943975" cy="1337945"/>
          </a:xfrm>
          <a:prstGeom prst="rect">
            <a:avLst/>
          </a:prstGeom>
          <a:noFill/>
        </p:spPr>
        <p:txBody>
          <a:bodyPr wrap="square">
            <a:spAutoFit/>
          </a:bodyPr>
          <a:lstStyle/>
          <a:p>
            <a:pPr algn="ctr">
              <a:lnSpc>
                <a:spcPct val="150000"/>
              </a:lnSpc>
            </a:pPr>
            <a:r>
              <a:rPr 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孙烨-BY2306093 </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苏丁力-BY2306092</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曾祥华-BY2206062</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endPar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ct val="150000"/>
              </a:lnSpc>
            </a:pP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侯越-BY2306087</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郭鑫-BY</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2306085</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魏家龙-BY2306095</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endPar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ct val="150000"/>
              </a:lnSpc>
            </a:pP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刘顺博-SY2306133</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窦建玲-ZY2306321</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张宸恺-ZY2306342</a:t>
            </a:r>
            <a:endPar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endParaRPr>
          </a:p>
        </p:txBody>
      </p:sp>
      <p:pic>
        <p:nvPicPr>
          <p:cNvPr id="20" name="图片 19"/>
          <p:cNvPicPr>
            <a:picLocks noChangeAspect="1"/>
          </p:cNvPicPr>
          <p:nvPr/>
        </p:nvPicPr>
        <p:blipFill>
          <a:blip r:embed="rId1" cstate="print">
            <a:extLst>
              <a:ext uri="{BEBA8EAE-BF5A-486C-A8C5-ECC9F3942E4B}">
                <a14:imgProps xmlns:a14="http://schemas.microsoft.com/office/drawing/2010/main">
                  <a14:imgLayer r:embed="rId2">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1078865" y="2805430"/>
            <a:ext cx="1905000" cy="1793240"/>
          </a:xfrm>
          <a:prstGeom prst="rect">
            <a:avLst/>
          </a:prstGeom>
        </p:spPr>
      </p:pic>
      <p:pic>
        <p:nvPicPr>
          <p:cNvPr id="34" name="图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755" y="899160"/>
            <a:ext cx="9996170" cy="1913890"/>
          </a:xfrm>
          <a:prstGeom prst="rect">
            <a:avLst/>
          </a:prstGeom>
        </p:spPr>
      </p:pic>
      <p:pic>
        <p:nvPicPr>
          <p:cNvPr id="36" name="图片 35"/>
          <p:cNvPicPr>
            <a:picLocks noChangeAspect="1"/>
          </p:cNvPicPr>
          <p:nvPr/>
        </p:nvPicPr>
        <p:blipFill rotWithShape="1">
          <a:blip r:embed="rId4">
            <a:extLst>
              <a:ext uri="{28A0092B-C50C-407E-A947-70E740481C1C}">
                <a14:useLocalDpi xmlns:a14="http://schemas.microsoft.com/office/drawing/2010/main" val="0"/>
              </a:ext>
            </a:extLst>
          </a:blip>
          <a:srcRect l="35571" t="15024" r="34684" b="34682"/>
          <a:stretch>
            <a:fillRect/>
          </a:stretch>
        </p:blipFill>
        <p:spPr>
          <a:xfrm>
            <a:off x="4965700" y="2348230"/>
            <a:ext cx="2403475" cy="777875"/>
          </a:xfrm>
          <a:prstGeom prst="rect">
            <a:avLst/>
          </a:prstGeom>
        </p:spPr>
      </p:pic>
      <p:sp>
        <p:nvSpPr>
          <p:cNvPr id="2" name="平行四边形 1"/>
          <p:cNvSpPr/>
          <p:nvPr/>
        </p:nvSpPr>
        <p:spPr>
          <a:xfrm>
            <a:off x="11947525"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平行四边形 36"/>
          <p:cNvSpPr/>
          <p:nvPr/>
        </p:nvSpPr>
        <p:spPr>
          <a:xfrm>
            <a:off x="-9359265" y="3414395"/>
            <a:ext cx="8822055" cy="917575"/>
          </a:xfrm>
          <a:prstGeom prst="parallelogram">
            <a:avLst>
              <a:gd name="adj" fmla="val 42087"/>
            </a:avLst>
          </a:prstGeom>
          <a:solidFill>
            <a:srgbClr val="FBA10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22" name="文本框 21"/>
          <p:cNvSpPr txBox="1"/>
          <p:nvPr/>
        </p:nvSpPr>
        <p:spPr>
          <a:xfrm>
            <a:off x="-7899400" y="3458210"/>
            <a:ext cx="5902960" cy="829945"/>
          </a:xfrm>
          <a:prstGeom prst="rect">
            <a:avLst/>
          </a:prstGeom>
          <a:noFill/>
        </p:spPr>
        <p:txBody>
          <a:bodyPr wrap="square" rtlCol="0">
            <a:spAutoFit/>
          </a:bodyPr>
          <a:lstStyle/>
          <a:p>
            <a:r>
              <a:rPr lang="zh-CN" altLang="en-US" sz="4800" dirty="0">
                <a:solidFill>
                  <a:schemeClr val="bg1"/>
                </a:solidFill>
                <a:latin typeface="腾讯字体包" panose="02010600010101010101" charset="-128"/>
                <a:ea typeface="腾讯字体包" panose="02010600010101010101" charset="-128"/>
              </a:rPr>
              <a:t>标注先行，智能领航</a:t>
            </a:r>
            <a:endParaRPr lang="zh-CN" altLang="en-US" sz="4800" dirty="0">
              <a:solidFill>
                <a:schemeClr val="bg1"/>
              </a:solidFill>
              <a:latin typeface="腾讯字体包" panose="02010600010101010101" charset="-128"/>
              <a:ea typeface="腾讯字体包" panose="02010600010101010101" charset="-128"/>
            </a:endParaRPr>
          </a:p>
        </p:txBody>
      </p:sp>
      <p:sp>
        <p:nvSpPr>
          <p:cNvPr id="4" name="标题 1"/>
          <p:cNvSpPr txBox="1"/>
          <p:nvPr/>
        </p:nvSpPr>
        <p:spPr>
          <a:xfrm>
            <a:off x="-7796031" y="2217163"/>
            <a:ext cx="7626376" cy="155448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altLang="zh-CN" sz="10000" b="1" dirty="0">
              <a:solidFill>
                <a:srgbClr val="088EFF"/>
              </a:solidFill>
              <a:latin typeface="字体圈欣意冠黑体" panose="00000500000000000000" pitchFamily="2" charset="-122"/>
              <a:ea typeface="字体圈欣意冠黑体" panose="00000500000000000000" pitchFamily="2" charset="-122"/>
            </a:endParaRPr>
          </a:p>
        </p:txBody>
      </p:sp>
      <p:sp>
        <p:nvSpPr>
          <p:cNvPr id="28" name="文本框 27"/>
          <p:cNvSpPr txBox="1"/>
          <p:nvPr/>
        </p:nvSpPr>
        <p:spPr>
          <a:xfrm>
            <a:off x="-7924147" y="4751823"/>
            <a:ext cx="4380827" cy="368300"/>
          </a:xfrm>
          <a:prstGeom prst="rect">
            <a:avLst/>
          </a:prstGeom>
          <a:noFill/>
        </p:spPr>
        <p:txBody>
          <a:bodyPr wrap="square" rtlCol="0">
            <a:spAutoFit/>
          </a:bodyPr>
          <a:lstStyle/>
          <a:p>
            <a:r>
              <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软件工程</a:t>
            </a:r>
            <a:r>
              <a:rPr lang="en-US" altLang="zh-CN"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A</a:t>
            </a:r>
            <a:r>
              <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组 </a:t>
            </a:r>
            <a:endParaRPr lang="zh-CN" alt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21" name="TextBox 27"/>
          <p:cNvSpPr txBox="1"/>
          <p:nvPr/>
        </p:nvSpPr>
        <p:spPr>
          <a:xfrm>
            <a:off x="-11629371" y="5165725"/>
            <a:ext cx="8943975" cy="1337945"/>
          </a:xfrm>
          <a:prstGeom prst="rect">
            <a:avLst/>
          </a:prstGeom>
          <a:noFill/>
        </p:spPr>
        <p:txBody>
          <a:bodyPr wrap="square">
            <a:spAutoFit/>
          </a:bodyPr>
          <a:lstStyle/>
          <a:p>
            <a:pPr algn="ctr">
              <a:lnSpc>
                <a:spcPct val="150000"/>
              </a:lnSpc>
            </a:pPr>
            <a:r>
              <a:rPr lang="en-US"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孙烨-BY2306093 </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苏丁力-BY2306092</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曾祥华-BY2206062</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endPar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ct val="150000"/>
              </a:lnSpc>
            </a:pP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侯越-BY2306087</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郭鑫-BY</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2306085</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魏家龙-BY2306095</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endPar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ct val="150000"/>
              </a:lnSpc>
            </a:pP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刘顺博-SY2306133</a:t>
            </a:r>
            <a:r>
              <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窦建玲-ZY2306321</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    </a:t>
            </a:r>
            <a:r>
              <a:rPr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rPr>
              <a:t>张宸恺-ZY2306342</a:t>
            </a:r>
            <a:endParaRPr kern="1200" spc="0" baseline="0"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sym typeface="腾讯字体包" panose="02010600010101010101" charset="-128"/>
            </a:endParaRPr>
          </a:p>
        </p:txBody>
      </p:sp>
      <p:pic>
        <p:nvPicPr>
          <p:cNvPr id="20" name="图片 19"/>
          <p:cNvPicPr>
            <a:picLocks noChangeAspect="1"/>
          </p:cNvPicPr>
          <p:nvPr/>
        </p:nvPicPr>
        <p:blipFill>
          <a:blip r:embed="rId1" cstate="print">
            <a:extLst>
              <a:ext uri="{BEBA8EAE-BF5A-486C-A8C5-ECC9F3942E4B}">
                <a14:imgProps xmlns:a14="http://schemas.microsoft.com/office/drawing/2010/main">
                  <a14:imgLayer r:embed="rId2">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10605135" y="2805430"/>
            <a:ext cx="1905000" cy="1793240"/>
          </a:xfrm>
          <a:prstGeom prst="rect">
            <a:avLst/>
          </a:prstGeom>
        </p:spPr>
      </p:pic>
      <p:pic>
        <p:nvPicPr>
          <p:cNvPr id="34" name="图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98220" y="899160"/>
            <a:ext cx="9996170" cy="1913890"/>
          </a:xfrm>
          <a:prstGeom prst="rect">
            <a:avLst/>
          </a:prstGeom>
        </p:spPr>
      </p:pic>
      <p:pic>
        <p:nvPicPr>
          <p:cNvPr id="36" name="图片 35"/>
          <p:cNvPicPr>
            <a:picLocks noChangeAspect="1"/>
          </p:cNvPicPr>
          <p:nvPr/>
        </p:nvPicPr>
        <p:blipFill rotWithShape="1">
          <a:blip r:embed="rId4">
            <a:extLst>
              <a:ext uri="{28A0092B-C50C-407E-A947-70E740481C1C}">
                <a14:useLocalDpi xmlns:a14="http://schemas.microsoft.com/office/drawing/2010/main" val="0"/>
              </a:ext>
            </a:extLst>
          </a:blip>
          <a:srcRect l="35571" t="15024" r="34684" b="34682"/>
          <a:stretch>
            <a:fillRect/>
          </a:stretch>
        </p:blipFill>
        <p:spPr>
          <a:xfrm>
            <a:off x="-3887133" y="2348230"/>
            <a:ext cx="2403475" cy="777875"/>
          </a:xfrm>
          <a:prstGeom prst="rect">
            <a:avLst/>
          </a:prstGeom>
        </p:spPr>
      </p:pic>
      <p:sp>
        <p:nvSpPr>
          <p:cNvPr id="2" name="平行四边形 1"/>
          <p:cNvSpPr/>
          <p:nvPr/>
        </p:nvSpPr>
        <p:spPr>
          <a:xfrm>
            <a:off x="5135114"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144854" y="2612707"/>
            <a:ext cx="3458058" cy="922020"/>
            <a:chOff x="872775" y="2487402"/>
            <a:chExt cx="3458058" cy="922020"/>
          </a:xfrm>
        </p:grpSpPr>
        <p:sp>
          <p:nvSpPr>
            <p:cNvPr id="5" name="文本框 4"/>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dirty="0">
                  <a:ln>
                    <a:noFill/>
                  </a:ln>
                  <a:solidFill>
                    <a:srgbClr val="FFFFFF"/>
                  </a:solidFill>
                  <a:latin typeface="腾讯字体包" panose="02010600010101010101" charset="-128"/>
                  <a:ea typeface="腾讯字体包" panose="02010600010101010101" charset="-128"/>
                </a:rPr>
                <a:t>PART 01</a:t>
              </a:r>
              <a:endParaRPr lang="en-US" sz="5400" i="0" u="none" strike="noStrike" kern="1200" spc="100" baseline="0" dirty="0">
                <a:ln>
                  <a:noFill/>
                </a:ln>
                <a:solidFill>
                  <a:srgbClr val="FFFFFF"/>
                </a:solidFill>
                <a:latin typeface="腾讯字体包" panose="02010600010101010101" charset="-128"/>
                <a:ea typeface="腾讯字体包" panose="02010600010101010101" charset="-128"/>
              </a:endParaRPr>
            </a:p>
          </p:txBody>
        </p:sp>
        <p:sp>
          <p:nvSpPr>
            <p:cNvPr id="6" name="等腰三角形 5"/>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panose="02020503050405090304"/>
                <a:ea typeface="腾讯字体包" panose="02010600010101010101" charset="-128"/>
              </a:endParaRPr>
            </a:p>
          </p:txBody>
        </p:sp>
      </p:grpSp>
      <p:sp>
        <p:nvSpPr>
          <p:cNvPr id="7" name="文本框 6"/>
          <p:cNvSpPr txBox="1"/>
          <p:nvPr/>
        </p:nvSpPr>
        <p:spPr>
          <a:xfrm>
            <a:off x="6710045" y="2658745"/>
            <a:ext cx="4840605"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rPr>
              <a:t>产品定位</a:t>
            </a:r>
            <a:endPar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时代需求</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29" name="矩形: 圆角 28"/>
          <p:cNvSpPr/>
          <p:nvPr/>
        </p:nvSpPr>
        <p:spPr>
          <a:xfrm>
            <a:off x="6561462" y="981365"/>
            <a:ext cx="5270767" cy="4887293"/>
          </a:xfrm>
          <a:prstGeom prst="roundRect">
            <a:avLst>
              <a:gd name="adj" fmla="val 1431"/>
            </a:avLst>
          </a:prstGeom>
          <a:gradFill flip="none" rotWithShape="1">
            <a:gsLst>
              <a:gs pos="0">
                <a:srgbClr val="4472C4"/>
              </a:gs>
              <a:gs pos="52000">
                <a:schemeClr val="accent1">
                  <a:lumMod val="75000"/>
                  <a:alpha val="31000"/>
                </a:schemeClr>
              </a:gs>
              <a:gs pos="100000">
                <a:srgbClr val="0D2537">
                  <a:alpha val="0"/>
                  <a:lumMod val="0"/>
                  <a:lumOff val="100000"/>
                </a:srgbClr>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705423" y="985353"/>
            <a:ext cx="5270767" cy="4887293"/>
          </a:xfrm>
          <a:prstGeom prst="roundRect">
            <a:avLst>
              <a:gd name="adj" fmla="val 1431"/>
            </a:avLst>
          </a:prstGeom>
          <a:gradFill flip="none" rotWithShape="1">
            <a:gsLst>
              <a:gs pos="0">
                <a:srgbClr val="4472C4"/>
              </a:gs>
              <a:gs pos="52000">
                <a:schemeClr val="accent1">
                  <a:lumMod val="75000"/>
                  <a:alpha val="31000"/>
                </a:schemeClr>
              </a:gs>
              <a:gs pos="100000">
                <a:srgbClr val="0D2537">
                  <a:alpha val="0"/>
                  <a:lumMod val="0"/>
                  <a:lumOff val="10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1">
            <a:extLst>
              <a:ext uri="{BEBA8EAE-BF5A-486C-A8C5-ECC9F3942E4B}">
                <a14:imgProps xmlns:a14="http://schemas.microsoft.com/office/drawing/2010/main">
                  <a14:imgLayer r:embed="rId2">
                    <a14:imgEffect>
                      <a14:backgroundRemoval t="10000" b="90000" l="10000" r="90000">
                        <a14:foregroundMark x1="26220" y1="14089" x2="26639" y2="86864"/>
                        <a14:foregroundMark x1="33194" y1="17903" x2="30265" y2="83581"/>
                        <a14:foregroundMark x1="34728" y1="79237" x2="28312" y2="87606"/>
                        <a14:foregroundMark x1="28312" y1="87606" x2="26918" y2="88030"/>
                        <a14:foregroundMark x1="35704" y1="78496" x2="33752" y2="88983"/>
                        <a14:foregroundMark x1="33752" y1="88983" x2="31939" y2="89301"/>
                        <a14:foregroundMark x1="37517" y1="78814" x2="36402" y2="88983"/>
                        <a14:foregroundMark x1="36262" y1="67585" x2="36262" y2="79237"/>
                        <a14:foregroundMark x1="21897" y1="24153" x2="21618" y2="69386"/>
                        <a14:foregroundMark x1="20223" y1="17161" x2="18689" y2="75636"/>
                        <a14:foregroundMark x1="22455" y1="14301" x2="31520" y2="13559"/>
                        <a14:foregroundMark x1="31520" y1="13559" x2="32775" y2="15254"/>
                        <a14:foregroundMark x1="18131" y1="14513" x2="16457" y2="53496"/>
                        <a14:foregroundMark x1="30962" y1="20975" x2="29568" y2="40254"/>
                        <a14:backgroundMark x1="63877" y1="36441" x2="71409" y2="83263"/>
                      </a14:backgroundRemoval>
                    </a14:imgEffect>
                  </a14:imgLayer>
                </a14:imgProps>
              </a:ext>
              <a:ext uri="{28A0092B-C50C-407E-A947-70E740481C1C}">
                <a14:useLocalDpi xmlns:a14="http://schemas.microsoft.com/office/drawing/2010/main" val="0"/>
              </a:ext>
            </a:extLst>
          </a:blip>
          <a:srcRect l="12203" t="7594" r="56450" b="6907"/>
          <a:stretch>
            <a:fillRect/>
          </a:stretch>
        </p:blipFill>
        <p:spPr>
          <a:xfrm>
            <a:off x="90170" y="816610"/>
            <a:ext cx="1452245" cy="5216525"/>
          </a:xfrm>
          <a:prstGeom prst="rect">
            <a:avLst/>
          </a:prstGeom>
        </p:spPr>
      </p:pic>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1684" y="998517"/>
            <a:ext cx="2750545" cy="2205636"/>
          </a:xfrm>
          <a:prstGeom prst="rect">
            <a:avLst/>
          </a:prstGeom>
        </p:spPr>
      </p:pic>
      <p:pic>
        <p:nvPicPr>
          <p:cNvPr id="21" name="图片 20"/>
          <p:cNvPicPr>
            <a:picLocks noChangeAspect="1"/>
          </p:cNvPicPr>
          <p:nvPr/>
        </p:nvPicPr>
        <p:blipFill>
          <a:blip r:embed="rId4"/>
          <a:stretch>
            <a:fillRect/>
          </a:stretch>
        </p:blipFill>
        <p:spPr>
          <a:xfrm>
            <a:off x="1548995" y="2320658"/>
            <a:ext cx="2676076" cy="2878809"/>
          </a:xfrm>
          <a:prstGeom prst="rect">
            <a:avLst/>
          </a:prstGeom>
          <a:ln w="12700">
            <a:solidFill>
              <a:srgbClr val="C00000"/>
            </a:solidFill>
          </a:ln>
          <a:effectLst>
            <a:outerShdw blurRad="50800" dist="88900" dir="8100000" algn="tr" rotWithShape="0">
              <a:prstClr val="black">
                <a:alpha val="40000"/>
              </a:prstClr>
            </a:outerShdw>
            <a:reflection blurRad="6350" stA="60000" endPos="19000" dir="5400000" sy="-100000" algn="bl" rotWithShape="0"/>
          </a:effectLst>
        </p:spPr>
      </p:pic>
      <p:pic>
        <p:nvPicPr>
          <p:cNvPr id="23" name="图片 22"/>
          <p:cNvPicPr>
            <a:picLocks noChangeAspect="1"/>
          </p:cNvPicPr>
          <p:nvPr/>
        </p:nvPicPr>
        <p:blipFill>
          <a:blip r:embed="rId5"/>
          <a:stretch>
            <a:fillRect/>
          </a:stretch>
        </p:blipFill>
        <p:spPr>
          <a:xfrm>
            <a:off x="2468101" y="2597066"/>
            <a:ext cx="2649380" cy="2885932"/>
          </a:xfrm>
          <a:prstGeom prst="rect">
            <a:avLst/>
          </a:prstGeom>
          <a:ln w="12700">
            <a:solidFill>
              <a:srgbClr val="C00000"/>
            </a:solidFill>
          </a:ln>
          <a:effectLst>
            <a:outerShdw blurRad="50800" dist="88900" dir="8100000" algn="tr" rotWithShape="0">
              <a:prstClr val="black">
                <a:alpha val="40000"/>
              </a:prstClr>
            </a:outerShdw>
            <a:reflection blurRad="6350" stA="52000" endA="300" endPos="21000" dir="5400000" sy="-100000" algn="bl" rotWithShape="0"/>
          </a:effectLst>
        </p:spPr>
      </p:pic>
      <p:pic>
        <p:nvPicPr>
          <p:cNvPr id="25" name="图片 24"/>
          <p:cNvPicPr>
            <a:picLocks noChangeAspect="1"/>
          </p:cNvPicPr>
          <p:nvPr/>
        </p:nvPicPr>
        <p:blipFill>
          <a:blip r:embed="rId6"/>
          <a:stretch>
            <a:fillRect/>
          </a:stretch>
        </p:blipFill>
        <p:spPr>
          <a:xfrm>
            <a:off x="3359588" y="2905952"/>
            <a:ext cx="2542857" cy="2923810"/>
          </a:xfrm>
          <a:prstGeom prst="rect">
            <a:avLst/>
          </a:prstGeom>
          <a:ln w="12700">
            <a:solidFill>
              <a:srgbClr val="C00000"/>
            </a:solidFill>
          </a:ln>
          <a:effectLst>
            <a:outerShdw blurRad="50800" dist="88900" dir="8100000" algn="tr" rotWithShape="0">
              <a:prstClr val="black">
                <a:alpha val="40000"/>
              </a:prstClr>
            </a:outerShdw>
            <a:reflection blurRad="6350" stA="52000" endA="300" endPos="15000" dir="5400000" sy="-100000" algn="bl" rotWithShape="0"/>
          </a:effectLst>
        </p:spPr>
      </p:pic>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39995" y="1008380"/>
            <a:ext cx="862330" cy="935355"/>
          </a:xfrm>
          <a:prstGeom prst="rect">
            <a:avLst/>
          </a:prstGeom>
        </p:spPr>
      </p:pic>
      <p:sp>
        <p:nvSpPr>
          <p:cNvPr id="26" name="文本框 25"/>
          <p:cNvSpPr txBox="1"/>
          <p:nvPr/>
        </p:nvSpPr>
        <p:spPr>
          <a:xfrm>
            <a:off x="1445895" y="1016000"/>
            <a:ext cx="3491865" cy="1418590"/>
          </a:xfrm>
          <a:prstGeom prst="rect">
            <a:avLst/>
          </a:prstGeom>
          <a:noFill/>
        </p:spPr>
        <p:txBody>
          <a:bodyPr wrap="square" rtlCol="0">
            <a:spAutoFit/>
          </a:bodyPr>
          <a:lstStyle/>
          <a:p>
            <a:pPr>
              <a:lnSpc>
                <a:spcPct val="90000"/>
              </a:lnSpc>
              <a:spcBef>
                <a:spcPct val="0"/>
              </a:spcBef>
            </a:pPr>
            <a:r>
              <a:rPr lang="zh-CN" altLang="en-US" sz="2400" b="1" dirty="0">
                <a:solidFill>
                  <a:schemeClr val="bg1"/>
                </a:solidFill>
                <a:latin typeface="腾讯体 W7" panose="020C08030202040F0204" pitchFamily="34" charset="-122"/>
                <a:ea typeface="腾讯体 W7" panose="020C08030202040F0204" pitchFamily="34" charset="-122"/>
                <a:cs typeface="+mj-cs"/>
              </a:rPr>
              <a:t>国家数据局：</a:t>
            </a:r>
            <a:endParaRPr lang="en-US" altLang="zh-CN" sz="2400" b="1" dirty="0">
              <a:solidFill>
                <a:schemeClr val="bg1"/>
              </a:solidFill>
              <a:latin typeface="腾讯体 W7" panose="020C08030202040F0204" pitchFamily="34" charset="-122"/>
              <a:ea typeface="腾讯体 W7" panose="020C08030202040F0204" pitchFamily="34" charset="-122"/>
              <a:cs typeface="+mj-cs"/>
            </a:endParaRPr>
          </a:p>
          <a:p>
            <a:pPr>
              <a:lnSpc>
                <a:spcPct val="90000"/>
              </a:lnSpc>
              <a:spcBef>
                <a:spcPct val="0"/>
              </a:spcBef>
            </a:pPr>
            <a:r>
              <a:rPr lang="zh-CN" altLang="en-US" dirty="0">
                <a:solidFill>
                  <a:srgbClr val="FFFF00"/>
                </a:solidFill>
                <a:latin typeface="腾讯体 W7" panose="020C08030202040F0204" pitchFamily="34" charset="-122"/>
                <a:ea typeface="腾讯体 W7" panose="020C08030202040F0204" pitchFamily="34" charset="-122"/>
                <a:cs typeface="+mj-cs"/>
              </a:rPr>
              <a:t>数据标注</a:t>
            </a:r>
            <a:r>
              <a:rPr lang="zh-CN" altLang="en-US" dirty="0">
                <a:solidFill>
                  <a:schemeClr val="bg1"/>
                </a:solidFill>
                <a:latin typeface="腾讯体 W7" panose="020C08030202040F0204" pitchFamily="34" charset="-122"/>
                <a:ea typeface="腾讯体 W7" panose="020C08030202040F0204" pitchFamily="34" charset="-122"/>
                <a:cs typeface="+mj-cs"/>
              </a:rPr>
              <a:t>是构建人工智能模型的数据准备和预处理工作中不可或缺的一环。</a:t>
            </a:r>
            <a:endParaRPr lang="en-US" altLang="zh-CN" dirty="0">
              <a:solidFill>
                <a:schemeClr val="bg1"/>
              </a:solidFill>
              <a:latin typeface="腾讯体 W7" panose="020C08030202040F0204" pitchFamily="34" charset="-122"/>
              <a:ea typeface="腾讯体 W7" panose="020C08030202040F0204" pitchFamily="34" charset="-122"/>
              <a:cs typeface="+mj-cs"/>
            </a:endParaRPr>
          </a:p>
          <a:p>
            <a:pPr>
              <a:lnSpc>
                <a:spcPct val="90000"/>
              </a:lnSpc>
              <a:spcBef>
                <a:spcPct val="0"/>
              </a:spcBef>
            </a:pPr>
            <a:endParaRPr lang="en-US" altLang="zh-CN" b="1" dirty="0">
              <a:solidFill>
                <a:schemeClr val="bg1"/>
              </a:solidFill>
              <a:latin typeface="腾讯体 W7" panose="020C08030202040F0204" pitchFamily="34" charset="-122"/>
              <a:ea typeface="腾讯体 W7" panose="020C08030202040F0204" pitchFamily="34" charset="-122"/>
              <a:cs typeface="+mj-cs"/>
            </a:endParaRPr>
          </a:p>
        </p:txBody>
      </p:sp>
      <p:sp>
        <p:nvSpPr>
          <p:cNvPr id="31" name="文本框 30"/>
          <p:cNvSpPr txBox="1"/>
          <p:nvPr/>
        </p:nvSpPr>
        <p:spPr>
          <a:xfrm>
            <a:off x="6599555" y="1049020"/>
            <a:ext cx="3009265" cy="1169670"/>
          </a:xfrm>
          <a:prstGeom prst="rect">
            <a:avLst/>
          </a:prstGeom>
          <a:noFill/>
        </p:spPr>
        <p:txBody>
          <a:bodyPr wrap="square" rtlCol="0">
            <a:spAutoFit/>
          </a:bodyPr>
          <a:lstStyle/>
          <a:p>
            <a:pPr>
              <a:lnSpc>
                <a:spcPct val="90000"/>
              </a:lnSpc>
              <a:spcBef>
                <a:spcPct val="0"/>
              </a:spcBef>
            </a:pPr>
            <a:r>
              <a:rPr lang="zh-CN" altLang="en-US" sz="2400" b="1" dirty="0">
                <a:solidFill>
                  <a:schemeClr val="bg1"/>
                </a:solidFill>
                <a:latin typeface="腾讯体 W7" panose="020C08030202040F0204" pitchFamily="34" charset="-122"/>
                <a:ea typeface="腾讯体 W7" panose="020C08030202040F0204" pitchFamily="34" charset="-122"/>
                <a:cs typeface="+mj-cs"/>
              </a:rPr>
              <a:t>习近平总书记强调：</a:t>
            </a:r>
            <a:endParaRPr lang="zh-CN" altLang="en-US" sz="2400" b="1" dirty="0">
              <a:solidFill>
                <a:schemeClr val="bg1"/>
              </a:solidFill>
              <a:latin typeface="腾讯体 W7" panose="020C08030202040F0204" pitchFamily="34" charset="-122"/>
              <a:ea typeface="腾讯体 W7" panose="020C08030202040F0204" pitchFamily="34" charset="-122"/>
              <a:cs typeface="+mj-cs"/>
            </a:endParaRPr>
          </a:p>
          <a:p>
            <a:pPr>
              <a:lnSpc>
                <a:spcPct val="90000"/>
              </a:lnSpc>
              <a:spcBef>
                <a:spcPct val="0"/>
              </a:spcBef>
            </a:pPr>
            <a:r>
              <a:rPr lang="zh-CN" altLang="en-US" b="1" dirty="0">
                <a:solidFill>
                  <a:schemeClr val="bg1"/>
                </a:solidFill>
                <a:latin typeface="腾讯体 W7" panose="020C08030202040F0204" pitchFamily="34" charset="-122"/>
                <a:ea typeface="腾讯体 W7" panose="020C08030202040F0204" pitchFamily="34" charset="-122"/>
                <a:cs typeface="+mj-cs"/>
              </a:rPr>
              <a:t>发展</a:t>
            </a:r>
            <a:r>
              <a:rPr lang="zh-CN" altLang="en-US" b="1" dirty="0">
                <a:solidFill>
                  <a:srgbClr val="FFFF00"/>
                </a:solidFill>
                <a:latin typeface="腾讯体 W7" panose="020C08030202040F0204" pitchFamily="34" charset="-122"/>
                <a:ea typeface="腾讯体 W7" panose="020C08030202040F0204" pitchFamily="34" charset="-122"/>
                <a:cs typeface="+mj-cs"/>
              </a:rPr>
              <a:t>人工智能</a:t>
            </a:r>
            <a:r>
              <a:rPr lang="zh-CN" altLang="en-US" b="1" dirty="0">
                <a:solidFill>
                  <a:schemeClr val="bg1"/>
                </a:solidFill>
                <a:latin typeface="腾讯体 W7" panose="020C08030202040F0204" pitchFamily="34" charset="-122"/>
                <a:ea typeface="腾讯体 W7" panose="020C08030202040F0204" pitchFamily="34" charset="-122"/>
                <a:cs typeface="+mj-cs"/>
              </a:rPr>
              <a:t>，将为我国构建现代化经济体系、实现高质量发展提供重要支撑。</a:t>
            </a:r>
            <a:endParaRPr lang="zh-CN" altLang="en-US" b="1" dirty="0">
              <a:solidFill>
                <a:schemeClr val="bg1"/>
              </a:solidFill>
              <a:latin typeface="腾讯体 W7" panose="020C08030202040F0204" pitchFamily="34" charset="-122"/>
              <a:ea typeface="腾讯体 W7" panose="020C08030202040F0204" pitchFamily="34" charset="-122"/>
              <a:cs typeface="+mj-cs"/>
            </a:endParaRPr>
          </a:p>
        </p:txBody>
      </p:sp>
      <p:pic>
        <p:nvPicPr>
          <p:cNvPr id="33" name="图片 32"/>
          <p:cNvPicPr>
            <a:picLocks noChangeAspect="1"/>
          </p:cNvPicPr>
          <p:nvPr/>
        </p:nvPicPr>
        <p:blipFill>
          <a:blip r:embed="rId8"/>
          <a:stretch>
            <a:fillRect/>
          </a:stretch>
        </p:blipFill>
        <p:spPr>
          <a:xfrm>
            <a:off x="6699839" y="2597066"/>
            <a:ext cx="2243468" cy="2773477"/>
          </a:xfrm>
          <a:prstGeom prst="rect">
            <a:avLst/>
          </a:prstGeom>
          <a:ln w="12700">
            <a:solidFill>
              <a:srgbClr val="C00000"/>
            </a:solidFill>
          </a:ln>
          <a:effectLst>
            <a:outerShdw blurRad="50800" dist="88900" dir="8100000" algn="tr" rotWithShape="0">
              <a:prstClr val="black">
                <a:alpha val="40000"/>
              </a:prstClr>
            </a:outerShdw>
            <a:reflection blurRad="6350" stA="60000" endPos="19000" dir="5400000" sy="-100000" algn="bl" rotWithShape="0"/>
          </a:effectLst>
        </p:spPr>
      </p:pic>
      <p:pic>
        <p:nvPicPr>
          <p:cNvPr id="35" name="图片 34"/>
          <p:cNvPicPr>
            <a:picLocks noChangeAspect="1"/>
          </p:cNvPicPr>
          <p:nvPr/>
        </p:nvPicPr>
        <p:blipFill>
          <a:blip r:embed="rId9"/>
          <a:stretch>
            <a:fillRect/>
          </a:stretch>
        </p:blipFill>
        <p:spPr>
          <a:xfrm>
            <a:off x="7116198" y="4148361"/>
            <a:ext cx="2243469" cy="1579284"/>
          </a:xfrm>
          <a:prstGeom prst="rect">
            <a:avLst/>
          </a:prstGeom>
          <a:ln w="12700">
            <a:solidFill>
              <a:srgbClr val="C00000"/>
            </a:solidFill>
          </a:ln>
          <a:effectLst>
            <a:outerShdw blurRad="50800" dist="88900" dir="8100000" algn="tr" rotWithShape="0">
              <a:prstClr val="black">
                <a:alpha val="40000"/>
              </a:prstClr>
            </a:outerShdw>
            <a:reflection blurRad="6350" stA="60000" endPos="19000" dir="5400000" sy="-100000" algn="bl" rotWithShape="0"/>
          </a:effectLst>
        </p:spPr>
      </p:pic>
      <p:sp>
        <p:nvSpPr>
          <p:cNvPr id="38" name="文本框 37"/>
          <p:cNvSpPr txBox="1"/>
          <p:nvPr/>
        </p:nvSpPr>
        <p:spPr>
          <a:xfrm>
            <a:off x="9493250" y="4072890"/>
            <a:ext cx="2338705" cy="1583690"/>
          </a:xfrm>
          <a:prstGeom prst="rect">
            <a:avLst/>
          </a:prstGeom>
          <a:noFill/>
        </p:spPr>
        <p:txBody>
          <a:bodyPr wrap="square" rtlCol="0">
            <a:spAutoFit/>
          </a:bodyPr>
          <a:lstStyle/>
          <a:p>
            <a:pPr>
              <a:lnSpc>
                <a:spcPct val="90000"/>
              </a:lnSpc>
              <a:spcBef>
                <a:spcPct val="0"/>
              </a:spcBef>
            </a:pPr>
            <a:r>
              <a:rPr lang="zh-CN" altLang="en-US" b="1" dirty="0">
                <a:solidFill>
                  <a:schemeClr val="bg1"/>
                </a:solidFill>
                <a:latin typeface="腾讯体 W7" panose="020C08030202040F0204" pitchFamily="34" charset="-122"/>
                <a:ea typeface="腾讯体 W7" panose="020C08030202040F0204" pitchFamily="34" charset="-122"/>
                <a:cs typeface="+mj-cs"/>
              </a:rPr>
              <a:t>“深化</a:t>
            </a:r>
            <a:r>
              <a:rPr lang="zh-CN" altLang="en-US" b="1" dirty="0">
                <a:solidFill>
                  <a:srgbClr val="FFFF00"/>
                </a:solidFill>
                <a:latin typeface="腾讯体 W7" panose="020C08030202040F0204" pitchFamily="34" charset="-122"/>
                <a:ea typeface="腾讯体 W7" panose="020C08030202040F0204" pitchFamily="34" charset="-122"/>
                <a:cs typeface="+mj-cs"/>
              </a:rPr>
              <a:t>大数据、人工智能等研发应用</a:t>
            </a:r>
            <a:r>
              <a:rPr lang="zh-CN" altLang="en-US" b="1" dirty="0">
                <a:solidFill>
                  <a:schemeClr val="bg1"/>
                </a:solidFill>
                <a:latin typeface="腾讯体 W7" panose="020C08030202040F0204" pitchFamily="34" charset="-122"/>
                <a:ea typeface="腾讯体 W7" panose="020C08030202040F0204" pitchFamily="34" charset="-122"/>
                <a:cs typeface="+mj-cs"/>
              </a:rPr>
              <a:t>，开展‘人工智能</a:t>
            </a:r>
            <a:r>
              <a:rPr lang="en-US" altLang="zh-CN" b="1" dirty="0">
                <a:solidFill>
                  <a:schemeClr val="bg1"/>
                </a:solidFill>
                <a:latin typeface="腾讯体 W7" panose="020C08030202040F0204" pitchFamily="34" charset="-122"/>
                <a:ea typeface="腾讯体 W7" panose="020C08030202040F0204" pitchFamily="34" charset="-122"/>
                <a:cs typeface="+mj-cs"/>
              </a:rPr>
              <a:t>+’</a:t>
            </a:r>
            <a:r>
              <a:rPr lang="zh-CN" altLang="en-US" b="1" dirty="0">
                <a:solidFill>
                  <a:schemeClr val="bg1"/>
                </a:solidFill>
                <a:latin typeface="腾讯体 W7" panose="020C08030202040F0204" pitchFamily="34" charset="-122"/>
                <a:ea typeface="腾讯体 W7" panose="020C08030202040F0204" pitchFamily="34" charset="-122"/>
                <a:cs typeface="+mj-cs"/>
              </a:rPr>
              <a:t>行动，打造具有国际竞争力的数字产业集群。”</a:t>
            </a:r>
            <a:endParaRPr lang="zh-CN" altLang="en-US" dirty="0"/>
          </a:p>
          <a:p>
            <a:pPr>
              <a:lnSpc>
                <a:spcPct val="90000"/>
              </a:lnSpc>
              <a:spcBef>
                <a:spcPct val="0"/>
              </a:spcBef>
            </a:pPr>
            <a:endParaRPr lang="zh-CN" altLang="en-US" b="1" dirty="0">
              <a:solidFill>
                <a:schemeClr val="bg1"/>
              </a:solidFill>
              <a:latin typeface="腾讯体 W7" panose="020C08030202040F0204" pitchFamily="34" charset="-122"/>
              <a:ea typeface="腾讯体 W7" panose="020C08030202040F0204" pitchFamily="34" charset="-122"/>
              <a:cs typeface="+mj-cs"/>
            </a:endParaRPr>
          </a:p>
        </p:txBody>
      </p:sp>
      <p:sp>
        <p:nvSpPr>
          <p:cNvPr id="6" name="文本框 5"/>
          <p:cNvSpPr txBox="1"/>
          <p:nvPr/>
        </p:nvSpPr>
        <p:spPr>
          <a:xfrm>
            <a:off x="706120" y="6122035"/>
            <a:ext cx="10761980" cy="64516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需加快</a:t>
            </a:r>
            <a:r>
              <a:rPr lang="zh-CN" altLang="en-US" sz="3600" b="1" dirty="0">
                <a:solidFill>
                  <a:srgbClr val="FFFF00"/>
                </a:solidFill>
                <a:latin typeface="腾讯体 W7" panose="020C08030202040F0204" pitchFamily="34" charset="-122"/>
                <a:ea typeface="腾讯体 W7" panose="020C08030202040F0204" pitchFamily="34" charset="-122"/>
              </a:rPr>
              <a:t>数据标注</a:t>
            </a:r>
            <a:r>
              <a:rPr lang="zh-CN" altLang="en-US" sz="3600" b="1" dirty="0">
                <a:solidFill>
                  <a:schemeClr val="bg1"/>
                </a:solidFill>
                <a:latin typeface="腾讯体 W7" panose="020C08030202040F0204" pitchFamily="34" charset="-122"/>
                <a:ea typeface="腾讯体 W7" panose="020C08030202040F0204" pitchFamily="34" charset="-122"/>
              </a:rPr>
              <a:t>与</a:t>
            </a:r>
            <a:r>
              <a:rPr lang="zh-CN" altLang="en-US" sz="3600" b="1" dirty="0">
                <a:solidFill>
                  <a:srgbClr val="FFFF00"/>
                </a:solidFill>
                <a:latin typeface="腾讯体 W7" panose="020C08030202040F0204" pitchFamily="34" charset="-122"/>
                <a:ea typeface="腾讯体 W7" panose="020C08030202040F0204" pitchFamily="34" charset="-122"/>
              </a:rPr>
              <a:t>人工智能</a:t>
            </a:r>
            <a:r>
              <a:rPr lang="zh-CN" altLang="en-US" sz="3600" b="1" dirty="0">
                <a:solidFill>
                  <a:schemeClr val="bg1"/>
                </a:solidFill>
                <a:latin typeface="腾讯体 W7" panose="020C08030202040F0204" pitchFamily="34" charset="-122"/>
                <a:ea typeface="腾讯体 W7" panose="020C08030202040F0204" pitchFamily="34" charset="-122"/>
              </a:rPr>
              <a:t>的研究与应用</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sp>
        <p:nvSpPr>
          <p:cNvPr id="42" name="文本框 41"/>
          <p:cNvSpPr txBox="1"/>
          <p:nvPr/>
        </p:nvSpPr>
        <p:spPr>
          <a:xfrm>
            <a:off x="9081552" y="3260601"/>
            <a:ext cx="2542857" cy="755650"/>
          </a:xfrm>
          <a:prstGeom prst="rect">
            <a:avLst/>
          </a:prstGeom>
          <a:noFill/>
        </p:spPr>
        <p:txBody>
          <a:bodyPr wrap="square">
            <a:spAutoFit/>
          </a:bodyPr>
          <a:lstStyle/>
          <a:p>
            <a:pPr>
              <a:lnSpc>
                <a:spcPct val="90000"/>
              </a:lnSpc>
              <a:spcBef>
                <a:spcPct val="0"/>
              </a:spcBef>
            </a:pPr>
            <a:r>
              <a:rPr lang="en-US" altLang="zh-CN" sz="2400" b="1" dirty="0">
                <a:solidFill>
                  <a:schemeClr val="bg1"/>
                </a:solidFill>
                <a:latin typeface="腾讯体 W7" panose="020C08030202040F0204" pitchFamily="34" charset="-122"/>
                <a:ea typeface="腾讯体 W7" panose="020C08030202040F0204" pitchFamily="34" charset="-122"/>
                <a:cs typeface="+mj-cs"/>
              </a:rPr>
              <a:t>2024</a:t>
            </a:r>
            <a:r>
              <a:rPr lang="zh-CN" altLang="en-US" sz="2400" b="1" dirty="0">
                <a:solidFill>
                  <a:schemeClr val="bg1"/>
                </a:solidFill>
                <a:latin typeface="腾讯体 W7" panose="020C08030202040F0204" pitchFamily="34" charset="-122"/>
                <a:ea typeface="腾讯体 W7" panose="020C08030202040F0204" pitchFamily="34" charset="-122"/>
                <a:cs typeface="+mj-cs"/>
              </a:rPr>
              <a:t>年政府工作报告提出：</a:t>
            </a:r>
            <a:endParaRPr lang="zh-CN" altLang="en-US" sz="2400" b="1" dirty="0">
              <a:solidFill>
                <a:schemeClr val="bg1"/>
              </a:solidFill>
              <a:latin typeface="腾讯体 W7" panose="020C08030202040F0204" pitchFamily="34" charset="-122"/>
              <a:ea typeface="腾讯体 W7" panose="020C08030202040F0204" pitchFamily="34" charset="-122"/>
              <a:cs typeface="+mj-cs"/>
            </a:endParaRPr>
          </a:p>
        </p:txBody>
      </p:sp>
      <p:sp>
        <p:nvSpPr>
          <p:cNvPr id="2" name="平行四边形 1"/>
          <p:cNvSpPr/>
          <p:nvPr/>
        </p:nvSpPr>
        <p:spPr>
          <a:xfrm>
            <a:off x="12302162"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3877093" y="2658745"/>
            <a:ext cx="4840605"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rPr>
              <a:t>产品定位</a:t>
            </a:r>
            <a:endPar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92264" y="842433"/>
            <a:ext cx="4985082" cy="3680629"/>
          </a:xfrm>
          <a:prstGeom prst="roundRect">
            <a:avLst>
              <a:gd name="adj" fmla="val 14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6" name="文本框 5"/>
          <p:cNvSpPr txBox="1"/>
          <p:nvPr/>
        </p:nvSpPr>
        <p:spPr>
          <a:xfrm>
            <a:off x="1356899" y="871037"/>
            <a:ext cx="2621280" cy="423545"/>
          </a:xfrm>
          <a:prstGeom prst="rect">
            <a:avLst/>
          </a:prstGeom>
          <a:noFill/>
        </p:spPr>
        <p:txBody>
          <a:bodyPr wrap="none" rtlCol="0">
            <a:spAutoFit/>
          </a:bodyPr>
          <a:lstStyle/>
          <a:p>
            <a:pPr>
              <a:lnSpc>
                <a:spcPct val="90000"/>
              </a:lnSpc>
              <a:spcBef>
                <a:spcPct val="0"/>
              </a:spcBef>
            </a:pPr>
            <a:r>
              <a:rPr lang="zh-CN" altLang="en-US" sz="2400" b="1" dirty="0">
                <a:solidFill>
                  <a:schemeClr val="bg1"/>
                </a:solidFill>
                <a:latin typeface="腾讯体 W7" panose="020C08030202040F0204" pitchFamily="34" charset="-122"/>
                <a:ea typeface="腾讯体 W7" panose="020C08030202040F0204" pitchFamily="34" charset="-122"/>
                <a:cs typeface="+mj-cs"/>
              </a:rPr>
              <a:t>传统标注方法</a:t>
            </a:r>
            <a:r>
              <a:rPr lang="zh-CN" altLang="en-US" sz="2400" b="1" dirty="0">
                <a:solidFill>
                  <a:srgbClr val="FFFF00"/>
                </a:solidFill>
                <a:latin typeface="腾讯体 W7" panose="020C08030202040F0204" pitchFamily="34" charset="-122"/>
                <a:ea typeface="腾讯体 W7" panose="020C08030202040F0204" pitchFamily="34" charset="-122"/>
                <a:cs typeface="+mj-cs"/>
              </a:rPr>
              <a:t>繁琐</a:t>
            </a:r>
            <a:endParaRPr lang="zh-CN" altLang="en-US" sz="2400" b="1" dirty="0">
              <a:solidFill>
                <a:srgbClr val="FFFF00"/>
              </a:solidFill>
              <a:latin typeface="腾讯体 W7" panose="020C08030202040F0204" pitchFamily="34" charset="-122"/>
              <a:ea typeface="腾讯体 W7" panose="020C08030202040F0204" pitchFamily="34" charset="-122"/>
              <a:cs typeface="+mj-cs"/>
            </a:endParaRPr>
          </a:p>
        </p:txBody>
      </p:sp>
      <p:sp>
        <p:nvSpPr>
          <p:cNvPr id="8" name="矩形: 圆角 7"/>
          <p:cNvSpPr/>
          <p:nvPr/>
        </p:nvSpPr>
        <p:spPr>
          <a:xfrm>
            <a:off x="6804660" y="842433"/>
            <a:ext cx="5067300" cy="3680629"/>
          </a:xfrm>
          <a:prstGeom prst="roundRect">
            <a:avLst>
              <a:gd name="adj" fmla="val 14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 name="文本框 11"/>
          <p:cNvSpPr txBox="1"/>
          <p:nvPr/>
        </p:nvSpPr>
        <p:spPr>
          <a:xfrm>
            <a:off x="7755657" y="868462"/>
            <a:ext cx="2926080" cy="423545"/>
          </a:xfrm>
          <a:prstGeom prst="rect">
            <a:avLst/>
          </a:prstGeom>
          <a:noFill/>
        </p:spPr>
        <p:txBody>
          <a:bodyPr wrap="none" rtlCol="0">
            <a:spAutoFit/>
          </a:bodyPr>
          <a:lstStyle/>
          <a:p>
            <a:pPr algn="l">
              <a:lnSpc>
                <a:spcPct val="90000"/>
              </a:lnSpc>
              <a:spcBef>
                <a:spcPct val="0"/>
              </a:spcBef>
            </a:pPr>
            <a:r>
              <a:rPr lang="zh-CN" altLang="en-US" sz="2400" b="1" dirty="0">
                <a:solidFill>
                  <a:schemeClr val="bg1"/>
                </a:solidFill>
                <a:latin typeface="腾讯体 W7" panose="020C08030202040F0204" pitchFamily="34" charset="-122"/>
                <a:ea typeface="腾讯体 W7" panose="020C08030202040F0204" pitchFamily="34" charset="-122"/>
                <a:cs typeface="+mj-cs"/>
              </a:rPr>
              <a:t>大模型</a:t>
            </a:r>
            <a:r>
              <a:rPr lang="zh-CN" altLang="en-US" sz="2400" b="1" dirty="0">
                <a:solidFill>
                  <a:schemeClr val="bg1"/>
                </a:solidFill>
                <a:latin typeface="腾讯体 W7" panose="020C08030202040F0204" pitchFamily="34" charset="-122"/>
                <a:ea typeface="腾讯体 W7" panose="020C08030202040F0204" pitchFamily="34" charset="-122"/>
                <a:cs typeface="+mj-cs"/>
                <a:sym typeface="+mn-ea"/>
              </a:rPr>
              <a:t>内容</a:t>
            </a:r>
            <a:r>
              <a:rPr lang="zh-CN" altLang="en-US" sz="2400" b="1" dirty="0">
                <a:solidFill>
                  <a:schemeClr val="bg1"/>
                </a:solidFill>
                <a:latin typeface="腾讯体 W7" panose="020C08030202040F0204" pitchFamily="34" charset="-122"/>
                <a:ea typeface="腾讯体 W7" panose="020C08030202040F0204" pitchFamily="34" charset="-122"/>
                <a:cs typeface="+mj-cs"/>
              </a:rPr>
              <a:t>问答</a:t>
            </a:r>
            <a:r>
              <a:rPr lang="zh-CN" altLang="en-US" sz="2400" b="1" dirty="0">
                <a:solidFill>
                  <a:srgbClr val="FFFF00"/>
                </a:solidFill>
                <a:latin typeface="腾讯体 W7" panose="020C08030202040F0204" pitchFamily="34" charset="-122"/>
                <a:ea typeface="腾讯体 W7" panose="020C08030202040F0204" pitchFamily="34" charset="-122"/>
                <a:cs typeface="+mj-cs"/>
              </a:rPr>
              <a:t>欠准</a:t>
            </a:r>
            <a:endParaRPr lang="zh-CN" altLang="en-US" sz="2400" b="1" dirty="0">
              <a:solidFill>
                <a:srgbClr val="FFFF00"/>
              </a:solidFill>
              <a:latin typeface="腾讯体 W7" panose="020C08030202040F0204" pitchFamily="34" charset="-122"/>
              <a:ea typeface="腾讯体 W7" panose="020C08030202040F0204" pitchFamily="34" charset="-122"/>
              <a:cs typeface="+mj-cs"/>
            </a:endParaRPr>
          </a:p>
        </p:txBody>
      </p:sp>
      <p:sp>
        <p:nvSpPr>
          <p:cNvPr id="14" name="矩形: 圆角 13"/>
          <p:cNvSpPr/>
          <p:nvPr/>
        </p:nvSpPr>
        <p:spPr>
          <a:xfrm>
            <a:off x="279400" y="4745355"/>
            <a:ext cx="11543665" cy="1324610"/>
          </a:xfrm>
          <a:prstGeom prst="roundRect">
            <a:avLst>
              <a:gd name="adj" fmla="val 3409"/>
            </a:avLst>
          </a:prstGeom>
          <a:noFill/>
          <a:ln>
            <a:solidFill>
              <a:srgbClr val="088E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5" name="箭头: 下 14"/>
          <p:cNvSpPr/>
          <p:nvPr/>
        </p:nvSpPr>
        <p:spPr>
          <a:xfrm>
            <a:off x="5383181" y="2785024"/>
            <a:ext cx="1336876" cy="1962102"/>
          </a:xfrm>
          <a:prstGeom prst="downArrow">
            <a:avLst/>
          </a:prstGeom>
          <a:gradFill>
            <a:gsLst>
              <a:gs pos="15000">
                <a:schemeClr val="accent1">
                  <a:lumMod val="50000"/>
                </a:schemeClr>
              </a:gs>
              <a:gs pos="100000">
                <a:srgbClr val="FF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6" name="文本框 15"/>
          <p:cNvSpPr txBox="1"/>
          <p:nvPr/>
        </p:nvSpPr>
        <p:spPr>
          <a:xfrm>
            <a:off x="5725760" y="2863083"/>
            <a:ext cx="640080" cy="1421928"/>
          </a:xfrm>
          <a:prstGeom prst="rect">
            <a:avLst/>
          </a:prstGeom>
          <a:noFill/>
        </p:spPr>
        <p:txBody>
          <a:bodyPr wrap="square" rtlCol="0">
            <a:spAutoFit/>
          </a:bodyPr>
          <a:lstStyle/>
          <a:p>
            <a:pPr algn="ctr">
              <a:lnSpc>
                <a:spcPct val="90000"/>
              </a:lnSpc>
              <a:spcBef>
                <a:spcPct val="0"/>
              </a:spcBef>
            </a:pPr>
            <a:r>
              <a:rPr lang="zh-CN" altLang="en-US" sz="2400" dirty="0">
                <a:solidFill>
                  <a:schemeClr val="bg1"/>
                </a:solidFill>
                <a:latin typeface="腾讯体 W7" panose="020C08030202040F0204" pitchFamily="34" charset="-122"/>
                <a:ea typeface="腾讯体 W7" panose="020C08030202040F0204" pitchFamily="34" charset="-122"/>
                <a:cs typeface="+mj-cs"/>
              </a:rPr>
              <a:t>追本溯源</a:t>
            </a:r>
            <a:endParaRPr lang="zh-CN" altLang="en-US" sz="2400" dirty="0">
              <a:solidFill>
                <a:schemeClr val="bg1"/>
              </a:solidFill>
              <a:latin typeface="腾讯体 W7" panose="020C08030202040F0204" pitchFamily="34" charset="-122"/>
              <a:ea typeface="腾讯体 W7" panose="020C08030202040F0204" pitchFamily="34" charset="-122"/>
              <a:cs typeface="+mj-cs"/>
            </a:endParaRPr>
          </a:p>
        </p:txBody>
      </p:sp>
      <p:sp>
        <p:nvSpPr>
          <p:cNvPr id="17" name="文本框 16"/>
          <p:cNvSpPr txBox="1"/>
          <p:nvPr/>
        </p:nvSpPr>
        <p:spPr>
          <a:xfrm>
            <a:off x="3242310" y="4745355"/>
            <a:ext cx="7256780" cy="1322070"/>
          </a:xfrm>
          <a:prstGeom prst="rect">
            <a:avLst/>
          </a:prstGeom>
          <a:noFill/>
        </p:spPr>
        <p:txBody>
          <a:bodyPr wrap="square">
            <a:spAutoFit/>
          </a:bodyPr>
          <a:lstStyle/>
          <a:p>
            <a:pPr marL="342900" indent="-342900" algn="ctr">
              <a:lnSpc>
                <a:spcPts val="3200"/>
              </a:lnSpc>
              <a:buFont typeface="Arial" panose="020B0604020202020204" pitchFamily="34" charset="0"/>
              <a:buChar char="•"/>
            </a:pP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文献标注与信息</a:t>
            </a:r>
            <a:r>
              <a:rPr lang="zh-CN" sz="2000" dirty="0">
                <a:solidFill>
                  <a:schemeClr val="accent6">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rPr>
              <a:t>提取难度</a:t>
            </a: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大——</a:t>
            </a:r>
            <a:r>
              <a:rPr lang="zh-CN"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获取难</a:t>
            </a:r>
            <a:endPar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342900" indent="-342900" algn="ctr">
              <a:lnSpc>
                <a:spcPts val="3200"/>
              </a:lnSpc>
              <a:buFont typeface="Arial" panose="020B0604020202020204" pitchFamily="34" charset="0"/>
              <a:buChar char="•"/>
            </a:pP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大模型</a:t>
            </a:r>
            <a:r>
              <a:rPr lang="zh-CN" sz="2000" dirty="0">
                <a:solidFill>
                  <a:schemeClr val="accent6">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rPr>
              <a:t>零样本</a:t>
            </a: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识别精度不高——</a:t>
            </a:r>
            <a:r>
              <a:rPr lang="zh-CN"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精度</a:t>
            </a: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低</a:t>
            </a:r>
            <a:endPar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342900" indent="-342900" algn="ctr">
              <a:lnSpc>
                <a:spcPts val="3200"/>
              </a:lnSpc>
              <a:buFont typeface="Arial" panose="020B0604020202020204" pitchFamily="34" charset="0"/>
              <a:buChar char="•"/>
            </a:pP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现有竞品操作繁琐</a:t>
            </a:r>
            <a:r>
              <a:rPr lang="zh-CN" sz="2000" dirty="0">
                <a:solidFill>
                  <a:schemeClr val="accent6">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rPr>
              <a:t>功能不足</a:t>
            </a:r>
            <a:r>
              <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——集成差</a:t>
            </a:r>
            <a:endParaRPr sz="20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20" name="文本框 19"/>
          <p:cNvSpPr txBox="1"/>
          <p:nvPr/>
        </p:nvSpPr>
        <p:spPr>
          <a:xfrm>
            <a:off x="0" y="6137537"/>
            <a:ext cx="12192000" cy="645160"/>
          </a:xfrm>
          <a:prstGeom prst="rect">
            <a:avLst/>
          </a:prstGeom>
          <a:noFill/>
        </p:spPr>
        <p:txBody>
          <a:bodyPr wrap="square" rtlCol="0">
            <a:spAutoFit/>
          </a:bodyPr>
          <a:lstStyle/>
          <a:p>
            <a:pPr algn="ctr"/>
            <a:r>
              <a:rPr lang="zh-CN" altLang="en-US" sz="3200" b="1" dirty="0">
                <a:solidFill>
                  <a:schemeClr val="bg1"/>
                </a:solidFill>
                <a:latin typeface="腾讯体 W7" panose="020C08030202040F0204" pitchFamily="34" charset="-122"/>
                <a:ea typeface="腾讯体 W7" panose="020C08030202040F0204" pitchFamily="34" charset="-122"/>
              </a:rPr>
              <a:t>亟需</a:t>
            </a:r>
            <a:r>
              <a:rPr lang="zh-CN" altLang="en-US" sz="3600" b="1" dirty="0">
                <a:solidFill>
                  <a:srgbClr val="FFFF00"/>
                </a:solidFill>
                <a:latin typeface="腾讯体 W7" panose="020C08030202040F0204" pitchFamily="34" charset="-122"/>
                <a:ea typeface="腾讯体 W7" panose="020C08030202040F0204" pitchFamily="34" charset="-122"/>
              </a:rPr>
              <a:t>自动化</a:t>
            </a:r>
            <a:r>
              <a:rPr lang="zh-CN" altLang="en-US" sz="3200" b="1" dirty="0">
                <a:solidFill>
                  <a:schemeClr val="bg1"/>
                </a:solidFill>
                <a:latin typeface="腾讯体 W7" panose="020C08030202040F0204" pitchFamily="34" charset="-122"/>
                <a:ea typeface="腾讯体 W7" panose="020C08030202040F0204" pitchFamily="34" charset="-122"/>
              </a:rPr>
              <a:t>、</a:t>
            </a:r>
            <a:r>
              <a:rPr lang="zh-CN" altLang="en-US" sz="3600" b="1" dirty="0">
                <a:solidFill>
                  <a:srgbClr val="FFFF00"/>
                </a:solidFill>
                <a:latin typeface="腾讯体 W7" panose="020C08030202040F0204" pitchFamily="34" charset="-122"/>
                <a:ea typeface="腾讯体 W7" panose="020C08030202040F0204" pitchFamily="34" charset="-122"/>
              </a:rPr>
              <a:t>高精度</a:t>
            </a:r>
            <a:r>
              <a:rPr lang="zh-CN" altLang="en-US" sz="3200" b="1" dirty="0">
                <a:solidFill>
                  <a:schemeClr val="bg1"/>
                </a:solidFill>
                <a:latin typeface="腾讯体 W7" panose="020C08030202040F0204" pitchFamily="34" charset="-122"/>
                <a:ea typeface="腾讯体 W7" panose="020C08030202040F0204" pitchFamily="34" charset="-122"/>
              </a:rPr>
              <a:t>、</a:t>
            </a:r>
            <a:r>
              <a:rPr lang="zh-CN" altLang="en-US" sz="3600" b="1" dirty="0">
                <a:solidFill>
                  <a:srgbClr val="FFFF00"/>
                </a:solidFill>
                <a:latin typeface="腾讯体 W7" panose="020C08030202040F0204" pitchFamily="34" charset="-122"/>
                <a:ea typeface="腾讯体 W7" panose="020C08030202040F0204" pitchFamily="34" charset="-122"/>
              </a:rPr>
              <a:t>平台化</a:t>
            </a:r>
            <a:r>
              <a:rPr lang="zh-CN" altLang="en-US" sz="3200" b="1" dirty="0">
                <a:solidFill>
                  <a:schemeClr val="bg1"/>
                </a:solidFill>
                <a:latin typeface="腾讯体 W7" panose="020C08030202040F0204" pitchFamily="34" charset="-122"/>
                <a:ea typeface="腾讯体 W7" panose="020C08030202040F0204" pitchFamily="34" charset="-122"/>
              </a:rPr>
              <a:t>的文本标注与挖掘系统</a:t>
            </a:r>
            <a:endParaRPr lang="zh-CN" altLang="en-US" sz="3200" b="1" dirty="0">
              <a:solidFill>
                <a:schemeClr val="bg1"/>
              </a:solidFill>
              <a:latin typeface="腾讯体 W7" panose="020C08030202040F0204" pitchFamily="34" charset="-122"/>
              <a:ea typeface="腾讯体 W7" panose="020C08030202040F0204" pitchFamily="34" charset="-122"/>
            </a:endParaRPr>
          </a:p>
        </p:txBody>
      </p:sp>
      <p:sp>
        <p:nvSpPr>
          <p:cNvPr id="21" name="等腰三角形 20"/>
          <p:cNvSpPr/>
          <p:nvPr/>
        </p:nvSpPr>
        <p:spPr>
          <a:xfrm rot="5400000">
            <a:off x="4440770" y="2119871"/>
            <a:ext cx="1962103" cy="288953"/>
          </a:xfrm>
          <a:prstGeom prst="triangle">
            <a:avLst/>
          </a:prstGeom>
          <a:solidFill>
            <a:srgbClr val="088EFF">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2" name="等腰三角形 21"/>
          <p:cNvSpPr/>
          <p:nvPr/>
        </p:nvSpPr>
        <p:spPr>
          <a:xfrm rot="16200000">
            <a:off x="5689135" y="2119870"/>
            <a:ext cx="1962101" cy="288953"/>
          </a:xfrm>
          <a:prstGeom prst="triangle">
            <a:avLst/>
          </a:prstGeom>
          <a:solidFill>
            <a:srgbClr val="088EFF">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3" name="文本框 22"/>
          <p:cNvSpPr txBox="1"/>
          <p:nvPr/>
        </p:nvSpPr>
        <p:spPr>
          <a:xfrm>
            <a:off x="5292946" y="1808397"/>
            <a:ext cx="1512957" cy="911860"/>
          </a:xfrm>
          <a:prstGeom prst="rect">
            <a:avLst/>
          </a:prstGeom>
          <a:noFill/>
        </p:spPr>
        <p:txBody>
          <a:bodyPr wrap="square">
            <a:spAutoFit/>
          </a:bodyPr>
          <a:lstStyle/>
          <a:p>
            <a:pPr algn="ctr">
              <a:lnSpc>
                <a:spcPts val="3200"/>
              </a:lnSpc>
            </a:pPr>
            <a:r>
              <a:rPr lang="zh-CN" altLang="en-US" sz="2600" b="1" kern="100" dirty="0">
                <a:solidFill>
                  <a:srgbClr val="FF0000"/>
                </a:solidFill>
                <a:effectLst/>
                <a:latin typeface="腾讯体 W7" panose="020C08030202040F0204" pitchFamily="34" charset="-122"/>
                <a:ea typeface="腾讯体 W7" panose="020C08030202040F0204" pitchFamily="34" charset="-122"/>
                <a:cs typeface="Times New Roman" panose="02020603050405020304" pitchFamily="18" charset="0"/>
              </a:rPr>
              <a:t>智能化</a:t>
            </a:r>
            <a:endParaRPr lang="en-US" altLang="zh-CN" sz="2600" b="1" kern="100" dirty="0">
              <a:solidFill>
                <a:srgbClr val="FF0000"/>
              </a:solidFill>
              <a:effectLst/>
              <a:latin typeface="腾讯体 W7" panose="020C08030202040F0204" pitchFamily="34" charset="-122"/>
              <a:ea typeface="腾讯体 W7" panose="020C08030202040F0204" pitchFamily="34" charset="-122"/>
              <a:cs typeface="Times New Roman" panose="02020603050405020304" pitchFamily="18" charset="0"/>
            </a:endParaRPr>
          </a:p>
          <a:p>
            <a:pPr algn="ctr">
              <a:lnSpc>
                <a:spcPts val="3200"/>
              </a:lnSpc>
            </a:pPr>
            <a:r>
              <a:rPr lang="zh-CN" altLang="en-US" sz="2600" b="1" kern="100" dirty="0">
                <a:solidFill>
                  <a:srgbClr val="FF0000"/>
                </a:solidFill>
                <a:effectLst/>
                <a:latin typeface="腾讯体 W7" panose="020C08030202040F0204" pitchFamily="34" charset="-122"/>
                <a:ea typeface="腾讯体 W7" panose="020C08030202040F0204" pitchFamily="34" charset="-122"/>
                <a:cs typeface="Times New Roman" panose="02020603050405020304" pitchFamily="18" charset="0"/>
              </a:rPr>
              <a:t>挖掘难</a:t>
            </a:r>
            <a:endParaRPr lang="en-US" altLang="zh-CN" sz="2600" b="1" kern="100" dirty="0">
              <a:solidFill>
                <a:srgbClr val="FF0000"/>
              </a:solidFill>
              <a:effectLst/>
              <a:latin typeface="腾讯体 W7" panose="020C08030202040F0204" pitchFamily="34" charset="-122"/>
              <a:ea typeface="腾讯体 W7" panose="020C08030202040F0204" pitchFamily="34" charset="-122"/>
              <a:cs typeface="Times New Roman" panose="02020603050405020304" pitchFamily="18" charset="0"/>
            </a:endParaRPr>
          </a:p>
        </p:txBody>
      </p:sp>
      <p:sp>
        <p:nvSpPr>
          <p:cNvPr id="4" name="文本框 3"/>
          <p:cNvSpPr txBox="1"/>
          <p:nvPr/>
        </p:nvSpPr>
        <p:spPr>
          <a:xfrm>
            <a:off x="954405" y="5107305"/>
            <a:ext cx="2697480" cy="625475"/>
          </a:xfrm>
          <a:prstGeom prst="roundRect">
            <a:avLst>
              <a:gd name="adj" fmla="val 34517"/>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40000"/>
                  <a:lumOff val="60000"/>
                </a:schemeClr>
              </a:gs>
            </a:gsLst>
            <a:lin ang="3000000" scaled="0"/>
          </a:gradFill>
        </p:spPr>
        <p:txBody>
          <a:bodyPr wrap="square" rtlCol="0" anchor="ctr" anchorCtr="0">
            <a:noAutofit/>
          </a:bodyPr>
          <a:lstStyle/>
          <a:p>
            <a:pPr algn="ctr"/>
            <a:r>
              <a:rPr lang="zh-CN" altLang="en-US" sz="2800" b="1" dirty="0">
                <a:solidFill>
                  <a:srgbClr val="088EFF"/>
                </a:solidFill>
                <a:latin typeface="腾讯体 W7" panose="020C08030202040F0204" pitchFamily="34" charset="-122"/>
                <a:ea typeface="腾讯体 W7" panose="020C08030202040F0204" pitchFamily="34" charset="-122"/>
                <a:sym typeface="+mn-ea"/>
              </a:rPr>
              <a:t>痛点问题</a:t>
            </a:r>
            <a:endParaRPr lang="zh-CN" altLang="en-US" sz="2800" b="1" dirty="0">
              <a:solidFill>
                <a:srgbClr val="088EFF"/>
              </a:solidFill>
              <a:latin typeface="腾讯体 W7" panose="020C08030202040F0204" pitchFamily="34" charset="-122"/>
              <a:ea typeface="腾讯体 W7" panose="020C08030202040F0204" pitchFamily="34" charset="-122"/>
              <a:sym typeface="+mn-ea"/>
            </a:endParaRPr>
          </a:p>
        </p:txBody>
      </p:sp>
      <p:pic>
        <p:nvPicPr>
          <p:cNvPr id="5" name="图片 4"/>
          <p:cNvPicPr/>
          <p:nvPr/>
        </p:nvPicPr>
        <p:blipFill>
          <a:blip r:embed="rId1"/>
          <a:srcRect r="13175"/>
        </p:blipFill>
        <p:spPr>
          <a:xfrm>
            <a:off x="9362440" y="2914650"/>
            <a:ext cx="2460625" cy="1488440"/>
          </a:xfrm>
          <a:prstGeom prst="rect">
            <a:avLst/>
          </a:prstGeom>
        </p:spPr>
      </p:pic>
      <p:pic>
        <p:nvPicPr>
          <p:cNvPr id="7" name="图片 6"/>
          <p:cNvPicPr/>
          <p:nvPr/>
        </p:nvPicPr>
        <p:blipFill>
          <a:blip r:embed="rId2"/>
          <a:srcRect r="14763"/>
        </p:blipFill>
        <p:spPr>
          <a:xfrm>
            <a:off x="6899910" y="1342390"/>
            <a:ext cx="2412365" cy="1492250"/>
          </a:xfrm>
          <a:prstGeom prst="rect">
            <a:avLst/>
          </a:prstGeom>
        </p:spPr>
      </p:pic>
      <p:pic>
        <p:nvPicPr>
          <p:cNvPr id="18" name="图片 17"/>
          <p:cNvPicPr/>
          <p:nvPr/>
        </p:nvPicPr>
        <p:blipFill>
          <a:blip r:embed="rId3"/>
          <a:srcRect l="4418" r="4371"/>
        </p:blipFill>
        <p:spPr>
          <a:xfrm>
            <a:off x="9353550" y="1334770"/>
            <a:ext cx="2477770" cy="1499235"/>
          </a:xfrm>
          <a:prstGeom prst="rect">
            <a:avLst/>
          </a:prstGeom>
        </p:spPr>
      </p:pic>
      <p:pic>
        <p:nvPicPr>
          <p:cNvPr id="19" name="图片 18"/>
          <p:cNvPicPr/>
          <p:nvPr/>
        </p:nvPicPr>
        <p:blipFill>
          <a:blip r:embed="rId4"/>
          <a:srcRect r="32441"/>
        </p:blipFill>
        <p:spPr>
          <a:xfrm>
            <a:off x="6899910" y="2891155"/>
            <a:ext cx="2427605" cy="1524000"/>
          </a:xfrm>
          <a:prstGeom prst="rect">
            <a:avLst/>
          </a:prstGeom>
        </p:spPr>
      </p:pic>
      <p:pic>
        <p:nvPicPr>
          <p:cNvPr id="26" name="图片 25"/>
          <p:cNvPicPr/>
          <p:nvPr/>
        </p:nvPicPr>
        <p:blipFill>
          <a:blip r:embed="rId5"/>
        </p:blipFill>
        <p:spPr>
          <a:xfrm>
            <a:off x="356235" y="1361440"/>
            <a:ext cx="2388870" cy="1414780"/>
          </a:xfrm>
          <a:prstGeom prst="rect">
            <a:avLst/>
          </a:prstGeom>
        </p:spPr>
      </p:pic>
      <p:pic>
        <p:nvPicPr>
          <p:cNvPr id="30" name="图片 29"/>
          <p:cNvPicPr/>
          <p:nvPr/>
        </p:nvPicPr>
        <p:blipFill>
          <a:blip r:embed="rId6"/>
          <a:srcRect b="12624"/>
        </p:blipFill>
        <p:spPr>
          <a:xfrm>
            <a:off x="364490" y="2891155"/>
            <a:ext cx="2385060" cy="1511935"/>
          </a:xfrm>
          <a:prstGeom prst="rect">
            <a:avLst/>
          </a:prstGeom>
        </p:spPr>
      </p:pic>
      <p:pic>
        <p:nvPicPr>
          <p:cNvPr id="34" name="图片 33"/>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2200087" y="3863316"/>
            <a:ext cx="604141" cy="604141"/>
          </a:xfrm>
          <a:prstGeom prst="rect">
            <a:avLst/>
          </a:prstGeom>
        </p:spPr>
      </p:pic>
      <p:pic>
        <p:nvPicPr>
          <p:cNvPr id="32" name="图片 31"/>
          <p:cNvPicPr/>
          <p:nvPr/>
        </p:nvPicPr>
        <p:blipFill>
          <a:blip r:embed="rId8"/>
          <a:srcRect r="24850"/>
        </p:blipFill>
        <p:spPr>
          <a:xfrm>
            <a:off x="2804160" y="2882900"/>
            <a:ext cx="2313940" cy="1520190"/>
          </a:xfrm>
          <a:prstGeom prst="rect">
            <a:avLst/>
          </a:prstGeom>
        </p:spPr>
      </p:pic>
      <p:pic>
        <p:nvPicPr>
          <p:cNvPr id="33" name="图片 32"/>
          <p:cNvPicPr>
            <a:picLocks noChangeAspect="1"/>
          </p:cNvPicPr>
          <p:nvPr/>
        </p:nvPicPr>
        <p:blipFill>
          <a:blip r:embed="rId9"/>
          <a:srcRect r="22523"/>
          <a:stretch>
            <a:fillRect/>
          </a:stretch>
        </p:blipFill>
        <p:spPr>
          <a:xfrm>
            <a:off x="2835275" y="1363345"/>
            <a:ext cx="2308860" cy="1412875"/>
          </a:xfrm>
          <a:prstGeom prst="rect">
            <a:avLst/>
          </a:prstGeom>
        </p:spPr>
      </p:pic>
      <p:pic>
        <p:nvPicPr>
          <p:cNvPr id="35" name="图片 34"/>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4599274" y="3863513"/>
            <a:ext cx="604141" cy="604141"/>
          </a:xfrm>
          <a:prstGeom prst="rect">
            <a:avLst/>
          </a:prstGeom>
        </p:spPr>
      </p:pic>
      <p:sp>
        <p:nvSpPr>
          <p:cNvPr id="10" name="标题 9"/>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市场需求</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0" y="6137537"/>
            <a:ext cx="12192000" cy="67564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提供</a:t>
            </a:r>
            <a:r>
              <a:rPr lang="zh-CN" altLang="en-US" sz="3800" b="1" dirty="0">
                <a:solidFill>
                  <a:srgbClr val="FFFF00"/>
                </a:solidFill>
                <a:latin typeface="腾讯体 W7" panose="020C08030202040F0204" pitchFamily="34" charset="-122"/>
                <a:ea typeface="腾讯体 W7" panose="020C08030202040F0204" pitchFamily="34" charset="-122"/>
              </a:rPr>
              <a:t>高效精准</a:t>
            </a:r>
            <a:r>
              <a:rPr lang="zh-CN" altLang="en-US" sz="3600" b="1" dirty="0">
                <a:solidFill>
                  <a:schemeClr val="bg1"/>
                </a:solidFill>
                <a:latin typeface="腾讯体 W7" panose="020C08030202040F0204" pitchFamily="34" charset="-122"/>
                <a:ea typeface="腾讯体 W7" panose="020C08030202040F0204" pitchFamily="34" charset="-122"/>
              </a:rPr>
              <a:t>的文献标注和提取服务，显著优于竞品</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graphicFrame>
        <p:nvGraphicFramePr>
          <p:cNvPr id="4" name="表格 3"/>
          <p:cNvGraphicFramePr>
            <a:graphicFrameLocks noGrp="1"/>
          </p:cNvGraphicFramePr>
          <p:nvPr>
            <p:custDataLst>
              <p:tags r:id="rId1"/>
            </p:custDataLst>
          </p:nvPr>
        </p:nvGraphicFramePr>
        <p:xfrm>
          <a:off x="1303655" y="3548380"/>
          <a:ext cx="9584055" cy="2423160"/>
        </p:xfrm>
        <a:graphic>
          <a:graphicData uri="http://schemas.openxmlformats.org/drawingml/2006/table">
            <a:tbl>
              <a:tblPr firstRow="1" bandRow="1">
                <a:tableStyleId>{2D5ABB26-0587-4C30-8999-92F81FD0307C}</a:tableStyleId>
              </a:tblPr>
              <a:tblGrid>
                <a:gridCol w="2395855"/>
                <a:gridCol w="2396490"/>
                <a:gridCol w="2395855"/>
                <a:gridCol w="2395855"/>
              </a:tblGrid>
              <a:tr h="518160">
                <a:tc>
                  <a:txBody>
                    <a:bodyPr/>
                    <a:lstStyle/>
                    <a:p>
                      <a:pPr algn="ctr"/>
                      <a:endParaRPr lang="zh-CN" altLang="en-US" sz="2400" b="0" dirty="0">
                        <a:solidFill>
                          <a:srgbClr val="D7D0C2"/>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altLang="zh-CN" sz="2400" b="0" dirty="0">
                          <a:solidFill>
                            <a:srgbClr val="D7D0C2"/>
                          </a:solidFill>
                          <a:latin typeface="腾讯体 W7" panose="020C08030202040F0204" pitchFamily="34" charset="-122"/>
                          <a:ea typeface="腾讯体 W7" panose="020C08030202040F0204" pitchFamily="34" charset="-122"/>
                        </a:rPr>
                        <a:t>Diigo</a:t>
                      </a:r>
                      <a:endParaRPr lang="en-US" altLang="zh-CN" sz="2400" b="0" dirty="0">
                        <a:solidFill>
                          <a:srgbClr val="D7D0C2"/>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altLang="zh-CN" sz="2800" b="1" dirty="0">
                          <a:solidFill>
                            <a:schemeClr val="accent5"/>
                          </a:solidFill>
                          <a:latin typeface="腾讯体 W7" panose="020C08030202040F0204" pitchFamily="34" charset="-122"/>
                          <a:ea typeface="腾讯体 W7" panose="020C08030202040F0204" pitchFamily="34" charset="-122"/>
                        </a:rPr>
                        <a:t>ITAS</a:t>
                      </a:r>
                      <a:endParaRPr lang="en-US" altLang="zh-CN" sz="2800" b="1" dirty="0">
                        <a:solidFill>
                          <a:schemeClr val="accent5"/>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alpha val="50000"/>
                      </a:schemeClr>
                    </a:solidFill>
                  </a:tcPr>
                </a:tc>
                <a:tc>
                  <a:txBody>
                    <a:bodyPr/>
                    <a:lstStyle/>
                    <a:p>
                      <a:pPr algn="ctr"/>
                      <a:r>
                        <a:rPr lang="en-US" altLang="zh-CN" sz="2400" b="0" dirty="0">
                          <a:solidFill>
                            <a:srgbClr val="B58464"/>
                          </a:solidFill>
                          <a:latin typeface="腾讯体 W7" panose="020C08030202040F0204" pitchFamily="34" charset="-122"/>
                          <a:ea typeface="腾讯体 W7" panose="020C08030202040F0204" pitchFamily="34" charset="-122"/>
                        </a:rPr>
                        <a:t>ChatPDF</a:t>
                      </a:r>
                      <a:endParaRPr lang="en-US" altLang="zh-CN" sz="2400" b="0" dirty="0">
                        <a:solidFill>
                          <a:srgbClr val="B58464"/>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6250">
                <a:tc>
                  <a:txBody>
                    <a:bodyPr/>
                    <a:lstStyle/>
                    <a:p>
                      <a:pPr algn="ctr"/>
                      <a:r>
                        <a:rPr lang="zh-CN" altLang="en-US" sz="2000" dirty="0">
                          <a:solidFill>
                            <a:schemeClr val="bg1"/>
                          </a:solidFill>
                          <a:latin typeface="腾讯体 W7" panose="020C08030202040F0204" pitchFamily="34" charset="-122"/>
                          <a:ea typeface="腾讯体 W7" panose="020C08030202040F0204" pitchFamily="34" charset="-122"/>
                          <a:sym typeface="+mn-ea"/>
                        </a:rPr>
                        <a:t>定制化</a:t>
                      </a:r>
                      <a:r>
                        <a:rPr lang="zh-CN" altLang="en-US" sz="2000" b="0" dirty="0">
                          <a:solidFill>
                            <a:schemeClr val="bg1"/>
                          </a:solidFill>
                          <a:latin typeface="腾讯体 W7" panose="020C08030202040F0204" pitchFamily="34" charset="-122"/>
                          <a:ea typeface="腾讯体 W7" panose="020C08030202040F0204" pitchFamily="34" charset="-122"/>
                        </a:rPr>
                        <a:t>标注</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tcP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通用化</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dirty="0">
                          <a:solidFill>
                            <a:schemeClr val="bg1"/>
                          </a:solidFill>
                          <a:latin typeface="腾讯体 W7" panose="020C08030202040F0204" pitchFamily="34" charset="-122"/>
                          <a:ea typeface="腾讯体 W7" panose="020C08030202040F0204" pitchFamily="34" charset="-122"/>
                        </a:rPr>
                        <a:t>高度定制化</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solidFill>
                      <a:schemeClr val="tx2">
                        <a:lumMod val="50000"/>
                        <a:alpha val="50000"/>
                      </a:schemeClr>
                    </a:solidFill>
                  </a:tcPr>
                </a:tc>
                <a:tc>
                  <a:txBody>
                    <a:bodyPr/>
                    <a:lstStyle/>
                    <a:p>
                      <a:pPr algn="ctr"/>
                      <a:r>
                        <a:rPr lang="zh-CN" altLang="en-US" sz="2000" b="0" dirty="0">
                          <a:solidFill>
                            <a:srgbClr val="C00000"/>
                          </a:solidFill>
                          <a:latin typeface="腾讯体 W7" panose="020C08030202040F0204" pitchFamily="34" charset="-122"/>
                          <a:ea typeface="腾讯体 W7" panose="020C08030202040F0204" pitchFamily="34" charset="-122"/>
                        </a:rPr>
                        <a:t>无</a:t>
                      </a:r>
                      <a:endParaRPr lang="zh-CN" altLang="en-US" sz="2000" b="0" dirty="0">
                        <a:solidFill>
                          <a:srgbClr val="C00000"/>
                        </a:solidFill>
                        <a:latin typeface="腾讯体 W7" panose="020C08030202040F0204" pitchFamily="34" charset="-122"/>
                        <a:ea typeface="腾讯体 W7" panose="020C08030202040F0204" pitchFamily="34" charset="-122"/>
                      </a:endParaRPr>
                    </a:p>
                  </a:txBody>
                  <a:tcPr anchor="ctr">
                    <a:lnT w="12700" cap="flat" cmpd="sng" algn="ctr">
                      <a:solidFill>
                        <a:schemeClr val="bg2"/>
                      </a:solidFill>
                      <a:prstDash val="solid"/>
                      <a:round/>
                      <a:headEnd type="none" w="med" len="med"/>
                      <a:tailEnd type="none" w="med" len="med"/>
                    </a:lnT>
                  </a:tcPr>
                </a:tc>
              </a:tr>
              <a:tr h="476250">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众包项目控制</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tc>
                <a:tc>
                  <a:txBody>
                    <a:bodyPr/>
                    <a:lstStyle/>
                    <a:p>
                      <a:pPr algn="ctr"/>
                      <a:r>
                        <a:rPr lang="zh-CN" altLang="en-US" sz="2000" dirty="0">
                          <a:solidFill>
                            <a:srgbClr val="C00000"/>
                          </a:solidFill>
                          <a:latin typeface="腾讯体 W7" panose="020C08030202040F0204" pitchFamily="34" charset="-122"/>
                          <a:ea typeface="腾讯体 W7" panose="020C08030202040F0204" pitchFamily="34" charset="-122"/>
                          <a:sym typeface="+mn-ea"/>
                        </a:rPr>
                        <a:t>无</a:t>
                      </a:r>
                      <a:endParaRPr lang="zh-CN" altLang="en-US" sz="2000" b="0" dirty="0">
                        <a:solidFill>
                          <a:srgbClr val="C00000"/>
                        </a:solidFill>
                        <a:latin typeface="腾讯体 W7" panose="020C08030202040F0204" pitchFamily="34" charset="-122"/>
                        <a:ea typeface="腾讯体 W7" panose="020C08030202040F0204" pitchFamily="34" charset="-122"/>
                        <a:sym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dirty="0">
                          <a:solidFill>
                            <a:schemeClr val="bg1"/>
                          </a:solidFill>
                          <a:latin typeface="腾讯体 W7" panose="020C08030202040F0204" pitchFamily="34" charset="-122"/>
                          <a:ea typeface="腾讯体 W7" panose="020C08030202040F0204" pitchFamily="34" charset="-122"/>
                        </a:rPr>
                        <a:t>平台化管理</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solidFill>
                      <a:schemeClr val="tx2">
                        <a:lumMod val="50000"/>
                        <a:alpha val="50000"/>
                      </a:schemeClr>
                    </a:solidFill>
                  </a:tcPr>
                </a:tc>
                <a:tc>
                  <a:txBody>
                    <a:bodyPr/>
                    <a:lstStyle/>
                    <a:p>
                      <a:pPr algn="ctr"/>
                      <a:r>
                        <a:rPr lang="zh-CN" altLang="en-US" sz="2000" b="0" dirty="0">
                          <a:solidFill>
                            <a:srgbClr val="C00000"/>
                          </a:solidFill>
                          <a:latin typeface="腾讯体 W7" panose="020C08030202040F0204" pitchFamily="34" charset="-122"/>
                          <a:ea typeface="腾讯体 W7" panose="020C08030202040F0204" pitchFamily="34" charset="-122"/>
                        </a:rPr>
                        <a:t>无</a:t>
                      </a:r>
                      <a:endParaRPr lang="zh-CN" altLang="en-US" sz="2000" b="0" dirty="0">
                        <a:solidFill>
                          <a:srgbClr val="C00000"/>
                        </a:solidFill>
                        <a:latin typeface="腾讯体 W7" panose="020C08030202040F0204" pitchFamily="34" charset="-122"/>
                        <a:ea typeface="腾讯体 W7" panose="020C08030202040F0204" pitchFamily="34" charset="-122"/>
                      </a:endParaRPr>
                    </a:p>
                  </a:txBody>
                  <a:tcPr anchor="ctr"/>
                </a:tc>
              </a:tr>
              <a:tr h="476250">
                <a:tc>
                  <a:txBody>
                    <a:bodyPr/>
                    <a:lstStyle/>
                    <a:p>
                      <a:pPr algn="ctr"/>
                      <a:r>
                        <a:rPr lang="zh-CN" altLang="en-US" sz="2000" dirty="0">
                          <a:solidFill>
                            <a:schemeClr val="bg1"/>
                          </a:solidFill>
                          <a:latin typeface="腾讯体 W7" panose="020C08030202040F0204" pitchFamily="34" charset="-122"/>
                          <a:ea typeface="腾讯体 W7" panose="020C08030202040F0204" pitchFamily="34" charset="-122"/>
                          <a:sym typeface="+mn-ea"/>
                        </a:rPr>
                        <a:t>智能实体识别</a:t>
                      </a:r>
                      <a:endParaRPr lang="zh-CN" altLang="en-US" sz="2000" b="0" dirty="0">
                        <a:solidFill>
                          <a:schemeClr val="bg1"/>
                        </a:solidFill>
                        <a:latin typeface="腾讯体 W7" panose="020C08030202040F0204" pitchFamily="34" charset="-122"/>
                        <a:ea typeface="腾讯体 W7" panose="020C08030202040F0204" pitchFamily="34" charset="-122"/>
                        <a:sym typeface="+mn-ea"/>
                      </a:endParaRPr>
                    </a:p>
                  </a:txBody>
                  <a:tcPr anchor="ctr"/>
                </a:tc>
                <a:tc>
                  <a:txBody>
                    <a:bodyPr/>
                    <a:lstStyle/>
                    <a:p>
                      <a:pPr algn="ctr"/>
                      <a:r>
                        <a:rPr lang="zh-CN" altLang="en-US" sz="2000" b="0" dirty="0">
                          <a:solidFill>
                            <a:srgbClr val="C00000"/>
                          </a:solidFill>
                          <a:latin typeface="腾讯体 W7" panose="020C08030202040F0204" pitchFamily="34" charset="-122"/>
                          <a:ea typeface="腾讯体 W7" panose="020C08030202040F0204" pitchFamily="34" charset="-122"/>
                        </a:rPr>
                        <a:t>无</a:t>
                      </a:r>
                      <a:endParaRPr lang="zh-CN" altLang="en-US" sz="2000" b="0" dirty="0">
                        <a:solidFill>
                          <a:srgbClr val="C00000"/>
                        </a:solidFill>
                        <a:latin typeface="腾讯体 W7" panose="020C08030202040F0204" pitchFamily="34" charset="-122"/>
                        <a:ea typeface="腾讯体 W7" panose="020C08030202040F0204" pitchFamily="34" charset="-122"/>
                      </a:endParaRPr>
                    </a:p>
                  </a:txBody>
                  <a:tcPr anchor="ct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高精度</a:t>
                      </a:r>
                      <a:r>
                        <a:rPr lang="zh-CN" altLang="en-US" sz="2000" dirty="0">
                          <a:solidFill>
                            <a:schemeClr val="bg1"/>
                          </a:solidFill>
                          <a:latin typeface="腾讯体 W7" panose="020C08030202040F0204" pitchFamily="34" charset="-122"/>
                          <a:ea typeface="腾讯体 W7" panose="020C08030202040F0204" pitchFamily="34" charset="-122"/>
                          <a:sym typeface="+mn-ea"/>
                        </a:rPr>
                        <a:t>识别</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solidFill>
                      <a:schemeClr val="tx2">
                        <a:lumMod val="50000"/>
                        <a:alpha val="50000"/>
                      </a:schemeClr>
                    </a:solidFill>
                  </a:tcP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低精度识别</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tc>
              </a:tr>
              <a:tr h="476250">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社区共享协作</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B w="12700" cap="flat" cmpd="sng" algn="ctr">
                      <a:solidFill>
                        <a:schemeClr val="bg2"/>
                      </a:solidFill>
                      <a:prstDash val="solid"/>
                      <a:round/>
                      <a:headEnd type="none" w="med" len="med"/>
                      <a:tailEnd type="none" w="med" len="med"/>
                    </a:lnB>
                  </a:tcP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文档共享</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B w="12700" cap="flat" cmpd="sng" algn="ctr">
                      <a:solidFill>
                        <a:schemeClr val="bg2"/>
                      </a:solidFill>
                      <a:prstDash val="solid"/>
                      <a:round/>
                      <a:headEnd type="none" w="med" len="med"/>
                      <a:tailEnd type="none" w="med" len="med"/>
                    </a:lnB>
                  </a:tcP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文档与模型共享</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B w="12700" cap="flat" cmpd="sng" algn="ctr">
                      <a:solidFill>
                        <a:schemeClr val="bg2"/>
                      </a:solidFill>
                      <a:prstDash val="solid"/>
                      <a:round/>
                      <a:headEnd type="none" w="med" len="med"/>
                      <a:tailEnd type="none" w="med" len="med"/>
                    </a:lnB>
                    <a:solidFill>
                      <a:schemeClr val="tx2">
                        <a:lumMod val="50000"/>
                        <a:alpha val="50000"/>
                      </a:schemeClr>
                    </a:solidFill>
                  </a:tcPr>
                </a:tc>
                <a:tc>
                  <a:txBody>
                    <a:bodyPr/>
                    <a:lstStyle/>
                    <a:p>
                      <a:pPr algn="ctr"/>
                      <a:r>
                        <a:rPr lang="zh-CN" altLang="en-US" sz="2000" b="0" dirty="0">
                          <a:solidFill>
                            <a:schemeClr val="bg1"/>
                          </a:solidFill>
                          <a:latin typeface="腾讯体 W7" panose="020C08030202040F0204" pitchFamily="34" charset="-122"/>
                          <a:ea typeface="腾讯体 W7" panose="020C08030202040F0204" pitchFamily="34" charset="-122"/>
                        </a:rPr>
                        <a:t>模型共享</a:t>
                      </a:r>
                      <a:endParaRPr lang="zh-CN" altLang="en-US" sz="2000" b="0" dirty="0">
                        <a:solidFill>
                          <a:schemeClr val="bg1"/>
                        </a:solidFill>
                        <a:latin typeface="腾讯体 W7" panose="020C08030202040F0204" pitchFamily="34" charset="-122"/>
                        <a:ea typeface="腾讯体 W7" panose="020C08030202040F0204" pitchFamily="34" charset="-122"/>
                      </a:endParaRPr>
                    </a:p>
                  </a:txBody>
                  <a:tcPr anchor="ctr">
                    <a:lnB w="12700" cap="flat" cmpd="sng" algn="ctr">
                      <a:solidFill>
                        <a:schemeClr val="bg2"/>
                      </a:solidFill>
                      <a:prstDash val="solid"/>
                      <a:round/>
                      <a:headEnd type="none" w="med" len="med"/>
                      <a:tailEnd type="none" w="med" len="med"/>
                    </a:lnB>
                  </a:tcPr>
                </a:tc>
              </a:tr>
            </a:tbl>
          </a:graphicData>
        </a:graphic>
      </p:graphicFrame>
      <p:pic>
        <p:nvPicPr>
          <p:cNvPr id="3" name="图片 2"/>
          <p:cNvPicPr/>
          <p:nvPr/>
        </p:nvPicPr>
        <p:blipFill>
          <a:blip r:embed="rId2"/>
        </p:blipFill>
        <p:spPr>
          <a:xfrm>
            <a:off x="2451100" y="951230"/>
            <a:ext cx="2440940" cy="2225675"/>
          </a:xfrm>
          <a:prstGeom prst="rect">
            <a:avLst/>
          </a:prstGeom>
        </p:spPr>
      </p:pic>
      <p:pic>
        <p:nvPicPr>
          <p:cNvPr id="5" name="图片 4"/>
          <p:cNvPicPr/>
          <p:nvPr/>
        </p:nvPicPr>
        <p:blipFill>
          <a:blip r:embed="rId3"/>
        </p:blipFill>
        <p:spPr>
          <a:xfrm>
            <a:off x="4940935" y="1201420"/>
            <a:ext cx="2440305" cy="1680845"/>
          </a:xfrm>
          <a:prstGeom prst="rect">
            <a:avLst/>
          </a:prstGeom>
        </p:spPr>
      </p:pic>
      <p:pic>
        <p:nvPicPr>
          <p:cNvPr id="6" name="图片 5"/>
          <p:cNvPicPr/>
          <p:nvPr/>
        </p:nvPicPr>
        <p:blipFill>
          <a:blip r:embed="rId4"/>
        </p:blipFill>
        <p:spPr>
          <a:xfrm>
            <a:off x="0" y="1033780"/>
            <a:ext cx="2339340" cy="1976120"/>
          </a:xfrm>
          <a:prstGeom prst="rect">
            <a:avLst/>
          </a:prstGeom>
        </p:spPr>
      </p:pic>
      <p:pic>
        <p:nvPicPr>
          <p:cNvPr id="7" name="图片 6"/>
          <p:cNvPicPr/>
          <p:nvPr/>
        </p:nvPicPr>
        <p:blipFill>
          <a:blip r:embed="rId5"/>
        </p:blipFill>
        <p:spPr>
          <a:xfrm>
            <a:off x="7430135" y="1201420"/>
            <a:ext cx="2376170" cy="1735455"/>
          </a:xfrm>
          <a:prstGeom prst="rect">
            <a:avLst/>
          </a:prstGeom>
        </p:spPr>
      </p:pic>
      <p:pic>
        <p:nvPicPr>
          <p:cNvPr id="8" name="图片 7"/>
          <p:cNvPicPr/>
          <p:nvPr/>
        </p:nvPicPr>
        <p:blipFill>
          <a:blip r:embed="rId6"/>
        </p:blipFill>
        <p:spPr>
          <a:xfrm>
            <a:off x="9882505" y="1130935"/>
            <a:ext cx="2309495" cy="1912620"/>
          </a:xfrm>
          <a:prstGeom prst="rect">
            <a:avLst/>
          </a:prstGeom>
        </p:spPr>
      </p:pic>
      <p:grpSp>
        <p:nvGrpSpPr>
          <p:cNvPr id="11" name="组合 10"/>
          <p:cNvGrpSpPr/>
          <p:nvPr/>
        </p:nvGrpSpPr>
        <p:grpSpPr>
          <a:xfrm>
            <a:off x="0" y="829945"/>
            <a:ext cx="19710400" cy="2492375"/>
            <a:chOff x="-120" y="1250"/>
            <a:chExt cx="31040" cy="3925"/>
          </a:xfrm>
        </p:grpSpPr>
        <p:pic>
          <p:nvPicPr>
            <p:cNvPr id="9" name="图片 8" descr="tikigiki_filmstrip-0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 y="1250"/>
              <a:ext cx="15520" cy="3925"/>
            </a:xfrm>
            <a:prstGeom prst="rect">
              <a:avLst/>
            </a:prstGeom>
          </p:spPr>
        </p:pic>
        <p:pic>
          <p:nvPicPr>
            <p:cNvPr id="10" name="图片 9" descr="tikigiki_filmstrip-0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400" y="1250"/>
              <a:ext cx="15520" cy="3925"/>
            </a:xfrm>
            <a:prstGeom prst="rect">
              <a:avLst/>
            </a:prstGeom>
          </p:spPr>
        </p:pic>
      </p:grpSp>
      <p:sp>
        <p:nvSpPr>
          <p:cNvPr id="13" name="标题 12"/>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竞品分析</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产品定位</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2" name="文本框 1"/>
          <p:cNvSpPr txBox="1"/>
          <p:nvPr/>
        </p:nvSpPr>
        <p:spPr>
          <a:xfrm>
            <a:off x="577215" y="867410"/>
            <a:ext cx="11515725" cy="829945"/>
          </a:xfrm>
          <a:prstGeom prst="rect">
            <a:avLst/>
          </a:prstGeom>
          <a:noFill/>
        </p:spPr>
        <p:txBody>
          <a:bodyPr wrap="square" rtlCol="0">
            <a:spAutoFit/>
          </a:bodyPr>
          <a:lstStyle/>
          <a:p>
            <a:pPr marL="285750" indent="-285750" fontAlgn="auto">
              <a:lnSpc>
                <a:spcPct val="150000"/>
              </a:lnSpc>
              <a:buFont typeface="Arial" panose="020B0604020202020204" pitchFamily="34" charset="0"/>
              <a:buChar char="•"/>
            </a:pPr>
            <a:r>
              <a:rPr lang="en-US" altLang="zh-CN" sz="32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ITAS:  </a:t>
            </a:r>
            <a:r>
              <a:rPr lang="zh-CN" altLang="en-US" sz="32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智能文本标注系统</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（Intelligent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T</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ext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A</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nnotation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S</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ystem）</a:t>
            </a:r>
            <a:endPar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3" name="矩形: 剪去左右顶角 12"/>
          <p:cNvSpPr/>
          <p:nvPr/>
        </p:nvSpPr>
        <p:spPr>
          <a:xfrm>
            <a:off x="8832850" y="2274570"/>
            <a:ext cx="2691130" cy="1064260"/>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跨领域</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cross-disciplinary</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4" name="矩形: 剪去左右顶角 13"/>
          <p:cNvSpPr/>
          <p:nvPr/>
        </p:nvSpPr>
        <p:spPr>
          <a:xfrm>
            <a:off x="6029089"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平台化</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platform-based</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5" name="矩形: 剪去左右顶角 14"/>
          <p:cNvSpPr/>
          <p:nvPr/>
        </p:nvSpPr>
        <p:spPr>
          <a:xfrm>
            <a:off x="3225147"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高精度</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high-precision</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6" name="矩形: 剪去左右顶角 15"/>
          <p:cNvSpPr/>
          <p:nvPr/>
        </p:nvSpPr>
        <p:spPr>
          <a:xfrm>
            <a:off x="344616"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自动化</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automated</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7" name="箭头: 下 16"/>
          <p:cNvSpPr/>
          <p:nvPr/>
        </p:nvSpPr>
        <p:spPr>
          <a:xfrm>
            <a:off x="1013548" y="3396831"/>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9" name="箭头: 下 18"/>
          <p:cNvSpPr/>
          <p:nvPr/>
        </p:nvSpPr>
        <p:spPr>
          <a:xfrm>
            <a:off x="3897710" y="3396830"/>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0" name="箭头: 下 19"/>
          <p:cNvSpPr/>
          <p:nvPr/>
        </p:nvSpPr>
        <p:spPr>
          <a:xfrm>
            <a:off x="6781873" y="3396829"/>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1" name="箭头: 下 20"/>
          <p:cNvSpPr/>
          <p:nvPr/>
        </p:nvSpPr>
        <p:spPr>
          <a:xfrm>
            <a:off x="9666035" y="3396829"/>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腾讯体 W7" panose="020C08030202040F0204" pitchFamily="34" charset="-122"/>
              <a:ea typeface="腾讯体 W7" panose="020C08030202040F0204" pitchFamily="34" charset="-122"/>
            </a:endParaRPr>
          </a:p>
        </p:txBody>
      </p:sp>
      <p:sp>
        <p:nvSpPr>
          <p:cNvPr id="23" name="文本框 22"/>
          <p:cNvSpPr txBox="1"/>
          <p:nvPr/>
        </p:nvSpPr>
        <p:spPr>
          <a:xfrm>
            <a:off x="202211" y="4275470"/>
            <a:ext cx="2523188" cy="1476375"/>
          </a:xfrm>
          <a:prstGeom prst="rect">
            <a:avLst/>
          </a:prstGeom>
          <a:noFill/>
        </p:spPr>
        <p:txBody>
          <a:bodyPr wrap="square">
            <a:spAutoFit/>
          </a:bodyPr>
          <a:lstStyle/>
          <a:p>
            <a:pPr algn="r">
              <a:lnSpc>
                <a:spcPts val="3600"/>
              </a:lnSpc>
            </a:pP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自动化</a:t>
            </a:r>
            <a:r>
              <a:rPr lang="zh-CN" altLang="en-US" sz="1800" dirty="0">
                <a:solidFill>
                  <a:schemeClr val="bg1"/>
                </a:solidFill>
                <a:latin typeface="腾讯体 W7" panose="020C08030202040F0204" pitchFamily="34" charset="-122"/>
                <a:ea typeface="腾讯体 W7" panose="020C08030202040F0204" pitchFamily="34" charset="-122"/>
              </a:rPr>
              <a:t>提取预设定义的关键信息，</a:t>
            </a:r>
            <a:r>
              <a:rPr lang="zh-CN" altLang="en-US" dirty="0">
                <a:solidFill>
                  <a:schemeClr val="bg1"/>
                </a:solidFill>
                <a:latin typeface="腾讯体 W7" panose="020C08030202040F0204" pitchFamily="34" charset="-122"/>
                <a:ea typeface="腾讯体 W7" panose="020C08030202040F0204" pitchFamily="34" charset="-122"/>
              </a:rPr>
              <a:t>减少</a:t>
            </a:r>
            <a:r>
              <a:rPr lang="zh-CN" altLang="en-US" sz="1800" dirty="0">
                <a:solidFill>
                  <a:schemeClr val="bg1"/>
                </a:solidFill>
                <a:latin typeface="腾讯体 W7" panose="020C08030202040F0204" pitchFamily="34" charset="-122"/>
                <a:ea typeface="腾讯体 W7" panose="020C08030202040F0204" pitchFamily="34" charset="-122"/>
              </a:rPr>
              <a:t>人工干预，</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提高</a:t>
            </a:r>
            <a:r>
              <a:rPr lang="zh-CN" altLang="en-US" sz="1800" dirty="0">
                <a:solidFill>
                  <a:schemeClr val="bg1"/>
                </a:solidFill>
                <a:latin typeface="腾讯体 W7" panose="020C08030202040F0204" pitchFamily="34" charset="-122"/>
                <a:ea typeface="腾讯体 W7" panose="020C08030202040F0204" pitchFamily="34" charset="-122"/>
              </a:rPr>
              <a:t>提取效率。</a:t>
            </a:r>
            <a:endParaRPr lang="en-US" altLang="zh-CN" sz="2000" b="1" dirty="0">
              <a:solidFill>
                <a:srgbClr val="FFFF00"/>
              </a:solidFill>
              <a:latin typeface="腾讯体 W7" panose="020C08030202040F0204" pitchFamily="34" charset="-122"/>
              <a:ea typeface="腾讯体 W7" panose="020C08030202040F0204" pitchFamily="34" charset="-122"/>
            </a:endParaRPr>
          </a:p>
        </p:txBody>
      </p:sp>
      <p:sp>
        <p:nvSpPr>
          <p:cNvPr id="25" name="文本框 24"/>
          <p:cNvSpPr txBox="1"/>
          <p:nvPr/>
        </p:nvSpPr>
        <p:spPr>
          <a:xfrm>
            <a:off x="3016885" y="4375150"/>
            <a:ext cx="3110230"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利用自然语言处理技术</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提高</a:t>
            </a:r>
            <a:r>
              <a:rPr lang="zh-CN" altLang="en-US" dirty="0">
                <a:solidFill>
                  <a:schemeClr val="bg1"/>
                </a:solidFill>
                <a:latin typeface="腾讯体 W7" panose="020C08030202040F0204" pitchFamily="34" charset="-122"/>
                <a:ea typeface="腾讯体 W7" panose="020C08030202040F0204" pitchFamily="34" charset="-122"/>
              </a:rPr>
              <a:t>提取精确度，通过</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智能推荐</a:t>
            </a:r>
            <a:r>
              <a:rPr lang="zh-CN" altLang="en-US" dirty="0">
                <a:solidFill>
                  <a:schemeClr val="bg1"/>
                </a:solidFill>
                <a:latin typeface="腾讯体 W7" panose="020C08030202040F0204" pitchFamily="34" charset="-122"/>
                <a:ea typeface="腾讯体 W7" panose="020C08030202040F0204" pitchFamily="34" charset="-122"/>
              </a:rPr>
              <a:t>和辅助功能，有效减少人为错误，提升标注精确度。</a:t>
            </a:r>
            <a:endParaRPr lang="zh-CN" altLang="en-US" dirty="0">
              <a:solidFill>
                <a:schemeClr val="bg1"/>
              </a:solidFill>
              <a:latin typeface="腾讯体 W7" panose="020C08030202040F0204" pitchFamily="34" charset="-122"/>
              <a:ea typeface="腾讯体 W7" panose="020C08030202040F0204" pitchFamily="34" charset="-122"/>
            </a:endParaRPr>
          </a:p>
        </p:txBody>
      </p:sp>
      <p:sp>
        <p:nvSpPr>
          <p:cNvPr id="28" name="文本框 27"/>
          <p:cNvSpPr txBox="1"/>
          <p:nvPr/>
        </p:nvSpPr>
        <p:spPr>
          <a:xfrm>
            <a:off x="6127938" y="4374985"/>
            <a:ext cx="2705093"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提供科学文献标注和信息挖掘，支持</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多人协作</a:t>
            </a:r>
            <a:r>
              <a:rPr lang="zh-CN" altLang="en-US" dirty="0">
                <a:solidFill>
                  <a:schemeClr val="bg1"/>
                </a:solidFill>
                <a:latin typeface="腾讯体 W7" panose="020C08030202040F0204" pitchFamily="34" charset="-122"/>
                <a:ea typeface="腾讯体 W7" panose="020C08030202040F0204" pitchFamily="34" charset="-122"/>
              </a:rPr>
              <a:t>和项目管理，</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个性化定制</a:t>
            </a:r>
            <a:r>
              <a:rPr lang="zh-CN" altLang="en-US" dirty="0">
                <a:solidFill>
                  <a:schemeClr val="bg1"/>
                </a:solidFill>
                <a:latin typeface="腾讯体 W7" panose="020C08030202040F0204" pitchFamily="34" charset="-122"/>
                <a:ea typeface="腾讯体 W7" panose="020C08030202040F0204" pitchFamily="34" charset="-122"/>
              </a:rPr>
              <a:t>标注规则和模板。</a:t>
            </a:r>
            <a:endParaRPr lang="zh-CN" altLang="en-US" dirty="0">
              <a:latin typeface="腾讯体 W7" panose="020C08030202040F0204" pitchFamily="34" charset="-122"/>
              <a:ea typeface="腾讯体 W7" panose="020C08030202040F0204" pitchFamily="34" charset="-122"/>
            </a:endParaRPr>
          </a:p>
        </p:txBody>
      </p:sp>
      <p:sp>
        <p:nvSpPr>
          <p:cNvPr id="33" name="文本框 32"/>
          <p:cNvSpPr txBox="1"/>
          <p:nvPr/>
        </p:nvSpPr>
        <p:spPr>
          <a:xfrm>
            <a:off x="8934450" y="4375150"/>
            <a:ext cx="2795905"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采用模块化设计和</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可配置</a:t>
            </a:r>
            <a:r>
              <a:rPr lang="zh-CN" altLang="en-US" dirty="0">
                <a:solidFill>
                  <a:schemeClr val="bg1"/>
                </a:solidFill>
                <a:latin typeface="腾讯体 W7" panose="020C08030202040F0204" pitchFamily="34" charset="-122"/>
                <a:ea typeface="腾讯体 W7" panose="020C08030202040F0204" pitchFamily="34" charset="-122"/>
              </a:rPr>
              <a:t>的标注预设，支持用户进行</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跨领域</a:t>
            </a:r>
            <a:r>
              <a:rPr lang="zh-CN" altLang="en-US" dirty="0">
                <a:solidFill>
                  <a:schemeClr val="bg1"/>
                </a:solidFill>
                <a:latin typeface="腾讯体 W7" panose="020C08030202040F0204" pitchFamily="34" charset="-122"/>
                <a:ea typeface="腾讯体 W7" panose="020C08030202040F0204" pitchFamily="34" charset="-122"/>
              </a:rPr>
              <a:t>的标注和信息挖掘需求。</a:t>
            </a:r>
            <a:endParaRPr lang="zh-CN" altLang="en-US" dirty="0">
              <a:latin typeface="腾讯体 W7" panose="020C08030202040F0204" pitchFamily="34" charset="-122"/>
              <a:ea typeface="腾讯体 W7" panose="020C08030202040F0204" pitchFamily="34" charset="-122"/>
            </a:endParaRPr>
          </a:p>
        </p:txBody>
      </p:sp>
      <p:sp>
        <p:nvSpPr>
          <p:cNvPr id="35" name="文本框 34"/>
          <p:cNvSpPr txBox="1"/>
          <p:nvPr/>
        </p:nvSpPr>
        <p:spPr>
          <a:xfrm>
            <a:off x="-239843" y="5917096"/>
            <a:ext cx="12171679" cy="646331"/>
          </a:xfrm>
          <a:prstGeom prst="rect">
            <a:avLst/>
          </a:prstGeom>
          <a:noFill/>
        </p:spPr>
        <p:txBody>
          <a:bodyPr wrap="square" rtlCol="0">
            <a:spAutoFit/>
          </a:bodyPr>
          <a:lstStyle/>
          <a:p>
            <a:pPr algn="ctr"/>
            <a:r>
              <a:rPr lang="zh-CN" altLang="en-US" sz="3600" b="1" dirty="0">
                <a:solidFill>
                  <a:srgbClr val="FFFF00"/>
                </a:solidFill>
                <a:latin typeface="腾讯体 W7" panose="020C08030202040F0204" pitchFamily="34" charset="-122"/>
                <a:ea typeface="腾讯体 W7" panose="020C08030202040F0204" pitchFamily="34" charset="-122"/>
              </a:rPr>
              <a:t>智能标注，高效提取，科研领先！</a:t>
            </a:r>
            <a:endParaRPr lang="zh-CN" altLang="en-US" sz="3600" b="1" dirty="0">
              <a:solidFill>
                <a:srgbClr val="FFFF00"/>
              </a:solidFill>
              <a:latin typeface="腾讯体 W7" panose="020C08030202040F0204" pitchFamily="34" charset="-122"/>
              <a:ea typeface="腾讯体 W7" panose="020C08030202040F0204" pitchFamily="34" charset="-122"/>
            </a:endParaRPr>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10942960" y="150495"/>
            <a:ext cx="1137915" cy="1071880"/>
          </a:xfrm>
          <a:prstGeom prst="rect">
            <a:avLst/>
          </a:prstGeom>
        </p:spPr>
      </p:pic>
      <p:sp>
        <p:nvSpPr>
          <p:cNvPr id="4" name="平行四边形 3"/>
          <p:cNvSpPr/>
          <p:nvPr/>
        </p:nvSpPr>
        <p:spPr>
          <a:xfrm>
            <a:off x="11989789"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
          <p:cNvSpPr/>
          <p:nvPr/>
        </p:nvSpPr>
        <p:spPr>
          <a:xfrm>
            <a:off x="5135114"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537354" y="2658963"/>
            <a:ext cx="3458058" cy="922020"/>
            <a:chOff x="872775" y="2487402"/>
            <a:chExt cx="3458058" cy="922020"/>
          </a:xfrm>
        </p:grpSpPr>
        <p:sp>
          <p:nvSpPr>
            <p:cNvPr id="9" name="文本框 8"/>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dirty="0">
                  <a:ln>
                    <a:noFill/>
                  </a:ln>
                  <a:solidFill>
                    <a:srgbClr val="FFFFFF"/>
                  </a:solidFill>
                  <a:latin typeface="腾讯字体包" panose="02010600010101010101" charset="-128"/>
                  <a:ea typeface="腾讯字体包" panose="02010600010101010101" charset="-128"/>
                </a:rPr>
                <a:t>PART 02</a:t>
              </a:r>
              <a:endParaRPr lang="en-US" sz="5400" i="0" u="none" strike="noStrike" kern="1200" spc="100" baseline="0" dirty="0">
                <a:ln>
                  <a:noFill/>
                </a:ln>
                <a:solidFill>
                  <a:srgbClr val="FFFFFF"/>
                </a:solidFill>
                <a:latin typeface="腾讯字体包" panose="02010600010101010101" charset="-128"/>
                <a:ea typeface="腾讯字体包" panose="02010600010101010101" charset="-128"/>
              </a:endParaRPr>
            </a:p>
          </p:txBody>
        </p:sp>
        <p:sp>
          <p:nvSpPr>
            <p:cNvPr id="10" name="等腰三角形 9"/>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panose="02020503050405090304"/>
                <a:ea typeface="腾讯字体包" panose="02010600010101010101" charset="-128"/>
              </a:endParaRPr>
            </a:p>
          </p:txBody>
        </p:sp>
      </p:grpSp>
      <p:sp>
        <p:nvSpPr>
          <p:cNvPr id="11" name="文本框 10"/>
          <p:cNvSpPr txBox="1"/>
          <p:nvPr/>
        </p:nvSpPr>
        <p:spPr>
          <a:xfrm>
            <a:off x="6710045" y="2658745"/>
            <a:ext cx="4840605"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rPr>
              <a:t>项目简介</a:t>
            </a:r>
            <a:endPar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endParaRPr>
          </a:p>
        </p:txBody>
      </p:sp>
      <p:sp>
        <p:nvSpPr>
          <p:cNvPr id="12" name="标题 17"/>
          <p:cNvSpPr txBox="1"/>
          <p:nvPr/>
        </p:nvSpPr>
        <p:spPr>
          <a:xfrm>
            <a:off x="-8159300" y="97155"/>
            <a:ext cx="7244080" cy="6858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产品定位</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13" name="文本框 12"/>
          <p:cNvSpPr txBox="1"/>
          <p:nvPr/>
        </p:nvSpPr>
        <p:spPr>
          <a:xfrm>
            <a:off x="-17711873" y="867410"/>
            <a:ext cx="11515725" cy="829945"/>
          </a:xfrm>
          <a:prstGeom prst="rect">
            <a:avLst/>
          </a:prstGeom>
          <a:noFill/>
        </p:spPr>
        <p:txBody>
          <a:bodyPr wrap="square" rtlCol="0">
            <a:spAutoFit/>
          </a:bodyPr>
          <a:lstStyle/>
          <a:p>
            <a:pPr marL="285750" indent="-285750" fontAlgn="auto">
              <a:lnSpc>
                <a:spcPct val="150000"/>
              </a:lnSpc>
              <a:buFont typeface="Arial" panose="020B0604020202020204" pitchFamily="34" charset="0"/>
              <a:buChar char="•"/>
            </a:pPr>
            <a:r>
              <a:rPr lang="en-US" altLang="zh-CN" sz="32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ITAS:  </a:t>
            </a:r>
            <a:r>
              <a:rPr lang="zh-CN" altLang="en-US" sz="32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智能文本标注系统</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（Intelligent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T</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ext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A</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nnotation </a:t>
            </a:r>
            <a:r>
              <a:rPr lang="en-US" altLang="zh-CN"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S</a:t>
            </a:r>
            <a:r>
              <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rPr>
              <a:t>ystem）</a:t>
            </a:r>
            <a:endParaRPr lang="zh-CN" altLang="en-US" sz="2400" b="1" dirty="0">
              <a:solidFill>
                <a:schemeClr val="bg2"/>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4" name="矩形: 剪去左右顶角 12"/>
          <p:cNvSpPr/>
          <p:nvPr/>
        </p:nvSpPr>
        <p:spPr>
          <a:xfrm>
            <a:off x="-3503902" y="2274570"/>
            <a:ext cx="2691130" cy="1064260"/>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跨领域</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cross-disciplinary</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5" name="矩形: 剪去左右顶角 13"/>
          <p:cNvSpPr/>
          <p:nvPr/>
        </p:nvSpPr>
        <p:spPr>
          <a:xfrm>
            <a:off x="-6307663"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平台化</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platform-based</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6" name="矩形: 剪去左右顶角 14"/>
          <p:cNvSpPr/>
          <p:nvPr/>
        </p:nvSpPr>
        <p:spPr>
          <a:xfrm>
            <a:off x="-9111605"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高精度</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high-precision</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7" name="矩形: 剪去左右顶角 15"/>
          <p:cNvSpPr/>
          <p:nvPr/>
        </p:nvSpPr>
        <p:spPr>
          <a:xfrm>
            <a:off x="-11992136" y="2274601"/>
            <a:ext cx="2523189" cy="1064302"/>
          </a:xfrm>
          <a:prstGeom prst="round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a:softEdge rad="76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腾讯体 W7" panose="020C08030202040F0204" pitchFamily="34" charset="-122"/>
                <a:ea typeface="腾讯体 W7" panose="020C08030202040F0204" pitchFamily="34" charset="-122"/>
                <a:cs typeface="腾讯体 W7" panose="020C08030202040F0204" pitchFamily="34" charset="-122"/>
              </a:rPr>
              <a:t>自动化</a:t>
            </a:r>
            <a:endParaRPr lang="en-US" altLang="zh-CN" sz="2400" dirty="0">
              <a:latin typeface="腾讯体 W7" panose="020C08030202040F0204" pitchFamily="34" charset="-122"/>
              <a:ea typeface="腾讯体 W7" panose="020C08030202040F0204" pitchFamily="34" charset="-122"/>
              <a:cs typeface="腾讯体 W7" panose="020C08030202040F0204" pitchFamily="34" charset="-122"/>
            </a:endParaRPr>
          </a:p>
          <a:p>
            <a:pPr algn="ctr"/>
            <a:r>
              <a:rPr lang="en-US" altLang="zh-CN" sz="2000" dirty="0">
                <a:latin typeface="腾讯体 W7" panose="020C08030202040F0204" pitchFamily="34" charset="-122"/>
                <a:ea typeface="腾讯体 W7" panose="020C08030202040F0204" pitchFamily="34" charset="-122"/>
                <a:cs typeface="腾讯体 W7" panose="020C08030202040F0204" pitchFamily="34" charset="-122"/>
              </a:rPr>
              <a:t>automated</a:t>
            </a:r>
            <a:endParaRPr lang="en-US" altLang="zh-CN" sz="20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8" name="箭头: 下 17"/>
          <p:cNvSpPr/>
          <p:nvPr/>
        </p:nvSpPr>
        <p:spPr>
          <a:xfrm>
            <a:off x="-11323204" y="3396831"/>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9" name="箭头: 下 18"/>
          <p:cNvSpPr/>
          <p:nvPr/>
        </p:nvSpPr>
        <p:spPr>
          <a:xfrm>
            <a:off x="-8439042" y="3396830"/>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1" name="箭头: 下 20"/>
          <p:cNvSpPr/>
          <p:nvPr/>
        </p:nvSpPr>
        <p:spPr>
          <a:xfrm>
            <a:off x="-5554879" y="3396829"/>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23" name="箭头: 下 22"/>
          <p:cNvSpPr/>
          <p:nvPr/>
        </p:nvSpPr>
        <p:spPr>
          <a:xfrm>
            <a:off x="-2670717" y="3396829"/>
            <a:ext cx="1017619" cy="820711"/>
          </a:xfrm>
          <a:prstGeom prst="downArrow">
            <a:avLst/>
          </a:prstGeom>
          <a:gradFill>
            <a:gsLst>
              <a:gs pos="0">
                <a:schemeClr val="accent1">
                  <a:alpha val="86000"/>
                  <a:lumMod val="88000"/>
                </a:schemeClr>
              </a:gs>
              <a:gs pos="75000">
                <a:schemeClr val="accent5">
                  <a:lumMod val="30000"/>
                  <a:lumOff val="70000"/>
                </a:schemeClr>
              </a:gs>
            </a:gsLst>
            <a:lin ang="36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腾讯体 W7" panose="020C08030202040F0204" pitchFamily="34" charset="-122"/>
              <a:ea typeface="腾讯体 W7" panose="020C08030202040F0204" pitchFamily="34" charset="-122"/>
            </a:endParaRPr>
          </a:p>
        </p:txBody>
      </p:sp>
      <p:sp>
        <p:nvSpPr>
          <p:cNvPr id="24" name="文本框 23"/>
          <p:cNvSpPr txBox="1"/>
          <p:nvPr/>
        </p:nvSpPr>
        <p:spPr>
          <a:xfrm>
            <a:off x="-12134541" y="4275470"/>
            <a:ext cx="2523188" cy="1476375"/>
          </a:xfrm>
          <a:prstGeom prst="rect">
            <a:avLst/>
          </a:prstGeom>
          <a:noFill/>
        </p:spPr>
        <p:txBody>
          <a:bodyPr wrap="square">
            <a:spAutoFit/>
          </a:bodyPr>
          <a:lstStyle/>
          <a:p>
            <a:pPr algn="r">
              <a:lnSpc>
                <a:spcPts val="3600"/>
              </a:lnSpc>
            </a:pP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自动化</a:t>
            </a:r>
            <a:r>
              <a:rPr lang="zh-CN" altLang="en-US" sz="1800" dirty="0">
                <a:solidFill>
                  <a:schemeClr val="bg1"/>
                </a:solidFill>
                <a:latin typeface="腾讯体 W7" panose="020C08030202040F0204" pitchFamily="34" charset="-122"/>
                <a:ea typeface="腾讯体 W7" panose="020C08030202040F0204" pitchFamily="34" charset="-122"/>
              </a:rPr>
              <a:t>提取预设定义的关键信息，</a:t>
            </a:r>
            <a:r>
              <a:rPr lang="zh-CN" altLang="en-US" dirty="0">
                <a:solidFill>
                  <a:schemeClr val="bg1"/>
                </a:solidFill>
                <a:latin typeface="腾讯体 W7" panose="020C08030202040F0204" pitchFamily="34" charset="-122"/>
                <a:ea typeface="腾讯体 W7" panose="020C08030202040F0204" pitchFamily="34" charset="-122"/>
              </a:rPr>
              <a:t>减少</a:t>
            </a:r>
            <a:r>
              <a:rPr lang="zh-CN" altLang="en-US" sz="1800" dirty="0">
                <a:solidFill>
                  <a:schemeClr val="bg1"/>
                </a:solidFill>
                <a:latin typeface="腾讯体 W7" panose="020C08030202040F0204" pitchFamily="34" charset="-122"/>
                <a:ea typeface="腾讯体 W7" panose="020C08030202040F0204" pitchFamily="34" charset="-122"/>
              </a:rPr>
              <a:t>人工干预，</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提高</a:t>
            </a:r>
            <a:r>
              <a:rPr lang="zh-CN" altLang="en-US" sz="1800" dirty="0">
                <a:solidFill>
                  <a:schemeClr val="bg1"/>
                </a:solidFill>
                <a:latin typeface="腾讯体 W7" panose="020C08030202040F0204" pitchFamily="34" charset="-122"/>
                <a:ea typeface="腾讯体 W7" panose="020C08030202040F0204" pitchFamily="34" charset="-122"/>
              </a:rPr>
              <a:t>提取效率。</a:t>
            </a:r>
            <a:endParaRPr lang="en-US" altLang="zh-CN" sz="2000" b="1" dirty="0">
              <a:solidFill>
                <a:srgbClr val="FFFF00"/>
              </a:solidFill>
              <a:latin typeface="腾讯体 W7" panose="020C08030202040F0204" pitchFamily="34" charset="-122"/>
              <a:ea typeface="腾讯体 W7" panose="020C08030202040F0204" pitchFamily="34" charset="-122"/>
            </a:endParaRPr>
          </a:p>
        </p:txBody>
      </p:sp>
      <p:sp>
        <p:nvSpPr>
          <p:cNvPr id="25" name="文本框 24"/>
          <p:cNvSpPr txBox="1"/>
          <p:nvPr/>
        </p:nvSpPr>
        <p:spPr>
          <a:xfrm>
            <a:off x="-9319867" y="4375150"/>
            <a:ext cx="3110230"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利用自然语言处理技术</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提高</a:t>
            </a:r>
            <a:r>
              <a:rPr lang="zh-CN" altLang="en-US" dirty="0">
                <a:solidFill>
                  <a:schemeClr val="bg1"/>
                </a:solidFill>
                <a:latin typeface="腾讯体 W7" panose="020C08030202040F0204" pitchFamily="34" charset="-122"/>
                <a:ea typeface="腾讯体 W7" panose="020C08030202040F0204" pitchFamily="34" charset="-122"/>
              </a:rPr>
              <a:t>提取精确度，通过</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智能推荐</a:t>
            </a:r>
            <a:r>
              <a:rPr lang="zh-CN" altLang="en-US" dirty="0">
                <a:solidFill>
                  <a:schemeClr val="bg1"/>
                </a:solidFill>
                <a:latin typeface="腾讯体 W7" panose="020C08030202040F0204" pitchFamily="34" charset="-122"/>
                <a:ea typeface="腾讯体 W7" panose="020C08030202040F0204" pitchFamily="34" charset="-122"/>
              </a:rPr>
              <a:t>和辅助功能，有效减少人为错误，提升标注精确度。</a:t>
            </a:r>
            <a:endParaRPr lang="zh-CN" altLang="en-US" dirty="0">
              <a:solidFill>
                <a:schemeClr val="bg1"/>
              </a:solidFill>
              <a:latin typeface="腾讯体 W7" panose="020C08030202040F0204" pitchFamily="34" charset="-122"/>
              <a:ea typeface="腾讯体 W7" panose="020C08030202040F0204" pitchFamily="34" charset="-122"/>
            </a:endParaRPr>
          </a:p>
        </p:txBody>
      </p:sp>
      <p:sp>
        <p:nvSpPr>
          <p:cNvPr id="26" name="文本框 25"/>
          <p:cNvSpPr txBox="1"/>
          <p:nvPr/>
        </p:nvSpPr>
        <p:spPr>
          <a:xfrm>
            <a:off x="-6208814" y="4374985"/>
            <a:ext cx="2705093"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提供科学文献标注和信息挖掘，支持</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多人协作</a:t>
            </a:r>
            <a:r>
              <a:rPr lang="zh-CN" altLang="en-US" dirty="0">
                <a:solidFill>
                  <a:schemeClr val="bg1"/>
                </a:solidFill>
                <a:latin typeface="腾讯体 W7" panose="020C08030202040F0204" pitchFamily="34" charset="-122"/>
                <a:ea typeface="腾讯体 W7" panose="020C08030202040F0204" pitchFamily="34" charset="-122"/>
              </a:rPr>
              <a:t>和项目管理，</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个性化定制</a:t>
            </a:r>
            <a:r>
              <a:rPr lang="zh-CN" altLang="en-US" dirty="0">
                <a:solidFill>
                  <a:schemeClr val="bg1"/>
                </a:solidFill>
                <a:latin typeface="腾讯体 W7" panose="020C08030202040F0204" pitchFamily="34" charset="-122"/>
                <a:ea typeface="腾讯体 W7" panose="020C08030202040F0204" pitchFamily="34" charset="-122"/>
              </a:rPr>
              <a:t>标注规则和模板。</a:t>
            </a:r>
            <a:endParaRPr lang="zh-CN" altLang="en-US" dirty="0">
              <a:latin typeface="腾讯体 W7" panose="020C08030202040F0204" pitchFamily="34" charset="-122"/>
              <a:ea typeface="腾讯体 W7" panose="020C08030202040F0204" pitchFamily="34" charset="-122"/>
            </a:endParaRPr>
          </a:p>
        </p:txBody>
      </p:sp>
      <p:sp>
        <p:nvSpPr>
          <p:cNvPr id="27" name="文本框 26"/>
          <p:cNvSpPr txBox="1"/>
          <p:nvPr/>
        </p:nvSpPr>
        <p:spPr>
          <a:xfrm>
            <a:off x="-3402302" y="4375150"/>
            <a:ext cx="2795905" cy="1260475"/>
          </a:xfrm>
          <a:prstGeom prst="rect">
            <a:avLst/>
          </a:prstGeom>
          <a:noFill/>
        </p:spPr>
        <p:txBody>
          <a:bodyPr wrap="square">
            <a:spAutoFit/>
          </a:bodyPr>
          <a:lstStyle/>
          <a:p>
            <a:r>
              <a:rPr lang="zh-CN" altLang="en-US" dirty="0">
                <a:solidFill>
                  <a:schemeClr val="bg1"/>
                </a:solidFill>
                <a:latin typeface="腾讯体 W7" panose="020C08030202040F0204" pitchFamily="34" charset="-122"/>
                <a:ea typeface="腾讯体 W7" panose="020C08030202040F0204" pitchFamily="34" charset="-122"/>
              </a:rPr>
              <a:t>采用模块化设计和</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可配置</a:t>
            </a:r>
            <a:r>
              <a:rPr lang="zh-CN" altLang="en-US" dirty="0">
                <a:solidFill>
                  <a:schemeClr val="bg1"/>
                </a:solidFill>
                <a:latin typeface="腾讯体 W7" panose="020C08030202040F0204" pitchFamily="34" charset="-122"/>
                <a:ea typeface="腾讯体 W7" panose="020C08030202040F0204" pitchFamily="34" charset="-122"/>
              </a:rPr>
              <a:t>的标注预设，支持用户进行</a:t>
            </a:r>
            <a:r>
              <a:rPr lang="zh-CN" altLang="en-US" sz="2000" dirty="0">
                <a:solidFill>
                  <a:schemeClr val="accent6">
                    <a:lumMod val="40000"/>
                    <a:lumOff val="60000"/>
                  </a:schemeClr>
                </a:solidFill>
                <a:latin typeface="腾讯体 W7" panose="020C08030202040F0204" pitchFamily="34" charset="-122"/>
                <a:ea typeface="腾讯体 W7" panose="020C08030202040F0204" pitchFamily="34" charset="-122"/>
              </a:rPr>
              <a:t>跨领域</a:t>
            </a:r>
            <a:r>
              <a:rPr lang="zh-CN" altLang="en-US" dirty="0">
                <a:solidFill>
                  <a:schemeClr val="bg1"/>
                </a:solidFill>
                <a:latin typeface="腾讯体 W7" panose="020C08030202040F0204" pitchFamily="34" charset="-122"/>
                <a:ea typeface="腾讯体 W7" panose="020C08030202040F0204" pitchFamily="34" charset="-122"/>
              </a:rPr>
              <a:t>的标注和信息挖掘需求。</a:t>
            </a:r>
            <a:endParaRPr lang="zh-CN" altLang="en-US" dirty="0">
              <a:latin typeface="腾讯体 W7" panose="020C08030202040F0204" pitchFamily="34" charset="-122"/>
              <a:ea typeface="腾讯体 W7" panose="020C08030202040F0204" pitchFamily="34" charset="-122"/>
            </a:endParaRPr>
          </a:p>
        </p:txBody>
      </p:sp>
      <p:sp>
        <p:nvSpPr>
          <p:cNvPr id="29" name="文本框 28"/>
          <p:cNvSpPr txBox="1"/>
          <p:nvPr/>
        </p:nvSpPr>
        <p:spPr>
          <a:xfrm>
            <a:off x="-17027947" y="5917096"/>
            <a:ext cx="12171679" cy="646331"/>
          </a:xfrm>
          <a:prstGeom prst="rect">
            <a:avLst/>
          </a:prstGeom>
          <a:noFill/>
        </p:spPr>
        <p:txBody>
          <a:bodyPr wrap="square" rtlCol="0">
            <a:spAutoFit/>
          </a:bodyPr>
          <a:lstStyle/>
          <a:p>
            <a:pPr algn="ctr"/>
            <a:r>
              <a:rPr lang="zh-CN" altLang="en-US" sz="3600" b="1" dirty="0">
                <a:solidFill>
                  <a:srgbClr val="FFFF00"/>
                </a:solidFill>
                <a:latin typeface="腾讯体 W7" panose="020C08030202040F0204" pitchFamily="34" charset="-122"/>
                <a:ea typeface="腾讯体 W7" panose="020C08030202040F0204" pitchFamily="34" charset="-122"/>
              </a:rPr>
              <a:t>智能标注，高效提取，科研领先！</a:t>
            </a:r>
            <a:endParaRPr lang="zh-CN" altLang="en-US" sz="3600" b="1" dirty="0">
              <a:solidFill>
                <a:srgbClr val="FFFF00"/>
              </a:solidFill>
              <a:latin typeface="腾讯体 W7" panose="020C08030202040F0204" pitchFamily="34" charset="-122"/>
              <a:ea typeface="腾讯体 W7" panose="020C08030202040F0204" pitchFamily="34" charset="-122"/>
            </a:endParaRPr>
          </a:p>
        </p:txBody>
      </p:sp>
      <p:pic>
        <p:nvPicPr>
          <p:cNvPr id="30" name="图片 29"/>
          <p:cNvPicPr>
            <a:picLocks noChangeAspect="1"/>
          </p:cNvPicPr>
          <p:nvPr/>
        </p:nvPicPr>
        <p:blipFill>
          <a:blip r:embed="rId1" cstate="print">
            <a:extLst>
              <a:ext uri="{BEBA8EAE-BF5A-486C-A8C5-ECC9F3942E4B}">
                <a14:imgProps xmlns:a14="http://schemas.microsoft.com/office/drawing/2010/main">
                  <a14:imgLayer r:embed="rId2">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868652" y="150495"/>
            <a:ext cx="612775" cy="5772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1" name="矩形: 圆角 40"/>
          <p:cNvSpPr/>
          <p:nvPr>
            <p:custDataLst>
              <p:tags r:id="rId1"/>
            </p:custDataLst>
          </p:nvPr>
        </p:nvSpPr>
        <p:spPr>
          <a:xfrm>
            <a:off x="152400" y="783590"/>
            <a:ext cx="11783060" cy="5830570"/>
          </a:xfrm>
          <a:prstGeom prst="roundRect">
            <a:avLst>
              <a:gd name="adj" fmla="val 4076"/>
            </a:avLst>
          </a:prstGeom>
          <a:solidFill>
            <a:schemeClr val="bg1"/>
          </a:solidFill>
          <a:ln w="38100">
            <a:solidFill>
              <a:schemeClr val="accent2"/>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6939280" y="1069975"/>
            <a:ext cx="4670374" cy="5424111"/>
            <a:chOff x="10796" y="1014"/>
            <a:chExt cx="7999" cy="9425"/>
          </a:xfrm>
        </p:grpSpPr>
        <p:pic>
          <p:nvPicPr>
            <p:cNvPr id="8" name="图片 7" descr="upload_post_object_v2_39650152"/>
            <p:cNvPicPr>
              <a:picLocks noChangeAspect="1"/>
            </p:cNvPicPr>
            <p:nvPr/>
          </p:nvPicPr>
          <p:blipFill>
            <a:blip r:embed="rId2"/>
            <a:stretch>
              <a:fillRect/>
            </a:stretch>
          </p:blipFill>
          <p:spPr>
            <a:xfrm>
              <a:off x="10796" y="1014"/>
              <a:ext cx="7999" cy="9425"/>
            </a:xfrm>
            <a:prstGeom prst="rect">
              <a:avLst/>
            </a:prstGeom>
          </p:spPr>
        </p:pic>
        <p:sp>
          <p:nvSpPr>
            <p:cNvPr id="9" name="文本框 8"/>
            <p:cNvSpPr txBox="1"/>
            <p:nvPr/>
          </p:nvSpPr>
          <p:spPr>
            <a:xfrm>
              <a:off x="13967" y="2139"/>
              <a:ext cx="2382" cy="396"/>
            </a:xfrm>
            <a:prstGeom prst="rect">
              <a:avLst/>
            </a:prstGeom>
            <a:solidFill>
              <a:schemeClr val="bg1"/>
            </a:solidFill>
          </p:spPr>
          <p:txBody>
            <a:bodyPr wrap="square" rtlCol="0">
              <a:noAutofit/>
            </a:bodyPr>
            <a:lstStyle/>
            <a:p>
              <a:r>
                <a:rPr lang="zh-CN" sz="1200">
                  <a:solidFill>
                    <a:srgbClr val="3F51B6"/>
                  </a:solidFill>
                  <a:latin typeface="腾讯字体包" panose="02010600010101010101" charset="-128"/>
                  <a:ea typeface="腾讯字体包" panose="02010600010101010101" charset="-128"/>
                  <a:cs typeface="+mn-lt"/>
                  <a:sym typeface="+mn-ea"/>
                </a:rPr>
                <a:t>系统标注管理员</a:t>
              </a:r>
              <a:endParaRPr lang="zh-CN" altLang="en-US" sz="1200">
                <a:solidFill>
                  <a:srgbClr val="3F51B6"/>
                </a:solidFill>
                <a:latin typeface="腾讯字体包" panose="02010600010101010101" charset="-128"/>
                <a:ea typeface="腾讯字体包" panose="02010600010101010101" charset="-128"/>
                <a:cs typeface="+mn-lt"/>
                <a:sym typeface="+mn-ea"/>
              </a:endParaRPr>
            </a:p>
          </p:txBody>
        </p:sp>
        <p:sp>
          <p:nvSpPr>
            <p:cNvPr id="10" name="文本框 9"/>
            <p:cNvSpPr txBox="1"/>
            <p:nvPr>
              <p:custDataLst>
                <p:tags r:id="rId3"/>
              </p:custDataLst>
            </p:nvPr>
          </p:nvSpPr>
          <p:spPr>
            <a:xfrm>
              <a:off x="11631" y="2140"/>
              <a:ext cx="2018" cy="396"/>
            </a:xfrm>
            <a:prstGeom prst="rect">
              <a:avLst/>
            </a:prstGeom>
            <a:solidFill>
              <a:schemeClr val="bg1"/>
            </a:solidFill>
          </p:spPr>
          <p:txBody>
            <a:bodyPr wrap="square" rtlCol="0">
              <a:noAutofit/>
            </a:bodyPr>
            <a:lstStyle/>
            <a:p>
              <a:r>
                <a:rPr lang="zh-CN" sz="1200">
                  <a:solidFill>
                    <a:srgbClr val="3F51B6"/>
                  </a:solidFill>
                  <a:latin typeface="腾讯字体包" panose="02010600010101010101" charset="-128"/>
                  <a:ea typeface="腾讯字体包" panose="02010600010101010101" charset="-128"/>
                  <a:cs typeface="+mn-lt"/>
                  <a:sym typeface="+mn-ea"/>
                </a:rPr>
                <a:t>数据标注员</a:t>
              </a:r>
              <a:endParaRPr lang="zh-CN" altLang="en-US" sz="1200">
                <a:solidFill>
                  <a:srgbClr val="3F51B6"/>
                </a:solidFill>
                <a:latin typeface="腾讯字体包" panose="02010600010101010101" charset="-128"/>
                <a:ea typeface="腾讯字体包" panose="02010600010101010101" charset="-128"/>
                <a:cs typeface="+mn-lt"/>
                <a:sym typeface="+mn-ea"/>
              </a:endParaRPr>
            </a:p>
          </p:txBody>
        </p:sp>
        <p:sp>
          <p:nvSpPr>
            <p:cNvPr id="11" name="文本框 10"/>
            <p:cNvSpPr txBox="1"/>
            <p:nvPr>
              <p:custDataLst>
                <p:tags r:id="rId4"/>
              </p:custDataLst>
            </p:nvPr>
          </p:nvSpPr>
          <p:spPr>
            <a:xfrm>
              <a:off x="16623" y="2140"/>
              <a:ext cx="2018" cy="396"/>
            </a:xfrm>
            <a:prstGeom prst="rect">
              <a:avLst/>
            </a:prstGeom>
            <a:solidFill>
              <a:schemeClr val="bg1"/>
            </a:solidFill>
          </p:spPr>
          <p:txBody>
            <a:bodyPr wrap="square" rtlCol="0">
              <a:noAutofit/>
            </a:bodyPr>
            <a:lstStyle/>
            <a:p>
              <a:r>
                <a:rPr lang="zh-CN" sz="1200">
                  <a:solidFill>
                    <a:srgbClr val="3F51B6"/>
                  </a:solidFill>
                  <a:latin typeface="腾讯字体包" panose="02010600010101010101" charset="-128"/>
                  <a:ea typeface="腾讯字体包" panose="02010600010101010101" charset="-128"/>
                  <a:cs typeface="+mn-lt"/>
                  <a:sym typeface="+mn-ea"/>
                </a:rPr>
                <a:t>科研人员</a:t>
              </a:r>
              <a:endParaRPr lang="zh-CN" altLang="en-US" sz="1200">
                <a:solidFill>
                  <a:srgbClr val="3F51B6"/>
                </a:solidFill>
                <a:latin typeface="腾讯字体包" panose="02010600010101010101" charset="-128"/>
                <a:ea typeface="腾讯字体包" panose="02010600010101010101" charset="-128"/>
                <a:cs typeface="+mn-lt"/>
                <a:sym typeface="+mn-ea"/>
              </a:endParaRPr>
            </a:p>
          </p:txBody>
        </p:sp>
        <p:sp>
          <p:nvSpPr>
            <p:cNvPr id="14" name="文本框 13"/>
            <p:cNvSpPr txBox="1"/>
            <p:nvPr>
              <p:custDataLst>
                <p:tags r:id="rId5"/>
              </p:custDataLst>
            </p:nvPr>
          </p:nvSpPr>
          <p:spPr>
            <a:xfrm>
              <a:off x="16091" y="3022"/>
              <a:ext cx="2042" cy="330"/>
            </a:xfrm>
            <a:prstGeom prst="rect">
              <a:avLst/>
            </a:prstGeom>
            <a:solidFill>
              <a:schemeClr val="bg1"/>
            </a:solidFill>
          </p:spPr>
          <p:txBody>
            <a:bodyPr wrap="square" rtlCol="0">
              <a:noAutofit/>
            </a:bodyPr>
            <a:lstStyle/>
            <a:p>
              <a:r>
                <a:rPr lang="zh-CN" sz="1000">
                  <a:solidFill>
                    <a:srgbClr val="3F51B6"/>
                  </a:solidFill>
                  <a:latin typeface="腾讯字体包" panose="02010600010101010101" charset="-128"/>
                  <a:ea typeface="腾讯字体包" panose="02010600010101010101" charset="-128"/>
                  <a:cs typeface="+mn-lt"/>
                  <a:sym typeface="+mn-ea"/>
                </a:rPr>
                <a:t>智能挖掘子系统</a:t>
              </a:r>
              <a:endParaRPr lang="zh-CN" altLang="en-US" sz="1000">
                <a:solidFill>
                  <a:srgbClr val="3F51B6"/>
                </a:solidFill>
                <a:latin typeface="腾讯字体包" panose="02010600010101010101" charset="-128"/>
                <a:ea typeface="腾讯字体包" panose="02010600010101010101" charset="-128"/>
                <a:cs typeface="+mn-lt"/>
                <a:sym typeface="+mn-ea"/>
              </a:endParaRPr>
            </a:p>
          </p:txBody>
        </p:sp>
        <p:sp>
          <p:nvSpPr>
            <p:cNvPr id="15" name="文本框 14"/>
            <p:cNvSpPr txBox="1"/>
            <p:nvPr>
              <p:custDataLst>
                <p:tags r:id="rId6"/>
              </p:custDataLst>
            </p:nvPr>
          </p:nvSpPr>
          <p:spPr>
            <a:xfrm>
              <a:off x="11714" y="3022"/>
              <a:ext cx="1936" cy="330"/>
            </a:xfrm>
            <a:prstGeom prst="rect">
              <a:avLst/>
            </a:prstGeom>
            <a:solidFill>
              <a:schemeClr val="bg1"/>
            </a:solidFill>
          </p:spPr>
          <p:txBody>
            <a:bodyPr wrap="square" rtlCol="0">
              <a:noAutofit/>
            </a:bodyPr>
            <a:lstStyle/>
            <a:p>
              <a:r>
                <a:rPr lang="zh-CN" sz="1000">
                  <a:solidFill>
                    <a:srgbClr val="3F51B6"/>
                  </a:solidFill>
                  <a:latin typeface="腾讯字体包" panose="02010600010101010101" charset="-128"/>
                  <a:ea typeface="腾讯字体包" panose="02010600010101010101" charset="-128"/>
                  <a:cs typeface="+mn-lt"/>
                  <a:sym typeface="+mn-ea"/>
                </a:rPr>
                <a:t>文本标注子系统</a:t>
              </a:r>
              <a:endParaRPr lang="zh-CN" altLang="en-US" sz="1000">
                <a:solidFill>
                  <a:srgbClr val="3F51B6"/>
                </a:solidFill>
                <a:latin typeface="腾讯字体包" panose="02010600010101010101" charset="-128"/>
                <a:ea typeface="腾讯字体包" panose="02010600010101010101" charset="-128"/>
                <a:cs typeface="+mn-lt"/>
                <a:sym typeface="+mn-ea"/>
              </a:endParaRPr>
            </a:p>
          </p:txBody>
        </p:sp>
      </p:grpSp>
      <p:grpSp>
        <p:nvGrpSpPr>
          <p:cNvPr id="160" name="组合 159"/>
          <p:cNvGrpSpPr/>
          <p:nvPr/>
        </p:nvGrpSpPr>
        <p:grpSpPr>
          <a:xfrm>
            <a:off x="434195" y="1172845"/>
            <a:ext cx="6286644" cy="4420870"/>
            <a:chOff x="1411292" y="1721130"/>
            <a:chExt cx="10232965" cy="4469232"/>
          </a:xfrm>
        </p:grpSpPr>
        <p:sp>
          <p:nvSpPr>
            <p:cNvPr id="161" name="矩形 160"/>
            <p:cNvSpPr/>
            <p:nvPr/>
          </p:nvSpPr>
          <p:spPr>
            <a:xfrm>
              <a:off x="4963817" y="1721130"/>
              <a:ext cx="268996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智能文本标注系统</a:t>
              </a:r>
              <a:r>
                <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(ITAS)</a:t>
              </a:r>
              <a:endPar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63" name="矩形 162"/>
            <p:cNvSpPr/>
            <p:nvPr/>
          </p:nvSpPr>
          <p:spPr>
            <a:xfrm>
              <a:off x="1625443" y="3709123"/>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项目管理</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64" name="矩形 163"/>
            <p:cNvSpPr/>
            <p:nvPr/>
          </p:nvSpPr>
          <p:spPr>
            <a:xfrm>
              <a:off x="4987273" y="3701573"/>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实体标注</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65" name="矩形 164"/>
            <p:cNvSpPr/>
            <p:nvPr/>
          </p:nvSpPr>
          <p:spPr>
            <a:xfrm>
              <a:off x="3286418" y="3694510"/>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数据导出</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66" name="矩形 165"/>
            <p:cNvSpPr/>
            <p:nvPr/>
          </p:nvSpPr>
          <p:spPr>
            <a:xfrm>
              <a:off x="6709357" y="3701767"/>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模型管理</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67" name="矩形 166"/>
            <p:cNvSpPr/>
            <p:nvPr/>
          </p:nvSpPr>
          <p:spPr>
            <a:xfrm>
              <a:off x="8401107" y="3709123"/>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目标挖掘</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68" name="矩形 167"/>
            <p:cNvSpPr/>
            <p:nvPr/>
          </p:nvSpPr>
          <p:spPr>
            <a:xfrm>
              <a:off x="10173934" y="3709123"/>
              <a:ext cx="1353600" cy="48577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记录管理</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2" name="矩形 171"/>
            <p:cNvSpPr/>
            <p:nvPr/>
          </p:nvSpPr>
          <p:spPr>
            <a:xfrm>
              <a:off x="1411292"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项目创建</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3" name="矩形 172"/>
            <p:cNvSpPr/>
            <p:nvPr/>
          </p:nvSpPr>
          <p:spPr>
            <a:xfrm>
              <a:off x="1839573"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项目编辑</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4" name="矩形 173"/>
            <p:cNvSpPr/>
            <p:nvPr/>
          </p:nvSpPr>
          <p:spPr>
            <a:xfrm>
              <a:off x="2267854"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任务分配</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5" name="矩形 174"/>
            <p:cNvSpPr/>
            <p:nvPr/>
          </p:nvSpPr>
          <p:spPr>
            <a:xfrm>
              <a:off x="2696135"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文档上传</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6" name="矩形 175"/>
            <p:cNvSpPr/>
            <p:nvPr/>
          </p:nvSpPr>
          <p:spPr>
            <a:xfrm>
              <a:off x="4829872" y="4847791"/>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偏好设置</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7" name="矩形 176"/>
            <p:cNvSpPr/>
            <p:nvPr/>
          </p:nvSpPr>
          <p:spPr>
            <a:xfrm>
              <a:off x="5258153" y="4847791"/>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标注引导</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8" name="矩形 177"/>
            <p:cNvSpPr/>
            <p:nvPr/>
          </p:nvSpPr>
          <p:spPr>
            <a:xfrm>
              <a:off x="5686434" y="4847791"/>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交互标注</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79" name="矩形 178"/>
            <p:cNvSpPr/>
            <p:nvPr/>
          </p:nvSpPr>
          <p:spPr>
            <a:xfrm>
              <a:off x="6114715" y="4847791"/>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标注统计</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0" name="矩形 179"/>
            <p:cNvSpPr/>
            <p:nvPr/>
          </p:nvSpPr>
          <p:spPr>
            <a:xfrm>
              <a:off x="3114514" y="4840730"/>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结果审核</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1" name="矩形 180"/>
            <p:cNvSpPr/>
            <p:nvPr/>
          </p:nvSpPr>
          <p:spPr>
            <a:xfrm>
              <a:off x="3542795" y="4840730"/>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任务统计</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2" name="矩形 181"/>
            <p:cNvSpPr/>
            <p:nvPr/>
          </p:nvSpPr>
          <p:spPr>
            <a:xfrm>
              <a:off x="3971076" y="4840730"/>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标注导出</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3" name="矩形 182"/>
            <p:cNvSpPr/>
            <p:nvPr/>
          </p:nvSpPr>
          <p:spPr>
            <a:xfrm>
              <a:off x="6550664"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模型上传</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4" name="矩形 183"/>
            <p:cNvSpPr/>
            <p:nvPr/>
          </p:nvSpPr>
          <p:spPr>
            <a:xfrm>
              <a:off x="4399357" y="4840730"/>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模型生成</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5" name="矩形 184"/>
            <p:cNvSpPr/>
            <p:nvPr/>
          </p:nvSpPr>
          <p:spPr>
            <a:xfrm>
              <a:off x="6978945"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模型编辑</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6" name="矩形 185"/>
            <p:cNvSpPr/>
            <p:nvPr/>
          </p:nvSpPr>
          <p:spPr>
            <a:xfrm>
              <a:off x="7407226"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模型删除</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7" name="矩形 186"/>
            <p:cNvSpPr/>
            <p:nvPr/>
          </p:nvSpPr>
          <p:spPr>
            <a:xfrm>
              <a:off x="7835507"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模型查看</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8" name="矩形 187"/>
            <p:cNvSpPr/>
            <p:nvPr/>
          </p:nvSpPr>
          <p:spPr>
            <a:xfrm>
              <a:off x="8263788"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模型选择</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89" name="矩形 188"/>
            <p:cNvSpPr/>
            <p:nvPr/>
          </p:nvSpPr>
          <p:spPr>
            <a:xfrm>
              <a:off x="8692069"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文档上传</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0" name="矩形 189"/>
            <p:cNvSpPr/>
            <p:nvPr/>
          </p:nvSpPr>
          <p:spPr>
            <a:xfrm>
              <a:off x="9130018"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段落提取</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1" name="矩形 190"/>
            <p:cNvSpPr/>
            <p:nvPr/>
          </p:nvSpPr>
          <p:spPr>
            <a:xfrm>
              <a:off x="9558299"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实体挖掘</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2" name="矩形 191"/>
            <p:cNvSpPr/>
            <p:nvPr/>
          </p:nvSpPr>
          <p:spPr>
            <a:xfrm>
              <a:off x="9986580"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记录存档</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3" name="矩形 192"/>
            <p:cNvSpPr/>
            <p:nvPr/>
          </p:nvSpPr>
          <p:spPr>
            <a:xfrm>
              <a:off x="10414861"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记录查看</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4" name="矩形 193"/>
            <p:cNvSpPr/>
            <p:nvPr/>
          </p:nvSpPr>
          <p:spPr>
            <a:xfrm>
              <a:off x="10843142"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记录导出</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95" name="矩形 194"/>
            <p:cNvSpPr/>
            <p:nvPr/>
          </p:nvSpPr>
          <p:spPr>
            <a:xfrm>
              <a:off x="11271429" y="4849717"/>
              <a:ext cx="372828" cy="1340645"/>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标签管理</a:t>
              </a:r>
              <a:endParaRPr lang="zh-CN" altLang="en-US" sz="1200" dirty="0">
                <a:solidFill>
                  <a:schemeClr val="tx1"/>
                </a:solidFill>
                <a:latin typeface="腾讯体 W7" panose="020C08030202040F0204" pitchFamily="34" charset="-122"/>
                <a:ea typeface="腾讯体 W7" panose="020C08030202040F0204" pitchFamily="34" charset="-122"/>
              </a:endParaRPr>
            </a:p>
          </p:txBody>
        </p:sp>
        <p:cxnSp>
          <p:nvCxnSpPr>
            <p:cNvPr id="199" name="连接符: 肘形 69"/>
            <p:cNvCxnSpPr>
              <a:stCxn id="163" idx="2"/>
              <a:endCxn id="172" idx="0"/>
            </p:cNvCxnSpPr>
            <p:nvPr/>
          </p:nvCxnSpPr>
          <p:spPr>
            <a:xfrm rot="5400000">
              <a:off x="1622566" y="4170039"/>
              <a:ext cx="654819" cy="704537"/>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0" name="连接符: 肘形 71"/>
            <p:cNvCxnSpPr>
              <a:stCxn id="163" idx="2"/>
              <a:endCxn id="173" idx="0"/>
            </p:cNvCxnSpPr>
            <p:nvPr/>
          </p:nvCxnSpPr>
          <p:spPr>
            <a:xfrm rot="5400000">
              <a:off x="1836706" y="4384179"/>
              <a:ext cx="654819" cy="276256"/>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1" name="连接符: 肘形 73"/>
            <p:cNvCxnSpPr>
              <a:stCxn id="163" idx="2"/>
              <a:endCxn id="174" idx="0"/>
            </p:cNvCxnSpPr>
            <p:nvPr/>
          </p:nvCxnSpPr>
          <p:spPr>
            <a:xfrm rot="16200000" flipH="1">
              <a:off x="2050846" y="4446294"/>
              <a:ext cx="654819" cy="152025"/>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2" name="连接符: 肘形 75"/>
            <p:cNvCxnSpPr>
              <a:stCxn id="163" idx="2"/>
              <a:endCxn id="175" idx="0"/>
            </p:cNvCxnSpPr>
            <p:nvPr/>
          </p:nvCxnSpPr>
          <p:spPr>
            <a:xfrm rot="16200000" flipH="1">
              <a:off x="2264987" y="4232154"/>
              <a:ext cx="654819" cy="580306"/>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3" name="连接符: 肘形 77"/>
            <p:cNvCxnSpPr>
              <a:stCxn id="164" idx="2"/>
              <a:endCxn id="176" idx="0"/>
            </p:cNvCxnSpPr>
            <p:nvPr/>
          </p:nvCxnSpPr>
          <p:spPr>
            <a:xfrm rot="5400000">
              <a:off x="5009995" y="4194251"/>
              <a:ext cx="660563" cy="647039"/>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4" name="连接符: 肘形 79"/>
            <p:cNvCxnSpPr>
              <a:stCxn id="164" idx="2"/>
              <a:endCxn id="177" idx="0"/>
            </p:cNvCxnSpPr>
            <p:nvPr/>
          </p:nvCxnSpPr>
          <p:spPr>
            <a:xfrm rot="5400000">
              <a:off x="5224469" y="4408724"/>
              <a:ext cx="660563" cy="218092"/>
            </a:xfrm>
            <a:prstGeom prst="bentConnector3">
              <a:avLst>
                <a:gd name="adj1" fmla="val 50049"/>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5" name="连接符: 肘形 81"/>
            <p:cNvCxnSpPr>
              <a:stCxn id="164" idx="2"/>
              <a:endCxn id="178" idx="0"/>
            </p:cNvCxnSpPr>
            <p:nvPr/>
          </p:nvCxnSpPr>
          <p:spPr>
            <a:xfrm rot="5400000" flipV="1">
              <a:off x="5438426" y="4412859"/>
              <a:ext cx="660563" cy="209823"/>
            </a:xfrm>
            <a:prstGeom prst="bentConnector3">
              <a:avLst>
                <a:gd name="adj1" fmla="val 50049"/>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6" name="连接符: 肘形 83"/>
            <p:cNvCxnSpPr>
              <a:stCxn id="164" idx="2"/>
              <a:endCxn id="179" idx="0"/>
            </p:cNvCxnSpPr>
            <p:nvPr/>
          </p:nvCxnSpPr>
          <p:spPr>
            <a:xfrm rot="5400000" flipV="1">
              <a:off x="5652383" y="4198902"/>
              <a:ext cx="660563" cy="637737"/>
            </a:xfrm>
            <a:prstGeom prst="bentConnector3">
              <a:avLst>
                <a:gd name="adj1" fmla="val 50049"/>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7" name="连接符: 肘形 85"/>
            <p:cNvCxnSpPr>
              <a:stCxn id="165" idx="2"/>
              <a:endCxn id="180" idx="0"/>
            </p:cNvCxnSpPr>
            <p:nvPr/>
          </p:nvCxnSpPr>
          <p:spPr>
            <a:xfrm rot="5400000">
              <a:off x="3302473" y="4179954"/>
              <a:ext cx="660563" cy="661510"/>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8" name="连接符: 肘形 87"/>
            <p:cNvCxnSpPr>
              <a:stCxn id="165" idx="2"/>
              <a:endCxn id="181" idx="0"/>
            </p:cNvCxnSpPr>
            <p:nvPr/>
          </p:nvCxnSpPr>
          <p:spPr>
            <a:xfrm rot="5400000">
              <a:off x="3516430" y="4393911"/>
              <a:ext cx="660563" cy="233596"/>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9" name="连接符: 肘形 89"/>
            <p:cNvCxnSpPr>
              <a:stCxn id="165" idx="2"/>
              <a:endCxn id="182" idx="0"/>
            </p:cNvCxnSpPr>
            <p:nvPr/>
          </p:nvCxnSpPr>
          <p:spPr>
            <a:xfrm rot="5400000" flipV="1">
              <a:off x="3730387" y="4413550"/>
              <a:ext cx="660563" cy="194319"/>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0" name="连接符: 肘形 93"/>
            <p:cNvCxnSpPr>
              <a:stCxn id="165" idx="2"/>
              <a:endCxn id="184" idx="0"/>
            </p:cNvCxnSpPr>
            <p:nvPr/>
          </p:nvCxnSpPr>
          <p:spPr>
            <a:xfrm rot="5400000" flipV="1">
              <a:off x="3944861" y="4199076"/>
              <a:ext cx="660563" cy="623266"/>
            </a:xfrm>
            <a:prstGeom prst="bentConnector3">
              <a:avLst>
                <a:gd name="adj1" fmla="val 50049"/>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1" name="连接符: 肘形 95"/>
            <p:cNvCxnSpPr>
              <a:stCxn id="166" idx="2"/>
              <a:endCxn id="183" idx="0"/>
            </p:cNvCxnSpPr>
            <p:nvPr/>
          </p:nvCxnSpPr>
          <p:spPr>
            <a:xfrm rot="5400000">
              <a:off x="6730531" y="4194090"/>
              <a:ext cx="662175" cy="649079"/>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2" name="连接符: 肘形 97"/>
            <p:cNvCxnSpPr>
              <a:stCxn id="166" idx="2"/>
              <a:endCxn id="185" idx="0"/>
            </p:cNvCxnSpPr>
            <p:nvPr/>
          </p:nvCxnSpPr>
          <p:spPr>
            <a:xfrm rot="5400000">
              <a:off x="6944671" y="4408230"/>
              <a:ext cx="662175" cy="220798"/>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3" name="连接符: 肘形 99"/>
            <p:cNvCxnSpPr>
              <a:stCxn id="166" idx="2"/>
              <a:endCxn id="186" idx="0"/>
            </p:cNvCxnSpPr>
            <p:nvPr/>
          </p:nvCxnSpPr>
          <p:spPr>
            <a:xfrm rot="16200000" flipH="1">
              <a:off x="7158811" y="4414887"/>
              <a:ext cx="662175" cy="207483"/>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4" name="连接符: 肘形 103"/>
            <p:cNvCxnSpPr>
              <a:stCxn id="166" idx="2"/>
              <a:endCxn id="187" idx="0"/>
            </p:cNvCxnSpPr>
            <p:nvPr/>
          </p:nvCxnSpPr>
          <p:spPr>
            <a:xfrm rot="16200000" flipH="1">
              <a:off x="7372952" y="4200747"/>
              <a:ext cx="662175" cy="635764"/>
            </a:xfrm>
            <a:prstGeom prst="bentConnector3">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5" name="连接符: 肘形 105"/>
            <p:cNvCxnSpPr>
              <a:stCxn id="167" idx="2"/>
              <a:endCxn id="188" idx="0"/>
            </p:cNvCxnSpPr>
            <p:nvPr/>
          </p:nvCxnSpPr>
          <p:spPr>
            <a:xfrm rot="5400000">
              <a:off x="8436714" y="4208884"/>
              <a:ext cx="654785" cy="627401"/>
            </a:xfrm>
            <a:prstGeom prst="bentConnector3">
              <a:avLst>
                <a:gd name="adj1" fmla="val 49951"/>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6" name="连接符: 肘形 107"/>
            <p:cNvCxnSpPr>
              <a:stCxn id="167" idx="2"/>
              <a:endCxn id="189" idx="0"/>
            </p:cNvCxnSpPr>
            <p:nvPr/>
          </p:nvCxnSpPr>
          <p:spPr>
            <a:xfrm rot="5400000">
              <a:off x="8651188" y="4423358"/>
              <a:ext cx="654785" cy="198453"/>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7" name="连接符: 肘形 109"/>
            <p:cNvCxnSpPr>
              <a:stCxn id="167" idx="2"/>
              <a:endCxn id="190" idx="0"/>
            </p:cNvCxnSpPr>
            <p:nvPr/>
          </p:nvCxnSpPr>
          <p:spPr>
            <a:xfrm rot="5400000" flipV="1">
              <a:off x="8870313" y="4402686"/>
              <a:ext cx="654785" cy="239797"/>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8" name="连接符: 肘形 111"/>
            <p:cNvCxnSpPr>
              <a:stCxn id="167" idx="2"/>
              <a:endCxn id="191" idx="0"/>
            </p:cNvCxnSpPr>
            <p:nvPr/>
          </p:nvCxnSpPr>
          <p:spPr>
            <a:xfrm rot="5400000" flipV="1">
              <a:off x="9084270" y="4188729"/>
              <a:ext cx="654785" cy="667711"/>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9" name="连接符: 肘形 113"/>
            <p:cNvCxnSpPr>
              <a:stCxn id="168" idx="2"/>
              <a:endCxn id="192" idx="0"/>
            </p:cNvCxnSpPr>
            <p:nvPr/>
          </p:nvCxnSpPr>
          <p:spPr>
            <a:xfrm rot="5400000">
              <a:off x="10184547" y="4184078"/>
              <a:ext cx="654785" cy="677014"/>
            </a:xfrm>
            <a:prstGeom prst="bentConnector3">
              <a:avLst>
                <a:gd name="adj1" fmla="val 49951"/>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0" name="连接符: 肘形 115"/>
            <p:cNvCxnSpPr>
              <a:stCxn id="168" idx="2"/>
              <a:endCxn id="193" idx="0"/>
            </p:cNvCxnSpPr>
            <p:nvPr/>
          </p:nvCxnSpPr>
          <p:spPr>
            <a:xfrm rot="5400000">
              <a:off x="10399021" y="4398552"/>
              <a:ext cx="654785" cy="248066"/>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1" name="连接符: 肘形 117"/>
            <p:cNvCxnSpPr>
              <a:stCxn id="168" idx="2"/>
              <a:endCxn id="194" idx="0"/>
            </p:cNvCxnSpPr>
            <p:nvPr/>
          </p:nvCxnSpPr>
          <p:spPr>
            <a:xfrm rot="5400000" flipV="1">
              <a:off x="10612978" y="4432661"/>
              <a:ext cx="654785" cy="179848"/>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2" name="连接符: 肘形 119"/>
            <p:cNvCxnSpPr>
              <a:stCxn id="168" idx="2"/>
              <a:endCxn id="195" idx="0"/>
            </p:cNvCxnSpPr>
            <p:nvPr/>
          </p:nvCxnSpPr>
          <p:spPr>
            <a:xfrm rot="5400000" flipV="1">
              <a:off x="10826935" y="4218704"/>
              <a:ext cx="654785" cy="607762"/>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24" name="矩形 223"/>
            <p:cNvSpPr/>
            <p:nvPr/>
          </p:nvSpPr>
          <p:spPr>
            <a:xfrm>
              <a:off x="2882639" y="2663101"/>
              <a:ext cx="2124926" cy="485775"/>
            </a:xfrm>
            <a:prstGeom prst="rect">
              <a:avLst/>
            </a:prstGeom>
            <a:solidFill>
              <a:srgbClr val="D2F4F2"/>
            </a:solidFill>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文本标注子系统</a:t>
              </a:r>
              <a:r>
                <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 </a:t>
              </a:r>
              <a:endPar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225" name="矩形 224"/>
            <p:cNvSpPr/>
            <p:nvPr/>
          </p:nvSpPr>
          <p:spPr>
            <a:xfrm>
              <a:off x="8015444" y="2663101"/>
              <a:ext cx="2124926" cy="485775"/>
            </a:xfrm>
            <a:prstGeom prst="rect">
              <a:avLst/>
            </a:prstGeom>
            <a:solidFill>
              <a:srgbClr val="FADADE"/>
            </a:solidFill>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智能挖掘子系统</a:t>
              </a:r>
              <a:r>
                <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 </a:t>
              </a:r>
              <a:endParaRPr lang="en-US" altLang="zh-CN" sz="12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endParaRPr>
            </a:p>
          </p:txBody>
        </p:sp>
        <p:cxnSp>
          <p:nvCxnSpPr>
            <p:cNvPr id="227" name="连接符: 肘形 108"/>
            <p:cNvCxnSpPr>
              <a:stCxn id="161" idx="2"/>
              <a:endCxn id="224" idx="0"/>
            </p:cNvCxnSpPr>
            <p:nvPr/>
          </p:nvCxnSpPr>
          <p:spPr>
            <a:xfrm rot="5400000">
              <a:off x="4898945" y="1253043"/>
              <a:ext cx="455782" cy="2363864"/>
            </a:xfrm>
            <a:prstGeom prst="bentConnector3">
              <a:avLst>
                <a:gd name="adj1" fmla="val 4993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9" name="连接符: 肘形 116"/>
            <p:cNvCxnSpPr>
              <a:stCxn id="224" idx="2"/>
              <a:endCxn id="163" idx="0"/>
            </p:cNvCxnSpPr>
            <p:nvPr/>
          </p:nvCxnSpPr>
          <p:spPr>
            <a:xfrm rot="5400000">
              <a:off x="2843492" y="2607826"/>
              <a:ext cx="560419" cy="1642405"/>
            </a:xfrm>
            <a:prstGeom prst="bentConnector3">
              <a:avLst>
                <a:gd name="adj1" fmla="val 50057"/>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0" name="连接符: 肘形 122"/>
            <p:cNvCxnSpPr>
              <a:stCxn id="224" idx="2"/>
              <a:endCxn id="164" idx="0"/>
            </p:cNvCxnSpPr>
            <p:nvPr/>
          </p:nvCxnSpPr>
          <p:spPr>
            <a:xfrm rot="5400000" flipV="1">
              <a:off x="4527992" y="2565731"/>
              <a:ext cx="552716" cy="1718892"/>
            </a:xfrm>
            <a:prstGeom prst="bentConnector3">
              <a:avLst>
                <a:gd name="adj1" fmla="val 50058"/>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1" name="连接符: 肘形 125"/>
            <p:cNvCxnSpPr>
              <a:stCxn id="224" idx="2"/>
              <a:endCxn id="165" idx="0"/>
            </p:cNvCxnSpPr>
            <p:nvPr/>
          </p:nvCxnSpPr>
          <p:spPr>
            <a:xfrm rot="5400000" flipV="1">
              <a:off x="3681379" y="3412344"/>
              <a:ext cx="545655" cy="18605"/>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2" name="连接符: 肘形 127"/>
            <p:cNvCxnSpPr>
              <a:stCxn id="225" idx="2"/>
              <a:endCxn id="166" idx="0"/>
            </p:cNvCxnSpPr>
            <p:nvPr/>
          </p:nvCxnSpPr>
          <p:spPr>
            <a:xfrm rot="5400000">
              <a:off x="7955957" y="2579685"/>
              <a:ext cx="552716" cy="1690985"/>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3" name="连接符: 肘形 129"/>
            <p:cNvCxnSpPr>
              <a:stCxn id="225" idx="2"/>
              <a:endCxn id="168" idx="0"/>
            </p:cNvCxnSpPr>
            <p:nvPr/>
          </p:nvCxnSpPr>
          <p:spPr>
            <a:xfrm rot="5400000" flipV="1">
              <a:off x="9683917" y="2542709"/>
              <a:ext cx="560419" cy="1772640"/>
            </a:xfrm>
            <a:prstGeom prst="bentConnector3">
              <a:avLst>
                <a:gd name="adj1" fmla="val 50057"/>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stCxn id="225" idx="2"/>
              <a:endCxn id="167" idx="0"/>
            </p:cNvCxnSpPr>
            <p:nvPr/>
          </p:nvCxnSpPr>
          <p:spPr>
            <a:xfrm>
              <a:off x="9077907" y="3148876"/>
              <a:ext cx="0" cy="560419"/>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35" name="连接符: 肘形 133"/>
            <p:cNvCxnSpPr>
              <a:stCxn id="161" idx="2"/>
              <a:endCxn id="225" idx="0"/>
            </p:cNvCxnSpPr>
            <p:nvPr/>
          </p:nvCxnSpPr>
          <p:spPr>
            <a:xfrm rot="5400000" flipV="1">
              <a:off x="7465396" y="1050455"/>
              <a:ext cx="455782" cy="2769039"/>
            </a:xfrm>
            <a:prstGeom prst="bentConnector3">
              <a:avLst>
                <a:gd name="adj1" fmla="val 4993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7"/>
          <a:stretch>
            <a:fillRect/>
          </a:stretch>
        </p:blipFill>
        <p:spPr>
          <a:xfrm>
            <a:off x="1337945" y="5762625"/>
            <a:ext cx="731520" cy="731520"/>
          </a:xfrm>
          <a:prstGeom prst="rect">
            <a:avLst/>
          </a:prstGeom>
        </p:spPr>
      </p:pic>
      <p:pic>
        <p:nvPicPr>
          <p:cNvPr id="3" name="图片 2"/>
          <p:cNvPicPr>
            <a:picLocks noChangeAspect="1"/>
          </p:cNvPicPr>
          <p:nvPr/>
        </p:nvPicPr>
        <p:blipFill>
          <a:blip r:embed="rId8"/>
          <a:stretch>
            <a:fillRect/>
          </a:stretch>
        </p:blipFill>
        <p:spPr>
          <a:xfrm>
            <a:off x="3060065" y="5742305"/>
            <a:ext cx="731520" cy="731520"/>
          </a:xfrm>
          <a:prstGeom prst="rect">
            <a:avLst/>
          </a:prstGeom>
        </p:spPr>
      </p:pic>
      <p:pic>
        <p:nvPicPr>
          <p:cNvPr id="4" name="图片 3"/>
          <p:cNvPicPr>
            <a:picLocks noChangeAspect="1"/>
          </p:cNvPicPr>
          <p:nvPr/>
        </p:nvPicPr>
        <p:blipFill>
          <a:blip r:embed="rId9"/>
          <a:stretch>
            <a:fillRect/>
          </a:stretch>
        </p:blipFill>
        <p:spPr>
          <a:xfrm>
            <a:off x="4828540" y="5742305"/>
            <a:ext cx="731520" cy="731520"/>
          </a:xfrm>
          <a:prstGeom prst="rect">
            <a:avLst/>
          </a:prstGeom>
        </p:spPr>
      </p:pic>
      <p:sp>
        <p:nvSpPr>
          <p:cNvPr id="5" name="矩形 4"/>
          <p:cNvSpPr/>
          <p:nvPr/>
        </p:nvSpPr>
        <p:spPr>
          <a:xfrm>
            <a:off x="8204200" y="5862320"/>
            <a:ext cx="2799080" cy="477520"/>
          </a:xfrm>
          <a:prstGeom prst="rect">
            <a:avLst/>
          </a:prstGeom>
          <a:ln w="19050"/>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4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智能文本标注系统</a:t>
            </a:r>
            <a:r>
              <a:rPr lang="en-US" altLang="zh-CN" sz="14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rPr>
              <a:t> (ITAS)</a:t>
            </a:r>
            <a:endParaRPr lang="en-US" altLang="zh-CN" sz="1400" dirty="0">
              <a:solidFill>
                <a:schemeClr val="tx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6" name="平行四边形 5"/>
          <p:cNvSpPr/>
          <p:nvPr/>
        </p:nvSpPr>
        <p:spPr>
          <a:xfrm>
            <a:off x="12006463"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81793" y="1375232"/>
            <a:ext cx="6918814" cy="4190850"/>
          </a:xfrm>
          <a:prstGeom prst="rect">
            <a:avLst/>
          </a:prstGeom>
          <a:noFill/>
          <a:effectLst>
            <a:softEdge rad="12700"/>
          </a:effectLst>
          <a:scene3d>
            <a:camera prst="perspectiveLeft">
              <a:rot lat="0" lon="2400000"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7307"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757134" y="6346003"/>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10765452" y="6346003"/>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4862240" y="6236337"/>
            <a:ext cx="2698176"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0" name="图片 9"/>
          <p:cNvPicPr>
            <a:picLocks noChangeAspect="1"/>
          </p:cNvPicPr>
          <p:nvPr/>
        </p:nvPicPr>
        <p:blipFill>
          <a:blip r:embed="rId4"/>
          <a:stretch>
            <a:fillRect/>
          </a:stretch>
        </p:blipFill>
        <p:spPr>
          <a:xfrm>
            <a:off x="2793754" y="1343880"/>
            <a:ext cx="6918813" cy="42222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27307"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757134" y="6346003"/>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10765452" y="6346003"/>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7" nam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3754" y="1352691"/>
            <a:ext cx="6918813" cy="4235931"/>
          </a:xfrm>
          <a:prstGeom prst="rect">
            <a:avLst/>
          </a:prstGeom>
          <a:scene3d>
            <a:camera prst="perspectiveContrastingRightFacing" fov="60000">
              <a:rot lat="0" lon="0" rev="0"/>
            </a:camera>
            <a:lightRig rig="threePt" dir="t"/>
          </a:scene3d>
        </p:spPr>
      </p:pic>
      <p:pic>
        <p:nvPicPr>
          <p:cNvPr id="14" name="!!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1793" y="1375232"/>
            <a:ext cx="6918814" cy="4190850"/>
          </a:xfrm>
          <a:prstGeom prst="rect">
            <a:avLst/>
          </a:prstGeom>
          <a:noFill/>
          <a:effectLst>
            <a:softEdge rad="12700"/>
          </a:effectLst>
          <a:scene3d>
            <a:camera prst="perspectiveLeft">
              <a:rot lat="0" lon="2400000" rev="0"/>
            </a:camera>
            <a:lightRig rig="threePt" dir="t"/>
          </a:scene3d>
        </p:spPr>
      </p:pic>
      <p:pic>
        <p:nvPicPr>
          <p:cNvPr id="7" name="!!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45536" y="1422033"/>
            <a:ext cx="7050684" cy="4225726"/>
          </a:xfrm>
          <a:prstGeom prst="rect">
            <a:avLst/>
          </a:prstGeom>
          <a:noFill/>
          <a:effectLst>
            <a:softEdge rad="12700"/>
          </a:effectLst>
          <a:scene3d>
            <a:camera prst="perspectiveLeft">
              <a:rot lat="0" lon="2400000" rev="0"/>
            </a:camera>
            <a:lightRig rig="threePt" dir="t"/>
          </a:scene3d>
        </p:spPr>
      </p:pic>
      <p:sp>
        <p:nvSpPr>
          <p:cNvPr id="9" name="!!11"/>
          <p:cNvSpPr/>
          <p:nvPr/>
        </p:nvSpPr>
        <p:spPr>
          <a:xfrm>
            <a:off x="4862240" y="6236337"/>
            <a:ext cx="2698176"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6658" y="1443554"/>
            <a:ext cx="7050684" cy="4225726"/>
          </a:xfrm>
          <a:prstGeom prst="rect">
            <a:avLst/>
          </a:prstGeom>
          <a:noFill/>
          <a:effectLst>
            <a:softEdge rad="12700"/>
          </a:effectLst>
          <a:scene3d>
            <a:camera prst="perspectiveLeft">
              <a:rot lat="0" lon="2400000"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4112"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42846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11"/>
          <p:cNvSpPr/>
          <p:nvPr/>
        </p:nvSpPr>
        <p:spPr>
          <a:xfrm>
            <a:off x="269304"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3" name="!!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9340" y="1352691"/>
            <a:ext cx="6918813" cy="4235931"/>
          </a:xfrm>
          <a:prstGeom prst="rect">
            <a:avLst/>
          </a:prstGeom>
          <a:noFill/>
          <a:effectLst>
            <a:softEdge rad="25400"/>
          </a:effectLst>
          <a:scene3d>
            <a:camera prst="perspectiveRight">
              <a:rot lat="0" lon="19199975" rev="0"/>
            </a:camera>
            <a:lightRig rig="threePt" dir="t"/>
          </a:scene3d>
        </p:spPr>
      </p:pic>
      <p:pic>
        <p:nvPicPr>
          <p:cNvPr id="6" name="!!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0416" y="1375231"/>
            <a:ext cx="6918814" cy="4190850"/>
          </a:xfrm>
          <a:prstGeom prst="rect">
            <a:avLst/>
          </a:prstGeom>
          <a:noFill/>
          <a:effectLst>
            <a:softEdge rad="12700"/>
          </a:effectLst>
          <a:scene3d>
            <a:camera prst="perspectiveLeft" fov="60000">
              <a:rot lat="0" lon="0" rev="0"/>
            </a:camera>
            <a:lightRig rig="threePt" dir="t"/>
          </a:scene3d>
        </p:spPr>
      </p:pic>
      <p:sp>
        <p:nvSpPr>
          <p:cNvPr id="11" name="矩形 10"/>
          <p:cNvSpPr/>
          <p:nvPr/>
        </p:nvSpPr>
        <p:spPr>
          <a:xfrm>
            <a:off x="10586866"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19" name="矩形 18"/>
          <p:cNvSpPr/>
          <p:nvPr/>
        </p:nvSpPr>
        <p:spPr>
          <a:xfrm>
            <a:off x="5263146" y="6259241"/>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p:transition spd="slow" advClick="0"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6658" y="1443554"/>
            <a:ext cx="7050684" cy="4225726"/>
          </a:xfrm>
          <a:prstGeom prst="rect">
            <a:avLst/>
          </a:prstGeom>
          <a:noFill/>
          <a:effectLst>
            <a:softEdge rad="12700"/>
          </a:effectLst>
          <a:scene3d>
            <a:camera prst="perspectiveLeft">
              <a:rot lat="0" lon="2400000" rev="0"/>
            </a:camera>
            <a:lightRig rig="threePt" dir="t"/>
          </a:scene3d>
        </p:spPr>
      </p:pic>
      <p:pic>
        <p:nvPicPr>
          <p:cNvPr id="3" nam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9340"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4112"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42846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5263146" y="6259241"/>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269304"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0" name="图片 9"/>
          <p:cNvPicPr>
            <a:picLocks noChangeAspect="1"/>
          </p:cNvPicPr>
          <p:nvPr/>
        </p:nvPicPr>
        <p:blipFill>
          <a:blip r:embed="rId5"/>
          <a:stretch>
            <a:fillRect/>
          </a:stretch>
        </p:blipFill>
        <p:spPr>
          <a:xfrm>
            <a:off x="2760416" y="1375231"/>
            <a:ext cx="6918813" cy="4190850"/>
          </a:xfrm>
          <a:prstGeom prst="rect">
            <a:avLst/>
          </a:prstGeom>
        </p:spPr>
      </p:pic>
      <p:sp>
        <p:nvSpPr>
          <p:cNvPr id="13" name="矩形 12"/>
          <p:cNvSpPr/>
          <p:nvPr/>
        </p:nvSpPr>
        <p:spPr>
          <a:xfrm>
            <a:off x="10586866"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89340"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4112"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42846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269304"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13" name="矩形 12"/>
          <p:cNvSpPr/>
          <p:nvPr/>
        </p:nvSpPr>
        <p:spPr>
          <a:xfrm>
            <a:off x="10586866"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9" name="!!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0016" y="1352690"/>
            <a:ext cx="6966877" cy="4235931"/>
          </a:xfrm>
          <a:prstGeom prst="rect">
            <a:avLst/>
          </a:prstGeom>
          <a:scene3d>
            <a:camera prst="perspectiveAbove" fov="60000">
              <a:rot lat="0" lon="0" rev="0"/>
            </a:camera>
            <a:lightRig rig="threePt" dir="t"/>
          </a:scene3d>
        </p:spPr>
      </p:pic>
      <p:pic>
        <p:nvPicPr>
          <p:cNvPr id="11" name="!!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66658" y="1443554"/>
            <a:ext cx="7050684" cy="4225726"/>
          </a:xfrm>
          <a:prstGeom prst="rect">
            <a:avLst/>
          </a:prstGeom>
          <a:noFill/>
          <a:effectLst>
            <a:softEdge rad="12700"/>
          </a:effectLst>
          <a:scene3d>
            <a:camera prst="perspectiveLeft">
              <a:rot lat="0" lon="2400000" rev="0"/>
            </a:camera>
            <a:lightRig rig="threePt" dir="t"/>
          </a:scene3d>
        </p:spPr>
      </p:pic>
      <p:pic>
        <p:nvPicPr>
          <p:cNvPr id="7" name="!!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95976" y="1301829"/>
            <a:ext cx="7047214" cy="4335739"/>
          </a:xfrm>
          <a:prstGeom prst="rect">
            <a:avLst/>
          </a:prstGeom>
          <a:noFill/>
          <a:effectLst>
            <a:softEdge rad="12700"/>
          </a:effectLst>
          <a:scene3d>
            <a:camera prst="perspectiveLeft">
              <a:rot lat="0" lon="2400000" rev="0"/>
            </a:camera>
            <a:lightRig rig="threePt" dir="t"/>
          </a:scene3d>
        </p:spPr>
      </p:pic>
      <p:sp>
        <p:nvSpPr>
          <p:cNvPr id="14" name="矩形 13"/>
          <p:cNvSpPr/>
          <p:nvPr/>
        </p:nvSpPr>
        <p:spPr>
          <a:xfrm>
            <a:off x="5263146" y="6259241"/>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8393" y="1301829"/>
            <a:ext cx="7047214" cy="4335739"/>
          </a:xfrm>
          <a:prstGeom prst="rect">
            <a:avLst/>
          </a:prstGeom>
          <a:noFill/>
          <a:effectLst>
            <a:softEdge rad="12700"/>
          </a:effectLst>
          <a:scene3d>
            <a:camera prst="perspectiveLeft">
              <a:rot lat="0" lon="2400000" rev="0"/>
            </a:camera>
            <a:lightRig rig="threePt" dir="t"/>
          </a:scene3d>
        </p:spPr>
      </p:pic>
      <p:pic>
        <p:nvPicPr>
          <p:cNvPr id="3" nam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7284"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42056"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93519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656375"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4797996"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13" name="矩形 12"/>
          <p:cNvSpPr/>
          <p:nvPr/>
        </p:nvSpPr>
        <p:spPr>
          <a:xfrm>
            <a:off x="5415487" y="6259420"/>
            <a:ext cx="1620957"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6" name="矩形 5"/>
          <p:cNvSpPr/>
          <p:nvPr/>
        </p:nvSpPr>
        <p:spPr>
          <a:xfrm>
            <a:off x="10358386"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4" name="!!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4349" y="1352690"/>
            <a:ext cx="6966877" cy="4235931"/>
          </a:xfrm>
          <a:prstGeom prst="rect">
            <a:avLst/>
          </a:prstGeom>
          <a:noFill/>
          <a:effectLst>
            <a:softEdge rad="25400"/>
          </a:effectLst>
          <a:scene3d>
            <a:camera prst="perspectiveRight">
              <a:rot lat="0" lon="19199975" rev="0"/>
            </a:camera>
            <a:lightRig rig="threePt" dir="t"/>
          </a:scene3d>
        </p:spPr>
      </p:pic>
      <p:pic>
        <p:nvPicPr>
          <p:cNvPr id="11" name="!!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65412" y="1406012"/>
            <a:ext cx="6966877" cy="4175497"/>
          </a:xfrm>
          <a:prstGeom prst="rect">
            <a:avLst/>
          </a:prstGeom>
          <a:noFill/>
          <a:effectLst>
            <a:softEdge rad="12700"/>
          </a:effectLst>
          <a:scene3d>
            <a:camera prst="perspectiveLeft" fov="60000">
              <a:rot lat="0" lon="0" rev="0"/>
            </a:camera>
            <a:lightRig rig="threePt" dir="t"/>
          </a:scene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p:transition spd="slow" advTm="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8393" y="1301829"/>
            <a:ext cx="7047214" cy="4335739"/>
          </a:xfrm>
          <a:prstGeom prst="rect">
            <a:avLst/>
          </a:prstGeom>
          <a:noFill/>
          <a:effectLst>
            <a:softEdge rad="12700"/>
          </a:effectLst>
          <a:scene3d>
            <a:camera prst="perspectiveLeft">
              <a:rot lat="0" lon="2400000" rev="0"/>
            </a:camera>
            <a:lightRig rig="threePt" dir="t"/>
          </a:scene3d>
        </p:spPr>
      </p:pic>
      <p:pic>
        <p:nvPicPr>
          <p:cNvPr id="3" nam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7284"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42056"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93519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656375"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4797996"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6" name="矩形 5"/>
          <p:cNvSpPr/>
          <p:nvPr/>
        </p:nvSpPr>
        <p:spPr>
          <a:xfrm>
            <a:off x="10358386"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4" name="!!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4349" y="1352690"/>
            <a:ext cx="6966877" cy="4235931"/>
          </a:xfrm>
          <a:prstGeom prst="rect">
            <a:avLst/>
          </a:prstGeom>
          <a:noFill/>
          <a:effectLst>
            <a:softEdge rad="25400"/>
          </a:effectLst>
          <a:scene3d>
            <a:camera prst="perspectiveRight">
              <a:rot lat="0" lon="19199975" rev="0"/>
            </a:camera>
            <a:lightRig rig="threePt" dir="t"/>
          </a:scene3d>
        </p:spPr>
      </p:pic>
      <p:pic>
        <p:nvPicPr>
          <p:cNvPr id="10" name="图片 9"/>
          <p:cNvPicPr>
            <a:picLocks noChangeAspect="1"/>
          </p:cNvPicPr>
          <p:nvPr/>
        </p:nvPicPr>
        <p:blipFill>
          <a:blip r:embed="rId6"/>
          <a:stretch>
            <a:fillRect/>
          </a:stretch>
        </p:blipFill>
        <p:spPr>
          <a:xfrm>
            <a:off x="2765412" y="1406012"/>
            <a:ext cx="6966877" cy="4175497"/>
          </a:xfrm>
          <a:prstGeom prst="rect">
            <a:avLst/>
          </a:prstGeom>
        </p:spPr>
      </p:pic>
      <p:sp>
        <p:nvSpPr>
          <p:cNvPr id="21" name="矩形 20"/>
          <p:cNvSpPr/>
          <p:nvPr/>
        </p:nvSpPr>
        <p:spPr>
          <a:xfrm>
            <a:off x="5415487" y="6259420"/>
            <a:ext cx="1620957"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67284"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2056"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93519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656375"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4797996"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6" name="矩形 5"/>
          <p:cNvSpPr/>
          <p:nvPr/>
        </p:nvSpPr>
        <p:spPr>
          <a:xfrm>
            <a:off x="10358386"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4" name="!!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4349" y="1352690"/>
            <a:ext cx="6966877" cy="4235931"/>
          </a:xfrm>
          <a:prstGeom prst="rect">
            <a:avLst/>
          </a:prstGeom>
          <a:noFill/>
          <a:effectLst>
            <a:softEdge rad="25400"/>
          </a:effectLst>
          <a:scene3d>
            <a:camera prst="perspectiveRight">
              <a:rot lat="0" lon="19199975" rev="0"/>
            </a:camera>
            <a:lightRig rig="threePt" dir="t"/>
          </a:scene3d>
        </p:spPr>
      </p:pic>
      <p:pic>
        <p:nvPicPr>
          <p:cNvPr id="11" name="!!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5412" y="1360718"/>
            <a:ext cx="6966877" cy="4235931"/>
          </a:xfrm>
          <a:prstGeom prst="rect">
            <a:avLst/>
          </a:prstGeom>
          <a:scene3d>
            <a:camera prst="perspectiveRelaxedModerately" fov="60000">
              <a:rot lat="0" lon="0" rev="0"/>
            </a:camera>
            <a:lightRig rig="threePt" dir="t"/>
          </a:scene3d>
        </p:spPr>
      </p:pic>
      <p:pic>
        <p:nvPicPr>
          <p:cNvPr id="17" name="!!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68393" y="1301829"/>
            <a:ext cx="7047214" cy="4335739"/>
          </a:xfrm>
          <a:prstGeom prst="rect">
            <a:avLst/>
          </a:prstGeom>
          <a:noFill/>
          <a:effectLst>
            <a:softEdge rad="12700"/>
          </a:effectLst>
          <a:scene3d>
            <a:camera prst="perspectiveLeft">
              <a:rot lat="0" lon="2400000" rev="0"/>
            </a:camera>
            <a:lightRig rig="threePt" dir="t"/>
          </a:scene3d>
        </p:spPr>
      </p:pic>
      <p:sp>
        <p:nvSpPr>
          <p:cNvPr id="20" name="矩形 19"/>
          <p:cNvSpPr/>
          <p:nvPr/>
        </p:nvSpPr>
        <p:spPr>
          <a:xfrm>
            <a:off x="5415487" y="6259420"/>
            <a:ext cx="1620957"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546323"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1095"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139620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3953725"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9408096"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13" name="矩形 12"/>
          <p:cNvSpPr/>
          <p:nvPr/>
        </p:nvSpPr>
        <p:spPr>
          <a:xfrm>
            <a:off x="909467"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6" name="矩形 5"/>
          <p:cNvSpPr/>
          <p:nvPr/>
        </p:nvSpPr>
        <p:spPr>
          <a:xfrm>
            <a:off x="5326086" y="6259420"/>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4" name="!!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23388" y="1352690"/>
            <a:ext cx="6966877" cy="4235931"/>
          </a:xfrm>
          <a:prstGeom prst="rect">
            <a:avLst/>
          </a:prstGeom>
          <a:noFill/>
          <a:effectLst>
            <a:softEdge rad="25400"/>
          </a:effectLst>
          <a:scene3d>
            <a:camera prst="perspectiveRight">
              <a:rot lat="0" lon="19199975" rev="0"/>
            </a:camera>
            <a:lightRig rig="threePt" dir="t"/>
          </a:scene3d>
        </p:spPr>
      </p:pic>
      <p:pic>
        <p:nvPicPr>
          <p:cNvPr id="11" name="!!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5149" y="1360718"/>
            <a:ext cx="6966877" cy="4235931"/>
          </a:xfrm>
          <a:prstGeom prst="rect">
            <a:avLst/>
          </a:prstGeom>
          <a:noFill/>
          <a:effectLst>
            <a:softEdge rad="25400"/>
          </a:effectLst>
          <a:scene3d>
            <a:camera prst="perspectiveRight">
              <a:rot lat="0" lon="19199975" rev="0"/>
            </a:camera>
            <a:lightRig rig="threePt" dir="t"/>
          </a:scene3d>
        </p:spPr>
      </p:pic>
      <p:pic>
        <p:nvPicPr>
          <p:cNvPr id="7" name="!!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19400" y="1355669"/>
            <a:ext cx="6873230" cy="4228697"/>
          </a:xfrm>
          <a:prstGeom prst="rect">
            <a:avLst/>
          </a:prstGeom>
          <a:noFill/>
          <a:effectLst>
            <a:softEdge rad="12700"/>
          </a:effectLst>
          <a:scene3d>
            <a:camera prst="perspectiveLeft" fov="60000">
              <a:rot lat="0" lon="0" rev="0"/>
            </a:camera>
            <a:lightRig rig="threePt" dir="t"/>
          </a:scene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p:transition spd="slow"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13918160"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546323" y="1352691"/>
            <a:ext cx="6918813" cy="4235931"/>
          </a:xfrm>
          <a:prstGeom prst="rect">
            <a:avLst/>
          </a:prstGeom>
          <a:noFill/>
          <a:effectLst>
            <a:softEdge rad="25400"/>
          </a:effectLst>
          <a:scene3d>
            <a:camera prst="perspectiveRight">
              <a:rot lat="0" lon="19199975" rev="0"/>
            </a:camera>
            <a:lightRig rig="threePt" dir="t"/>
          </a:scene3d>
        </p:spPr>
      </p:pic>
      <p:sp>
        <p:nvSpPr>
          <p:cNvPr id="16" name="矩形 15"/>
          <p:cNvSpPr/>
          <p:nvPr/>
        </p:nvSpPr>
        <p:spPr>
          <a:xfrm flipH="1">
            <a:off x="-1774302"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1095" y="1315557"/>
            <a:ext cx="7137637" cy="4332202"/>
          </a:xfrm>
          <a:prstGeom prst="rect">
            <a:avLst/>
          </a:prstGeom>
          <a:noFill/>
          <a:effectLst>
            <a:softEdge rad="25400"/>
          </a:effectLst>
          <a:scene3d>
            <a:camera prst="perspectiveRight">
              <a:rot lat="0" lon="19199975" rev="0"/>
            </a:camera>
            <a:lightRig rig="threePt" dir="t"/>
          </a:scene3d>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4" name="矩形 3"/>
          <p:cNvSpPr/>
          <p:nvPr/>
        </p:nvSpPr>
        <p:spPr>
          <a:xfrm flipH="1">
            <a:off x="8862073"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668446"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48759" y="1188720"/>
            <a:ext cx="8808805" cy="4847590"/>
          </a:xfrm>
          <a:prstGeom prst="rect">
            <a:avLst/>
          </a:prstGeom>
          <a:effectLst>
            <a:reflection blurRad="6350" stA="22000" endPos="35000" dir="5400000" sy="-100000" algn="bl" rotWithShape="0"/>
          </a:effectLst>
        </p:spPr>
      </p:pic>
      <p:sp>
        <p:nvSpPr>
          <p:cNvPr id="27" name="矩形 26"/>
          <p:cNvSpPr/>
          <p:nvPr/>
        </p:nvSpPr>
        <p:spPr>
          <a:xfrm>
            <a:off x="-13962043"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系统展示</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8" name="矩形 27"/>
          <p:cNvSpPr/>
          <p:nvPr/>
        </p:nvSpPr>
        <p:spPr>
          <a:xfrm>
            <a:off x="-3953725"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29" name="矩形 28"/>
          <p:cNvSpPr/>
          <p:nvPr/>
        </p:nvSpPr>
        <p:spPr>
          <a:xfrm>
            <a:off x="-9408096" y="6322920"/>
            <a:ext cx="1800493"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系统标注管理员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13" name="矩形 12"/>
          <p:cNvSpPr/>
          <p:nvPr/>
        </p:nvSpPr>
        <p:spPr>
          <a:xfrm>
            <a:off x="909467"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14" name="!!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23388" y="1352690"/>
            <a:ext cx="6966877" cy="4235931"/>
          </a:xfrm>
          <a:prstGeom prst="rect">
            <a:avLst/>
          </a:prstGeom>
          <a:noFill/>
          <a:effectLst>
            <a:softEdge rad="25400"/>
          </a:effectLst>
          <a:scene3d>
            <a:camera prst="perspectiveRight">
              <a:rot lat="0" lon="19199975" rev="0"/>
            </a:camera>
            <a:lightRig rig="threePt" dir="t"/>
          </a:scene3d>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5149" y="1360718"/>
            <a:ext cx="6966877" cy="4235931"/>
          </a:xfrm>
          <a:prstGeom prst="rect">
            <a:avLst/>
          </a:prstGeom>
          <a:noFill/>
          <a:effectLst>
            <a:softEdge rad="25400"/>
          </a:effectLst>
          <a:scene3d>
            <a:camera prst="perspectiveRight">
              <a:rot lat="0" lon="19199975" rev="0"/>
            </a:camera>
            <a:lightRig rig="threePt" dir="t"/>
          </a:scene3d>
        </p:spPr>
      </p:pic>
      <p:pic>
        <p:nvPicPr>
          <p:cNvPr id="10" name="图片 9"/>
          <p:cNvPicPr>
            <a:picLocks noChangeAspect="1"/>
          </p:cNvPicPr>
          <p:nvPr/>
        </p:nvPicPr>
        <p:blipFill>
          <a:blip r:embed="rId6"/>
          <a:stretch>
            <a:fillRect/>
          </a:stretch>
        </p:blipFill>
        <p:spPr>
          <a:xfrm>
            <a:off x="2837150" y="1352690"/>
            <a:ext cx="6829363" cy="4189752"/>
          </a:xfrm>
          <a:prstGeom prst="rect">
            <a:avLst/>
          </a:prstGeom>
        </p:spPr>
      </p:pic>
      <p:sp>
        <p:nvSpPr>
          <p:cNvPr id="20" name="矩形 19"/>
          <p:cNvSpPr/>
          <p:nvPr/>
        </p:nvSpPr>
        <p:spPr>
          <a:xfrm>
            <a:off x="5326086" y="6259420"/>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6" name="平行四边形 5"/>
          <p:cNvSpPr/>
          <p:nvPr/>
        </p:nvSpPr>
        <p:spPr>
          <a:xfrm>
            <a:off x="11945734"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
          <p:cNvSpPr/>
          <p:nvPr/>
        </p:nvSpPr>
        <p:spPr>
          <a:xfrm>
            <a:off x="5135114"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537354" y="2658963"/>
            <a:ext cx="3458058" cy="922020"/>
            <a:chOff x="872775" y="2487402"/>
            <a:chExt cx="3458058" cy="922020"/>
          </a:xfrm>
        </p:grpSpPr>
        <p:sp>
          <p:nvSpPr>
            <p:cNvPr id="4" name="文本框 3"/>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dirty="0">
                  <a:ln>
                    <a:noFill/>
                  </a:ln>
                  <a:solidFill>
                    <a:srgbClr val="FFFFFF"/>
                  </a:solidFill>
                  <a:latin typeface="腾讯字体包" panose="02010600010101010101" charset="-128"/>
                  <a:ea typeface="腾讯字体包" panose="02010600010101010101" charset="-128"/>
                </a:rPr>
                <a:t>PART 03</a:t>
              </a:r>
              <a:endParaRPr lang="en-US" sz="5400" i="0" u="none" strike="noStrike" kern="1200" spc="100" baseline="0" dirty="0">
                <a:ln>
                  <a:noFill/>
                </a:ln>
                <a:solidFill>
                  <a:srgbClr val="FFFFFF"/>
                </a:solidFill>
                <a:latin typeface="腾讯字体包" panose="02010600010101010101" charset="-128"/>
                <a:ea typeface="腾讯字体包" panose="02010600010101010101" charset="-128"/>
              </a:endParaRPr>
            </a:p>
          </p:txBody>
        </p:sp>
        <p:sp>
          <p:nvSpPr>
            <p:cNvPr id="5" name="等腰三角形 4"/>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panose="02020503050405090304"/>
                <a:ea typeface="腾讯字体包" panose="02010600010101010101" charset="-128"/>
              </a:endParaRPr>
            </a:p>
          </p:txBody>
        </p:sp>
      </p:grpSp>
      <p:sp>
        <p:nvSpPr>
          <p:cNvPr id="6" name="文本框 5"/>
          <p:cNvSpPr txBox="1"/>
          <p:nvPr/>
        </p:nvSpPr>
        <p:spPr>
          <a:xfrm>
            <a:off x="6710045" y="2658745"/>
            <a:ext cx="4840605"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sym typeface="+mn-ea"/>
              </a:rPr>
              <a:t>解决方案与优势</a:t>
            </a:r>
            <a:endParaRPr lang="zh-CN" altLang="en-US" sz="4800" i="0" u="none" strike="noStrike" kern="12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endParaRPr>
          </a:p>
        </p:txBody>
      </p:sp>
      <p:sp>
        <p:nvSpPr>
          <p:cNvPr id="7" name="矩形 6"/>
          <p:cNvSpPr/>
          <p:nvPr/>
        </p:nvSpPr>
        <p:spPr>
          <a:xfrm flipH="1">
            <a:off x="-12270105" y="1301829"/>
            <a:ext cx="786347" cy="4480091"/>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7"/>
          <p:cNvSpPr txBox="1"/>
          <p:nvPr/>
        </p:nvSpPr>
        <p:spPr>
          <a:xfrm>
            <a:off x="-7479956" y="97155"/>
            <a:ext cx="7244080" cy="6858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a:solidFill>
                  <a:srgbClr val="088EFF"/>
                </a:solidFill>
                <a:latin typeface="腾讯体 W7" panose="020C08030202040F0204" pitchFamily="34" charset="-122"/>
                <a:ea typeface="腾讯体 W7" panose="020C08030202040F0204" pitchFamily="34" charset="-122"/>
              </a:rPr>
              <a:t>项目简介</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22" name="矩形 21"/>
          <p:cNvSpPr/>
          <p:nvPr/>
        </p:nvSpPr>
        <p:spPr>
          <a:xfrm flipH="1">
            <a:off x="-2389611" y="1375234"/>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flipH="1">
            <a:off x="-8583238" y="1375232"/>
            <a:ext cx="909126" cy="4378678"/>
          </a:xfrm>
          <a:prstGeom prst="rect">
            <a:avLst/>
          </a:prstGeom>
          <a:solidFill>
            <a:schemeClr val="bg2">
              <a:lumMod val="10000"/>
            </a:schemeClr>
          </a:solidFill>
          <a:ln>
            <a:noFill/>
          </a:ln>
          <a:effectLst>
            <a:outerShdw blurRad="889000" dist="38100" algn="l" rotWithShape="0">
              <a:prstClr val="black">
                <a:alpha val="7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02925" y="1188720"/>
            <a:ext cx="8808805" cy="4847590"/>
          </a:xfrm>
          <a:prstGeom prst="rect">
            <a:avLst/>
          </a:prstGeom>
          <a:effectLst>
            <a:reflection blurRad="6350" stA="22000" endPos="35000" dir="5400000" sy="-100000" algn="bl" rotWithShape="0"/>
          </a:effectLst>
        </p:spPr>
      </p:pic>
      <p:sp>
        <p:nvSpPr>
          <p:cNvPr id="32" name="矩形 31"/>
          <p:cNvSpPr/>
          <p:nvPr/>
        </p:nvSpPr>
        <p:spPr>
          <a:xfrm>
            <a:off x="-14449528" y="6322920"/>
            <a:ext cx="1338828"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数据标注员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
        <p:nvSpPr>
          <p:cNvPr id="33" name="矩形 32"/>
          <p:cNvSpPr/>
          <p:nvPr/>
        </p:nvSpPr>
        <p:spPr>
          <a:xfrm>
            <a:off x="-9586336" y="6322920"/>
            <a:ext cx="1107996" cy="369332"/>
          </a:xfrm>
          <a:prstGeom prst="rect">
            <a:avLst/>
          </a:prstGeom>
          <a:noFill/>
          <a:effectLst>
            <a:softEdge rad="25400"/>
          </a:effectLst>
        </p:spPr>
        <p:txBody>
          <a:bodyPr wrap="none">
            <a:spAutoFit/>
          </a:bodyPr>
          <a:lstStyle/>
          <a:p>
            <a:pPr algn="ctr"/>
            <a:r>
              <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科研人员</a:t>
            </a:r>
            <a:endParaRPr lang="zh-CN" altLang="en-US"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pic>
        <p:nvPicPr>
          <p:cNvPr id="34" name="图片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0952" y="1360718"/>
            <a:ext cx="6966877" cy="4235931"/>
          </a:xfrm>
          <a:prstGeom prst="rect">
            <a:avLst/>
          </a:prstGeom>
          <a:noFill/>
          <a:effectLst>
            <a:softEdge rad="25400"/>
          </a:effectLst>
          <a:scene3d>
            <a:camera prst="perspectiveRight">
              <a:rot lat="0" lon="19199975" rev="0"/>
            </a:camera>
            <a:lightRig rig="threePt" dir="t"/>
          </a:scene3d>
        </p:spPr>
      </p:pic>
      <p:pic>
        <p:nvPicPr>
          <p:cNvPr id="35" name="图片 34"/>
          <p:cNvPicPr>
            <a:picLocks noChangeAspect="1"/>
          </p:cNvPicPr>
          <p:nvPr/>
        </p:nvPicPr>
        <p:blipFill>
          <a:blip r:embed="rId3"/>
          <a:stretch>
            <a:fillRect/>
          </a:stretch>
        </p:blipFill>
        <p:spPr>
          <a:xfrm>
            <a:off x="-8414534" y="1352690"/>
            <a:ext cx="6829363" cy="4189752"/>
          </a:xfrm>
          <a:prstGeom prst="rect">
            <a:avLst/>
          </a:prstGeom>
        </p:spPr>
      </p:pic>
      <p:sp>
        <p:nvSpPr>
          <p:cNvPr id="36" name="矩形 35"/>
          <p:cNvSpPr/>
          <p:nvPr/>
        </p:nvSpPr>
        <p:spPr>
          <a:xfrm>
            <a:off x="-5925598" y="6259420"/>
            <a:ext cx="1980030" cy="523220"/>
          </a:xfrm>
          <a:prstGeom prst="rect">
            <a:avLst/>
          </a:prstGeom>
          <a:noFill/>
          <a:effectLst>
            <a:softEdge rad="25400"/>
          </a:effectLst>
        </p:spPr>
        <p:txBody>
          <a:bodyPr wrap="none">
            <a:spAutoFit/>
          </a:bodyPr>
          <a:lstStyle/>
          <a:p>
            <a:pPr algn="ctr"/>
            <a:r>
              <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rPr>
              <a:t>用户说明书</a:t>
            </a:r>
            <a:endParaRPr lang="zh-CN" altLang="en-US" sz="2800" b="1" dirty="0">
              <a:solidFill>
                <a:schemeClr val="accent3"/>
              </a:solidFill>
              <a:effectLst>
                <a:outerShdw blurRad="50800" dist="38100" dir="2700000" algn="tl" rotWithShape="0">
                  <a:prstClr val="black"/>
                </a:outerShdw>
              </a:effectLst>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圆角矩形 101"/>
          <p:cNvSpPr/>
          <p:nvPr/>
        </p:nvSpPr>
        <p:spPr>
          <a:xfrm>
            <a:off x="90616" y="892191"/>
            <a:ext cx="12010768" cy="5213703"/>
          </a:xfrm>
          <a:prstGeom prst="roundRect">
            <a:avLst>
              <a:gd name="adj" fmla="val 2865"/>
            </a:avLst>
          </a:prstGeom>
          <a:solidFill>
            <a:schemeClr val="bg1"/>
          </a:solidFill>
          <a:ln w="25400">
            <a:solidFill>
              <a:srgbClr val="00D8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腾讯体 W7" panose="020C08030202040F0204" pitchFamily="34" charset="-122"/>
              <a:ea typeface="腾讯体 W7" panose="020C08030202040F0204" pitchFamily="34" charset="-122"/>
            </a:endParaRPr>
          </a:p>
        </p:txBody>
      </p:sp>
      <p:sp>
        <p:nvSpPr>
          <p:cNvPr id="64" name="圆角矩形 63"/>
          <p:cNvSpPr/>
          <p:nvPr/>
        </p:nvSpPr>
        <p:spPr>
          <a:xfrm>
            <a:off x="213442" y="979651"/>
            <a:ext cx="11773354" cy="457200"/>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en-US" altLang="zh-CN" dirty="0">
                <a:latin typeface="腾讯体 W7" panose="020C08030202040F0204" pitchFamily="34" charset="-122"/>
                <a:ea typeface="腾讯体 W7" panose="020C08030202040F0204" pitchFamily="34" charset="-122"/>
                <a:cs typeface="腾讯体 W7" panose="020C08030202040F0204" pitchFamily="34" charset="-122"/>
              </a:rPr>
              <a:t>ITAS</a:t>
            </a:r>
            <a:r>
              <a:rPr lang="zh-CN" altLang="en-US" dirty="0">
                <a:latin typeface="腾讯体 W7" panose="020C08030202040F0204" pitchFamily="34" charset="-122"/>
                <a:ea typeface="腾讯体 W7" panose="020C08030202040F0204" pitchFamily="34" charset="-122"/>
                <a:cs typeface="腾讯体 W7" panose="020C08030202040F0204" pitchFamily="34" charset="-122"/>
              </a:rPr>
              <a:t>：标注</a:t>
            </a:r>
            <a:r>
              <a:rPr lang="zh-CN" altLang="en-US" dirty="0">
                <a:latin typeface="腾讯体 W7" panose="020C08030202040F0204" pitchFamily="34" charset="-122"/>
                <a:ea typeface="腾讯体 W7" panose="020C08030202040F0204" pitchFamily="34" charset="-122"/>
                <a:cs typeface="腾讯体 W7" panose="020C08030202040F0204" pitchFamily="34" charset="-122"/>
                <a:sym typeface="+mn-ea"/>
              </a:rPr>
              <a:t>高效化</a:t>
            </a:r>
            <a:r>
              <a:rPr lang="zh-CN" altLang="en-US" dirty="0">
                <a:latin typeface="腾讯体 W7" panose="020C08030202040F0204" pitchFamily="34" charset="-122"/>
                <a:ea typeface="腾讯体 W7" panose="020C08030202040F0204" pitchFamily="34" charset="-122"/>
                <a:cs typeface="腾讯体 W7" panose="020C08030202040F0204" pitchFamily="34" charset="-122"/>
              </a:rPr>
              <a:t>，挖掘</a:t>
            </a:r>
            <a:r>
              <a:rPr lang="zh-CN" altLang="en-US" dirty="0">
                <a:latin typeface="腾讯体 W7" panose="020C08030202040F0204" pitchFamily="34" charset="-122"/>
                <a:ea typeface="腾讯体 W7" panose="020C08030202040F0204" pitchFamily="34" charset="-122"/>
                <a:cs typeface="腾讯体 W7" panose="020C08030202040F0204" pitchFamily="34" charset="-122"/>
                <a:sym typeface="+mn-ea"/>
              </a:rPr>
              <a:t>智能化</a:t>
            </a:r>
            <a:endParaRPr lang="zh-CN" altLang="en-US"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65" name="圆角矩形 64"/>
          <p:cNvSpPr/>
          <p:nvPr/>
        </p:nvSpPr>
        <p:spPr>
          <a:xfrm>
            <a:off x="1717283" y="1552710"/>
            <a:ext cx="8585200"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solidFill>
                <a:schemeClr val="dk1"/>
              </a:solidFill>
              <a:latin typeface="腾讯体 W7" panose="020C08030202040F0204" pitchFamily="34" charset="-122"/>
              <a:ea typeface="腾讯体 W7" panose="020C08030202040F0204" pitchFamily="34" charset="-122"/>
            </a:endParaRPr>
          </a:p>
        </p:txBody>
      </p:sp>
      <p:sp>
        <p:nvSpPr>
          <p:cNvPr id="66" name="圆角矩形 65"/>
          <p:cNvSpPr/>
          <p:nvPr/>
        </p:nvSpPr>
        <p:spPr>
          <a:xfrm>
            <a:off x="1970504" y="1683177"/>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i="0" dirty="0">
                <a:solidFill>
                  <a:srgbClr val="000000"/>
                </a:solidFill>
                <a:effectLst/>
                <a:latin typeface="腾讯体 W7" panose="020C08030202040F0204" pitchFamily="34" charset="-122"/>
                <a:ea typeface="腾讯体 W7" panose="020C08030202040F0204" pitchFamily="34" charset="-122"/>
              </a:rPr>
              <a:t>项目管理界面</a:t>
            </a:r>
            <a:endParaRPr kumimoji="1" lang="zh-CN" altLang="en-US" i="0" dirty="0">
              <a:solidFill>
                <a:srgbClr val="000000"/>
              </a:solidFill>
              <a:effectLst/>
              <a:latin typeface="腾讯体 W7" panose="020C08030202040F0204" pitchFamily="34" charset="-122"/>
              <a:ea typeface="腾讯体 W7" panose="020C08030202040F0204" pitchFamily="34" charset="-122"/>
            </a:endParaRPr>
          </a:p>
        </p:txBody>
      </p:sp>
      <p:sp>
        <p:nvSpPr>
          <p:cNvPr id="67" name="圆角矩形 66"/>
          <p:cNvSpPr/>
          <p:nvPr/>
        </p:nvSpPr>
        <p:spPr>
          <a:xfrm>
            <a:off x="4086901" y="1682661"/>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标注任务界面</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68" name="圆角矩形 67"/>
          <p:cNvSpPr/>
          <p:nvPr/>
        </p:nvSpPr>
        <p:spPr>
          <a:xfrm>
            <a:off x="6120055" y="1688650"/>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结果查看界面</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69" name="圆角矩形 68"/>
          <p:cNvSpPr/>
          <p:nvPr/>
        </p:nvSpPr>
        <p:spPr>
          <a:xfrm>
            <a:off x="8309168" y="1667313"/>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自动挖掘界面</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0" name="圆角矩形 69"/>
          <p:cNvSpPr/>
          <p:nvPr/>
        </p:nvSpPr>
        <p:spPr>
          <a:xfrm>
            <a:off x="1717282" y="2292024"/>
            <a:ext cx="4161993" cy="1667062"/>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solidFill>
                  <a:schemeClr val="dk1"/>
                </a:solidFill>
                <a:latin typeface="腾讯体 W7" panose="020C08030202040F0204" pitchFamily="34" charset="-122"/>
                <a:ea typeface="腾讯体 W7" panose="020C08030202040F0204" pitchFamily="34" charset="-122"/>
              </a:rPr>
              <a:t>文本标注子系统</a:t>
            </a:r>
            <a:endParaRPr lang="en-US" altLang="zh-CN" dirty="0">
              <a:solidFill>
                <a:schemeClr val="dk1"/>
              </a:solidFill>
              <a:latin typeface="腾讯体 W7" panose="020C08030202040F0204" pitchFamily="34" charset="-122"/>
              <a:ea typeface="腾讯体 W7" panose="020C08030202040F0204" pitchFamily="34" charset="-122"/>
            </a:endParaRPr>
          </a:p>
          <a:p>
            <a:pPr algn="ctr"/>
            <a:endParaRPr lang="en-US" altLang="zh-CN" dirty="0">
              <a:latin typeface="腾讯体 W7" panose="020C08030202040F0204" pitchFamily="34" charset="-122"/>
              <a:ea typeface="腾讯体 W7" panose="020C08030202040F0204" pitchFamily="34" charset="-122"/>
            </a:endParaRPr>
          </a:p>
          <a:p>
            <a:pPr algn="ctr"/>
            <a:endParaRPr lang="en-US" altLang="zh-CN" dirty="0">
              <a:solidFill>
                <a:schemeClr val="dk1"/>
              </a:solidFill>
              <a:latin typeface="腾讯体 W7" panose="020C08030202040F0204" pitchFamily="34" charset="-122"/>
              <a:ea typeface="腾讯体 W7" panose="020C08030202040F0204" pitchFamily="34" charset="-122"/>
            </a:endParaRPr>
          </a:p>
          <a:p>
            <a:pPr algn="ctr"/>
            <a:endParaRPr lang="en-US" altLang="zh-CN" dirty="0">
              <a:latin typeface="腾讯体 W7" panose="020C08030202040F0204" pitchFamily="34" charset="-122"/>
              <a:ea typeface="腾讯体 W7" panose="020C08030202040F0204" pitchFamily="34" charset="-122"/>
            </a:endParaRPr>
          </a:p>
          <a:p>
            <a:pPr algn="ctr"/>
            <a:endParaRPr lang="zh-CN" altLang="en-US" dirty="0">
              <a:solidFill>
                <a:schemeClr val="dk1"/>
              </a:solidFill>
              <a:latin typeface="腾讯体 W7" panose="020C08030202040F0204" pitchFamily="34" charset="-122"/>
              <a:ea typeface="腾讯体 W7" panose="020C08030202040F0204" pitchFamily="34" charset="-122"/>
            </a:endParaRPr>
          </a:p>
        </p:txBody>
      </p:sp>
      <p:sp>
        <p:nvSpPr>
          <p:cNvPr id="71" name="圆角矩形 70"/>
          <p:cNvSpPr/>
          <p:nvPr/>
        </p:nvSpPr>
        <p:spPr>
          <a:xfrm>
            <a:off x="1970504" y="2849774"/>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标注管理模块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2" name="圆角矩形 71"/>
          <p:cNvSpPr/>
          <p:nvPr/>
        </p:nvSpPr>
        <p:spPr>
          <a:xfrm>
            <a:off x="3888277" y="2849774"/>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实体标注模块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3" name="圆角矩形 72"/>
          <p:cNvSpPr/>
          <p:nvPr/>
        </p:nvSpPr>
        <p:spPr>
          <a:xfrm>
            <a:off x="1970504" y="3388371"/>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数据导出模块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4" name="圆角矩形 73"/>
          <p:cNvSpPr/>
          <p:nvPr/>
        </p:nvSpPr>
        <p:spPr>
          <a:xfrm>
            <a:off x="3888277" y="3398706"/>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数据服务模块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5" name="圆角矩形 74"/>
          <p:cNvSpPr/>
          <p:nvPr/>
        </p:nvSpPr>
        <p:spPr>
          <a:xfrm>
            <a:off x="6027271" y="2292023"/>
            <a:ext cx="4298447" cy="1667062"/>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latin typeface="腾讯体 W7" panose="020C08030202040F0204" pitchFamily="34" charset="-122"/>
                <a:ea typeface="腾讯体 W7" panose="020C08030202040F0204" pitchFamily="34" charset="-122"/>
              </a:rPr>
              <a:t>智能挖掘子系统</a:t>
            </a:r>
            <a:endParaRPr lang="en-US" altLang="zh-CN" dirty="0">
              <a:latin typeface="腾讯体 W7" panose="020C08030202040F0204" pitchFamily="34" charset="-122"/>
              <a:ea typeface="腾讯体 W7" panose="020C08030202040F0204" pitchFamily="34" charset="-122"/>
            </a:endParaRPr>
          </a:p>
          <a:p>
            <a:pPr algn="ctr"/>
            <a:endParaRPr lang="en-US" altLang="zh-CN" dirty="0">
              <a:solidFill>
                <a:schemeClr val="dk1"/>
              </a:solidFill>
              <a:latin typeface="腾讯体 W7" panose="020C08030202040F0204" pitchFamily="34" charset="-122"/>
              <a:ea typeface="腾讯体 W7" panose="020C08030202040F0204" pitchFamily="34" charset="-122"/>
            </a:endParaRPr>
          </a:p>
          <a:p>
            <a:pPr algn="ctr"/>
            <a:endParaRPr lang="en-US" altLang="zh-CN" dirty="0">
              <a:latin typeface="腾讯体 W7" panose="020C08030202040F0204" pitchFamily="34" charset="-122"/>
              <a:ea typeface="腾讯体 W7" panose="020C08030202040F0204" pitchFamily="34" charset="-122"/>
            </a:endParaRPr>
          </a:p>
          <a:p>
            <a:pPr algn="ctr"/>
            <a:endParaRPr lang="en-US" altLang="zh-CN" dirty="0">
              <a:solidFill>
                <a:schemeClr val="dk1"/>
              </a:solidFill>
              <a:latin typeface="腾讯体 W7" panose="020C08030202040F0204" pitchFamily="34" charset="-122"/>
              <a:ea typeface="腾讯体 W7" panose="020C08030202040F0204" pitchFamily="34" charset="-122"/>
            </a:endParaRPr>
          </a:p>
          <a:p>
            <a:pPr algn="ctr"/>
            <a:endParaRPr lang="zh-CN" altLang="en-US" dirty="0">
              <a:solidFill>
                <a:schemeClr val="dk1"/>
              </a:solidFill>
              <a:latin typeface="腾讯体 W7" panose="020C08030202040F0204" pitchFamily="34" charset="-122"/>
              <a:ea typeface="腾讯体 W7" panose="020C08030202040F0204" pitchFamily="34" charset="-122"/>
            </a:endParaRPr>
          </a:p>
        </p:txBody>
      </p:sp>
      <p:sp>
        <p:nvSpPr>
          <p:cNvPr id="76" name="圆角矩形 75"/>
          <p:cNvSpPr/>
          <p:nvPr/>
        </p:nvSpPr>
        <p:spPr>
          <a:xfrm>
            <a:off x="6391395" y="2859093"/>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智能标注模块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7" name="圆角矩形 76"/>
          <p:cNvSpPr/>
          <p:nvPr/>
        </p:nvSpPr>
        <p:spPr>
          <a:xfrm>
            <a:off x="8309168" y="2859093"/>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cs typeface="腾讯体 W7" panose="020C08030202040F0204" pitchFamily="34" charset="-122"/>
              </a:rPr>
              <a:t> 智能识别模块</a:t>
            </a:r>
            <a:endParaRPr lang="zh-CN" altLang="en-US" dirty="0">
              <a:solidFill>
                <a:srgbClr val="000000"/>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78" name="圆角矩形 77"/>
          <p:cNvSpPr/>
          <p:nvPr/>
        </p:nvSpPr>
        <p:spPr>
          <a:xfrm>
            <a:off x="6391395" y="3397690"/>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段落定位模块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79" name="圆角矩形 78"/>
          <p:cNvSpPr/>
          <p:nvPr/>
        </p:nvSpPr>
        <p:spPr>
          <a:xfrm>
            <a:off x="8309168" y="3408025"/>
            <a:ext cx="1756064"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模型分享模块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0" name="圆角矩形 79"/>
          <p:cNvSpPr/>
          <p:nvPr/>
        </p:nvSpPr>
        <p:spPr>
          <a:xfrm>
            <a:off x="1717283" y="4076322"/>
            <a:ext cx="8585200"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solidFill>
                <a:schemeClr val="dk1"/>
              </a:solidFill>
              <a:latin typeface="腾讯体 W7" panose="020C08030202040F0204" pitchFamily="34" charset="-122"/>
              <a:ea typeface="腾讯体 W7" panose="020C08030202040F0204" pitchFamily="34" charset="-122"/>
            </a:endParaRPr>
          </a:p>
        </p:txBody>
      </p:sp>
      <p:sp>
        <p:nvSpPr>
          <p:cNvPr id="81" name="圆角矩形 80"/>
          <p:cNvSpPr/>
          <p:nvPr/>
        </p:nvSpPr>
        <p:spPr>
          <a:xfrm>
            <a:off x="1978975" y="4219745"/>
            <a:ext cx="2116398"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关系型数据库</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2" name="圆角矩形 81"/>
          <p:cNvSpPr/>
          <p:nvPr/>
        </p:nvSpPr>
        <p:spPr>
          <a:xfrm>
            <a:off x="4357065" y="4219745"/>
            <a:ext cx="3088351"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非关系型数据库</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3" name="圆角矩形 82"/>
          <p:cNvSpPr/>
          <p:nvPr/>
        </p:nvSpPr>
        <p:spPr>
          <a:xfrm>
            <a:off x="7876119" y="4219745"/>
            <a:ext cx="2189113"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对象存储</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4" name="圆角矩形 83"/>
          <p:cNvSpPr/>
          <p:nvPr/>
        </p:nvSpPr>
        <p:spPr>
          <a:xfrm>
            <a:off x="1704901" y="4839770"/>
            <a:ext cx="8585200"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solidFill>
                <a:schemeClr val="dk1"/>
              </a:solidFill>
              <a:latin typeface="腾讯体 W7" panose="020C08030202040F0204" pitchFamily="34" charset="-122"/>
              <a:ea typeface="腾讯体 W7" panose="020C08030202040F0204" pitchFamily="34" charset="-122"/>
            </a:endParaRPr>
          </a:p>
        </p:txBody>
      </p:sp>
      <p:sp>
        <p:nvSpPr>
          <p:cNvPr id="85" name="圆角矩形 84"/>
          <p:cNvSpPr/>
          <p:nvPr/>
        </p:nvSpPr>
        <p:spPr>
          <a:xfrm>
            <a:off x="1966593" y="4983193"/>
            <a:ext cx="2116398"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云服务</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6" name="圆角矩形 85"/>
          <p:cNvSpPr/>
          <p:nvPr/>
        </p:nvSpPr>
        <p:spPr>
          <a:xfrm>
            <a:off x="4344683" y="4983193"/>
            <a:ext cx="3088351"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容器服务</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7" name="圆角矩形 86"/>
          <p:cNvSpPr/>
          <p:nvPr/>
        </p:nvSpPr>
        <p:spPr>
          <a:xfrm>
            <a:off x="7863737" y="4983193"/>
            <a:ext cx="2189113" cy="336608"/>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latin typeface="腾讯体 W7" panose="020C08030202040F0204" pitchFamily="34" charset="-122"/>
                <a:ea typeface="腾讯体 W7" panose="020C08030202040F0204" pitchFamily="34" charset="-122"/>
              </a:rPr>
              <a:t>消息队列</a:t>
            </a:r>
            <a:endParaRPr lang="zh-CN" altLang="en-US" dirty="0">
              <a:solidFill>
                <a:srgbClr val="000000"/>
              </a:solidFill>
              <a:latin typeface="腾讯体 W7" panose="020C08030202040F0204" pitchFamily="34" charset="-122"/>
              <a:ea typeface="腾讯体 W7" panose="020C08030202040F0204" pitchFamily="34" charset="-122"/>
            </a:endParaRPr>
          </a:p>
        </p:txBody>
      </p:sp>
      <p:sp>
        <p:nvSpPr>
          <p:cNvPr id="88" name="圆角矩形 87"/>
          <p:cNvSpPr/>
          <p:nvPr/>
        </p:nvSpPr>
        <p:spPr>
          <a:xfrm>
            <a:off x="213441" y="1552710"/>
            <a:ext cx="1287317"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solidFill>
                  <a:schemeClr val="dk1"/>
                </a:solidFill>
                <a:latin typeface="腾讯体 W7" panose="020C08030202040F0204" pitchFamily="34" charset="-122"/>
                <a:ea typeface="腾讯体 W7" panose="020C08030202040F0204" pitchFamily="34" charset="-122"/>
              </a:rPr>
              <a:t>展示层</a:t>
            </a:r>
            <a:endParaRPr lang="zh-CN" altLang="en-US" dirty="0">
              <a:solidFill>
                <a:schemeClr val="dk1"/>
              </a:solidFill>
              <a:latin typeface="腾讯体 W7" panose="020C08030202040F0204" pitchFamily="34" charset="-122"/>
              <a:ea typeface="腾讯体 W7" panose="020C08030202040F0204" pitchFamily="34" charset="-122"/>
            </a:endParaRPr>
          </a:p>
        </p:txBody>
      </p:sp>
      <p:sp>
        <p:nvSpPr>
          <p:cNvPr id="89" name="圆角矩形 88"/>
          <p:cNvSpPr/>
          <p:nvPr/>
        </p:nvSpPr>
        <p:spPr>
          <a:xfrm>
            <a:off x="188752" y="2292023"/>
            <a:ext cx="1287317" cy="1667062"/>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solidFill>
                  <a:schemeClr val="dk1"/>
                </a:solidFill>
                <a:latin typeface="腾讯体 W7" panose="020C08030202040F0204" pitchFamily="34" charset="-122"/>
                <a:ea typeface="腾讯体 W7" panose="020C08030202040F0204" pitchFamily="34" charset="-122"/>
              </a:rPr>
              <a:t>应用层</a:t>
            </a:r>
            <a:endParaRPr lang="zh-CN" altLang="en-US" dirty="0">
              <a:solidFill>
                <a:schemeClr val="dk1"/>
              </a:solidFill>
              <a:latin typeface="腾讯体 W7" panose="020C08030202040F0204" pitchFamily="34" charset="-122"/>
              <a:ea typeface="腾讯体 W7" panose="020C08030202040F0204" pitchFamily="34" charset="-122"/>
            </a:endParaRPr>
          </a:p>
        </p:txBody>
      </p:sp>
      <p:sp>
        <p:nvSpPr>
          <p:cNvPr id="90" name="圆角矩形 89"/>
          <p:cNvSpPr/>
          <p:nvPr/>
        </p:nvSpPr>
        <p:spPr>
          <a:xfrm>
            <a:off x="168274" y="4074944"/>
            <a:ext cx="1287317"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solidFill>
                  <a:schemeClr val="dk1"/>
                </a:solidFill>
                <a:latin typeface="腾讯体 W7" panose="020C08030202040F0204" pitchFamily="34" charset="-122"/>
                <a:ea typeface="腾讯体 W7" panose="020C08030202040F0204" pitchFamily="34" charset="-122"/>
              </a:rPr>
              <a:t>数据层</a:t>
            </a:r>
            <a:endParaRPr lang="zh-CN" altLang="en-US" dirty="0">
              <a:solidFill>
                <a:schemeClr val="dk1"/>
              </a:solidFill>
              <a:latin typeface="腾讯体 W7" panose="020C08030202040F0204" pitchFamily="34" charset="-122"/>
              <a:ea typeface="腾讯体 W7" panose="020C08030202040F0204" pitchFamily="34" charset="-122"/>
            </a:endParaRPr>
          </a:p>
        </p:txBody>
      </p:sp>
      <p:sp>
        <p:nvSpPr>
          <p:cNvPr id="91" name="圆角矩形 90"/>
          <p:cNvSpPr/>
          <p:nvPr/>
        </p:nvSpPr>
        <p:spPr>
          <a:xfrm>
            <a:off x="168274" y="4839770"/>
            <a:ext cx="1287317" cy="623454"/>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solidFill>
                  <a:schemeClr val="dk1"/>
                </a:solidFill>
                <a:latin typeface="腾讯体 W7" panose="020C08030202040F0204" pitchFamily="34" charset="-122"/>
                <a:ea typeface="腾讯体 W7" panose="020C08030202040F0204" pitchFamily="34" charset="-122"/>
              </a:rPr>
              <a:t>服务层</a:t>
            </a:r>
            <a:endParaRPr lang="zh-CN" altLang="en-US" dirty="0">
              <a:solidFill>
                <a:schemeClr val="dk1"/>
              </a:solidFill>
              <a:latin typeface="腾讯体 W7" panose="020C08030202040F0204" pitchFamily="34" charset="-122"/>
              <a:ea typeface="腾讯体 W7" panose="020C08030202040F0204" pitchFamily="34" charset="-122"/>
            </a:endParaRPr>
          </a:p>
        </p:txBody>
      </p:sp>
      <p:pic>
        <p:nvPicPr>
          <p:cNvPr id="92" name="图片 91"/>
          <p:cNvPicPr>
            <a:picLocks noChangeAspect="1"/>
          </p:cNvPicPr>
          <p:nvPr/>
        </p:nvPicPr>
        <p:blipFill>
          <a:blip r:embed="rId1"/>
          <a:stretch>
            <a:fillRect/>
          </a:stretch>
        </p:blipFill>
        <p:spPr>
          <a:xfrm>
            <a:off x="10397565" y="4975225"/>
            <a:ext cx="471828" cy="473944"/>
          </a:xfrm>
          <a:prstGeom prst="rect">
            <a:avLst/>
          </a:prstGeom>
        </p:spPr>
      </p:pic>
      <p:pic>
        <p:nvPicPr>
          <p:cNvPr id="93" name="图片 9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28120" y="5022538"/>
            <a:ext cx="536885" cy="297263"/>
          </a:xfrm>
          <a:prstGeom prst="rect">
            <a:avLst/>
          </a:prstGeom>
        </p:spPr>
      </p:pic>
      <p:pic>
        <p:nvPicPr>
          <p:cNvPr id="94" name="图片 9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3687" y="4203701"/>
            <a:ext cx="475349" cy="477540"/>
          </a:xfrm>
          <a:prstGeom prst="rect">
            <a:avLst/>
          </a:prstGeom>
        </p:spPr>
      </p:pic>
      <p:pic>
        <p:nvPicPr>
          <p:cNvPr id="95" name="图片 9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84786" y="4184485"/>
            <a:ext cx="490867" cy="477541"/>
          </a:xfrm>
          <a:prstGeom prst="rect">
            <a:avLst/>
          </a:prstGeom>
        </p:spPr>
      </p:pic>
      <p:pic>
        <p:nvPicPr>
          <p:cNvPr id="96" name="图片 9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92228" y="4247965"/>
            <a:ext cx="494568" cy="384857"/>
          </a:xfrm>
          <a:prstGeom prst="rect">
            <a:avLst/>
          </a:prstGeom>
        </p:spPr>
      </p:pic>
      <p:pic>
        <p:nvPicPr>
          <p:cNvPr id="97" name="图片 96"/>
          <p:cNvPicPr>
            <a:picLocks noChangeAspect="1"/>
          </p:cNvPicPr>
          <p:nvPr/>
        </p:nvPicPr>
        <p:blipFill rotWithShape="1">
          <a:blip r:embed="rId6"/>
          <a:srcRect l="16731" t="30396" r="16021" b="30179"/>
          <a:stretch>
            <a:fillRect/>
          </a:stretch>
        </p:blipFill>
        <p:spPr>
          <a:xfrm>
            <a:off x="10570289" y="3230298"/>
            <a:ext cx="1287317" cy="521634"/>
          </a:xfrm>
          <a:prstGeom prst="rect">
            <a:avLst/>
          </a:prstGeom>
        </p:spPr>
      </p:pic>
      <p:pic>
        <p:nvPicPr>
          <p:cNvPr id="98" name="图片 97"/>
          <p:cNvPicPr>
            <a:picLocks noChangeAspect="1"/>
          </p:cNvPicPr>
          <p:nvPr/>
        </p:nvPicPr>
        <p:blipFill rotWithShape="1">
          <a:blip r:embed="rId7"/>
          <a:srcRect l="18438" t="33921" r="19361" b="35008"/>
          <a:stretch>
            <a:fillRect/>
          </a:stretch>
        </p:blipFill>
        <p:spPr>
          <a:xfrm>
            <a:off x="10570288" y="2529430"/>
            <a:ext cx="1287318" cy="409670"/>
          </a:xfrm>
          <a:prstGeom prst="rect">
            <a:avLst/>
          </a:prstGeom>
        </p:spPr>
      </p:pic>
      <p:pic>
        <p:nvPicPr>
          <p:cNvPr id="99" name="图片 98"/>
          <p:cNvPicPr>
            <a:picLocks noChangeAspect="1"/>
          </p:cNvPicPr>
          <p:nvPr/>
        </p:nvPicPr>
        <p:blipFill rotWithShape="1">
          <a:blip r:embed="rId8"/>
          <a:srcRect l="22777" t="29060" r="27626" b="36542"/>
          <a:stretch>
            <a:fillRect/>
          </a:stretch>
        </p:blipFill>
        <p:spPr>
          <a:xfrm>
            <a:off x="10454360" y="1564296"/>
            <a:ext cx="1465992" cy="532581"/>
          </a:xfrm>
          <a:prstGeom prst="rect">
            <a:avLst/>
          </a:prstGeom>
        </p:spPr>
      </p:pic>
      <p:pic>
        <p:nvPicPr>
          <p:cNvPr id="100"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881534" y="4947343"/>
            <a:ext cx="610694" cy="521634"/>
          </a:xfrm>
          <a:prstGeom prst="rect">
            <a:avLst/>
          </a:prstGeom>
          <a:noFill/>
          <a:extLst>
            <a:ext uri="{909E8E84-426E-40DD-AFC4-6F175D3DCCD1}">
              <a14:hiddenFill xmlns:a14="http://schemas.microsoft.com/office/drawing/2010/main">
                <a:solidFill>
                  <a:srgbClr val="FFFFFF"/>
                </a:solidFill>
              </a14:hiddenFill>
            </a:ext>
          </a:extLst>
        </p:spPr>
      </p:pic>
      <p:sp>
        <p:nvSpPr>
          <p:cNvPr id="101" name="圆角矩形 100"/>
          <p:cNvSpPr/>
          <p:nvPr/>
        </p:nvSpPr>
        <p:spPr>
          <a:xfrm>
            <a:off x="149223" y="5569729"/>
            <a:ext cx="11896731" cy="457200"/>
          </a:xfrm>
          <a:prstGeom prst="roundRect">
            <a:avLst/>
          </a:prstGeom>
          <a:solidFill>
            <a:schemeClr val="bg2">
              <a:lumMod val="85000"/>
              <a:alpha val="30000"/>
            </a:schemeClr>
          </a:solidFill>
          <a:ln w="12700" cap="flat" cmpd="sng">
            <a:noFill/>
            <a:prstDash val="solid"/>
            <a:miter lim="800000"/>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dirty="0">
                <a:latin typeface="腾讯体 W7" panose="020C08030202040F0204" pitchFamily="34" charset="-122"/>
                <a:ea typeface="腾讯体 W7" panose="020C08030202040F0204" pitchFamily="34" charset="-122"/>
                <a:cs typeface="腾讯体 W7" panose="020C08030202040F0204" pitchFamily="34" charset="-122"/>
              </a:rPr>
              <a:t>自动化                            高精度                                 平台化</a:t>
            </a:r>
            <a:r>
              <a:rPr lang="zh-CN" altLang="en-US" dirty="0">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dirty="0">
                <a:latin typeface="腾讯体 W7" panose="020C08030202040F0204" pitchFamily="34" charset="-122"/>
                <a:ea typeface="腾讯体 W7" panose="020C08030202040F0204" pitchFamily="34" charset="-122"/>
                <a:cs typeface="腾讯体 W7" panose="020C08030202040F0204" pitchFamily="34" charset="-122"/>
              </a:rPr>
              <a:t>跨领域</a:t>
            </a:r>
            <a:endParaRPr lang="zh-CN" altLang="en-US"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04" name="文本框 103"/>
          <p:cNvSpPr txBox="1"/>
          <p:nvPr/>
        </p:nvSpPr>
        <p:spPr>
          <a:xfrm>
            <a:off x="0" y="6104795"/>
            <a:ext cx="12171679" cy="707886"/>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体系结构</a:t>
            </a:r>
            <a:r>
              <a:rPr lang="en-US" altLang="zh-CN"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zh-CN" altLang="en-US"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优越</a:t>
            </a: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，构建</a:t>
            </a:r>
            <a:r>
              <a:rPr lang="zh-CN" altLang="en-US" sz="3600" b="1" dirty="0">
                <a:solidFill>
                  <a:srgbClr val="FFFF00"/>
                </a:solidFill>
                <a:latin typeface="腾讯体 W7" panose="020C08030202040F0204" pitchFamily="34" charset="-122"/>
                <a:ea typeface="腾讯体 W7" panose="020C08030202040F0204" pitchFamily="34" charset="-122"/>
                <a:cs typeface="腾讯体 W7" panose="020C08030202040F0204" pitchFamily="34" charset="-122"/>
              </a:rPr>
              <a:t>标注挖掘</a:t>
            </a: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一体化平台</a:t>
            </a:r>
            <a:endPar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8" name="标题 17"/>
          <p:cNvSpPr>
            <a:spLocks noGrp="1"/>
          </p:cNvSpPr>
          <p:nvPr/>
        </p:nvSpPr>
        <p:spPr>
          <a:xfrm>
            <a:off x="288290" y="97155"/>
            <a:ext cx="7244080" cy="685800"/>
          </a:xfrm>
          <a:prstGeom prst="rect">
            <a:avLst/>
          </a:prstGeom>
        </p:spPr>
        <p:txBody>
          <a:bodyPr vert="horz" lIns="91440" tIns="45720" rIns="91440" bIns="45720" rtlCol="0" anchor="ctr">
            <a:normAutofit fontScale="9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体系创新</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2" name="平行四边形 1"/>
          <p:cNvSpPr/>
          <p:nvPr/>
        </p:nvSpPr>
        <p:spPr>
          <a:xfrm>
            <a:off x="12036927"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nvSpPr>
        <p:spPr>
          <a:xfrm>
            <a:off x="0" y="6085745"/>
            <a:ext cx="12171679" cy="706755"/>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信息提取精度</a:t>
            </a:r>
            <a:r>
              <a:rPr lang="en-US" altLang="zh-CN"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zh-CN" altLang="en-US"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优于</a:t>
            </a:r>
            <a:r>
              <a:rPr lang="zh-CN" altLang="en-US" sz="3600" b="1" dirty="0">
                <a:solidFill>
                  <a:srgbClr val="FFFF00"/>
                </a:solidFill>
                <a:latin typeface="腾讯体 W7" panose="020C08030202040F0204" pitchFamily="34" charset="-122"/>
                <a:ea typeface="腾讯体 W7" panose="020C08030202040F0204" pitchFamily="34" charset="-122"/>
                <a:cs typeface="腾讯体 W7" panose="020C08030202040F0204" pitchFamily="34" charset="-122"/>
              </a:rPr>
              <a:t>世界顶尖</a:t>
            </a: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通用大语言模型</a:t>
            </a:r>
            <a:endPar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grpSp>
        <p:nvGrpSpPr>
          <p:cNvPr id="4" name="组合 3"/>
          <p:cNvGrpSpPr/>
          <p:nvPr/>
        </p:nvGrpSpPr>
        <p:grpSpPr>
          <a:xfrm>
            <a:off x="4952161" y="884121"/>
            <a:ext cx="7137222" cy="5117918"/>
            <a:chOff x="4927572" y="884121"/>
            <a:chExt cx="7244107" cy="5208098"/>
          </a:xfrm>
        </p:grpSpPr>
        <p:pic>
          <p:nvPicPr>
            <p:cNvPr id="74" name="图片 7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40555" y="884121"/>
              <a:ext cx="7231124" cy="3548498"/>
            </a:xfrm>
            <a:prstGeom prst="rect">
              <a:avLst/>
            </a:prstGeom>
          </p:spPr>
        </p:pic>
        <p:pic>
          <p:nvPicPr>
            <p:cNvPr id="78" name="图片 77"/>
            <p:cNvPicPr>
              <a:picLocks noChangeAspect="1"/>
            </p:cNvPicPr>
            <p:nvPr/>
          </p:nvPicPr>
          <p:blipFill>
            <a:blip r:embed="rId2"/>
            <a:stretch>
              <a:fillRect/>
            </a:stretch>
          </p:blipFill>
          <p:spPr>
            <a:xfrm>
              <a:off x="4940555" y="4432619"/>
              <a:ext cx="3631124" cy="1659600"/>
            </a:xfrm>
            <a:prstGeom prst="rect">
              <a:avLst/>
            </a:prstGeom>
          </p:spPr>
        </p:pic>
        <p:pic>
          <p:nvPicPr>
            <p:cNvPr id="80" name="图片 79"/>
            <p:cNvPicPr>
              <a:picLocks noChangeAspect="1"/>
            </p:cNvPicPr>
            <p:nvPr/>
          </p:nvPicPr>
          <p:blipFill>
            <a:blip r:embed="rId3"/>
            <a:stretch>
              <a:fillRect/>
            </a:stretch>
          </p:blipFill>
          <p:spPr>
            <a:xfrm>
              <a:off x="8571679" y="4432618"/>
              <a:ext cx="3600000" cy="1644547"/>
            </a:xfrm>
            <a:prstGeom prst="rect">
              <a:avLst/>
            </a:prstGeom>
          </p:spPr>
        </p:pic>
        <p:sp>
          <p:nvSpPr>
            <p:cNvPr id="29" name="矩形 28"/>
            <p:cNvSpPr/>
            <p:nvPr/>
          </p:nvSpPr>
          <p:spPr>
            <a:xfrm>
              <a:off x="4927572" y="884121"/>
              <a:ext cx="7231123" cy="5208098"/>
            </a:xfrm>
            <a:prstGeom prst="rect">
              <a:avLst/>
            </a:prstGeom>
            <a:noFill/>
            <a:ln w="25400">
              <a:solidFill>
                <a:srgbClr val="00D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sp>
        <p:nvSpPr>
          <p:cNvPr id="6" name="标题 17"/>
          <p:cNvSpPr>
            <a:spLocks noGrp="1"/>
          </p:cNvSpPr>
          <p:nvPr/>
        </p:nvSpPr>
        <p:spPr>
          <a:xfrm>
            <a:off x="288290" y="97155"/>
            <a:ext cx="7244080" cy="685800"/>
          </a:xfrm>
          <a:prstGeom prst="rect">
            <a:avLst/>
          </a:prstGeom>
        </p:spPr>
        <p:txBody>
          <a:bodyPr vert="horz" lIns="91440" tIns="45720" rIns="91440" bIns="45720" rtlCol="0" anchor="ctr">
            <a:normAutofit fontScale="9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技术创新</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pic>
        <p:nvPicPr>
          <p:cNvPr id="31" name="图片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206" y="884121"/>
            <a:ext cx="4718059" cy="2299421"/>
          </a:xfrm>
          <a:prstGeom prst="rect">
            <a:avLst/>
          </a:prstGeom>
        </p:spPr>
      </p:pic>
      <p:sp>
        <p:nvSpPr>
          <p:cNvPr id="32" name="矩形 31"/>
          <p:cNvSpPr/>
          <p:nvPr/>
        </p:nvSpPr>
        <p:spPr>
          <a:xfrm>
            <a:off x="127206" y="884121"/>
            <a:ext cx="4718059" cy="5089758"/>
          </a:xfrm>
          <a:prstGeom prst="rect">
            <a:avLst/>
          </a:prstGeom>
          <a:noFill/>
          <a:ln w="25400">
            <a:solidFill>
              <a:srgbClr val="00D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nvGrpSpPr>
          <p:cNvPr id="33" name="组合 32"/>
          <p:cNvGrpSpPr/>
          <p:nvPr/>
        </p:nvGrpSpPr>
        <p:grpSpPr>
          <a:xfrm>
            <a:off x="132965" y="3253882"/>
            <a:ext cx="1595766" cy="2667738"/>
            <a:chOff x="179163" y="2603412"/>
            <a:chExt cx="1595766" cy="2667738"/>
          </a:xfrm>
        </p:grpSpPr>
        <p:sp>
          <p:nvSpPr>
            <p:cNvPr id="34" name="箭头: 右 33"/>
            <p:cNvSpPr/>
            <p:nvPr/>
          </p:nvSpPr>
          <p:spPr>
            <a:xfrm rot="16200000">
              <a:off x="731128" y="2976109"/>
              <a:ext cx="491837" cy="769838"/>
            </a:xfrm>
            <a:prstGeom prst="rightArrow">
              <a:avLst/>
            </a:prstGeom>
            <a:gradFill flip="none" rotWithShape="1">
              <a:gsLst>
                <a:gs pos="0">
                  <a:srgbClr val="04121D"/>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38" name="文本框 37"/>
            <p:cNvSpPr txBox="1"/>
            <p:nvPr/>
          </p:nvSpPr>
          <p:spPr>
            <a:xfrm>
              <a:off x="179163" y="2603412"/>
              <a:ext cx="1595766" cy="523220"/>
            </a:xfrm>
            <a:prstGeom prst="rect">
              <a:avLst/>
            </a:prstGeom>
            <a:noFill/>
          </p:spPr>
          <p:txBody>
            <a:bodyPr wrap="square" rtlCol="0">
              <a:spAutoFit/>
            </a:bodyPr>
            <a:lstStyle/>
            <a:p>
              <a:pPr algn="ctr"/>
              <a:r>
                <a:rPr lang="en-US" altLang="zh-CN" sz="2800" b="1" dirty="0">
                  <a:solidFill>
                    <a:srgbClr val="FF0000"/>
                  </a:solidFill>
                  <a:latin typeface="腾讯体 W7" panose="020C08030202040F0204" pitchFamily="34" charset="-122"/>
                  <a:ea typeface="腾讯体 W7" panose="020C08030202040F0204" pitchFamily="34" charset="-122"/>
                </a:rPr>
                <a:t>13B</a:t>
              </a:r>
              <a:endParaRPr lang="en-US" altLang="zh-CN" sz="2800" b="1" dirty="0">
                <a:solidFill>
                  <a:srgbClr val="FF0000"/>
                </a:solidFill>
                <a:latin typeface="腾讯体 W7" panose="020C08030202040F0204" pitchFamily="34" charset="-122"/>
                <a:ea typeface="腾讯体 W7" panose="020C08030202040F0204" pitchFamily="34" charset="-122"/>
              </a:endParaRPr>
            </a:p>
          </p:txBody>
        </p:sp>
        <p:sp>
          <p:nvSpPr>
            <p:cNvPr id="44" name="圆柱体 18"/>
            <p:cNvSpPr/>
            <p:nvPr/>
          </p:nvSpPr>
          <p:spPr>
            <a:xfrm>
              <a:off x="286059" y="4119131"/>
              <a:ext cx="1381975" cy="158195"/>
            </a:xfrm>
            <a:prstGeom prst="can">
              <a:avLst>
                <a:gd name="adj" fmla="val 50000"/>
              </a:avLst>
            </a:prstGeom>
            <a:solidFill>
              <a:srgbClr val="088EFF"/>
            </a:solidFill>
            <a:ln>
              <a:noFill/>
            </a:ln>
            <a:effectLst>
              <a:reflection blurRad="6350" stA="50000" endA="300" endPos="9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45" name="文本框 44"/>
            <p:cNvSpPr txBox="1"/>
            <p:nvPr/>
          </p:nvSpPr>
          <p:spPr>
            <a:xfrm>
              <a:off x="179163" y="4378598"/>
              <a:ext cx="1595766" cy="892552"/>
            </a:xfrm>
            <a:prstGeom prst="rect">
              <a:avLst/>
            </a:prstGeom>
            <a:noFill/>
            <a:effectLst/>
          </p:spPr>
          <p:txBody>
            <a:bodyPr wrap="square" rtlCol="0">
              <a:spAutoFit/>
            </a:bodyPr>
            <a:lstStyle/>
            <a:p>
              <a:pPr algn="ctr"/>
              <a:r>
                <a:rPr lang="zh-CN" altLang="en-US" sz="2600" b="1" dirty="0">
                  <a:solidFill>
                    <a:schemeClr val="bg1"/>
                  </a:solidFill>
                  <a:effectLst/>
                  <a:latin typeface="腾讯体 W7" panose="020C08030202040F0204" pitchFamily="34" charset="-122"/>
                  <a:ea typeface="腾讯体 W7" panose="020C08030202040F0204" pitchFamily="34" charset="-122"/>
                </a:rPr>
                <a:t>模型参数</a:t>
              </a:r>
              <a:endParaRPr lang="en-US" altLang="zh-CN" sz="2600" b="1" dirty="0">
                <a:solidFill>
                  <a:schemeClr val="bg1"/>
                </a:solidFill>
                <a:effectLst/>
                <a:latin typeface="腾讯体 W7" panose="020C08030202040F0204" pitchFamily="34" charset="-122"/>
                <a:ea typeface="腾讯体 W7" panose="020C08030202040F0204" pitchFamily="34" charset="-122"/>
              </a:endParaRPr>
            </a:p>
            <a:p>
              <a:pPr algn="ctr"/>
              <a:r>
                <a:rPr lang="en-US" altLang="zh-CN" sz="2600" b="1" dirty="0" err="1">
                  <a:solidFill>
                    <a:schemeClr val="bg1"/>
                  </a:solidFill>
                  <a:latin typeface="腾讯体 W7" panose="020C08030202040F0204" pitchFamily="34" charset="-122"/>
                  <a:ea typeface="腾讯体 W7" panose="020C08030202040F0204" pitchFamily="34" charset="-122"/>
                </a:rPr>
                <a:t>LLaMa</a:t>
              </a:r>
              <a:endParaRPr lang="en-US" altLang="zh-CN" sz="2600" b="1" dirty="0">
                <a:solidFill>
                  <a:schemeClr val="bg1"/>
                </a:solidFill>
                <a:effectLst/>
                <a:latin typeface="腾讯体 W7" panose="020C08030202040F0204" pitchFamily="34" charset="-122"/>
                <a:ea typeface="腾讯体 W7" panose="020C08030202040F0204" pitchFamily="34" charset="-122"/>
              </a:endParaRPr>
            </a:p>
          </p:txBody>
        </p:sp>
        <p:sp>
          <p:nvSpPr>
            <p:cNvPr id="46" name="文本框 45"/>
            <p:cNvSpPr txBox="1"/>
            <p:nvPr/>
          </p:nvSpPr>
          <p:spPr>
            <a:xfrm>
              <a:off x="179163" y="3618168"/>
              <a:ext cx="1595766" cy="523220"/>
            </a:xfrm>
            <a:prstGeom prst="rect">
              <a:avLst/>
            </a:prstGeom>
            <a:noFill/>
          </p:spPr>
          <p:txBody>
            <a:bodyPr wrap="square" rtlCol="0">
              <a:spAutoFit/>
            </a:bodyPr>
            <a:lstStyle/>
            <a:p>
              <a:pPr algn="ctr"/>
              <a:r>
                <a:rPr lang="en-US" altLang="zh-CN" sz="2800" b="1" dirty="0">
                  <a:solidFill>
                    <a:srgbClr val="FFFF00"/>
                  </a:solidFill>
                  <a:latin typeface="腾讯体 W7" panose="020C08030202040F0204" pitchFamily="34" charset="-122"/>
                  <a:ea typeface="腾讯体 W7" panose="020C08030202040F0204" pitchFamily="34" charset="-122"/>
                </a:rPr>
                <a:t>175B</a:t>
              </a:r>
              <a:endParaRPr lang="en-US" altLang="zh-CN" sz="2800" b="1" dirty="0">
                <a:solidFill>
                  <a:srgbClr val="FFFF00"/>
                </a:solidFill>
                <a:latin typeface="腾讯体 W7" panose="020C08030202040F0204" pitchFamily="34" charset="-122"/>
                <a:ea typeface="腾讯体 W7" panose="020C08030202040F0204" pitchFamily="34" charset="-122"/>
              </a:endParaRPr>
            </a:p>
          </p:txBody>
        </p:sp>
      </p:grpSp>
      <p:grpSp>
        <p:nvGrpSpPr>
          <p:cNvPr id="47" name="组合 46"/>
          <p:cNvGrpSpPr/>
          <p:nvPr/>
        </p:nvGrpSpPr>
        <p:grpSpPr>
          <a:xfrm>
            <a:off x="1683731" y="3255251"/>
            <a:ext cx="1595767" cy="2665001"/>
            <a:chOff x="3487884" y="2603412"/>
            <a:chExt cx="1595767" cy="2665001"/>
          </a:xfrm>
        </p:grpSpPr>
        <p:sp>
          <p:nvSpPr>
            <p:cNvPr id="51" name="箭头: 右 50"/>
            <p:cNvSpPr/>
            <p:nvPr/>
          </p:nvSpPr>
          <p:spPr>
            <a:xfrm rot="16200000">
              <a:off x="4039849" y="2976109"/>
              <a:ext cx="491837" cy="769838"/>
            </a:xfrm>
            <a:prstGeom prst="rightArrow">
              <a:avLst/>
            </a:prstGeom>
            <a:gradFill flip="none" rotWithShape="1">
              <a:gsLst>
                <a:gs pos="0">
                  <a:srgbClr val="04121D"/>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2" name="文本框 51"/>
            <p:cNvSpPr txBox="1"/>
            <p:nvPr/>
          </p:nvSpPr>
          <p:spPr>
            <a:xfrm>
              <a:off x="3487884" y="3618168"/>
              <a:ext cx="1595767" cy="523220"/>
            </a:xfrm>
            <a:prstGeom prst="rect">
              <a:avLst/>
            </a:prstGeom>
            <a:noFill/>
          </p:spPr>
          <p:txBody>
            <a:bodyPr wrap="square" rtlCol="0">
              <a:spAutoFit/>
            </a:bodyPr>
            <a:lstStyle/>
            <a:p>
              <a:pPr algn="ctr"/>
              <a:r>
                <a:rPr lang="en-US" altLang="zh-CN" sz="2800" b="1" dirty="0">
                  <a:solidFill>
                    <a:srgbClr val="FFFF00"/>
                  </a:solidFill>
                  <a:latin typeface="腾讯体 W7" panose="020C08030202040F0204" pitchFamily="34" charset="-122"/>
                  <a:ea typeface="腾讯体 W7" panose="020C08030202040F0204" pitchFamily="34" charset="-122"/>
                </a:rPr>
                <a:t>18.8%</a:t>
              </a:r>
              <a:endParaRPr lang="en-US" altLang="zh-CN" sz="2800" b="1" dirty="0">
                <a:solidFill>
                  <a:srgbClr val="FFFF00"/>
                </a:solidFill>
                <a:latin typeface="腾讯体 W7" panose="020C08030202040F0204" pitchFamily="34" charset="-122"/>
                <a:ea typeface="腾讯体 W7" panose="020C08030202040F0204" pitchFamily="34" charset="-122"/>
              </a:endParaRPr>
            </a:p>
          </p:txBody>
        </p:sp>
        <p:sp>
          <p:nvSpPr>
            <p:cNvPr id="53" name="圆柱体 40"/>
            <p:cNvSpPr/>
            <p:nvPr/>
          </p:nvSpPr>
          <p:spPr>
            <a:xfrm>
              <a:off x="3594780" y="4119131"/>
              <a:ext cx="1381975" cy="158195"/>
            </a:xfrm>
            <a:prstGeom prst="can">
              <a:avLst>
                <a:gd name="adj" fmla="val 50000"/>
              </a:avLst>
            </a:prstGeom>
            <a:solidFill>
              <a:srgbClr val="088EFF"/>
            </a:solidFill>
            <a:ln>
              <a:noFill/>
            </a:ln>
            <a:effectLst>
              <a:reflection blurRad="6350" stA="50000" endA="300" endPos="9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6" name="文本框 55"/>
            <p:cNvSpPr txBox="1"/>
            <p:nvPr/>
          </p:nvSpPr>
          <p:spPr>
            <a:xfrm>
              <a:off x="3487884" y="4375861"/>
              <a:ext cx="1595766" cy="892552"/>
            </a:xfrm>
            <a:prstGeom prst="rect">
              <a:avLst/>
            </a:prstGeom>
            <a:noFill/>
            <a:effectLst/>
          </p:spPr>
          <p:txBody>
            <a:bodyPr wrap="square" rtlCol="0">
              <a:spAutoFit/>
            </a:bodyPr>
            <a:lstStyle/>
            <a:p>
              <a:pPr algn="ctr"/>
              <a:r>
                <a:rPr lang="zh-CN" altLang="en-US" sz="2600" b="1" dirty="0">
                  <a:solidFill>
                    <a:schemeClr val="bg1"/>
                  </a:solidFill>
                  <a:latin typeface="腾讯体 W7" panose="020C08030202040F0204" pitchFamily="34" charset="-122"/>
                  <a:ea typeface="腾讯体 W7" panose="020C08030202040F0204" pitchFamily="34" charset="-122"/>
                </a:rPr>
                <a:t>提取</a:t>
              </a:r>
              <a:r>
                <a:rPr lang="zh-CN" altLang="en-US" sz="2600" b="1" dirty="0">
                  <a:solidFill>
                    <a:schemeClr val="bg1"/>
                  </a:solidFill>
                  <a:effectLst/>
                  <a:latin typeface="腾讯体 W7" panose="020C08030202040F0204" pitchFamily="34" charset="-122"/>
                  <a:ea typeface="腾讯体 W7" panose="020C08030202040F0204" pitchFamily="34" charset="-122"/>
                </a:rPr>
                <a:t>精度</a:t>
              </a:r>
              <a:endParaRPr lang="en-US" altLang="zh-CN" sz="2600" b="1" dirty="0">
                <a:solidFill>
                  <a:schemeClr val="bg1"/>
                </a:solidFill>
                <a:effectLst/>
                <a:latin typeface="腾讯体 W7" panose="020C08030202040F0204" pitchFamily="34" charset="-122"/>
                <a:ea typeface="腾讯体 W7" panose="020C08030202040F0204" pitchFamily="34" charset="-122"/>
              </a:endParaRPr>
            </a:p>
            <a:p>
              <a:pPr algn="ctr"/>
              <a:r>
                <a:rPr lang="en-US" altLang="zh-CN" sz="2600" b="1" dirty="0">
                  <a:solidFill>
                    <a:schemeClr val="bg1"/>
                  </a:solidFill>
                  <a:latin typeface="腾讯体 W7" panose="020C08030202040F0204" pitchFamily="34" charset="-122"/>
                  <a:ea typeface="腾讯体 W7" panose="020C08030202040F0204" pitchFamily="34" charset="-122"/>
                </a:rPr>
                <a:t>1-shot</a:t>
              </a:r>
              <a:endParaRPr lang="zh-CN" altLang="en-US" sz="2600" b="1" dirty="0">
                <a:solidFill>
                  <a:schemeClr val="bg1"/>
                </a:solidFill>
                <a:effectLst/>
                <a:latin typeface="腾讯体 W7" panose="020C08030202040F0204" pitchFamily="34" charset="-122"/>
                <a:ea typeface="腾讯体 W7" panose="020C08030202040F0204" pitchFamily="34" charset="-122"/>
              </a:endParaRPr>
            </a:p>
          </p:txBody>
        </p:sp>
        <p:sp>
          <p:nvSpPr>
            <p:cNvPr id="58" name="文本框 57"/>
            <p:cNvSpPr txBox="1"/>
            <p:nvPr/>
          </p:nvSpPr>
          <p:spPr>
            <a:xfrm>
              <a:off x="3487884" y="2603412"/>
              <a:ext cx="1595767" cy="523220"/>
            </a:xfrm>
            <a:prstGeom prst="rect">
              <a:avLst/>
            </a:prstGeom>
            <a:noFill/>
          </p:spPr>
          <p:txBody>
            <a:bodyPr wrap="square" rtlCol="0">
              <a:spAutoFit/>
            </a:bodyPr>
            <a:lstStyle/>
            <a:p>
              <a:pPr algn="ctr"/>
              <a:r>
                <a:rPr lang="en-US" altLang="zh-CN" sz="2800" b="1" dirty="0">
                  <a:solidFill>
                    <a:srgbClr val="FF0000"/>
                  </a:solidFill>
                  <a:latin typeface="腾讯体 W7" panose="020C08030202040F0204" pitchFamily="34" charset="-122"/>
                  <a:ea typeface="腾讯体 W7" panose="020C08030202040F0204" pitchFamily="34" charset="-122"/>
                </a:rPr>
                <a:t>83.8%</a:t>
              </a:r>
              <a:endParaRPr lang="en-US" altLang="zh-CN" sz="2800" b="1" dirty="0">
                <a:solidFill>
                  <a:srgbClr val="FF0000"/>
                </a:solidFill>
                <a:latin typeface="腾讯体 W7" panose="020C08030202040F0204" pitchFamily="34" charset="-122"/>
                <a:ea typeface="腾讯体 W7" panose="020C08030202040F0204" pitchFamily="34" charset="-122"/>
              </a:endParaRPr>
            </a:p>
          </p:txBody>
        </p:sp>
      </p:grpSp>
      <p:grpSp>
        <p:nvGrpSpPr>
          <p:cNvPr id="59" name="组合 58"/>
          <p:cNvGrpSpPr/>
          <p:nvPr/>
        </p:nvGrpSpPr>
        <p:grpSpPr>
          <a:xfrm>
            <a:off x="3234498" y="3255251"/>
            <a:ext cx="1595767" cy="2665001"/>
            <a:chOff x="3487884" y="2603412"/>
            <a:chExt cx="1595767" cy="2665001"/>
          </a:xfrm>
        </p:grpSpPr>
        <p:sp>
          <p:nvSpPr>
            <p:cNvPr id="60" name="箭头: 右 59"/>
            <p:cNvSpPr/>
            <p:nvPr/>
          </p:nvSpPr>
          <p:spPr>
            <a:xfrm rot="16200000">
              <a:off x="4039849" y="2976109"/>
              <a:ext cx="491837" cy="769838"/>
            </a:xfrm>
            <a:prstGeom prst="rightArrow">
              <a:avLst/>
            </a:prstGeom>
            <a:gradFill flip="none" rotWithShape="1">
              <a:gsLst>
                <a:gs pos="0">
                  <a:srgbClr val="04121D"/>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61" name="文本框 60"/>
            <p:cNvSpPr txBox="1"/>
            <p:nvPr/>
          </p:nvSpPr>
          <p:spPr>
            <a:xfrm>
              <a:off x="3487884" y="3618168"/>
              <a:ext cx="1595767" cy="523220"/>
            </a:xfrm>
            <a:prstGeom prst="rect">
              <a:avLst/>
            </a:prstGeom>
            <a:noFill/>
          </p:spPr>
          <p:txBody>
            <a:bodyPr wrap="square" rtlCol="0">
              <a:spAutoFit/>
            </a:bodyPr>
            <a:lstStyle/>
            <a:p>
              <a:pPr algn="ctr"/>
              <a:r>
                <a:rPr lang="en-US" altLang="zh-CN" sz="2800" b="1" dirty="0">
                  <a:solidFill>
                    <a:srgbClr val="FFFF00"/>
                  </a:solidFill>
                  <a:latin typeface="腾讯体 W7" panose="020C08030202040F0204" pitchFamily="34" charset="-122"/>
                  <a:ea typeface="腾讯体 W7" panose="020C08030202040F0204" pitchFamily="34" charset="-122"/>
                </a:rPr>
                <a:t>83.8%</a:t>
              </a:r>
              <a:endParaRPr lang="en-US" altLang="zh-CN" sz="2800" b="1" dirty="0">
                <a:solidFill>
                  <a:srgbClr val="FFFF00"/>
                </a:solidFill>
                <a:latin typeface="腾讯体 W7" panose="020C08030202040F0204" pitchFamily="34" charset="-122"/>
                <a:ea typeface="腾讯体 W7" panose="020C08030202040F0204" pitchFamily="34" charset="-122"/>
              </a:endParaRPr>
            </a:p>
          </p:txBody>
        </p:sp>
        <p:sp>
          <p:nvSpPr>
            <p:cNvPr id="62" name="圆柱体 40"/>
            <p:cNvSpPr/>
            <p:nvPr/>
          </p:nvSpPr>
          <p:spPr>
            <a:xfrm>
              <a:off x="3594780" y="4119131"/>
              <a:ext cx="1381975" cy="158195"/>
            </a:xfrm>
            <a:prstGeom prst="can">
              <a:avLst>
                <a:gd name="adj" fmla="val 50000"/>
              </a:avLst>
            </a:prstGeom>
            <a:solidFill>
              <a:srgbClr val="088EFF"/>
            </a:solidFill>
            <a:ln>
              <a:noFill/>
            </a:ln>
            <a:effectLst>
              <a:reflection blurRad="6350" stA="50000" endA="300" endPos="9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63" name="文本框 62"/>
            <p:cNvSpPr txBox="1"/>
            <p:nvPr/>
          </p:nvSpPr>
          <p:spPr>
            <a:xfrm>
              <a:off x="3487884" y="4375861"/>
              <a:ext cx="1595766" cy="892552"/>
            </a:xfrm>
            <a:prstGeom prst="rect">
              <a:avLst/>
            </a:prstGeom>
            <a:noFill/>
            <a:effectLst/>
          </p:spPr>
          <p:txBody>
            <a:bodyPr wrap="square" rtlCol="0">
              <a:spAutoFit/>
            </a:bodyPr>
            <a:lstStyle/>
            <a:p>
              <a:pPr algn="ctr"/>
              <a:r>
                <a:rPr lang="zh-CN" altLang="en-US" sz="2600" b="1" dirty="0">
                  <a:solidFill>
                    <a:schemeClr val="bg1"/>
                  </a:solidFill>
                  <a:latin typeface="腾讯体 W7" panose="020C08030202040F0204" pitchFamily="34" charset="-122"/>
                  <a:ea typeface="腾讯体 W7" panose="020C08030202040F0204" pitchFamily="34" charset="-122"/>
                </a:rPr>
                <a:t>提取</a:t>
              </a:r>
              <a:r>
                <a:rPr lang="zh-CN" altLang="en-US" sz="2600" b="1" dirty="0">
                  <a:solidFill>
                    <a:schemeClr val="bg1"/>
                  </a:solidFill>
                  <a:effectLst/>
                  <a:latin typeface="腾讯体 W7" panose="020C08030202040F0204" pitchFamily="34" charset="-122"/>
                  <a:ea typeface="腾讯体 W7" panose="020C08030202040F0204" pitchFamily="34" charset="-122"/>
                </a:rPr>
                <a:t>精度</a:t>
              </a:r>
              <a:endParaRPr lang="en-US" altLang="zh-CN" sz="2600" b="1" dirty="0">
                <a:solidFill>
                  <a:schemeClr val="bg1"/>
                </a:solidFill>
                <a:effectLst/>
                <a:latin typeface="腾讯体 W7" panose="020C08030202040F0204" pitchFamily="34" charset="-122"/>
                <a:ea typeface="腾讯体 W7" panose="020C08030202040F0204" pitchFamily="34" charset="-122"/>
              </a:endParaRPr>
            </a:p>
            <a:p>
              <a:pPr algn="ctr"/>
              <a:r>
                <a:rPr lang="en-US" altLang="zh-CN" sz="2600" b="1" dirty="0">
                  <a:solidFill>
                    <a:schemeClr val="bg1"/>
                  </a:solidFill>
                  <a:latin typeface="腾讯体 W7" panose="020C08030202040F0204" pitchFamily="34" charset="-122"/>
                  <a:ea typeface="腾讯体 W7" panose="020C08030202040F0204" pitchFamily="34" charset="-122"/>
                </a:rPr>
                <a:t>2-stage</a:t>
              </a:r>
              <a:endParaRPr lang="zh-CN" altLang="en-US" sz="2600" b="1" dirty="0">
                <a:solidFill>
                  <a:schemeClr val="bg1"/>
                </a:solidFill>
                <a:effectLst/>
                <a:latin typeface="腾讯体 W7" panose="020C08030202040F0204" pitchFamily="34" charset="-122"/>
                <a:ea typeface="腾讯体 W7" panose="020C08030202040F0204" pitchFamily="34" charset="-122"/>
              </a:endParaRPr>
            </a:p>
          </p:txBody>
        </p:sp>
        <p:sp>
          <p:nvSpPr>
            <p:cNvPr id="64" name="文本框 63"/>
            <p:cNvSpPr txBox="1"/>
            <p:nvPr/>
          </p:nvSpPr>
          <p:spPr>
            <a:xfrm>
              <a:off x="3487884" y="2603412"/>
              <a:ext cx="1595767" cy="523220"/>
            </a:xfrm>
            <a:prstGeom prst="rect">
              <a:avLst/>
            </a:prstGeom>
            <a:noFill/>
          </p:spPr>
          <p:txBody>
            <a:bodyPr wrap="square" rtlCol="0">
              <a:spAutoFit/>
            </a:bodyPr>
            <a:lstStyle/>
            <a:p>
              <a:pPr algn="ctr"/>
              <a:r>
                <a:rPr lang="en-US" altLang="zh-CN" sz="2800" b="1" dirty="0">
                  <a:solidFill>
                    <a:srgbClr val="FF0000"/>
                  </a:solidFill>
                  <a:latin typeface="腾讯体 W7" panose="020C08030202040F0204" pitchFamily="34" charset="-122"/>
                  <a:ea typeface="腾讯体 W7" panose="020C08030202040F0204" pitchFamily="34" charset="-122"/>
                </a:rPr>
                <a:t>86.3%</a:t>
              </a:r>
              <a:endParaRPr lang="en-US" altLang="zh-CN" sz="2800" b="1" dirty="0">
                <a:solidFill>
                  <a:srgbClr val="FF0000"/>
                </a:solidFill>
                <a:latin typeface="腾讯体 W7" panose="020C08030202040F0204" pitchFamily="34" charset="-122"/>
                <a:ea typeface="腾讯体 W7" panose="020C08030202040F0204" pitchFamily="3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nvSpPr>
        <p:spPr>
          <a:xfrm>
            <a:off x="0" y="6161945"/>
            <a:ext cx="12171679" cy="64516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建设</a:t>
            </a:r>
            <a:r>
              <a:rPr lang="zh-CN" altLang="en-US" sz="3600" b="1" dirty="0">
                <a:solidFill>
                  <a:srgbClr val="FFFF00"/>
                </a:solidFill>
                <a:latin typeface="腾讯体 W7" panose="020C08030202040F0204" pitchFamily="34" charset="-122"/>
                <a:ea typeface="腾讯体 W7" panose="020C08030202040F0204" pitchFamily="34" charset="-122"/>
                <a:cs typeface="腾讯体 W7" panose="020C08030202040F0204" pitchFamily="34" charset="-122"/>
              </a:rPr>
              <a:t>文本查询检索</a:t>
            </a: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机制 实现</a:t>
            </a:r>
            <a:r>
              <a:rPr lang="zh-CN" altLang="en-US" sz="36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自动化跨领域</a:t>
            </a:r>
            <a:r>
              <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实体挖掘</a:t>
            </a:r>
            <a:endParaRPr lang="zh-CN" altLang="en-US" sz="3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graphicFrame>
        <p:nvGraphicFramePr>
          <p:cNvPr id="71" name="表格 70"/>
          <p:cNvGraphicFramePr>
            <a:graphicFrameLocks noGrp="1"/>
          </p:cNvGraphicFramePr>
          <p:nvPr/>
        </p:nvGraphicFramePr>
        <p:xfrm>
          <a:off x="122275" y="4889826"/>
          <a:ext cx="11954280" cy="1112520"/>
        </p:xfrm>
        <a:graphic>
          <a:graphicData uri="http://schemas.openxmlformats.org/drawingml/2006/table">
            <a:tbl>
              <a:tblPr firstRow="1" bandRow="1">
                <a:tableStyleId>{5C22544A-7EE6-4342-B048-85BDC9FD1C3A}</a:tableStyleId>
              </a:tblPr>
              <a:tblGrid>
                <a:gridCol w="1992380"/>
                <a:gridCol w="1992380"/>
                <a:gridCol w="1992380"/>
                <a:gridCol w="1992380"/>
                <a:gridCol w="1992380"/>
                <a:gridCol w="1992380"/>
              </a:tblGrid>
              <a:tr h="370840">
                <a:tc>
                  <a:txBody>
                    <a:bodyPr/>
                    <a:lstStyle/>
                    <a:p>
                      <a:pPr algn="ctr"/>
                      <a:r>
                        <a:rPr lang="zh-CN" altLang="en-US" dirty="0">
                          <a:solidFill>
                            <a:schemeClr val="bg1"/>
                          </a:solidFill>
                          <a:latin typeface="腾讯体 W7" panose="020C08030202040F0204" pitchFamily="34" charset="-122"/>
                          <a:ea typeface="腾讯体 W7" panose="020C08030202040F0204" pitchFamily="34" charset="-122"/>
                          <a:cs typeface="Times New Roman" panose="02020603050405020304" pitchFamily="18" charset="0"/>
                        </a:rPr>
                        <a:t>模型对比</a:t>
                      </a:r>
                      <a:endParaRPr lang="zh-CN" altLang="en-US" dirty="0">
                        <a:solidFill>
                          <a:schemeClr val="bg1"/>
                        </a:solidFill>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知识更新</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数据处理</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数据修改</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可解释性</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计算资源</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1">
                        <a:lumMod val="50000"/>
                      </a:schemeClr>
                    </a:solidFill>
                  </a:tcPr>
                </a:tc>
              </a:tr>
              <a:tr h="370840">
                <a:tc>
                  <a:txBody>
                    <a:bodyPr/>
                    <a:lstStyle/>
                    <a:p>
                      <a:pPr algn="ctr"/>
                      <a:r>
                        <a:rPr lang="en-US" altLang="zh-CN" dirty="0">
                          <a:solidFill>
                            <a:schemeClr val="tx1"/>
                          </a:solidFill>
                          <a:latin typeface="腾讯体 W7" panose="020C08030202040F0204" pitchFamily="34" charset="-122"/>
                          <a:ea typeface="腾讯体 W7" panose="020C08030202040F0204" pitchFamily="34" charset="-122"/>
                          <a:cs typeface="Times New Roman" panose="02020603050405020304" pitchFamily="18" charset="0"/>
                        </a:rPr>
                        <a:t>Fine-Tuning</a:t>
                      </a:r>
                      <a:endParaRPr lang="en-US" altLang="zh-CN" dirty="0">
                        <a:solidFill>
                          <a:schemeClr val="tx1"/>
                        </a:solidFill>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频繁重新训练</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依赖高质量数据</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实用性较差</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可解释性较低</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重新训练</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bg1"/>
                    </a:solidFill>
                  </a:tcPr>
                </a:tc>
              </a:tr>
              <a:tr h="370840">
                <a:tc>
                  <a:txBody>
                    <a:bodyPr/>
                    <a:lstStyle/>
                    <a:p>
                      <a:pPr algn="ctr"/>
                      <a:r>
                        <a:rPr lang="en-US" altLang="zh-CN" dirty="0">
                          <a:solidFill>
                            <a:schemeClr val="tx1"/>
                          </a:solidFill>
                          <a:latin typeface="腾讯体 W7" panose="020C08030202040F0204" pitchFamily="34" charset="-122"/>
                          <a:ea typeface="腾讯体 W7" panose="020C08030202040F0204" pitchFamily="34" charset="-122"/>
                          <a:cs typeface="Times New Roman" panose="02020603050405020304" pitchFamily="18" charset="0"/>
                        </a:rPr>
                        <a:t>RAG</a:t>
                      </a:r>
                      <a:endParaRPr lang="en-US" altLang="zh-CN" dirty="0">
                        <a:solidFill>
                          <a:schemeClr val="tx1"/>
                        </a:solidFill>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无需重新训练</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数据要求较低</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实用性较高</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可解释性较高</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c>
                  <a:txBody>
                    <a:bodyPr/>
                    <a:lstStyle/>
                    <a:p>
                      <a:pPr algn="ctr"/>
                      <a:r>
                        <a:rPr lang="zh-CN" altLang="en-US" dirty="0">
                          <a:latin typeface="腾讯体 W7" panose="020C08030202040F0204" pitchFamily="34" charset="-122"/>
                          <a:ea typeface="腾讯体 W7" panose="020C08030202040F0204" pitchFamily="34" charset="-122"/>
                          <a:cs typeface="Times New Roman" panose="02020603050405020304" pitchFamily="18" charset="0"/>
                        </a:rPr>
                        <a:t>检索策略</a:t>
                      </a:r>
                      <a:endParaRPr lang="zh-CN" altLang="en-US" dirty="0">
                        <a:latin typeface="腾讯体 W7" panose="020C08030202040F0204" pitchFamily="34" charset="-122"/>
                        <a:ea typeface="腾讯体 W7" panose="020C08030202040F0204" pitchFamily="34" charset="-122"/>
                        <a:cs typeface="Times New Roman" panose="02020603050405020304" pitchFamily="18" charset="0"/>
                      </a:endParaRPr>
                    </a:p>
                  </a:txBody>
                  <a:tcPr>
                    <a:solidFill>
                      <a:schemeClr val="accent6">
                        <a:lumMod val="20000"/>
                        <a:lumOff val="80000"/>
                      </a:schemeClr>
                    </a:solidFill>
                  </a:tcPr>
                </a:tc>
              </a:tr>
            </a:tbl>
          </a:graphicData>
        </a:graphic>
      </p:graphicFrame>
      <p:grpSp>
        <p:nvGrpSpPr>
          <p:cNvPr id="66" name="组合 65"/>
          <p:cNvGrpSpPr/>
          <p:nvPr/>
        </p:nvGrpSpPr>
        <p:grpSpPr>
          <a:xfrm>
            <a:off x="118873" y="919472"/>
            <a:ext cx="5866931" cy="3673754"/>
            <a:chOff x="1009357" y="806806"/>
            <a:chExt cx="5866931" cy="3673754"/>
          </a:xfrm>
        </p:grpSpPr>
        <p:sp>
          <p:nvSpPr>
            <p:cNvPr id="67" name="矩形 66"/>
            <p:cNvSpPr/>
            <p:nvPr/>
          </p:nvSpPr>
          <p:spPr>
            <a:xfrm>
              <a:off x="1045262" y="806806"/>
              <a:ext cx="5831026" cy="3673754"/>
            </a:xfrm>
            <a:prstGeom prst="rect">
              <a:avLst/>
            </a:prstGeom>
            <a:solidFill>
              <a:schemeClr val="accent5">
                <a:lumMod val="20000"/>
                <a:lumOff val="80000"/>
              </a:schemeClr>
            </a:solidFill>
            <a:ln w="25400">
              <a:solidFill>
                <a:srgbClr val="00D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nvGrpSpPr>
            <p:cNvPr id="68" name="组合 67"/>
            <p:cNvGrpSpPr/>
            <p:nvPr/>
          </p:nvGrpSpPr>
          <p:grpSpPr>
            <a:xfrm>
              <a:off x="1009357" y="858914"/>
              <a:ext cx="1355872" cy="903277"/>
              <a:chOff x="142277" y="1090878"/>
              <a:chExt cx="1355872" cy="903277"/>
            </a:xfrm>
          </p:grpSpPr>
          <p:sp>
            <p:nvSpPr>
              <p:cNvPr id="141" name="矩形 140"/>
              <p:cNvSpPr/>
              <p:nvPr/>
            </p:nvSpPr>
            <p:spPr>
              <a:xfrm>
                <a:off x="221128" y="1273823"/>
                <a:ext cx="1277021" cy="720332"/>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dirty="0">
                  <a:latin typeface="腾讯体 W7" panose="020C08030202040F0204" pitchFamily="34" charset="-122"/>
                  <a:ea typeface="腾讯体 W7" panose="020C08030202040F0204" pitchFamily="34" charset="-122"/>
                </a:endParaRPr>
              </a:p>
            </p:txBody>
          </p:sp>
          <p:sp>
            <p:nvSpPr>
              <p:cNvPr id="142" name="矩形 141"/>
              <p:cNvSpPr/>
              <p:nvPr/>
            </p:nvSpPr>
            <p:spPr>
              <a:xfrm>
                <a:off x="513601" y="1090878"/>
                <a:ext cx="692074" cy="320516"/>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用户</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grpSp>
            <p:nvGrpSpPr>
              <p:cNvPr id="143" name="组合 142"/>
              <p:cNvGrpSpPr/>
              <p:nvPr/>
            </p:nvGrpSpPr>
            <p:grpSpPr>
              <a:xfrm>
                <a:off x="971430" y="1477635"/>
                <a:ext cx="446884" cy="458018"/>
                <a:chOff x="834081" y="2382203"/>
                <a:chExt cx="405480" cy="399370"/>
              </a:xfrm>
            </p:grpSpPr>
            <p:sp>
              <p:nvSpPr>
                <p:cNvPr id="145" name="矩形: 圆角 144"/>
                <p:cNvSpPr/>
                <p:nvPr/>
              </p:nvSpPr>
              <p:spPr>
                <a:xfrm>
                  <a:off x="834081" y="2382203"/>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46" name="矩形: 圆角 145"/>
                <p:cNvSpPr/>
                <p:nvPr/>
              </p:nvSpPr>
              <p:spPr>
                <a:xfrm>
                  <a:off x="892821" y="2437888"/>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47" name="矩形: 圆角 146"/>
                <p:cNvSpPr/>
                <p:nvPr/>
              </p:nvSpPr>
              <p:spPr>
                <a:xfrm>
                  <a:off x="951561" y="2493573"/>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sp>
            <p:nvSpPr>
              <p:cNvPr id="144" name="矩形 143"/>
              <p:cNvSpPr/>
              <p:nvPr/>
            </p:nvSpPr>
            <p:spPr>
              <a:xfrm>
                <a:off x="142277" y="1441126"/>
                <a:ext cx="958746" cy="46362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批量分</a:t>
                </a:r>
                <a:endParaRPr lang="en-US" altLang="zh-CN" sz="1200" dirty="0">
                  <a:solidFill>
                    <a:schemeClr val="tx1"/>
                  </a:solidFill>
                  <a:latin typeface="腾讯体 W7" panose="020C08030202040F0204" pitchFamily="34" charset="-122"/>
                  <a:ea typeface="腾讯体 W7" panose="020C08030202040F0204" pitchFamily="34" charset="-122"/>
                </a:endParaRPr>
              </a:p>
              <a:p>
                <a:pPr algn="ctr"/>
                <a:r>
                  <a:rPr lang="zh-CN" altLang="en-US" sz="1200" dirty="0">
                    <a:solidFill>
                      <a:schemeClr val="tx1"/>
                    </a:solidFill>
                    <a:latin typeface="腾讯体 W7" panose="020C08030202040F0204" pitchFamily="34" charset="-122"/>
                    <a:ea typeface="腾讯体 W7" panose="020C08030202040F0204" pitchFamily="34" charset="-122"/>
                  </a:rPr>
                  <a:t>析文档</a:t>
                </a:r>
                <a:endParaRPr lang="zh-CN" altLang="en-US" sz="1200" dirty="0">
                  <a:solidFill>
                    <a:schemeClr val="tx1"/>
                  </a:solidFill>
                  <a:latin typeface="腾讯体 W7" panose="020C08030202040F0204" pitchFamily="34" charset="-122"/>
                  <a:ea typeface="腾讯体 W7" panose="020C08030202040F0204" pitchFamily="34" charset="-122"/>
                </a:endParaRPr>
              </a:p>
            </p:txBody>
          </p:sp>
        </p:grpSp>
        <p:grpSp>
          <p:nvGrpSpPr>
            <p:cNvPr id="69" name="组合 68"/>
            <p:cNvGrpSpPr/>
            <p:nvPr/>
          </p:nvGrpSpPr>
          <p:grpSpPr>
            <a:xfrm>
              <a:off x="5041279" y="2601012"/>
              <a:ext cx="1788548" cy="1828611"/>
              <a:chOff x="3958371" y="2811291"/>
              <a:chExt cx="1788548" cy="1828611"/>
            </a:xfrm>
          </p:grpSpPr>
          <p:sp>
            <p:nvSpPr>
              <p:cNvPr id="139" name="矩形 138"/>
              <p:cNvSpPr/>
              <p:nvPr/>
            </p:nvSpPr>
            <p:spPr>
              <a:xfrm>
                <a:off x="3958371" y="2971549"/>
                <a:ext cx="1788548" cy="1668353"/>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just"/>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片段</a:t>
                </a:r>
                <a:r>
                  <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rPr>
                  <a:t>1</a:t>
                </a:r>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a:t>
                </a:r>
                <a:endPar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endParaRPr>
              </a:p>
              <a:p>
                <a:pPr algn="just"/>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Compound Name,…</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a:p>
                <a:pPr algn="just"/>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片段</a:t>
                </a:r>
                <a:r>
                  <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rPr>
                  <a:t>2</a:t>
                </a:r>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a:t>
                </a:r>
                <a:endPar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endParaRPr>
              </a:p>
              <a:p>
                <a:pPr algn="just"/>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Compound Name,…</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a:p>
                <a:pPr algn="just"/>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片段</a:t>
                </a:r>
                <a:r>
                  <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rPr>
                  <a:t>3</a:t>
                </a:r>
                <a:r>
                  <a:rPr lang="zh-CN" altLang="en-US" sz="1200" b="1" dirty="0">
                    <a:latin typeface="Times New Roman" panose="02020603050405020304" pitchFamily="18" charset="0"/>
                    <a:ea typeface="腾讯体 W7" panose="020C08030202040F0204" pitchFamily="34" charset="-122"/>
                    <a:cs typeface="Times New Roman" panose="02020603050405020304" pitchFamily="18" charset="0"/>
                  </a:rPr>
                  <a:t>：</a:t>
                </a:r>
                <a:endPar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endParaRPr>
              </a:p>
              <a:p>
                <a:pPr algn="just"/>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Compound Name,…</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p:txBody>
          </p:sp>
          <p:sp>
            <p:nvSpPr>
              <p:cNvPr id="140" name="矩形 139"/>
              <p:cNvSpPr/>
              <p:nvPr/>
            </p:nvSpPr>
            <p:spPr>
              <a:xfrm>
                <a:off x="4148898" y="2811291"/>
                <a:ext cx="1407493" cy="320516"/>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相关文档</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grpSp>
        <p:grpSp>
          <p:nvGrpSpPr>
            <p:cNvPr id="72" name="组合 71"/>
            <p:cNvGrpSpPr/>
            <p:nvPr/>
          </p:nvGrpSpPr>
          <p:grpSpPr>
            <a:xfrm>
              <a:off x="2924618" y="2650548"/>
              <a:ext cx="1788549" cy="1741778"/>
              <a:chOff x="1843804" y="2788727"/>
              <a:chExt cx="1788549" cy="1741778"/>
            </a:xfrm>
          </p:grpSpPr>
          <p:sp>
            <p:nvSpPr>
              <p:cNvPr id="137" name="矩形 136"/>
              <p:cNvSpPr/>
              <p:nvPr/>
            </p:nvSpPr>
            <p:spPr>
              <a:xfrm>
                <a:off x="1843804" y="2788727"/>
                <a:ext cx="1788549" cy="1470508"/>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just"/>
                <a:r>
                  <a:rPr lang="zh-CN" altLang="en-US" sz="1200" b="1" dirty="0">
                    <a:latin typeface="腾讯体 W7" panose="020C08030202040F0204" pitchFamily="34" charset="-122"/>
                    <a:ea typeface="腾讯体 W7" panose="020C08030202040F0204" pitchFamily="34" charset="-122"/>
                    <a:cs typeface="腾讯体 W7" panose="020C08030202040F0204" pitchFamily="34" charset="-122"/>
                  </a:rPr>
                  <a:t>问题：</a:t>
                </a:r>
                <a:endParaRPr lang="en-US" altLang="zh-CN" sz="1200" b="1" dirty="0">
                  <a:latin typeface="腾讯体 W7" panose="020C08030202040F0204" pitchFamily="34" charset="-122"/>
                  <a:ea typeface="腾讯体 W7" panose="020C08030202040F0204" pitchFamily="34" charset="-122"/>
                  <a:cs typeface="腾讯体 W7" panose="020C08030202040F0204" pitchFamily="34" charset="-122"/>
                </a:endParaRPr>
              </a:p>
              <a:p>
                <a:pPr algn="just"/>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解析出文档中化学实体？</a:t>
                </a:r>
                <a:endParaRPr lang="en-US" altLang="zh-CN" sz="1200" dirty="0">
                  <a:latin typeface="腾讯体 W7" panose="020C08030202040F0204" pitchFamily="34" charset="-122"/>
                  <a:ea typeface="腾讯体 W7" panose="020C08030202040F0204" pitchFamily="34" charset="-122"/>
                  <a:cs typeface="腾讯体 W7" panose="020C08030202040F0204" pitchFamily="34" charset="-122"/>
                </a:endParaRPr>
              </a:p>
              <a:p>
                <a:pPr algn="just"/>
                <a:r>
                  <a:rPr lang="zh-CN" altLang="en-US" sz="1200" b="1" dirty="0">
                    <a:latin typeface="腾讯体 W7" panose="020C08030202040F0204" pitchFamily="34" charset="-122"/>
                    <a:ea typeface="腾讯体 W7" panose="020C08030202040F0204" pitchFamily="34" charset="-122"/>
                    <a:cs typeface="腾讯体 W7" panose="020C08030202040F0204" pitchFamily="34" charset="-122"/>
                  </a:rPr>
                  <a:t>相关资料：</a:t>
                </a:r>
                <a:endParaRPr lang="en-US" altLang="zh-CN" sz="1200" b="1" dirty="0">
                  <a:latin typeface="腾讯体 W7" panose="020C08030202040F0204" pitchFamily="34" charset="-122"/>
                  <a:ea typeface="腾讯体 W7" panose="020C08030202040F0204" pitchFamily="34" charset="-122"/>
                  <a:cs typeface="腾讯体 W7" panose="020C08030202040F0204" pitchFamily="34" charset="-122"/>
                </a:endParaRPr>
              </a:p>
              <a:p>
                <a:pPr algn="just"/>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片段</a:t>
                </a:r>
                <a:r>
                  <a:rPr lang="en-US" altLang="zh-CN" sz="1200" dirty="0">
                    <a:latin typeface="腾讯体 W7" panose="020C08030202040F0204" pitchFamily="34" charset="-122"/>
                    <a:ea typeface="腾讯体 W7" panose="020C08030202040F0204" pitchFamily="34" charset="-122"/>
                    <a:cs typeface="腾讯体 W7" panose="020C08030202040F0204" pitchFamily="34" charset="-122"/>
                  </a:rPr>
                  <a:t>1</a:t>
                </a:r>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a:t>
                </a:r>
                <a:endParaRPr lang="en-US" altLang="zh-CN" sz="1200" dirty="0">
                  <a:latin typeface="腾讯体 W7" panose="020C08030202040F0204" pitchFamily="34" charset="-122"/>
                  <a:ea typeface="腾讯体 W7" panose="020C08030202040F0204" pitchFamily="34" charset="-122"/>
                  <a:cs typeface="腾讯体 W7" panose="020C08030202040F0204" pitchFamily="34" charset="-122"/>
                </a:endParaRPr>
              </a:p>
              <a:p>
                <a:pPr algn="just"/>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片段</a:t>
                </a:r>
                <a:r>
                  <a:rPr lang="en-US" altLang="zh-CN" sz="1200" dirty="0">
                    <a:latin typeface="腾讯体 W7" panose="020C08030202040F0204" pitchFamily="34" charset="-122"/>
                    <a:ea typeface="腾讯体 W7" panose="020C08030202040F0204" pitchFamily="34" charset="-122"/>
                    <a:cs typeface="腾讯体 W7" panose="020C08030202040F0204" pitchFamily="34" charset="-122"/>
                  </a:rPr>
                  <a:t>2</a:t>
                </a:r>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a:t>
                </a:r>
                <a:endParaRPr lang="en-US" altLang="zh-CN" sz="1200" dirty="0">
                  <a:latin typeface="腾讯体 W7" panose="020C08030202040F0204" pitchFamily="34" charset="-122"/>
                  <a:ea typeface="腾讯体 W7" panose="020C08030202040F0204" pitchFamily="34" charset="-122"/>
                  <a:cs typeface="腾讯体 W7" panose="020C08030202040F0204" pitchFamily="34" charset="-122"/>
                </a:endParaRPr>
              </a:p>
              <a:p>
                <a:pPr algn="just"/>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片段</a:t>
                </a:r>
                <a:r>
                  <a:rPr lang="en-US" altLang="zh-CN" sz="1200" dirty="0">
                    <a:latin typeface="腾讯体 W7" panose="020C08030202040F0204" pitchFamily="34" charset="-122"/>
                    <a:ea typeface="腾讯体 W7" panose="020C08030202040F0204" pitchFamily="34" charset="-122"/>
                    <a:cs typeface="腾讯体 W7" panose="020C08030202040F0204" pitchFamily="34" charset="-122"/>
                  </a:rPr>
                  <a:t>3</a:t>
                </a:r>
                <a:r>
                  <a:rPr lang="zh-CN" altLang="en-US" sz="1200" dirty="0">
                    <a:latin typeface="腾讯体 W7" panose="020C08030202040F0204" pitchFamily="34" charset="-122"/>
                    <a:ea typeface="腾讯体 W7" panose="020C08030202040F0204" pitchFamily="34" charset="-122"/>
                    <a:cs typeface="腾讯体 W7" panose="020C08030202040F0204" pitchFamily="34" charset="-122"/>
                  </a:rPr>
                  <a:t>：</a:t>
                </a:r>
                <a:endParaRPr lang="en-US" altLang="zh-CN" sz="1200" dirty="0">
                  <a:latin typeface="腾讯体 W7" panose="020C08030202040F0204" pitchFamily="34" charset="-122"/>
                  <a:ea typeface="腾讯体 W7" panose="020C08030202040F0204" pitchFamily="34" charset="-122"/>
                  <a:cs typeface="腾讯体 W7" panose="020C08030202040F0204" pitchFamily="34" charset="-122"/>
                </a:endParaRPr>
              </a:p>
              <a:p>
                <a:pPr algn="just"/>
                <a:endParaRPr lang="en-US" altLang="zh-CN" sz="1200" dirty="0">
                  <a:latin typeface="腾讯体 W7" panose="020C08030202040F0204" pitchFamily="34" charset="-122"/>
                  <a:ea typeface="腾讯体 W7" panose="020C08030202040F0204" pitchFamily="34" charset="-122"/>
                  <a:cs typeface="腾讯体 W7" panose="020C08030202040F0204" pitchFamily="34" charset="-122"/>
                </a:endParaRPr>
              </a:p>
              <a:p>
                <a:pPr algn="ctr"/>
                <a:endParaRPr lang="zh-CN" altLang="en-US" sz="600" dirty="0">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38" name="矩形 137"/>
              <p:cNvSpPr/>
              <p:nvPr/>
            </p:nvSpPr>
            <p:spPr>
              <a:xfrm>
                <a:off x="2113454" y="3987965"/>
                <a:ext cx="1249247" cy="542540"/>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结合问题与提示器</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grpSp>
        <p:grpSp>
          <p:nvGrpSpPr>
            <p:cNvPr id="74" name="组合 73"/>
            <p:cNvGrpSpPr/>
            <p:nvPr/>
          </p:nvGrpSpPr>
          <p:grpSpPr>
            <a:xfrm>
              <a:off x="1089318" y="2374651"/>
              <a:ext cx="1507189" cy="2054972"/>
              <a:chOff x="161236" y="2540936"/>
              <a:chExt cx="1507189" cy="2054972"/>
            </a:xfrm>
          </p:grpSpPr>
          <p:sp>
            <p:nvSpPr>
              <p:cNvPr id="133" name="矩形 132"/>
              <p:cNvSpPr/>
              <p:nvPr/>
            </p:nvSpPr>
            <p:spPr>
              <a:xfrm>
                <a:off x="161236" y="2540936"/>
                <a:ext cx="1507189" cy="1889770"/>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dirty="0">
                  <a:latin typeface="腾讯体 W7" panose="020C08030202040F0204" pitchFamily="34" charset="-122"/>
                  <a:ea typeface="腾讯体 W7" panose="020C08030202040F0204" pitchFamily="34" charset="-122"/>
                </a:endParaRPr>
              </a:p>
            </p:txBody>
          </p:sp>
          <p:sp>
            <p:nvSpPr>
              <p:cNvPr id="134" name="矩形 133"/>
              <p:cNvSpPr/>
              <p:nvPr/>
            </p:nvSpPr>
            <p:spPr>
              <a:xfrm>
                <a:off x="577977" y="4275392"/>
                <a:ext cx="673707" cy="320516"/>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回答</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sp>
            <p:nvSpPr>
              <p:cNvPr id="135" name="矩形 134"/>
              <p:cNvSpPr/>
              <p:nvPr/>
            </p:nvSpPr>
            <p:spPr>
              <a:xfrm>
                <a:off x="203328" y="2651426"/>
                <a:ext cx="1423004" cy="412425"/>
              </a:xfrm>
              <a:prstGeom prst="rect">
                <a:avLst/>
              </a:prstGeom>
              <a:solidFill>
                <a:schemeClr val="accent5">
                  <a:lumMod val="20000"/>
                  <a:lumOff val="80000"/>
                </a:schemeClr>
              </a:solidFill>
              <a:ln>
                <a:solidFill>
                  <a:srgbClr val="FF0000"/>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rgbClr val="FF0000"/>
                    </a:solidFill>
                    <a:latin typeface="腾讯体 W7" panose="020C08030202040F0204" pitchFamily="34" charset="-122"/>
                    <a:ea typeface="腾讯体 W7" panose="020C08030202040F0204" pitchFamily="34" charset="-122"/>
                  </a:rPr>
                  <a:t>无法解析！</a:t>
                </a:r>
                <a:endParaRPr lang="zh-CN" altLang="en-US" sz="1200" dirty="0">
                  <a:solidFill>
                    <a:srgbClr val="FF0000"/>
                  </a:solidFill>
                  <a:latin typeface="腾讯体 W7" panose="020C08030202040F0204" pitchFamily="34" charset="-122"/>
                  <a:ea typeface="腾讯体 W7" panose="020C08030202040F0204" pitchFamily="34" charset="-122"/>
                </a:endParaRPr>
              </a:p>
            </p:txBody>
          </p:sp>
          <p:sp>
            <p:nvSpPr>
              <p:cNvPr id="136" name="矩形 135"/>
              <p:cNvSpPr/>
              <p:nvPr/>
            </p:nvSpPr>
            <p:spPr>
              <a:xfrm>
                <a:off x="203328" y="3171594"/>
                <a:ext cx="1423005" cy="1087641"/>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rPr>
                  <a:t>MOFs Compound</a:t>
                </a:r>
                <a:endParaRPr lang="en-US" altLang="zh-CN" sz="1200" b="1" dirty="0">
                  <a:latin typeface="Times New Roman" panose="02020603050405020304" pitchFamily="18" charset="0"/>
                  <a:ea typeface="腾讯体 W7" panose="020C08030202040F0204" pitchFamily="34" charset="-122"/>
                  <a:cs typeface="Times New Roman" panose="02020603050405020304" pitchFamily="18" charset="0"/>
                </a:endParaRPr>
              </a:p>
              <a:p>
                <a:pPr algn="ctr"/>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Parameter Values</a:t>
                </a:r>
                <a:b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br>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Compound Name</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a:p>
                <a:pPr algn="ctr"/>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Metal Source</a:t>
                </a:r>
                <a:b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br>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Organic Linker</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a:p>
                <a:pPr algn="ctr"/>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Solvent</a:t>
                </a:r>
                <a:endParaRPr lang="zh-CN" altLang="en-US" sz="1200" dirty="0">
                  <a:latin typeface="Times New Roman" panose="02020603050405020304" pitchFamily="18" charset="0"/>
                  <a:ea typeface="腾讯体 W7" panose="020C08030202040F0204" pitchFamily="34" charset="-122"/>
                  <a:cs typeface="Times New Roman" panose="02020603050405020304" pitchFamily="18" charset="0"/>
                </a:endParaRPr>
              </a:p>
            </p:txBody>
          </p:sp>
        </p:grpSp>
        <p:pic>
          <p:nvPicPr>
            <p:cNvPr id="77"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17100" y="2046703"/>
              <a:ext cx="661792" cy="688657"/>
            </a:xfrm>
            <a:prstGeom prst="rect">
              <a:avLst/>
            </a:prstGeom>
            <a:noFill/>
            <a:extLst>
              <a:ext uri="{909E8E84-426E-40DD-AFC4-6F175D3DCCD1}">
                <a14:hiddenFill xmlns:a14="http://schemas.microsoft.com/office/drawing/2010/main">
                  <a:solidFill>
                    <a:srgbClr val="FFFFFF"/>
                  </a:solidFill>
                </a14:hiddenFill>
              </a:ext>
            </a:extLst>
          </p:spPr>
        </p:pic>
        <p:grpSp>
          <p:nvGrpSpPr>
            <p:cNvPr id="78" name="组合 77"/>
            <p:cNvGrpSpPr/>
            <p:nvPr/>
          </p:nvGrpSpPr>
          <p:grpSpPr>
            <a:xfrm>
              <a:off x="2792252" y="814911"/>
              <a:ext cx="2334753" cy="1316603"/>
              <a:chOff x="1804212" y="1026718"/>
              <a:chExt cx="2334753" cy="1316603"/>
            </a:xfrm>
          </p:grpSpPr>
          <p:sp>
            <p:nvSpPr>
              <p:cNvPr id="131" name="矩形 130"/>
              <p:cNvSpPr/>
              <p:nvPr/>
            </p:nvSpPr>
            <p:spPr>
              <a:xfrm>
                <a:off x="1804212" y="1273824"/>
                <a:ext cx="2334753" cy="1069497"/>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just"/>
                <a:r>
                  <a:rPr lang="en-US" altLang="zh-CN" sz="1200" dirty="0">
                    <a:latin typeface="Times New Roman" panose="02020603050405020304" pitchFamily="18" charset="0"/>
                    <a:ea typeface="腾讯体 W7" panose="020C08030202040F0204" pitchFamily="34" charset="-122"/>
                    <a:cs typeface="Times New Roman" panose="02020603050405020304" pitchFamily="18" charset="0"/>
                  </a:rPr>
                  <a:t>The compound 1 was prepared by the mixture of XXX and XXX was heated under autogenous pressure. After the reaction mixture was cooled down to room temperature.</a:t>
                </a:r>
                <a:endParaRPr lang="en-US" altLang="zh-CN" sz="1200" dirty="0">
                  <a:latin typeface="Times New Roman" panose="02020603050405020304" pitchFamily="18" charset="0"/>
                  <a:ea typeface="腾讯体 W7" panose="020C08030202040F0204" pitchFamily="34" charset="-122"/>
                  <a:cs typeface="Times New Roman" panose="02020603050405020304" pitchFamily="18" charset="0"/>
                </a:endParaRPr>
              </a:p>
            </p:txBody>
          </p:sp>
          <p:sp>
            <p:nvSpPr>
              <p:cNvPr id="132" name="矩形 131"/>
              <p:cNvSpPr/>
              <p:nvPr/>
            </p:nvSpPr>
            <p:spPr>
              <a:xfrm>
                <a:off x="2623608" y="1026718"/>
                <a:ext cx="692074" cy="320516"/>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问题</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grpSp>
        <p:grpSp>
          <p:nvGrpSpPr>
            <p:cNvPr id="79" name="组合 78"/>
            <p:cNvGrpSpPr/>
            <p:nvPr/>
          </p:nvGrpSpPr>
          <p:grpSpPr>
            <a:xfrm>
              <a:off x="5326791" y="850964"/>
              <a:ext cx="1503036" cy="1455481"/>
              <a:chOff x="4205869" y="1090877"/>
              <a:chExt cx="1503036" cy="1455481"/>
            </a:xfrm>
          </p:grpSpPr>
          <p:sp>
            <p:nvSpPr>
              <p:cNvPr id="102" name="矩形 101"/>
              <p:cNvSpPr/>
              <p:nvPr/>
            </p:nvSpPr>
            <p:spPr>
              <a:xfrm>
                <a:off x="4260404" y="1090877"/>
                <a:ext cx="1423005" cy="1295926"/>
              </a:xfrm>
              <a:prstGeom prst="rect">
                <a:avLst/>
              </a:prstGeom>
              <a:solidFill>
                <a:schemeClr val="accent5">
                  <a:lumMod val="20000"/>
                  <a:lumOff val="80000"/>
                </a:schemeClr>
              </a:solidFill>
              <a:ln>
                <a:solidFill>
                  <a:schemeClr val="accent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200" dirty="0">
                  <a:latin typeface="腾讯体 W7" panose="020C08030202040F0204" pitchFamily="34" charset="-122"/>
                  <a:ea typeface="腾讯体 W7" panose="020C08030202040F0204" pitchFamily="34" charset="-122"/>
                </a:endParaRPr>
              </a:p>
            </p:txBody>
          </p:sp>
          <p:grpSp>
            <p:nvGrpSpPr>
              <p:cNvPr id="104" name="组合 103"/>
              <p:cNvGrpSpPr/>
              <p:nvPr/>
            </p:nvGrpSpPr>
            <p:grpSpPr>
              <a:xfrm>
                <a:off x="5237408" y="1361659"/>
                <a:ext cx="396760" cy="562243"/>
                <a:chOff x="5124208" y="1344226"/>
                <a:chExt cx="360000" cy="490249"/>
              </a:xfrm>
            </p:grpSpPr>
            <p:sp>
              <p:nvSpPr>
                <p:cNvPr id="123" name="矩形: 圆角 122"/>
                <p:cNvSpPr/>
                <p:nvPr/>
              </p:nvSpPr>
              <p:spPr>
                <a:xfrm>
                  <a:off x="5124208" y="1344226"/>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4" name="矩形: 圆角 123"/>
                <p:cNvSpPr/>
                <p:nvPr/>
              </p:nvSpPr>
              <p:spPr>
                <a:xfrm>
                  <a:off x="5124208" y="1407730"/>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5" name="矩形: 圆角 124"/>
                <p:cNvSpPr/>
                <p:nvPr/>
              </p:nvSpPr>
              <p:spPr>
                <a:xfrm>
                  <a:off x="5124208" y="1534738"/>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6" name="矩形: 圆角 125"/>
                <p:cNvSpPr/>
                <p:nvPr/>
              </p:nvSpPr>
              <p:spPr>
                <a:xfrm>
                  <a:off x="5124208" y="1598242"/>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7" name="矩形: 圆角 126"/>
                <p:cNvSpPr/>
                <p:nvPr/>
              </p:nvSpPr>
              <p:spPr>
                <a:xfrm>
                  <a:off x="5124208" y="1471234"/>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8" name="矩形: 圆角 127"/>
                <p:cNvSpPr/>
                <p:nvPr/>
              </p:nvSpPr>
              <p:spPr>
                <a:xfrm>
                  <a:off x="5124208" y="1661746"/>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9" name="矩形: 圆角 128"/>
                <p:cNvSpPr/>
                <p:nvPr/>
              </p:nvSpPr>
              <p:spPr>
                <a:xfrm>
                  <a:off x="5124208" y="1725250"/>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30" name="矩形: 圆角 129"/>
                <p:cNvSpPr/>
                <p:nvPr/>
              </p:nvSpPr>
              <p:spPr>
                <a:xfrm>
                  <a:off x="5124208" y="1788756"/>
                  <a:ext cx="360000" cy="45719"/>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grpSp>
            <p:nvGrpSpPr>
              <p:cNvPr id="106" name="组合 105"/>
              <p:cNvGrpSpPr/>
              <p:nvPr/>
            </p:nvGrpSpPr>
            <p:grpSpPr>
              <a:xfrm>
                <a:off x="4590738" y="1349910"/>
                <a:ext cx="446884" cy="458018"/>
                <a:chOff x="834081" y="2382203"/>
                <a:chExt cx="405480" cy="399370"/>
              </a:xfrm>
            </p:grpSpPr>
            <p:sp>
              <p:nvSpPr>
                <p:cNvPr id="117" name="矩形: 圆角 116"/>
                <p:cNvSpPr/>
                <p:nvPr/>
              </p:nvSpPr>
              <p:spPr>
                <a:xfrm>
                  <a:off x="834081" y="2382203"/>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1" name="矩形: 圆角 120"/>
                <p:cNvSpPr/>
                <p:nvPr/>
              </p:nvSpPr>
              <p:spPr>
                <a:xfrm>
                  <a:off x="892821" y="2437888"/>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22" name="矩形: 圆角 121"/>
                <p:cNvSpPr/>
                <p:nvPr/>
              </p:nvSpPr>
              <p:spPr>
                <a:xfrm>
                  <a:off x="951561" y="2493573"/>
                  <a:ext cx="288000" cy="288000"/>
                </a:xfrm>
                <a:prstGeom prst="roundRect">
                  <a:avLst/>
                </a:prstGeom>
                <a:solidFill>
                  <a:schemeClr val="accent5">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sp>
            <p:nvSpPr>
              <p:cNvPr id="108" name="矩形 107"/>
              <p:cNvSpPr/>
              <p:nvPr/>
            </p:nvSpPr>
            <p:spPr>
              <a:xfrm>
                <a:off x="5128445" y="1114628"/>
                <a:ext cx="580460" cy="2101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索引</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10" name="矩形 109"/>
              <p:cNvSpPr/>
              <p:nvPr/>
            </p:nvSpPr>
            <p:spPr>
              <a:xfrm>
                <a:off x="4205869" y="1114628"/>
                <a:ext cx="997909" cy="2101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文档数据库</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12" name="矩形 111"/>
              <p:cNvSpPr/>
              <p:nvPr/>
            </p:nvSpPr>
            <p:spPr>
              <a:xfrm>
                <a:off x="5031544" y="1991562"/>
                <a:ext cx="647860" cy="2101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向量块</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13" name="矩形 112"/>
              <p:cNvSpPr/>
              <p:nvPr/>
            </p:nvSpPr>
            <p:spPr>
              <a:xfrm>
                <a:off x="4625869" y="2225842"/>
                <a:ext cx="692074" cy="320516"/>
              </a:xfrm>
              <a:prstGeom prst="rect">
                <a:avLst/>
              </a:prstGeom>
              <a:solidFill>
                <a:schemeClr val="accent5">
                  <a:lumMod val="20000"/>
                  <a:lumOff val="8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chemeClr val="accent1">
                        <a:lumMod val="50000"/>
                      </a:schemeClr>
                    </a:solidFill>
                    <a:latin typeface="腾讯体 W7" panose="020C08030202040F0204" pitchFamily="34" charset="-122"/>
                    <a:ea typeface="腾讯体 W7" panose="020C08030202040F0204" pitchFamily="34" charset="-122"/>
                  </a:rPr>
                  <a:t>嵌入</a:t>
                </a:r>
                <a:endParaRPr lang="zh-CN" altLang="en-US" b="1" dirty="0">
                  <a:solidFill>
                    <a:schemeClr val="accent1">
                      <a:lumMod val="50000"/>
                    </a:schemeClr>
                  </a:solidFill>
                  <a:latin typeface="腾讯体 W7" panose="020C08030202040F0204" pitchFamily="34" charset="-122"/>
                  <a:ea typeface="腾讯体 W7" panose="020C08030202040F0204" pitchFamily="34" charset="-122"/>
                </a:endParaRPr>
              </a:p>
            </p:txBody>
          </p:sp>
          <p:cxnSp>
            <p:nvCxnSpPr>
              <p:cNvPr id="115" name="直接箭头连接符 114"/>
              <p:cNvCxnSpPr>
                <a:stCxn id="122" idx="3"/>
              </p:cNvCxnSpPr>
              <p:nvPr/>
            </p:nvCxnSpPr>
            <p:spPr>
              <a:xfrm>
                <a:off x="5037622" y="1642782"/>
                <a:ext cx="194821" cy="0"/>
              </a:xfrm>
              <a:prstGeom prst="straightConnector1">
                <a:avLst/>
              </a:prstGeom>
              <a:ln w="12700">
                <a:solidFill>
                  <a:schemeClr val="tx2">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16" name="连接符: 肘形 115"/>
              <p:cNvCxnSpPr>
                <a:stCxn id="130" idx="2"/>
                <a:endCxn id="113" idx="0"/>
              </p:cNvCxnSpPr>
              <p:nvPr/>
            </p:nvCxnSpPr>
            <p:spPr>
              <a:xfrm rot="5400000">
                <a:off x="5052877" y="1842931"/>
                <a:ext cx="301940" cy="463882"/>
              </a:xfrm>
              <a:prstGeom prst="bentConnector3">
                <a:avLst>
                  <a:gd name="adj1" fmla="val 25445"/>
                </a:avLst>
              </a:prstGeom>
              <a:ln w="12700">
                <a:solidFill>
                  <a:schemeClr val="tx2">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80" name="直接箭头连接符 79"/>
            <p:cNvCxnSpPr>
              <a:stCxn id="141" idx="3"/>
            </p:cNvCxnSpPr>
            <p:nvPr/>
          </p:nvCxnSpPr>
          <p:spPr>
            <a:xfrm>
              <a:off x="2365229" y="1402025"/>
              <a:ext cx="427023" cy="0"/>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flipV="1">
              <a:off x="5127005" y="1634365"/>
              <a:ext cx="1231325" cy="0"/>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flipH="1">
              <a:off x="6092828" y="2312836"/>
              <a:ext cx="0" cy="294567"/>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flipH="1" flipV="1">
              <a:off x="4713167" y="3490624"/>
              <a:ext cx="328112" cy="1"/>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flipH="1">
              <a:off x="2596506" y="3490624"/>
              <a:ext cx="328112" cy="0"/>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133" idx="0"/>
              <a:endCxn id="141" idx="2"/>
            </p:cNvCxnSpPr>
            <p:nvPr/>
          </p:nvCxnSpPr>
          <p:spPr>
            <a:xfrm flipH="1" flipV="1">
              <a:off x="1726719" y="1762191"/>
              <a:ext cx="0" cy="612460"/>
            </a:xfrm>
            <a:prstGeom prst="straightConnector1">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2" name="连接符: 肘形 91"/>
            <p:cNvCxnSpPr>
              <a:stCxn id="131" idx="2"/>
            </p:cNvCxnSpPr>
            <p:nvPr/>
          </p:nvCxnSpPr>
          <p:spPr>
            <a:xfrm rot="5400000">
              <a:off x="3474543" y="1889566"/>
              <a:ext cx="243139" cy="727034"/>
            </a:xfrm>
            <a:prstGeom prst="bentConnector2">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连接符: 肘形 96"/>
            <p:cNvCxnSpPr>
              <a:endCxn id="135" idx="3"/>
            </p:cNvCxnSpPr>
            <p:nvPr/>
          </p:nvCxnSpPr>
          <p:spPr>
            <a:xfrm rot="10800000" flipV="1">
              <a:off x="2554415" y="2386712"/>
              <a:ext cx="305755" cy="304642"/>
            </a:xfrm>
            <a:prstGeom prst="bentConnector3">
              <a:avLst>
                <a:gd name="adj1" fmla="val 50000"/>
              </a:avLst>
            </a:prstGeom>
            <a:ln w="12700">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99" name="矩形 98"/>
            <p:cNvSpPr/>
            <p:nvPr/>
          </p:nvSpPr>
          <p:spPr>
            <a:xfrm>
              <a:off x="2267382" y="1199923"/>
              <a:ext cx="647860" cy="2101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输入</a:t>
              </a:r>
              <a:endParaRPr lang="zh-CN" altLang="en-US" sz="1200" dirty="0">
                <a:solidFill>
                  <a:schemeClr val="tx1"/>
                </a:solidFill>
                <a:latin typeface="腾讯体 W7" panose="020C08030202040F0204" pitchFamily="34" charset="-122"/>
                <a:ea typeface="腾讯体 W7" panose="020C08030202040F0204" pitchFamily="34" charset="-122"/>
              </a:endParaRPr>
            </a:p>
          </p:txBody>
        </p:sp>
        <p:sp>
          <p:nvSpPr>
            <p:cNvPr id="100" name="矩形 99"/>
            <p:cNvSpPr/>
            <p:nvPr/>
          </p:nvSpPr>
          <p:spPr>
            <a:xfrm>
              <a:off x="1624877" y="1944968"/>
              <a:ext cx="647860" cy="2101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dirty="0">
                  <a:solidFill>
                    <a:schemeClr val="tx1"/>
                  </a:solidFill>
                  <a:latin typeface="腾讯体 W7" panose="020C08030202040F0204" pitchFamily="34" charset="-122"/>
                  <a:ea typeface="腾讯体 W7" panose="020C08030202040F0204" pitchFamily="34" charset="-122"/>
                </a:rPr>
                <a:t>输出</a:t>
              </a:r>
              <a:endParaRPr lang="zh-CN" altLang="en-US" sz="1200" dirty="0">
                <a:solidFill>
                  <a:schemeClr val="tx1"/>
                </a:solidFill>
                <a:latin typeface="腾讯体 W7" panose="020C08030202040F0204" pitchFamily="34" charset="-122"/>
                <a:ea typeface="腾讯体 W7" panose="020C08030202040F0204" pitchFamily="34" charset="-122"/>
              </a:endParaRPr>
            </a:p>
          </p:txBody>
        </p:sp>
      </p:grpSp>
      <p:grpSp>
        <p:nvGrpSpPr>
          <p:cNvPr id="5" name="组合 4"/>
          <p:cNvGrpSpPr/>
          <p:nvPr/>
        </p:nvGrpSpPr>
        <p:grpSpPr>
          <a:xfrm>
            <a:off x="6242100" y="919472"/>
            <a:ext cx="5831027" cy="3673755"/>
            <a:chOff x="6009185" y="976270"/>
            <a:chExt cx="5831027" cy="3673755"/>
          </a:xfrm>
        </p:grpSpPr>
        <p:pic>
          <p:nvPicPr>
            <p:cNvPr id="60" name="图片 59"/>
            <p:cNvPicPr>
              <a:picLocks noChangeAspect="1"/>
            </p:cNvPicPr>
            <p:nvPr/>
          </p:nvPicPr>
          <p:blipFill>
            <a:blip r:embed="rId2"/>
            <a:stretch>
              <a:fillRect/>
            </a:stretch>
          </p:blipFill>
          <p:spPr>
            <a:xfrm>
              <a:off x="6015866" y="977687"/>
              <a:ext cx="5824346" cy="3672338"/>
            </a:xfrm>
            <a:prstGeom prst="rect">
              <a:avLst/>
            </a:prstGeom>
          </p:spPr>
        </p:pic>
        <p:sp>
          <p:nvSpPr>
            <p:cNvPr id="148" name="矩形 147"/>
            <p:cNvSpPr/>
            <p:nvPr/>
          </p:nvSpPr>
          <p:spPr>
            <a:xfrm>
              <a:off x="6009185" y="976270"/>
              <a:ext cx="5831026" cy="3673754"/>
            </a:xfrm>
            <a:prstGeom prst="rect">
              <a:avLst/>
            </a:prstGeom>
            <a:noFill/>
            <a:ln w="25400">
              <a:solidFill>
                <a:srgbClr val="00D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sp>
        <p:nvSpPr>
          <p:cNvPr id="18" name="标题 17"/>
          <p:cNvSpPr>
            <a:spLocks noGrp="1"/>
          </p:cNvSpPr>
          <p:nvPr/>
        </p:nvSpPr>
        <p:spPr>
          <a:xfrm>
            <a:off x="288290" y="97155"/>
            <a:ext cx="7244080" cy="685800"/>
          </a:xfrm>
          <a:prstGeom prst="rect">
            <a:avLst/>
          </a:prstGeom>
        </p:spPr>
        <p:txBody>
          <a:bodyPr vert="horz" lIns="91440" tIns="45720" rIns="91440" bIns="45720" rtlCol="0" anchor="ctr">
            <a:normAutofit fontScale="9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技术创新</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平行四边形 11"/>
          <p:cNvSpPr/>
          <p:nvPr/>
        </p:nvSpPr>
        <p:spPr>
          <a:xfrm>
            <a:off x="1184097" y="861346"/>
            <a:ext cx="2465329" cy="2590601"/>
          </a:xfrm>
          <a:prstGeom prst="parallelogram">
            <a:avLst/>
          </a:prstGeom>
          <a:gradFill>
            <a:gsLst>
              <a:gs pos="35000">
                <a:srgbClr val="48CBC6"/>
              </a:gs>
              <a:gs pos="100000">
                <a:srgbClr val="193F58"/>
              </a:gs>
              <a:gs pos="100000">
                <a:srgbClr val="4874CB"/>
              </a:gs>
            </a:gsLst>
            <a:lin ang="2700000" scaled="0"/>
          </a:gradFill>
          <a:effectLst>
            <a:glow rad="12700">
              <a:schemeClr val="accent1">
                <a:satMod val="175000"/>
                <a:alpha val="40000"/>
              </a:schemeClr>
            </a:glow>
            <a:reflection blurRad="6350" stA="50000" endA="300" endPos="9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3" name="文本框 12"/>
          <p:cNvSpPr txBox="1"/>
          <p:nvPr/>
        </p:nvSpPr>
        <p:spPr>
          <a:xfrm>
            <a:off x="0" y="6142895"/>
            <a:ext cx="12171679" cy="67564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严谨程度</a:t>
            </a:r>
            <a:r>
              <a:rPr lang="zh-CN" altLang="en-US" sz="3800" b="1" dirty="0">
                <a:solidFill>
                  <a:srgbClr val="FF0000"/>
                </a:solidFill>
                <a:latin typeface="腾讯体 W7" panose="020C08030202040F0204" pitchFamily="34" charset="-122"/>
                <a:ea typeface="腾讯体 W7" panose="020C08030202040F0204" pitchFamily="34" charset="-122"/>
              </a:rPr>
              <a:t>高于</a:t>
            </a:r>
            <a:r>
              <a:rPr lang="zh-CN" altLang="en-US" sz="3600" b="1" dirty="0">
                <a:solidFill>
                  <a:schemeClr val="bg1"/>
                </a:solidFill>
                <a:latin typeface="腾讯体 W7" panose="020C08030202040F0204" pitchFamily="34" charset="-122"/>
                <a:ea typeface="腾讯体 W7" panose="020C08030202040F0204" pitchFamily="34" charset="-122"/>
              </a:rPr>
              <a:t>参考标准，确保更高的</a:t>
            </a:r>
            <a:r>
              <a:rPr lang="zh-CN" altLang="en-US" sz="3800" b="1" dirty="0">
                <a:solidFill>
                  <a:srgbClr val="FFFF00"/>
                </a:solidFill>
                <a:latin typeface="腾讯体 W7" panose="020C08030202040F0204" pitchFamily="34" charset="-122"/>
                <a:ea typeface="腾讯体 W7" panose="020C08030202040F0204" pitchFamily="34" charset="-122"/>
              </a:rPr>
              <a:t>可靠性和安全性</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sp>
        <p:nvSpPr>
          <p:cNvPr id="15" name="文本框 14"/>
          <p:cNvSpPr txBox="1"/>
          <p:nvPr/>
        </p:nvSpPr>
        <p:spPr>
          <a:xfrm>
            <a:off x="575803" y="3628574"/>
            <a:ext cx="3580694" cy="1704441"/>
          </a:xfrm>
          <a:prstGeom prst="rect">
            <a:avLst/>
          </a:prstGeom>
          <a:noFill/>
        </p:spPr>
        <p:txBody>
          <a:bodyPr wrap="square" rtlCol="0">
            <a:spAutoFit/>
          </a:bodyPr>
          <a:lstStyle/>
          <a:p>
            <a:pPr algn="ctr">
              <a:lnSpc>
                <a:spcPts val="3200"/>
              </a:lnSpc>
            </a:pPr>
            <a:r>
              <a:rPr lang="zh-CN" altLang="en-US"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软件工程规范</a:t>
            </a:r>
            <a:endParaRPr lang="en-US"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8567-2006</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20230679-T-469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20230677-T-469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6" name="矩形: 圆角 15"/>
          <p:cNvSpPr/>
          <p:nvPr/>
        </p:nvSpPr>
        <p:spPr>
          <a:xfrm>
            <a:off x="620966" y="2503002"/>
            <a:ext cx="3580694" cy="3534996"/>
          </a:xfrm>
          <a:prstGeom prst="roundRect">
            <a:avLst>
              <a:gd name="adj" fmla="val 4664"/>
            </a:avLst>
          </a:prstGeom>
          <a:noFill/>
          <a:ln w="12700">
            <a:solidFill>
              <a:srgbClr val="00D8FF"/>
            </a:solidFill>
          </a:ln>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4000"/>
              </a:lnSpc>
            </a:pPr>
            <a:endParaRPr lang="en-US" altLang="zh-CN" sz="3000" b="1" dirty="0">
              <a:solidFill>
                <a:srgbClr val="FFFF00"/>
              </a:solidFill>
              <a:latin typeface="腾讯体 W7" panose="020C08030202040F0204" pitchFamily="34" charset="-122"/>
              <a:ea typeface="腾讯体 W7" panose="020C08030202040F0204" pitchFamily="34" charset="-122"/>
            </a:endParaRPr>
          </a:p>
        </p:txBody>
      </p:sp>
      <p:pic>
        <p:nvPicPr>
          <p:cNvPr id="4" name="图片 3"/>
          <p:cNvPicPr>
            <a:picLocks noChangeAspect="1"/>
          </p:cNvPicPr>
          <p:nvPr/>
        </p:nvPicPr>
        <p:blipFill>
          <a:blip r:embed="rId1"/>
          <a:stretch>
            <a:fillRect/>
          </a:stretch>
        </p:blipFill>
        <p:spPr>
          <a:xfrm>
            <a:off x="8475635" y="992196"/>
            <a:ext cx="3106131" cy="4217188"/>
          </a:xfrm>
          <a:prstGeom prst="rect">
            <a:avLst/>
          </a:prstGeom>
        </p:spPr>
      </p:pic>
      <p:pic>
        <p:nvPicPr>
          <p:cNvPr id="5" name="图片 4"/>
          <p:cNvPicPr>
            <a:picLocks noChangeAspect="1"/>
          </p:cNvPicPr>
          <p:nvPr/>
        </p:nvPicPr>
        <p:blipFill>
          <a:blip r:embed="rId1"/>
          <a:stretch>
            <a:fillRect/>
          </a:stretch>
        </p:blipFill>
        <p:spPr>
          <a:xfrm>
            <a:off x="8628035" y="1144596"/>
            <a:ext cx="3106131" cy="4217188"/>
          </a:xfrm>
          <a:prstGeom prst="rect">
            <a:avLst/>
          </a:prstGeom>
        </p:spPr>
      </p:pic>
      <p:pic>
        <p:nvPicPr>
          <p:cNvPr id="6" name="图片 5"/>
          <p:cNvPicPr>
            <a:picLocks noChangeAspect="1"/>
          </p:cNvPicPr>
          <p:nvPr/>
        </p:nvPicPr>
        <p:blipFill>
          <a:blip r:embed="rId1"/>
          <a:stretch>
            <a:fillRect/>
          </a:stretch>
        </p:blipFill>
        <p:spPr>
          <a:xfrm>
            <a:off x="8780435" y="1296996"/>
            <a:ext cx="3106131" cy="4217188"/>
          </a:xfrm>
          <a:prstGeom prst="rect">
            <a:avLst/>
          </a:prstGeom>
        </p:spPr>
      </p:pic>
      <p:pic>
        <p:nvPicPr>
          <p:cNvPr id="7" name="图片 6"/>
          <p:cNvPicPr>
            <a:picLocks noChangeAspect="1"/>
          </p:cNvPicPr>
          <p:nvPr/>
        </p:nvPicPr>
        <p:blipFill>
          <a:blip r:embed="rId1"/>
          <a:stretch>
            <a:fillRect/>
          </a:stretch>
        </p:blipFill>
        <p:spPr>
          <a:xfrm>
            <a:off x="8932835" y="1449396"/>
            <a:ext cx="3106131" cy="4217188"/>
          </a:xfrm>
          <a:prstGeom prst="rect">
            <a:avLst/>
          </a:prstGeom>
        </p:spPr>
      </p:pic>
      <p:pic>
        <p:nvPicPr>
          <p:cNvPr id="10" name="图片 9"/>
          <p:cNvPicPr>
            <a:picLocks noChangeAspect="1"/>
          </p:cNvPicPr>
          <p:nvPr/>
        </p:nvPicPr>
        <p:blipFill>
          <a:blip r:embed="rId1"/>
          <a:stretch>
            <a:fillRect/>
          </a:stretch>
        </p:blipFill>
        <p:spPr>
          <a:xfrm>
            <a:off x="9085235" y="1601796"/>
            <a:ext cx="3106131" cy="4217188"/>
          </a:xfrm>
          <a:prstGeom prst="rect">
            <a:avLst/>
          </a:prstGeom>
        </p:spPr>
      </p:pic>
      <p:sp>
        <p:nvSpPr>
          <p:cNvPr id="28" name="平行四边形 27"/>
          <p:cNvSpPr/>
          <p:nvPr/>
        </p:nvSpPr>
        <p:spPr>
          <a:xfrm>
            <a:off x="5003373" y="861346"/>
            <a:ext cx="2465329" cy="2590601"/>
          </a:xfrm>
          <a:prstGeom prst="parallelogram">
            <a:avLst/>
          </a:prstGeom>
          <a:gradFill>
            <a:gsLst>
              <a:gs pos="35000">
                <a:srgbClr val="48CBC6"/>
              </a:gs>
              <a:gs pos="100000">
                <a:srgbClr val="193F58"/>
              </a:gs>
              <a:gs pos="100000">
                <a:srgbClr val="4874CB"/>
              </a:gs>
            </a:gsLst>
            <a:lin ang="2700000" scaled="0"/>
          </a:gradFill>
          <a:effectLst>
            <a:glow rad="12700">
              <a:schemeClr val="accent1">
                <a:satMod val="175000"/>
                <a:alpha val="40000"/>
              </a:schemeClr>
            </a:glow>
            <a:reflection blurRad="6350" stA="50000" endA="300" endPos="9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29" name="文本框 28"/>
          <p:cNvSpPr txBox="1"/>
          <p:nvPr/>
        </p:nvSpPr>
        <p:spPr>
          <a:xfrm>
            <a:off x="4395079" y="3628574"/>
            <a:ext cx="3580694" cy="2122825"/>
          </a:xfrm>
          <a:prstGeom prst="rect">
            <a:avLst/>
          </a:prstGeom>
          <a:noFill/>
        </p:spPr>
        <p:txBody>
          <a:bodyPr wrap="square" rtlCol="0">
            <a:spAutoFit/>
          </a:bodyPr>
          <a:lstStyle/>
          <a:p>
            <a:pPr algn="ctr">
              <a:lnSpc>
                <a:spcPts val="3200"/>
              </a:lnSpc>
            </a:pPr>
            <a:r>
              <a:rPr lang="zh-CN" altLang="en-US"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人工智能与标注规范</a:t>
            </a:r>
            <a:endParaRPr lang="en-US"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18336.1-2008</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42755-2023</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41867-2022</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20241752-T-469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30" name="矩形: 圆角 15"/>
          <p:cNvSpPr/>
          <p:nvPr/>
        </p:nvSpPr>
        <p:spPr>
          <a:xfrm>
            <a:off x="4440242" y="2503002"/>
            <a:ext cx="3580694" cy="3534996"/>
          </a:xfrm>
          <a:prstGeom prst="roundRect">
            <a:avLst>
              <a:gd name="adj" fmla="val 4664"/>
            </a:avLst>
          </a:prstGeom>
          <a:noFill/>
          <a:ln w="12700">
            <a:solidFill>
              <a:srgbClr val="00D8FF"/>
            </a:solidFill>
          </a:ln>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4000"/>
              </a:lnSpc>
            </a:pPr>
            <a:endParaRPr lang="en-US" altLang="zh-CN" sz="3000" b="1" dirty="0">
              <a:solidFill>
                <a:srgbClr val="FFFF00"/>
              </a:solidFill>
              <a:latin typeface="腾讯体 W7" panose="020C08030202040F0204" pitchFamily="34" charset="-122"/>
              <a:ea typeface="腾讯体 W7" panose="020C08030202040F0204" pitchFamily="34" charset="-122"/>
            </a:endParaRPr>
          </a:p>
        </p:txBody>
      </p:sp>
      <p:pic>
        <p:nvPicPr>
          <p:cNvPr id="31" name="图片 30"/>
          <p:cNvPicPr>
            <a:picLocks noChangeAspect="1"/>
          </p:cNvPicPr>
          <p:nvPr/>
        </p:nvPicPr>
        <p:blipFill>
          <a:blip r:embed="rId2"/>
          <a:stretch>
            <a:fillRect/>
          </a:stretch>
        </p:blipFill>
        <p:spPr>
          <a:xfrm>
            <a:off x="814901" y="1296996"/>
            <a:ext cx="3341596" cy="859543"/>
          </a:xfrm>
          <a:prstGeom prst="rect">
            <a:avLst/>
          </a:prstGeom>
        </p:spPr>
      </p:pic>
      <p:pic>
        <p:nvPicPr>
          <p:cNvPr id="32" name="图片 31"/>
          <p:cNvPicPr>
            <a:picLocks noChangeAspect="1"/>
          </p:cNvPicPr>
          <p:nvPr/>
        </p:nvPicPr>
        <p:blipFill rotWithShape="1">
          <a:blip r:embed="rId3"/>
          <a:srcRect r="27995"/>
          <a:stretch>
            <a:fillRect/>
          </a:stretch>
        </p:blipFill>
        <p:spPr>
          <a:xfrm>
            <a:off x="4611196" y="1319409"/>
            <a:ext cx="3260185" cy="782563"/>
          </a:xfrm>
          <a:prstGeom prst="rect">
            <a:avLst/>
          </a:prstGeom>
        </p:spPr>
      </p:pic>
      <p:pic>
        <p:nvPicPr>
          <p:cNvPr id="34" name="图片 33"/>
          <p:cNvPicPr>
            <a:picLocks noChangeAspect="1"/>
          </p:cNvPicPr>
          <p:nvPr/>
        </p:nvPicPr>
        <p:blipFill>
          <a:blip r:embed="rId4"/>
          <a:stretch>
            <a:fillRect/>
          </a:stretch>
        </p:blipFill>
        <p:spPr>
          <a:xfrm>
            <a:off x="2686836" y="2658129"/>
            <a:ext cx="1275141" cy="914658"/>
          </a:xfrm>
          <a:prstGeom prst="rect">
            <a:avLst/>
          </a:prstGeom>
        </p:spPr>
      </p:pic>
      <p:pic>
        <p:nvPicPr>
          <p:cNvPr id="35" name="图片 34"/>
          <p:cNvPicPr>
            <a:picLocks noChangeAspect="1"/>
          </p:cNvPicPr>
          <p:nvPr/>
        </p:nvPicPr>
        <p:blipFill>
          <a:blip r:embed="rId5"/>
          <a:stretch>
            <a:fillRect/>
          </a:stretch>
        </p:blipFill>
        <p:spPr>
          <a:xfrm>
            <a:off x="831213" y="2653974"/>
            <a:ext cx="1653654" cy="922357"/>
          </a:xfrm>
          <a:prstGeom prst="rect">
            <a:avLst/>
          </a:prstGeom>
        </p:spPr>
      </p:pic>
      <p:pic>
        <p:nvPicPr>
          <p:cNvPr id="36" name="图片 35"/>
          <p:cNvPicPr>
            <a:picLocks noChangeAspect="1"/>
          </p:cNvPicPr>
          <p:nvPr/>
        </p:nvPicPr>
        <p:blipFill>
          <a:blip r:embed="rId5"/>
          <a:stretch>
            <a:fillRect/>
          </a:stretch>
        </p:blipFill>
        <p:spPr>
          <a:xfrm>
            <a:off x="6016388" y="2662800"/>
            <a:ext cx="1653654" cy="922357"/>
          </a:xfrm>
          <a:prstGeom prst="rect">
            <a:avLst/>
          </a:prstGeom>
        </p:spPr>
      </p:pic>
      <p:pic>
        <p:nvPicPr>
          <p:cNvPr id="37" name="图片 36"/>
          <p:cNvPicPr>
            <a:picLocks noChangeAspect="1"/>
          </p:cNvPicPr>
          <p:nvPr/>
        </p:nvPicPr>
        <p:blipFill>
          <a:blip r:embed="rId6"/>
          <a:stretch>
            <a:fillRect/>
          </a:stretch>
        </p:blipFill>
        <p:spPr>
          <a:xfrm>
            <a:off x="4692135" y="2680414"/>
            <a:ext cx="900815" cy="902129"/>
          </a:xfrm>
          <a:prstGeom prst="rect">
            <a:avLst/>
          </a:prstGeom>
        </p:spPr>
      </p:pic>
      <p:sp>
        <p:nvSpPr>
          <p:cNvPr id="18" name="标题 17"/>
          <p:cNvSpPr>
            <a:spLocks noGrp="1"/>
          </p:cNvSpPr>
          <p:nvPr/>
        </p:nvSpPr>
        <p:spPr>
          <a:xfrm>
            <a:off x="288290" y="97155"/>
            <a:ext cx="7244080" cy="685800"/>
          </a:xfrm>
          <a:prstGeom prst="rect">
            <a:avLst/>
          </a:prstGeom>
        </p:spPr>
        <p:txBody>
          <a:bodyPr vert="horz" lIns="91440" tIns="45720" rIns="91440" bIns="45720" rtlCol="0" anchor="ctr">
            <a:normAutofit fontScale="9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技术标准</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2" name="平行四边形 1"/>
          <p:cNvSpPr/>
          <p:nvPr/>
        </p:nvSpPr>
        <p:spPr>
          <a:xfrm>
            <a:off x="12036465"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
          <p:cNvSpPr/>
          <p:nvPr/>
        </p:nvSpPr>
        <p:spPr>
          <a:xfrm>
            <a:off x="5135114"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537354" y="2658963"/>
            <a:ext cx="3458058" cy="922020"/>
            <a:chOff x="872775" y="2487402"/>
            <a:chExt cx="3458058" cy="922020"/>
          </a:xfrm>
        </p:grpSpPr>
        <p:sp>
          <p:nvSpPr>
            <p:cNvPr id="9" name="文本框 8"/>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dirty="0">
                  <a:ln>
                    <a:noFill/>
                  </a:ln>
                  <a:solidFill>
                    <a:srgbClr val="FFFFFF"/>
                  </a:solidFill>
                  <a:latin typeface="腾讯字体包" panose="02010600010101010101" charset="-128"/>
                  <a:ea typeface="腾讯字体包" panose="02010600010101010101" charset="-128"/>
                </a:rPr>
                <a:t>PART 04</a:t>
              </a:r>
              <a:endParaRPr lang="en-US" sz="5400" i="0" u="none" strike="noStrike" kern="1200" spc="100" baseline="0" dirty="0">
                <a:ln>
                  <a:noFill/>
                </a:ln>
                <a:solidFill>
                  <a:srgbClr val="FFFFFF"/>
                </a:solidFill>
                <a:latin typeface="腾讯字体包" panose="02010600010101010101" charset="-128"/>
                <a:ea typeface="腾讯字体包" panose="02010600010101010101" charset="-128"/>
              </a:endParaRPr>
            </a:p>
          </p:txBody>
        </p:sp>
        <p:sp>
          <p:nvSpPr>
            <p:cNvPr id="10" name="等腰三角形 9"/>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panose="02020503050405090304"/>
                <a:ea typeface="腾讯字体包" panose="02010600010101010101" charset="-128"/>
              </a:endParaRPr>
            </a:p>
          </p:txBody>
        </p:sp>
      </p:grpSp>
      <p:sp>
        <p:nvSpPr>
          <p:cNvPr id="11" name="文本框 10"/>
          <p:cNvSpPr txBox="1"/>
          <p:nvPr/>
        </p:nvSpPr>
        <p:spPr>
          <a:xfrm>
            <a:off x="6710045" y="2658745"/>
            <a:ext cx="4840605"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sym typeface="+mn-ea"/>
              </a:rPr>
              <a:t>商业模式</a:t>
            </a:r>
            <a:endParaRPr lang="zh-CN" altLang="en-US" sz="4800" dirty="0">
              <a:ln>
                <a:noFill/>
              </a:ln>
              <a:solidFill>
                <a:srgbClr val="173B53"/>
              </a:solidFill>
              <a:effectLst>
                <a:outerShdw blurRad="38100" dist="38100" dir="2700000" algn="tl">
                  <a:srgbClr val="000000">
                    <a:alpha val="43137"/>
                  </a:srgbClr>
                </a:outerShdw>
              </a:effectLst>
              <a:latin typeface="腾讯字体包" panose="02010600010101010101" charset="-128"/>
              <a:ea typeface="腾讯字体包" panose="02010600010101010101" charset="-128"/>
              <a:sym typeface="+mn-ea"/>
            </a:endParaRPr>
          </a:p>
        </p:txBody>
      </p:sp>
      <p:sp>
        <p:nvSpPr>
          <p:cNvPr id="12" name="平行四边形 11"/>
          <p:cNvSpPr/>
          <p:nvPr/>
        </p:nvSpPr>
        <p:spPr>
          <a:xfrm>
            <a:off x="-11508349" y="861346"/>
            <a:ext cx="2465329" cy="2590601"/>
          </a:xfrm>
          <a:prstGeom prst="parallelogram">
            <a:avLst/>
          </a:prstGeom>
          <a:gradFill>
            <a:gsLst>
              <a:gs pos="35000">
                <a:srgbClr val="48CBC6"/>
              </a:gs>
              <a:gs pos="100000">
                <a:srgbClr val="193F58"/>
              </a:gs>
              <a:gs pos="100000">
                <a:srgbClr val="4874CB"/>
              </a:gs>
            </a:gsLst>
            <a:lin ang="2700000" scaled="0"/>
          </a:gradFill>
          <a:effectLst>
            <a:glow rad="12700">
              <a:schemeClr val="accent1">
                <a:satMod val="175000"/>
                <a:alpha val="40000"/>
              </a:schemeClr>
            </a:glow>
            <a:reflection blurRad="6350" stA="50000" endA="300" endPos="9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3" name="文本框 12"/>
          <p:cNvSpPr txBox="1"/>
          <p:nvPr/>
        </p:nvSpPr>
        <p:spPr>
          <a:xfrm>
            <a:off x="-17320023" y="6142895"/>
            <a:ext cx="12171679" cy="67564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严谨程度</a:t>
            </a:r>
            <a:r>
              <a:rPr lang="zh-CN" altLang="en-US" sz="3800" b="1" dirty="0">
                <a:solidFill>
                  <a:srgbClr val="FF0000"/>
                </a:solidFill>
                <a:latin typeface="腾讯体 W7" panose="020C08030202040F0204" pitchFamily="34" charset="-122"/>
                <a:ea typeface="腾讯体 W7" panose="020C08030202040F0204" pitchFamily="34" charset="-122"/>
              </a:rPr>
              <a:t>高于</a:t>
            </a:r>
            <a:r>
              <a:rPr lang="zh-CN" altLang="en-US" sz="3600" b="1" dirty="0">
                <a:solidFill>
                  <a:schemeClr val="bg1"/>
                </a:solidFill>
                <a:latin typeface="腾讯体 W7" panose="020C08030202040F0204" pitchFamily="34" charset="-122"/>
                <a:ea typeface="腾讯体 W7" panose="020C08030202040F0204" pitchFamily="34" charset="-122"/>
              </a:rPr>
              <a:t>参考标准，确保更高的</a:t>
            </a:r>
            <a:r>
              <a:rPr lang="zh-CN" altLang="en-US" sz="3800" b="1" dirty="0">
                <a:solidFill>
                  <a:srgbClr val="FFFF00"/>
                </a:solidFill>
                <a:latin typeface="腾讯体 W7" panose="020C08030202040F0204" pitchFamily="34" charset="-122"/>
                <a:ea typeface="腾讯体 W7" panose="020C08030202040F0204" pitchFamily="34" charset="-122"/>
              </a:rPr>
              <a:t>可靠性和安全性</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sp>
        <p:nvSpPr>
          <p:cNvPr id="14" name="文本框 13"/>
          <p:cNvSpPr txBox="1"/>
          <p:nvPr/>
        </p:nvSpPr>
        <p:spPr>
          <a:xfrm>
            <a:off x="-12116643" y="3628574"/>
            <a:ext cx="3580694" cy="1704441"/>
          </a:xfrm>
          <a:prstGeom prst="rect">
            <a:avLst/>
          </a:prstGeom>
          <a:noFill/>
        </p:spPr>
        <p:txBody>
          <a:bodyPr wrap="square" rtlCol="0">
            <a:spAutoFit/>
          </a:bodyPr>
          <a:lstStyle/>
          <a:p>
            <a:pPr algn="ctr">
              <a:lnSpc>
                <a:spcPts val="3200"/>
              </a:lnSpc>
            </a:pPr>
            <a:r>
              <a:rPr lang="zh-CN" altLang="en-US"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软件工程规范</a:t>
            </a:r>
            <a:endParaRPr lang="en-US"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8567-2006</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20230679-T-469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20230677-T-469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5" name="矩形: 圆角 14"/>
          <p:cNvSpPr/>
          <p:nvPr/>
        </p:nvSpPr>
        <p:spPr>
          <a:xfrm>
            <a:off x="-12071480" y="2503002"/>
            <a:ext cx="3580694" cy="3534996"/>
          </a:xfrm>
          <a:prstGeom prst="roundRect">
            <a:avLst>
              <a:gd name="adj" fmla="val 4664"/>
            </a:avLst>
          </a:prstGeom>
          <a:noFill/>
          <a:ln w="12700">
            <a:solidFill>
              <a:srgbClr val="00D8FF"/>
            </a:solidFill>
          </a:ln>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4000"/>
              </a:lnSpc>
            </a:pPr>
            <a:endParaRPr lang="en-US" altLang="zh-CN" sz="3000" b="1" dirty="0">
              <a:solidFill>
                <a:srgbClr val="FFFF00"/>
              </a:solidFill>
              <a:latin typeface="腾讯体 W7" panose="020C08030202040F0204" pitchFamily="34" charset="-122"/>
              <a:ea typeface="腾讯体 W7" panose="020C08030202040F0204" pitchFamily="34" charset="-122"/>
            </a:endParaRPr>
          </a:p>
        </p:txBody>
      </p:sp>
      <p:pic>
        <p:nvPicPr>
          <p:cNvPr id="16" name="图片 15"/>
          <p:cNvPicPr>
            <a:picLocks noChangeAspect="1"/>
          </p:cNvPicPr>
          <p:nvPr/>
        </p:nvPicPr>
        <p:blipFill>
          <a:blip r:embed="rId1"/>
          <a:stretch>
            <a:fillRect/>
          </a:stretch>
        </p:blipFill>
        <p:spPr>
          <a:xfrm>
            <a:off x="-4216811" y="992196"/>
            <a:ext cx="3106131" cy="4217188"/>
          </a:xfrm>
          <a:prstGeom prst="rect">
            <a:avLst/>
          </a:prstGeom>
        </p:spPr>
      </p:pic>
      <p:pic>
        <p:nvPicPr>
          <p:cNvPr id="17" name="图片 16"/>
          <p:cNvPicPr>
            <a:picLocks noChangeAspect="1"/>
          </p:cNvPicPr>
          <p:nvPr/>
        </p:nvPicPr>
        <p:blipFill>
          <a:blip r:embed="rId1"/>
          <a:stretch>
            <a:fillRect/>
          </a:stretch>
        </p:blipFill>
        <p:spPr>
          <a:xfrm>
            <a:off x="-4064411" y="1144596"/>
            <a:ext cx="3106131" cy="4217188"/>
          </a:xfrm>
          <a:prstGeom prst="rect">
            <a:avLst/>
          </a:prstGeom>
        </p:spPr>
      </p:pic>
      <p:pic>
        <p:nvPicPr>
          <p:cNvPr id="18" name="图片 17"/>
          <p:cNvPicPr>
            <a:picLocks noChangeAspect="1"/>
          </p:cNvPicPr>
          <p:nvPr/>
        </p:nvPicPr>
        <p:blipFill>
          <a:blip r:embed="rId1"/>
          <a:stretch>
            <a:fillRect/>
          </a:stretch>
        </p:blipFill>
        <p:spPr>
          <a:xfrm>
            <a:off x="-3912011" y="1296996"/>
            <a:ext cx="3106131" cy="4217188"/>
          </a:xfrm>
          <a:prstGeom prst="rect">
            <a:avLst/>
          </a:prstGeom>
        </p:spPr>
      </p:pic>
      <p:pic>
        <p:nvPicPr>
          <p:cNvPr id="19" name="图片 18"/>
          <p:cNvPicPr>
            <a:picLocks noChangeAspect="1"/>
          </p:cNvPicPr>
          <p:nvPr/>
        </p:nvPicPr>
        <p:blipFill>
          <a:blip r:embed="rId1"/>
          <a:stretch>
            <a:fillRect/>
          </a:stretch>
        </p:blipFill>
        <p:spPr>
          <a:xfrm>
            <a:off x="-3759611" y="1449396"/>
            <a:ext cx="3106131" cy="4217188"/>
          </a:xfrm>
          <a:prstGeom prst="rect">
            <a:avLst/>
          </a:prstGeom>
        </p:spPr>
      </p:pic>
      <p:pic>
        <p:nvPicPr>
          <p:cNvPr id="21" name="图片 20"/>
          <p:cNvPicPr>
            <a:picLocks noChangeAspect="1"/>
          </p:cNvPicPr>
          <p:nvPr/>
        </p:nvPicPr>
        <p:blipFill>
          <a:blip r:embed="rId1"/>
          <a:stretch>
            <a:fillRect/>
          </a:stretch>
        </p:blipFill>
        <p:spPr>
          <a:xfrm>
            <a:off x="-3607211" y="1601796"/>
            <a:ext cx="3106131" cy="4217188"/>
          </a:xfrm>
          <a:prstGeom prst="rect">
            <a:avLst/>
          </a:prstGeom>
        </p:spPr>
      </p:pic>
      <p:sp>
        <p:nvSpPr>
          <p:cNvPr id="23" name="平行四边形 22"/>
          <p:cNvSpPr/>
          <p:nvPr/>
        </p:nvSpPr>
        <p:spPr>
          <a:xfrm>
            <a:off x="-7689073" y="861346"/>
            <a:ext cx="2465329" cy="2590601"/>
          </a:xfrm>
          <a:prstGeom prst="parallelogram">
            <a:avLst/>
          </a:prstGeom>
          <a:gradFill>
            <a:gsLst>
              <a:gs pos="35000">
                <a:srgbClr val="48CBC6"/>
              </a:gs>
              <a:gs pos="100000">
                <a:srgbClr val="193F58"/>
              </a:gs>
              <a:gs pos="100000">
                <a:srgbClr val="4874CB"/>
              </a:gs>
            </a:gsLst>
            <a:lin ang="2700000" scaled="0"/>
          </a:gradFill>
          <a:effectLst>
            <a:glow rad="12700">
              <a:schemeClr val="accent1">
                <a:satMod val="175000"/>
                <a:alpha val="40000"/>
              </a:schemeClr>
            </a:glow>
            <a:reflection blurRad="6350" stA="50000" endA="300" endPos="9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24" name="文本框 23"/>
          <p:cNvSpPr txBox="1"/>
          <p:nvPr/>
        </p:nvSpPr>
        <p:spPr>
          <a:xfrm>
            <a:off x="-8297367" y="3628574"/>
            <a:ext cx="3580694" cy="2122825"/>
          </a:xfrm>
          <a:prstGeom prst="rect">
            <a:avLst/>
          </a:prstGeom>
          <a:noFill/>
        </p:spPr>
        <p:txBody>
          <a:bodyPr wrap="square" rtlCol="0">
            <a:spAutoFit/>
          </a:bodyPr>
          <a:lstStyle/>
          <a:p>
            <a:pPr algn="ctr">
              <a:lnSpc>
                <a:spcPts val="3200"/>
              </a:lnSpc>
            </a:pPr>
            <a:r>
              <a:rPr lang="zh-CN" altLang="en-US"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人工智能与标注规范</a:t>
            </a:r>
            <a:endParaRPr lang="en-US"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18336.1-2008</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42755-2023</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GB/T 41867-2022</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ts val="3200"/>
              </a:lnSpc>
            </a:pPr>
            <a:r>
              <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20241752-T-469</a:t>
            </a:r>
            <a:endParaRPr lang="en-GB" altLang="zh-CN" sz="24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25" name="矩形: 圆角 15"/>
          <p:cNvSpPr/>
          <p:nvPr/>
        </p:nvSpPr>
        <p:spPr>
          <a:xfrm>
            <a:off x="-8252204" y="2503002"/>
            <a:ext cx="3580694" cy="3534996"/>
          </a:xfrm>
          <a:prstGeom prst="roundRect">
            <a:avLst>
              <a:gd name="adj" fmla="val 4664"/>
            </a:avLst>
          </a:prstGeom>
          <a:noFill/>
          <a:ln w="12700">
            <a:solidFill>
              <a:srgbClr val="00D8FF"/>
            </a:solidFill>
          </a:ln>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4000"/>
              </a:lnSpc>
            </a:pPr>
            <a:endParaRPr lang="en-US" altLang="zh-CN" sz="3000" b="1" dirty="0">
              <a:solidFill>
                <a:srgbClr val="FFFF00"/>
              </a:solidFill>
              <a:latin typeface="腾讯体 W7" panose="020C08030202040F0204" pitchFamily="34" charset="-122"/>
              <a:ea typeface="腾讯体 W7" panose="020C08030202040F0204" pitchFamily="34" charset="-122"/>
            </a:endParaRPr>
          </a:p>
        </p:txBody>
      </p:sp>
      <p:pic>
        <p:nvPicPr>
          <p:cNvPr id="26" name="图片 25"/>
          <p:cNvPicPr>
            <a:picLocks noChangeAspect="1"/>
          </p:cNvPicPr>
          <p:nvPr/>
        </p:nvPicPr>
        <p:blipFill>
          <a:blip r:embed="rId2"/>
          <a:stretch>
            <a:fillRect/>
          </a:stretch>
        </p:blipFill>
        <p:spPr>
          <a:xfrm>
            <a:off x="-11877545" y="1296996"/>
            <a:ext cx="3341596" cy="859543"/>
          </a:xfrm>
          <a:prstGeom prst="rect">
            <a:avLst/>
          </a:prstGeom>
        </p:spPr>
      </p:pic>
      <p:pic>
        <p:nvPicPr>
          <p:cNvPr id="27" name="图片 26"/>
          <p:cNvPicPr>
            <a:picLocks noChangeAspect="1"/>
          </p:cNvPicPr>
          <p:nvPr/>
        </p:nvPicPr>
        <p:blipFill rotWithShape="1">
          <a:blip r:embed="rId3"/>
          <a:srcRect r="27995"/>
          <a:stretch>
            <a:fillRect/>
          </a:stretch>
        </p:blipFill>
        <p:spPr>
          <a:xfrm>
            <a:off x="-8081250" y="1319409"/>
            <a:ext cx="3260185" cy="782563"/>
          </a:xfrm>
          <a:prstGeom prst="rect">
            <a:avLst/>
          </a:prstGeom>
        </p:spPr>
      </p:pic>
      <p:pic>
        <p:nvPicPr>
          <p:cNvPr id="29" name="图片 28"/>
          <p:cNvPicPr>
            <a:picLocks noChangeAspect="1"/>
          </p:cNvPicPr>
          <p:nvPr/>
        </p:nvPicPr>
        <p:blipFill>
          <a:blip r:embed="rId4"/>
          <a:stretch>
            <a:fillRect/>
          </a:stretch>
        </p:blipFill>
        <p:spPr>
          <a:xfrm>
            <a:off x="-10005610" y="2658129"/>
            <a:ext cx="1275141" cy="914658"/>
          </a:xfrm>
          <a:prstGeom prst="rect">
            <a:avLst/>
          </a:prstGeom>
        </p:spPr>
      </p:pic>
      <p:pic>
        <p:nvPicPr>
          <p:cNvPr id="30" name="图片 29"/>
          <p:cNvPicPr>
            <a:picLocks noChangeAspect="1"/>
          </p:cNvPicPr>
          <p:nvPr/>
        </p:nvPicPr>
        <p:blipFill>
          <a:blip r:embed="rId5"/>
          <a:stretch>
            <a:fillRect/>
          </a:stretch>
        </p:blipFill>
        <p:spPr>
          <a:xfrm>
            <a:off x="-11861233" y="2653974"/>
            <a:ext cx="1653654" cy="922357"/>
          </a:xfrm>
          <a:prstGeom prst="rect">
            <a:avLst/>
          </a:prstGeom>
        </p:spPr>
      </p:pic>
      <p:pic>
        <p:nvPicPr>
          <p:cNvPr id="37" name="图片 36"/>
          <p:cNvPicPr>
            <a:picLocks noChangeAspect="1"/>
          </p:cNvPicPr>
          <p:nvPr/>
        </p:nvPicPr>
        <p:blipFill>
          <a:blip r:embed="rId5"/>
          <a:stretch>
            <a:fillRect/>
          </a:stretch>
        </p:blipFill>
        <p:spPr>
          <a:xfrm>
            <a:off x="-6676058" y="2662800"/>
            <a:ext cx="1653654" cy="922357"/>
          </a:xfrm>
          <a:prstGeom prst="rect">
            <a:avLst/>
          </a:prstGeom>
        </p:spPr>
      </p:pic>
      <p:pic>
        <p:nvPicPr>
          <p:cNvPr id="38" name="图片 37"/>
          <p:cNvPicPr>
            <a:picLocks noChangeAspect="1"/>
          </p:cNvPicPr>
          <p:nvPr/>
        </p:nvPicPr>
        <p:blipFill>
          <a:blip r:embed="rId6"/>
          <a:stretch>
            <a:fillRect/>
          </a:stretch>
        </p:blipFill>
        <p:spPr>
          <a:xfrm>
            <a:off x="-8000311" y="2680414"/>
            <a:ext cx="900815" cy="902129"/>
          </a:xfrm>
          <a:prstGeom prst="rect">
            <a:avLst/>
          </a:prstGeom>
        </p:spPr>
      </p:pic>
      <p:sp>
        <p:nvSpPr>
          <p:cNvPr id="39" name="标题 17"/>
          <p:cNvSpPr>
            <a:spLocks noGrp="1"/>
          </p:cNvSpPr>
          <p:nvPr/>
        </p:nvSpPr>
        <p:spPr>
          <a:xfrm>
            <a:off x="-9043020" y="97155"/>
            <a:ext cx="7244080" cy="685800"/>
          </a:xfrm>
          <a:prstGeom prst="rect">
            <a:avLst/>
          </a:prstGeom>
        </p:spPr>
        <p:txBody>
          <a:bodyPr vert="horz" lIns="91440" tIns="45720" rIns="91440" bIns="45720" rtlCol="0" anchor="ctr">
            <a:normAutofit fontScale="9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solidFill>
                  <a:srgbClr val="088EFF"/>
                </a:solidFill>
                <a:latin typeface="腾讯体 W7" panose="020C08030202040F0204" pitchFamily="34" charset="-122"/>
                <a:ea typeface="腾讯体 W7" panose="020C08030202040F0204" pitchFamily="34" charset="-122"/>
              </a:rPr>
              <a:t>技术标准</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项目团队</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3" name="文本框 2"/>
          <p:cNvSpPr txBox="1"/>
          <p:nvPr/>
        </p:nvSpPr>
        <p:spPr>
          <a:xfrm>
            <a:off x="154432" y="6122019"/>
            <a:ext cx="12171679" cy="646331"/>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具备</a:t>
            </a:r>
            <a:r>
              <a:rPr lang="zh-CN" altLang="en-US" sz="3600" b="1" dirty="0">
                <a:solidFill>
                  <a:srgbClr val="FFC000"/>
                </a:solidFill>
                <a:latin typeface="腾讯体 W7" panose="020C08030202040F0204" pitchFamily="34" charset="-122"/>
                <a:ea typeface="腾讯体 W7" panose="020C08030202040F0204" pitchFamily="34" charset="-122"/>
              </a:rPr>
              <a:t>全链条</a:t>
            </a:r>
            <a:r>
              <a:rPr lang="zh-CN" altLang="en-US" sz="3600" b="1" dirty="0">
                <a:solidFill>
                  <a:schemeClr val="bg1"/>
                </a:solidFill>
                <a:latin typeface="腾讯体 W7" panose="020C08030202040F0204" pitchFamily="34" charset="-122"/>
                <a:ea typeface="腾讯体 W7" panose="020C08030202040F0204" pitchFamily="34" charset="-122"/>
              </a:rPr>
              <a:t>技术研发与产品运营能力</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sp>
        <p:nvSpPr>
          <p:cNvPr id="36" name="矩形: 圆角 35"/>
          <p:cNvSpPr/>
          <p:nvPr/>
        </p:nvSpPr>
        <p:spPr>
          <a:xfrm>
            <a:off x="131618" y="935469"/>
            <a:ext cx="11970735" cy="5194964"/>
          </a:xfrm>
          <a:prstGeom prst="roundRect">
            <a:avLst>
              <a:gd name="adj" fmla="val 4664"/>
            </a:avLst>
          </a:prstGeom>
          <a:noFill/>
          <a:ln w="12700">
            <a:solidFill>
              <a:srgbClr val="00D8FF"/>
            </a:solid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4000"/>
              </a:lnSpc>
            </a:pPr>
            <a:endParaRPr lang="en-US" altLang="zh-CN" sz="3000" b="1" dirty="0">
              <a:solidFill>
                <a:srgbClr val="FFFF00"/>
              </a:solidFill>
              <a:latin typeface="腾讯体 W7" panose="020C08030202040F0204" pitchFamily="34" charset="-122"/>
              <a:ea typeface="腾讯体 W7" panose="020C08030202040F0204" pitchFamily="34" charset="-122"/>
            </a:endParaRPr>
          </a:p>
        </p:txBody>
      </p:sp>
      <p:sp>
        <p:nvSpPr>
          <p:cNvPr id="37" name="文本框 36"/>
          <p:cNvSpPr txBox="1"/>
          <p:nvPr/>
        </p:nvSpPr>
        <p:spPr>
          <a:xfrm>
            <a:off x="154940" y="956945"/>
            <a:ext cx="11947525" cy="926024"/>
          </a:xfrm>
          <a:prstGeom prst="ellipse">
            <a:avLst/>
          </a:prstGeom>
          <a:noFill/>
        </p:spPr>
        <p:txBody>
          <a:bodyPr wrap="square" rtlCol="0">
            <a:spAutoFit/>
          </a:bodyPr>
          <a:lstStyle/>
          <a:p>
            <a:pPr algn="ctr">
              <a:lnSpc>
                <a:spcPts val="3400"/>
              </a:lnSpc>
            </a:pPr>
            <a:r>
              <a:rPr lang="zh-CN" altLang="en-US" sz="3600" b="1" dirty="0">
                <a:solidFill>
                  <a:srgbClr val="FFFF00"/>
                </a:solidFill>
                <a:latin typeface="腾讯体 W7" panose="020C08030202040F0204" pitchFamily="34" charset="-122"/>
                <a:ea typeface="腾讯体 W7" panose="020C08030202040F0204" pitchFamily="34" charset="-122"/>
              </a:rPr>
              <a:t>更懂科研痛点：全场唯一</a:t>
            </a:r>
            <a:r>
              <a:rPr lang="zh-CN" altLang="en-US" sz="3600" b="1" dirty="0">
                <a:solidFill>
                  <a:srgbClr val="FFFF00"/>
                </a:solidFill>
                <a:latin typeface="腾讯体 W7" panose="020C08030202040F0204" pitchFamily="34" charset="-122"/>
                <a:ea typeface="腾讯体 W7" panose="020C08030202040F0204" pitchFamily="34" charset="-122"/>
                <a:sym typeface="+mn-ea"/>
              </a:rPr>
              <a:t>最多</a:t>
            </a:r>
            <a:r>
              <a:rPr lang="zh-CN" altLang="en-US" sz="3600" b="1" dirty="0">
                <a:solidFill>
                  <a:srgbClr val="FFFF00"/>
                </a:solidFill>
                <a:latin typeface="腾讯体 W7" panose="020C08030202040F0204" pitchFamily="34" charset="-122"/>
                <a:ea typeface="腾讯体 W7" panose="020C08030202040F0204" pitchFamily="34" charset="-122"/>
              </a:rPr>
              <a:t>博士生团队</a:t>
            </a:r>
            <a:endParaRPr lang="zh-CN" altLang="en-US" sz="3600" b="1" dirty="0">
              <a:solidFill>
                <a:srgbClr val="FFFF00"/>
              </a:solidFill>
              <a:latin typeface="腾讯体 W7" panose="020C08030202040F0204" pitchFamily="34" charset="-122"/>
              <a:ea typeface="腾讯体 W7" panose="020C08030202040F0204" pitchFamily="34" charset="-122"/>
            </a:endParaRPr>
          </a:p>
        </p:txBody>
      </p:sp>
      <p:grpSp>
        <p:nvGrpSpPr>
          <p:cNvPr id="125" name="组合 124"/>
          <p:cNvGrpSpPr/>
          <p:nvPr/>
        </p:nvGrpSpPr>
        <p:grpSpPr>
          <a:xfrm>
            <a:off x="519312" y="1764664"/>
            <a:ext cx="1092942" cy="1098279"/>
            <a:chOff x="493046" y="1787524"/>
            <a:chExt cx="1092942" cy="1098279"/>
          </a:xfrm>
        </p:grpSpPr>
        <p:grpSp>
          <p:nvGrpSpPr>
            <p:cNvPr id="89" name="组合 88"/>
            <p:cNvGrpSpPr/>
            <p:nvPr/>
          </p:nvGrpSpPr>
          <p:grpSpPr>
            <a:xfrm>
              <a:off x="493046" y="1787524"/>
              <a:ext cx="1080000" cy="1080000"/>
              <a:chOff x="6033870" y="1758388"/>
              <a:chExt cx="1234800" cy="1234800"/>
            </a:xfrm>
          </p:grpSpPr>
          <p:sp>
            <p:nvSpPr>
              <p:cNvPr id="90" name="流程图: 接点 89"/>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91" name="流程图: 接点 90"/>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75" name="图片 7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05988" y="1805803"/>
              <a:ext cx="1080000" cy="1080000"/>
            </a:xfrm>
            <a:prstGeom prst="ellipse">
              <a:avLst/>
            </a:prstGeom>
          </p:spPr>
        </p:pic>
      </p:grpSp>
      <p:grpSp>
        <p:nvGrpSpPr>
          <p:cNvPr id="107" name="组合 106"/>
          <p:cNvGrpSpPr/>
          <p:nvPr/>
        </p:nvGrpSpPr>
        <p:grpSpPr>
          <a:xfrm>
            <a:off x="4220817" y="1787524"/>
            <a:ext cx="1105883" cy="1099834"/>
            <a:chOff x="4333903" y="1844477"/>
            <a:chExt cx="1105883" cy="1099834"/>
          </a:xfrm>
        </p:grpSpPr>
        <p:grpSp>
          <p:nvGrpSpPr>
            <p:cNvPr id="92" name="组合 91"/>
            <p:cNvGrpSpPr/>
            <p:nvPr/>
          </p:nvGrpSpPr>
          <p:grpSpPr>
            <a:xfrm>
              <a:off x="4333903" y="1864311"/>
              <a:ext cx="1080000" cy="1080000"/>
              <a:chOff x="6033870" y="1758388"/>
              <a:chExt cx="1234800" cy="1234800"/>
            </a:xfrm>
          </p:grpSpPr>
          <p:sp>
            <p:nvSpPr>
              <p:cNvPr id="93" name="流程图: 接点 92"/>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94" name="流程图: 接点 93"/>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77" name="图片 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9786" y="1844477"/>
              <a:ext cx="1080000" cy="1080000"/>
            </a:xfrm>
            <a:prstGeom prst="ellipse">
              <a:avLst/>
            </a:prstGeom>
          </p:spPr>
        </p:pic>
      </p:grpSp>
      <p:grpSp>
        <p:nvGrpSpPr>
          <p:cNvPr id="108" name="组合 107"/>
          <p:cNvGrpSpPr/>
          <p:nvPr/>
        </p:nvGrpSpPr>
        <p:grpSpPr>
          <a:xfrm>
            <a:off x="7961529" y="1787524"/>
            <a:ext cx="1106115" cy="1099834"/>
            <a:chOff x="6665137" y="1844477"/>
            <a:chExt cx="1106115" cy="1099834"/>
          </a:xfrm>
        </p:grpSpPr>
        <p:grpSp>
          <p:nvGrpSpPr>
            <p:cNvPr id="95" name="组合 94"/>
            <p:cNvGrpSpPr/>
            <p:nvPr/>
          </p:nvGrpSpPr>
          <p:grpSpPr>
            <a:xfrm>
              <a:off x="6665137" y="1864311"/>
              <a:ext cx="1080000" cy="1080000"/>
              <a:chOff x="6033870" y="1758388"/>
              <a:chExt cx="1234800" cy="1234800"/>
            </a:xfrm>
          </p:grpSpPr>
          <p:sp>
            <p:nvSpPr>
              <p:cNvPr id="96" name="流程图: 接点 95"/>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97" name="流程图: 接点 96"/>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79" name="图片 7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1252" y="1844477"/>
              <a:ext cx="1080000" cy="1080000"/>
            </a:xfrm>
            <a:prstGeom prst="ellipse">
              <a:avLst/>
            </a:prstGeom>
          </p:spPr>
        </p:pic>
      </p:grpSp>
      <p:sp>
        <p:nvSpPr>
          <p:cNvPr id="101" name="文本框 100"/>
          <p:cNvSpPr txBox="1"/>
          <p:nvPr/>
        </p:nvSpPr>
        <p:spPr>
          <a:xfrm>
            <a:off x="1655812" y="1786858"/>
            <a:ext cx="2531627" cy="1076325"/>
          </a:xfrm>
          <a:prstGeom prst="rect">
            <a:avLst/>
          </a:prstGeom>
          <a:noFill/>
          <a:ln>
            <a:noFill/>
          </a:ln>
        </p:spPr>
        <p:txBody>
          <a:bodyPr wrap="square" rtlCol="0">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孙烨</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项目经理</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ACT</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实验室</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rPr>
              <a:t>Phd Stu</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数据挖掘可视分析</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全栈工程师</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02" name="文本框 101"/>
          <p:cNvSpPr txBox="1"/>
          <p:nvPr/>
        </p:nvSpPr>
        <p:spPr>
          <a:xfrm>
            <a:off x="5365777" y="1786858"/>
            <a:ext cx="2464924" cy="1691640"/>
          </a:xfrm>
          <a:prstGeom prst="rect">
            <a:avLst/>
          </a:prstGeom>
          <a:noFill/>
          <a:ln>
            <a:noFill/>
          </a:ln>
        </p:spPr>
        <p:txBody>
          <a:bodyPr wrap="square" rtlCol="0">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曾祥华</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大模型研发专家</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软国重</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Phd Stu</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人工智能、强化学习</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软件开发、文档写作</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algn="ctr">
              <a:lnSpc>
                <a:spcPct val="150000"/>
              </a:lnSpc>
            </a:pP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grpSp>
        <p:nvGrpSpPr>
          <p:cNvPr id="127" name="组合 126"/>
          <p:cNvGrpSpPr/>
          <p:nvPr/>
        </p:nvGrpSpPr>
        <p:grpSpPr>
          <a:xfrm>
            <a:off x="4268938" y="4607541"/>
            <a:ext cx="1086943" cy="1099354"/>
            <a:chOff x="5182404" y="3888042"/>
            <a:chExt cx="1086943" cy="1099354"/>
          </a:xfrm>
        </p:grpSpPr>
        <p:grpSp>
          <p:nvGrpSpPr>
            <p:cNvPr id="113" name="组合 112"/>
            <p:cNvGrpSpPr/>
            <p:nvPr/>
          </p:nvGrpSpPr>
          <p:grpSpPr>
            <a:xfrm>
              <a:off x="5182404" y="3888042"/>
              <a:ext cx="1080000" cy="1080000"/>
              <a:chOff x="6033870" y="1758388"/>
              <a:chExt cx="1234800" cy="1234800"/>
            </a:xfrm>
          </p:grpSpPr>
          <p:sp>
            <p:nvSpPr>
              <p:cNvPr id="114" name="流程图: 接点 113"/>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15" name="流程图: 接点 114"/>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122" name="图片 121" descr="微信图片_20240314174827"/>
            <p:cNvPicPr>
              <a:picLocks noChangeAspect="1"/>
            </p:cNvPicPr>
            <p:nvPr>
              <p:custDataLst>
                <p:tags r:id="rId4"/>
              </p:custDataLst>
            </p:nvPr>
          </p:nvPicPr>
          <p:blipFill>
            <a:blip r:embed="rId5"/>
            <a:stretch>
              <a:fillRect/>
            </a:stretch>
          </p:blipFill>
          <p:spPr>
            <a:xfrm>
              <a:off x="5189347" y="3907396"/>
              <a:ext cx="1080000" cy="1080000"/>
            </a:xfrm>
            <a:prstGeom prst="ellipse">
              <a:avLst/>
            </a:prstGeom>
          </p:spPr>
        </p:pic>
      </p:grpSp>
      <p:grpSp>
        <p:nvGrpSpPr>
          <p:cNvPr id="128" name="组合 127"/>
          <p:cNvGrpSpPr/>
          <p:nvPr/>
        </p:nvGrpSpPr>
        <p:grpSpPr>
          <a:xfrm>
            <a:off x="482482" y="4629131"/>
            <a:ext cx="1105878" cy="1096851"/>
            <a:chOff x="6949661" y="3938927"/>
            <a:chExt cx="1105878" cy="1096851"/>
          </a:xfrm>
        </p:grpSpPr>
        <p:grpSp>
          <p:nvGrpSpPr>
            <p:cNvPr id="116" name="组合 115"/>
            <p:cNvGrpSpPr/>
            <p:nvPr/>
          </p:nvGrpSpPr>
          <p:grpSpPr>
            <a:xfrm>
              <a:off x="6949661" y="3938927"/>
              <a:ext cx="1080000" cy="1080000"/>
              <a:chOff x="6033870" y="1758388"/>
              <a:chExt cx="1234800" cy="1234800"/>
            </a:xfrm>
          </p:grpSpPr>
          <p:sp>
            <p:nvSpPr>
              <p:cNvPr id="117" name="流程图: 接点 116"/>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18" name="流程图: 接点 117"/>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123" name="图片 1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75539" y="3957938"/>
              <a:ext cx="1080000" cy="1077840"/>
            </a:xfrm>
            <a:prstGeom prst="ellipse">
              <a:avLst/>
            </a:prstGeom>
          </p:spPr>
        </p:pic>
      </p:grpSp>
      <p:grpSp>
        <p:nvGrpSpPr>
          <p:cNvPr id="129" name="组合 128"/>
          <p:cNvGrpSpPr/>
          <p:nvPr/>
        </p:nvGrpSpPr>
        <p:grpSpPr>
          <a:xfrm>
            <a:off x="8035824" y="4596746"/>
            <a:ext cx="1098403" cy="1092116"/>
            <a:chOff x="8937769" y="3569913"/>
            <a:chExt cx="1098403" cy="1092116"/>
          </a:xfrm>
        </p:grpSpPr>
        <p:grpSp>
          <p:nvGrpSpPr>
            <p:cNvPr id="119" name="组合 118"/>
            <p:cNvGrpSpPr/>
            <p:nvPr/>
          </p:nvGrpSpPr>
          <p:grpSpPr>
            <a:xfrm>
              <a:off x="8937769" y="3569913"/>
              <a:ext cx="1080000" cy="1080000"/>
              <a:chOff x="6033870" y="1758388"/>
              <a:chExt cx="1234800" cy="1234800"/>
            </a:xfrm>
          </p:grpSpPr>
          <p:sp>
            <p:nvSpPr>
              <p:cNvPr id="120" name="流程图: 接点 119"/>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21" name="流程图: 接点 120"/>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124" name="图片 123"/>
            <p:cNvPicPr>
              <a:picLocks noChangeAspect="1"/>
            </p:cNvPicPr>
            <p:nvPr/>
          </p:nvPicPr>
          <p:blipFill rotWithShape="1">
            <a:blip r:embed="rId7"/>
            <a:srcRect t="711"/>
            <a:stretch>
              <a:fillRect/>
            </a:stretch>
          </p:blipFill>
          <p:spPr>
            <a:xfrm>
              <a:off x="8956172" y="3608966"/>
              <a:ext cx="1080000" cy="1053063"/>
            </a:xfrm>
            <a:prstGeom prst="ellipse">
              <a:avLst/>
            </a:prstGeom>
          </p:spPr>
        </p:pic>
      </p:grpSp>
      <p:grpSp>
        <p:nvGrpSpPr>
          <p:cNvPr id="126" name="组合 125"/>
          <p:cNvGrpSpPr/>
          <p:nvPr/>
        </p:nvGrpSpPr>
        <p:grpSpPr>
          <a:xfrm>
            <a:off x="4213554" y="3173656"/>
            <a:ext cx="1116285" cy="1125380"/>
            <a:chOff x="2819325" y="4006713"/>
            <a:chExt cx="1116285" cy="1125380"/>
          </a:xfrm>
        </p:grpSpPr>
        <p:grpSp>
          <p:nvGrpSpPr>
            <p:cNvPr id="110" name="组合 109"/>
            <p:cNvGrpSpPr/>
            <p:nvPr/>
          </p:nvGrpSpPr>
          <p:grpSpPr>
            <a:xfrm>
              <a:off x="2819325" y="4006713"/>
              <a:ext cx="1080000" cy="1080000"/>
              <a:chOff x="6033870" y="1758388"/>
              <a:chExt cx="1234800" cy="1234800"/>
            </a:xfrm>
          </p:grpSpPr>
          <p:sp>
            <p:nvSpPr>
              <p:cNvPr id="111" name="流程图: 接点 110"/>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12" name="流程图: 接点 111"/>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83" name="图片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55610" y="4052093"/>
              <a:ext cx="1080000" cy="1080000"/>
            </a:xfrm>
            <a:prstGeom prst="ellipse">
              <a:avLst/>
            </a:prstGeom>
          </p:spPr>
        </p:pic>
      </p:grpSp>
      <p:sp>
        <p:nvSpPr>
          <p:cNvPr id="132" name="文本框 131"/>
          <p:cNvSpPr txBox="1"/>
          <p:nvPr/>
        </p:nvSpPr>
        <p:spPr>
          <a:xfrm>
            <a:off x="9256168" y="1786858"/>
            <a:ext cx="6786395" cy="1322070"/>
          </a:xfrm>
          <a:prstGeom prst="rect">
            <a:avLst/>
          </a:prstGeom>
          <a:noFill/>
          <a:ln>
            <a:noFill/>
          </a:ln>
        </p:spPr>
        <p:txBody>
          <a:bodyPr wrap="square">
            <a:spAutoFit/>
          </a:bodyPr>
          <a:lstStyle/>
          <a:p>
            <a:pPr algn="l">
              <a:buClrTx/>
              <a:buSzTx/>
              <a:buFontTx/>
            </a:pPr>
            <a:r>
              <a:rPr lang="zh-CN" altLang="en-US" sz="1600" b="1" dirty="0">
                <a:solidFill>
                  <a:schemeClr val="bg1"/>
                </a:solidFill>
                <a:latin typeface="腾讯体 W7" panose="020C08030202040F0204" pitchFamily="34" charset="-122"/>
                <a:ea typeface="腾讯体 W7" panose="020C08030202040F0204" pitchFamily="34" charset="-122"/>
              </a:rPr>
              <a:t>苏丁力</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 联络员</a:t>
            </a:r>
            <a:endPar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lgn="l">
              <a:buClrTx/>
              <a:buSzTx/>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sym typeface="+mn-ea"/>
              </a:rPr>
              <a:t>软国重</a:t>
            </a:r>
            <a:r>
              <a:rPr lang="en-US" altLang="zh-CN" sz="1600" b="1" dirty="0">
                <a:solidFill>
                  <a:schemeClr val="bg1"/>
                </a:solidFill>
                <a:latin typeface="腾讯体 W7" panose="020C08030202040F0204" pitchFamily="34" charset="-122"/>
                <a:ea typeface="腾讯体 W7" panose="020C08030202040F0204" pitchFamily="34" charset="-122"/>
                <a:sym typeface="+mn-ea"/>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Phd Stu</a:t>
            </a:r>
            <a:endPar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lgn="l">
              <a:buClrTx/>
              <a:buSzTx/>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大语言模型、生成式</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AI</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lgn="l">
              <a:buClrTx/>
              <a:buSzTx/>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物流系统、软件</a:t>
            </a:r>
            <a:r>
              <a:rPr lang="zh-CN" altLang="en-US" sz="1600" b="1" dirty="0">
                <a:solidFill>
                  <a:schemeClr val="bg1"/>
                </a:solidFill>
                <a:latin typeface="腾讯体 W7" panose="020C08030202040F0204" pitchFamily="34" charset="-122"/>
                <a:ea typeface="腾讯体 W7" panose="020C08030202040F0204" pitchFamily="34" charset="-122"/>
              </a:rPr>
              <a:t>测试</a:t>
            </a:r>
            <a:endParaRPr lang="en-US" altLang="zh-CN" sz="1600" b="1" dirty="0">
              <a:solidFill>
                <a:schemeClr val="bg1"/>
              </a:solidFill>
              <a:latin typeface="腾讯体 W7" panose="020C08030202040F0204" pitchFamily="34" charset="-122"/>
              <a:ea typeface="腾讯体 W7" panose="020C08030202040F0204" pitchFamily="34" charset="-122"/>
            </a:endParaRPr>
          </a:p>
          <a:p>
            <a:pPr indent="0">
              <a:buFont typeface="Arial" panose="020B0604020202020204" pitchFamily="34" charset="0"/>
              <a:buNone/>
            </a:pPr>
            <a:endParaRPr lang="zh-CN" altLang="en-US" sz="1600" b="1" dirty="0">
              <a:solidFill>
                <a:schemeClr val="bg1"/>
              </a:solidFill>
              <a:latin typeface="腾讯体 W7" panose="020C08030202040F0204" pitchFamily="34" charset="-122"/>
              <a:ea typeface="腾讯体 W7" panose="020C08030202040F0204" pitchFamily="34" charset="-122"/>
            </a:endParaRPr>
          </a:p>
        </p:txBody>
      </p:sp>
      <p:sp>
        <p:nvSpPr>
          <p:cNvPr id="134" name="文本框 133"/>
          <p:cNvSpPr txBox="1"/>
          <p:nvPr/>
        </p:nvSpPr>
        <p:spPr>
          <a:xfrm>
            <a:off x="1656080" y="3140075"/>
            <a:ext cx="2228215" cy="1814830"/>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侯越</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软件架构师</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软国重</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Phd Stu</a:t>
            </a:r>
            <a:endPar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图深度学习</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前端开发、</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C/C++</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开发、</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文档</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PPT</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indent="0">
              <a:buFont typeface="Arial" panose="020B0604020202020204" pitchFamily="34" charset="0"/>
              <a:buNone/>
            </a:pP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36" name="文本框 135"/>
          <p:cNvSpPr txBox="1"/>
          <p:nvPr/>
        </p:nvSpPr>
        <p:spPr>
          <a:xfrm>
            <a:off x="5365750" y="3140075"/>
            <a:ext cx="2409825" cy="1568450"/>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魏家龙</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首席运维工程师</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ACT</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实验室</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Phd Stu</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光刻芯片热点检测研究</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前后端开发</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38" name="文本框 137"/>
          <p:cNvSpPr txBox="1"/>
          <p:nvPr/>
        </p:nvSpPr>
        <p:spPr>
          <a:xfrm>
            <a:off x="1656080" y="4577080"/>
            <a:ext cx="2651125" cy="1322070"/>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张宸恺</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技术总监</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IRIP</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实验室</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rPr>
              <a:t> Ms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Stu</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生成式人工智能研究、</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web</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应用开发</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冯如杯二等奖团队组长</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40" name="文本框 139"/>
          <p:cNvSpPr txBox="1"/>
          <p:nvPr/>
        </p:nvSpPr>
        <p:spPr>
          <a:xfrm>
            <a:off x="5365777" y="4576954"/>
            <a:ext cx="2704702" cy="1322070"/>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刘顺博</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产品经理</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系统结构所</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Ms Stu</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区块链研究</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后端开</a:t>
            </a: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发</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42" name="文本框 141"/>
          <p:cNvSpPr txBox="1"/>
          <p:nvPr/>
        </p:nvSpPr>
        <p:spPr>
          <a:xfrm>
            <a:off x="9256169" y="4576954"/>
            <a:ext cx="2613778" cy="1322070"/>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窦建玲</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UI设计与用户体验</a:t>
            </a:r>
            <a:endPar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系统结构所</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Ms Stu</a:t>
            </a:r>
            <a:endPar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深度学习</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前后端开发</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indent="0">
              <a:buFont typeface="Arial" panose="020B0604020202020204" pitchFamily="34" charset="0"/>
              <a:buNone/>
            </a:pP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143" name="文本框 142"/>
          <p:cNvSpPr txBox="1"/>
          <p:nvPr/>
        </p:nvSpPr>
        <p:spPr>
          <a:xfrm>
            <a:off x="9256169" y="3140319"/>
            <a:ext cx="2613778" cy="1076325"/>
          </a:xfrm>
          <a:prstGeom prst="rect">
            <a:avLst/>
          </a:prstGeom>
          <a:noFill/>
        </p:spPr>
        <p:txBody>
          <a:bodyPr wrap="square">
            <a:spAutoFit/>
          </a:bodyPr>
          <a:lstStyle/>
          <a:p>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郭鑫</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zh-CN" altLang="en-US" sz="1600" b="1" dirty="0">
                <a:solidFill>
                  <a:schemeClr val="accent5">
                    <a:lumMod val="60000"/>
                    <a:lumOff val="4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数据科学家</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网媒所</a:t>
            </a:r>
            <a:r>
              <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 </a:t>
            </a:r>
            <a:r>
              <a:rPr lang="en-US" altLang="zh-CN" sz="1600" b="1" dirty="0">
                <a:solidFill>
                  <a:schemeClr val="accent3">
                    <a:lumMod val="40000"/>
                    <a:lumOff val="60000"/>
                  </a:schemeClr>
                </a:solidFill>
                <a:latin typeface="腾讯体 W7" panose="020C08030202040F0204" pitchFamily="34" charset="-122"/>
                <a:ea typeface="腾讯体 W7" panose="020C08030202040F0204" pitchFamily="34" charset="-122"/>
                <a:cs typeface="腾讯体 W7" panose="020C08030202040F0204" pitchFamily="34" charset="-122"/>
                <a:sym typeface="+mn-ea"/>
              </a:rPr>
              <a:t>Phd Stu</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需求分析、软件测试</a:t>
            </a:r>
            <a:endParaRPr lang="en-US" alt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a:buFont typeface="Arial" panose="020B0604020202020204" pitchFamily="34" charset="0"/>
              <a:buChar char="•"/>
            </a:pPr>
            <a:r>
              <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后端开发</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p:txBody>
      </p:sp>
      <p:grpSp>
        <p:nvGrpSpPr>
          <p:cNvPr id="4" name="组合 3"/>
          <p:cNvGrpSpPr/>
          <p:nvPr/>
        </p:nvGrpSpPr>
        <p:grpSpPr>
          <a:xfrm>
            <a:off x="481576" y="3216201"/>
            <a:ext cx="1080923" cy="1099834"/>
            <a:chOff x="8995447" y="1844477"/>
            <a:chExt cx="1080923" cy="1099834"/>
          </a:xfrm>
        </p:grpSpPr>
        <p:grpSp>
          <p:nvGrpSpPr>
            <p:cNvPr id="5" name="组合 4"/>
            <p:cNvGrpSpPr/>
            <p:nvPr/>
          </p:nvGrpSpPr>
          <p:grpSpPr>
            <a:xfrm>
              <a:off x="8996370" y="1864311"/>
              <a:ext cx="1080000" cy="1080000"/>
              <a:chOff x="6033870" y="1758388"/>
              <a:chExt cx="1234800" cy="1234800"/>
            </a:xfrm>
          </p:grpSpPr>
          <p:sp>
            <p:nvSpPr>
              <p:cNvPr id="6" name="流程图: 接点 98"/>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7" name="流程图: 接点 99"/>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8" name="图片 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995447" y="1844477"/>
              <a:ext cx="1080000" cy="1080000"/>
            </a:xfrm>
            <a:prstGeom prst="ellipse">
              <a:avLst/>
            </a:prstGeom>
          </p:spPr>
        </p:pic>
      </p:grpSp>
      <p:grpSp>
        <p:nvGrpSpPr>
          <p:cNvPr id="9" name="组合 8"/>
          <p:cNvGrpSpPr/>
          <p:nvPr/>
        </p:nvGrpSpPr>
        <p:grpSpPr>
          <a:xfrm>
            <a:off x="7940557" y="3184451"/>
            <a:ext cx="1100305" cy="1081263"/>
            <a:chOff x="1203554" y="4261591"/>
            <a:chExt cx="1100305" cy="1081263"/>
          </a:xfrm>
        </p:grpSpPr>
        <p:grpSp>
          <p:nvGrpSpPr>
            <p:cNvPr id="10" name="组合 9"/>
            <p:cNvGrpSpPr/>
            <p:nvPr/>
          </p:nvGrpSpPr>
          <p:grpSpPr>
            <a:xfrm>
              <a:off x="1203554" y="4262854"/>
              <a:ext cx="1080000" cy="1080000"/>
              <a:chOff x="6033870" y="1758388"/>
              <a:chExt cx="1234800" cy="1234800"/>
            </a:xfrm>
          </p:grpSpPr>
          <p:sp>
            <p:nvSpPr>
              <p:cNvPr id="11" name="流程图: 接点 24"/>
              <p:cNvSpPr/>
              <p:nvPr/>
            </p:nvSpPr>
            <p:spPr>
              <a:xfrm>
                <a:off x="6033870" y="1758388"/>
                <a:ext cx="1234800" cy="1234800"/>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sp>
            <p:nvSpPr>
              <p:cNvPr id="12" name="流程图: 接点 25"/>
              <p:cNvSpPr/>
              <p:nvPr/>
            </p:nvSpPr>
            <p:spPr>
              <a:xfrm>
                <a:off x="6141771" y="1853447"/>
                <a:ext cx="1018058" cy="1017491"/>
              </a:xfrm>
              <a:prstGeom prst="flowChartConnector">
                <a:avLst/>
              </a:prstGeom>
              <a:solidFill>
                <a:srgbClr val="48A8CA"/>
              </a:solidFill>
              <a:ln w="0">
                <a:gradFill flip="none" rotWithShape="1">
                  <a:gsLst>
                    <a:gs pos="100000">
                      <a:schemeClr val="accent1">
                        <a:lumMod val="75000"/>
                      </a:schemeClr>
                    </a:gs>
                    <a:gs pos="0">
                      <a:srgbClr val="48AACA"/>
                    </a:gs>
                  </a:gsLst>
                  <a:path path="circle">
                    <a:fillToRect l="50000" t="50000" r="50000" b="50000"/>
                  </a:path>
                  <a:tileRect/>
                </a:gradFill>
              </a:ln>
              <a:effectLst>
                <a:glow rad="139700">
                  <a:srgbClr val="3A7FFC">
                    <a:alpha val="65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腾讯体 W7" panose="020C08030202040F0204" pitchFamily="34" charset="-122"/>
                  <a:ea typeface="腾讯体 W7" panose="020C08030202040F0204" pitchFamily="34" charset="-122"/>
                </a:endParaRPr>
              </a:p>
            </p:txBody>
          </p:sp>
        </p:grpSp>
        <p:pic>
          <p:nvPicPr>
            <p:cNvPr id="13" name="图片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23859" y="4261591"/>
              <a:ext cx="1080000" cy="1080000"/>
            </a:xfrm>
            <a:prstGeom prst="ellipse">
              <a:avLst/>
            </a:prstGeom>
          </p:spPr>
        </p:pic>
      </p:grpSp>
      <p:sp>
        <p:nvSpPr>
          <p:cNvPr id="14" name="平行四边形 13"/>
          <p:cNvSpPr/>
          <p:nvPr/>
        </p:nvSpPr>
        <p:spPr>
          <a:xfrm>
            <a:off x="12060382" y="-1025300"/>
            <a:ext cx="10766323" cy="8967019"/>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项目进展</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pic>
        <p:nvPicPr>
          <p:cNvPr id="4" name="图片 3"/>
          <p:cNvPicPr>
            <a:picLocks noChangeAspect="1"/>
          </p:cNvPicPr>
          <p:nvPr/>
        </p:nvPicPr>
        <p:blipFill rotWithShape="1">
          <a:blip r:embed="rId1"/>
          <a:srcRect l="1235"/>
          <a:stretch>
            <a:fillRect/>
          </a:stretch>
        </p:blipFill>
        <p:spPr>
          <a:xfrm>
            <a:off x="288290" y="782955"/>
            <a:ext cx="5243195" cy="2294890"/>
          </a:xfrm>
          <a:prstGeom prst="rect">
            <a:avLst/>
          </a:prstGeom>
        </p:spPr>
      </p:pic>
      <p:sp>
        <p:nvSpPr>
          <p:cNvPr id="5" name="文本框 4"/>
          <p:cNvSpPr txBox="1"/>
          <p:nvPr/>
        </p:nvSpPr>
        <p:spPr>
          <a:xfrm>
            <a:off x="370205" y="3152140"/>
            <a:ext cx="11443970" cy="3446145"/>
          </a:xfrm>
          <a:prstGeom prst="rect">
            <a:avLst/>
          </a:prstGeom>
          <a:noFill/>
        </p:spPr>
        <p:txBody>
          <a:bodyPr wrap="square" rtlCol="0">
            <a:spAutoFit/>
          </a:bodyPr>
          <a:lstStyle/>
          <a:p>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开发进度：</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100%</a:t>
            </a:r>
            <a:endParaRPr lang="en-US" altLang="zh-CN"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总代码行数：</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18,000+</a:t>
            </a:r>
            <a:endPar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endParaRPr>
          </a:p>
          <a:p>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测试用例需求覆盖率：</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100%</a:t>
            </a:r>
            <a:endPar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endParaRPr>
          </a:p>
          <a:p>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测试完成度：</a:t>
            </a:r>
            <a:r>
              <a:rPr lang="en-US" altLang="zh-CN"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100% </a:t>
            </a:r>
            <a:r>
              <a:rPr lang="zh-CN" altLang="en-US"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15</a:t>
            </a:r>
            <a:r>
              <a:rPr lang="zh-CN" altLang="en-US"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（接口测试）</a:t>
            </a:r>
            <a:r>
              <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+64</a:t>
            </a:r>
            <a:r>
              <a:rPr lang="zh-CN" altLang="en-US"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a:t>
            </a:r>
            <a:r>
              <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Web</a:t>
            </a:r>
            <a:r>
              <a:rPr lang="zh-CN" altLang="en-US"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测试）</a:t>
            </a:r>
            <a:r>
              <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+16</a:t>
            </a:r>
            <a:r>
              <a:rPr lang="zh-CN" altLang="en-US"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（非功能性测试）</a:t>
            </a:r>
            <a:r>
              <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=95</a:t>
            </a:r>
            <a:r>
              <a:rPr lang="zh-CN" altLang="en-US"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rPr>
              <a:t>个</a:t>
            </a:r>
            <a:endParaRPr lang="en-US" altLang="zh-CN" dirty="0">
              <a:solidFill>
                <a:schemeClr val="accent5"/>
              </a:solidFill>
              <a:latin typeface="腾讯体 W7" panose="020C08030202040F0204" pitchFamily="34" charset="-122"/>
              <a:ea typeface="腾讯体 W7" panose="020C08030202040F0204" pitchFamily="34" charset="-122"/>
              <a:cs typeface="腾讯体 W7" panose="020C08030202040F0204" pitchFamily="34" charset="-122"/>
            </a:endParaRPr>
          </a:p>
          <a:p>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经过</a:t>
            </a:r>
            <a:r>
              <a:rPr lang="en-US" altLang="zh-CN"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4</a:t>
            </a:r>
            <a:r>
              <a:rPr lang="zh-CN" altLang="en-US"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轮测试  </a:t>
            </a:r>
            <a:r>
              <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通过</a:t>
            </a:r>
            <a:r>
              <a:rPr lang="en-US" altLang="zh-CN"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 </a:t>
            </a:r>
            <a:r>
              <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8</a:t>
            </a:r>
            <a:r>
              <a:rPr lang="zh-CN" altLang="en-US"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rPr>
              <a:t>组专家评审</a:t>
            </a:r>
            <a:endParaRPr lang="en-US" altLang="zh-CN" sz="4000" b="1" dirty="0">
              <a:solidFill>
                <a:srgbClr val="FF0000"/>
              </a:solidFill>
              <a:latin typeface="腾讯体 W7" panose="020C08030202040F0204" pitchFamily="34" charset="-122"/>
              <a:ea typeface="腾讯体 W7" panose="020C08030202040F0204" pitchFamily="34" charset="-122"/>
              <a:cs typeface="腾讯体 W7" panose="020C08030202040F0204" pitchFamily="34" charset="-122"/>
            </a:endParaRPr>
          </a:p>
          <a:p>
            <a:endParaRPr lang="zh-CN" altLang="en-US"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sp>
        <p:nvSpPr>
          <p:cNvPr id="6" name="Rectangle 1"/>
          <p:cNvSpPr>
            <a:spLocks noChangeArrowheads="1"/>
          </p:cNvSpPr>
          <p:nvPr/>
        </p:nvSpPr>
        <p:spPr bwMode="auto">
          <a:xfrm rot="10800000" flipV="1">
            <a:off x="6640195" y="3216275"/>
            <a:ext cx="4965065" cy="1858645"/>
          </a:xfrm>
          <a:prstGeom prst="roundRect">
            <a:avLst>
              <a:gd name="adj" fmla="val 17218"/>
            </a:avLst>
          </a:prstGeom>
          <a:solidFill>
            <a:schemeClr val="tx1">
              <a:lumMod val="75000"/>
              <a:lumOff val="2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indent="0" algn="l" defTabSz="914400" rtl="0" eaLnBrk="0" fontAlgn="base" hangingPunct="0">
              <a:lnSpc>
                <a:spcPct val="100000"/>
              </a:lnSpc>
              <a:spcBef>
                <a:spcPct val="0"/>
              </a:spcBef>
              <a:spcAft>
                <a:spcPts val="1200"/>
              </a:spcAft>
              <a:buClrTx/>
              <a:buSzTx/>
            </a:pPr>
            <a:r>
              <a:rPr lang="zh-CN" altLang="en-US" sz="4000" b="1" dirty="0">
                <a:solidFill>
                  <a:srgbClr val="00B050"/>
                </a:solidFill>
                <a:latin typeface="腾讯体 W7" panose="020C08030202040F0204" pitchFamily="34" charset="-122"/>
                <a:ea typeface="腾讯体 W7" panose="020C08030202040F0204" pitchFamily="34" charset="-122"/>
                <a:cs typeface="腾讯体 W7" panose="020C08030202040F0204" pitchFamily="34" charset="-122"/>
              </a:rPr>
              <a:t>目前项目已上线</a:t>
            </a:r>
            <a:endParaRPr kumimoji="0" lang="en-US" altLang="zh-CN" sz="1800" b="0" i="0" u="none" strike="noStrike" cap="none" normalizeH="0" baseline="0" dirty="0">
              <a:ln>
                <a:noFill/>
              </a:ln>
              <a:solidFill>
                <a:schemeClr val="bg1"/>
              </a:solidFill>
              <a:effectLst/>
              <a:latin typeface="腾讯体 W7" panose="020C08030202040F0204" pitchFamily="34" charset="-122"/>
              <a:ea typeface="腾讯体 W7" panose="020C08030202040F0204" pitchFamily="34" charset="-122"/>
              <a:cs typeface="腾讯体 W7" panose="020C08030202040F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charset="0"/>
              <a:buChar char="Ø"/>
            </a:pPr>
            <a:r>
              <a:rPr kumimoji="0" lang="zh-CN" altLang="zh-CN" sz="1800" b="0" i="0" u="none" strike="noStrike" cap="none" normalizeH="0" baseline="0" dirty="0">
                <a:ln>
                  <a:noFill/>
                </a:ln>
                <a:solidFill>
                  <a:schemeClr val="bg1"/>
                </a:solidFill>
                <a:effectLst/>
                <a:latin typeface="腾讯体 W7" panose="020C08030202040F0204" pitchFamily="34" charset="-122"/>
                <a:ea typeface="腾讯体 W7" panose="020C08030202040F0204" pitchFamily="34" charset="-122"/>
                <a:cs typeface="腾讯体 W7" panose="020C08030202040F0204" pitchFamily="34" charset="-122"/>
              </a:rPr>
              <a:t>文本标注子系统:</a:t>
            </a:r>
            <a:r>
              <a:rPr kumimoji="0" lang="zh-CN" altLang="zh-CN" sz="1800" b="0" i="0" u="none" strike="noStrike" cap="none" normalizeH="0" baseline="0" dirty="0">
                <a:ln>
                  <a:noFill/>
                </a:ln>
                <a:solidFill>
                  <a:schemeClr val="accent5"/>
                </a:solidFill>
                <a:effectLst/>
                <a:latin typeface="腾讯体 W7" panose="020C08030202040F0204" pitchFamily="34" charset="-122"/>
                <a:ea typeface="腾讯体 W7" panose="020C08030202040F0204" pitchFamily="34" charset="-122"/>
                <a:cs typeface="腾讯体 W7" panose="020C08030202040F0204" pitchFamily="34" charset="-122"/>
              </a:rPr>
              <a:t> http://ye-sun.com:1855</a:t>
            </a:r>
            <a:endParaRPr kumimoji="0" lang="zh-CN" altLang="zh-CN" sz="1800" b="0" i="0" u="none" strike="noStrike" cap="none" normalizeH="0" baseline="0" dirty="0">
              <a:ln>
                <a:noFill/>
              </a:ln>
              <a:solidFill>
                <a:schemeClr val="accent5"/>
              </a:solidFill>
              <a:effectLst/>
              <a:latin typeface="腾讯体 W7" panose="020C08030202040F0204" pitchFamily="34" charset="-122"/>
              <a:ea typeface="腾讯体 W7" panose="020C08030202040F0204" pitchFamily="34" charset="-122"/>
              <a:cs typeface="腾讯体 W7" panose="020C08030202040F0204" pitchFamily="34" charset="-122"/>
            </a:endParaRPr>
          </a:p>
          <a:p>
            <a:pPr marL="285750" marR="0" lvl="0" indent="-285750" algn="l" defTabSz="914400" rtl="0" eaLnBrk="0" fontAlgn="base" latinLnBrk="0" hangingPunct="0">
              <a:lnSpc>
                <a:spcPct val="150000"/>
              </a:lnSpc>
              <a:buClrTx/>
              <a:buSzTx/>
              <a:buFont typeface="Wingdings" panose="05000000000000000000" charset="0"/>
              <a:buChar char="Ø"/>
            </a:pPr>
            <a:r>
              <a:rPr kumimoji="0" lang="zh-CN" altLang="zh-CN" sz="1800" b="0" i="0" u="none" strike="noStrike" cap="none" normalizeH="0" baseline="0" dirty="0">
                <a:ln>
                  <a:noFill/>
                </a:ln>
                <a:solidFill>
                  <a:schemeClr val="bg1"/>
                </a:solidFill>
                <a:effectLst/>
                <a:latin typeface="腾讯体 W7" panose="020C08030202040F0204" pitchFamily="34" charset="-122"/>
                <a:ea typeface="腾讯体 W7" panose="020C08030202040F0204" pitchFamily="34" charset="-122"/>
                <a:cs typeface="腾讯体 W7" panose="020C08030202040F0204" pitchFamily="34" charset="-122"/>
              </a:rPr>
              <a:t>智能挖掘子系统:</a:t>
            </a:r>
            <a:r>
              <a:rPr kumimoji="0" lang="zh-CN" altLang="zh-CN" sz="1800" b="0" i="0" u="none" strike="noStrike" cap="none" normalizeH="0" baseline="0" dirty="0">
                <a:ln>
                  <a:noFill/>
                </a:ln>
                <a:solidFill>
                  <a:schemeClr val="accent5"/>
                </a:solidFill>
                <a:effectLst/>
                <a:latin typeface="腾讯体 W7" panose="020C08030202040F0204" pitchFamily="34" charset="-122"/>
                <a:ea typeface="腾讯体 W7" panose="020C08030202040F0204" pitchFamily="34" charset="-122"/>
                <a:cs typeface="腾讯体 W7" panose="020C08030202040F0204" pitchFamily="34" charset="-122"/>
              </a:rPr>
              <a:t> http://ye-sun.com:1852</a:t>
            </a:r>
            <a:endParaRPr kumimoji="0" lang="zh-CN" altLang="zh-CN" sz="1800" b="0" i="0" u="none" strike="noStrike" cap="none" normalizeH="0" baseline="0" dirty="0">
              <a:ln>
                <a:noFill/>
              </a:ln>
              <a:solidFill>
                <a:schemeClr val="accent5"/>
              </a:solidFill>
              <a:effectLst/>
              <a:latin typeface="腾讯体 W7" panose="020C08030202040F0204" pitchFamily="34" charset="-122"/>
              <a:ea typeface="腾讯体 W7" panose="020C08030202040F0204" pitchFamily="34" charset="-122"/>
              <a:cs typeface="腾讯体 W7" panose="020C08030202040F0204" pitchFamily="34" charset="-122"/>
            </a:endParaRPr>
          </a:p>
        </p:txBody>
      </p:sp>
      <p:grpSp>
        <p:nvGrpSpPr>
          <p:cNvPr id="3" name="组合 2"/>
          <p:cNvGrpSpPr/>
          <p:nvPr/>
        </p:nvGrpSpPr>
        <p:grpSpPr>
          <a:xfrm>
            <a:off x="6780530" y="730885"/>
            <a:ext cx="4242435" cy="2316480"/>
            <a:chOff x="10885" y="373"/>
            <a:chExt cx="8222" cy="4478"/>
          </a:xfrm>
        </p:grpSpPr>
        <p:pic>
          <p:nvPicPr>
            <p:cNvPr id="8" name="图片 7"/>
            <p:cNvPicPr>
              <a:picLocks noChangeAspect="1"/>
            </p:cNvPicPr>
            <p:nvPr/>
          </p:nvPicPr>
          <p:blipFill>
            <a:blip r:embed="rId2"/>
            <a:stretch>
              <a:fillRect/>
            </a:stretch>
          </p:blipFill>
          <p:spPr>
            <a:xfrm>
              <a:off x="10885" y="3349"/>
              <a:ext cx="8223" cy="1503"/>
            </a:xfrm>
            <a:prstGeom prst="rect">
              <a:avLst/>
            </a:prstGeom>
          </p:spPr>
        </p:pic>
        <p:pic>
          <p:nvPicPr>
            <p:cNvPr id="2" name="图片 1"/>
            <p:cNvPicPr>
              <a:picLocks noChangeAspect="1"/>
            </p:cNvPicPr>
            <p:nvPr/>
          </p:nvPicPr>
          <p:blipFill>
            <a:blip r:embed="rId3"/>
            <a:stretch>
              <a:fillRect/>
            </a:stretch>
          </p:blipFill>
          <p:spPr>
            <a:xfrm>
              <a:off x="10885" y="373"/>
              <a:ext cx="8206" cy="297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商业模式</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pic>
        <p:nvPicPr>
          <p:cNvPr id="2" name="图片 1"/>
          <p:cNvPicPr>
            <a:picLocks noChangeAspect="1"/>
          </p:cNvPicPr>
          <p:nvPr/>
        </p:nvPicPr>
        <p:blipFill>
          <a:blip r:embed="rId1"/>
          <a:stretch>
            <a:fillRect/>
          </a:stretch>
        </p:blipFill>
        <p:spPr>
          <a:xfrm>
            <a:off x="10722610" y="5504815"/>
            <a:ext cx="731520" cy="731520"/>
          </a:xfrm>
          <a:prstGeom prst="rect">
            <a:avLst/>
          </a:prstGeom>
        </p:spPr>
      </p:pic>
      <p:pic>
        <p:nvPicPr>
          <p:cNvPr id="3" name="图片 2"/>
          <p:cNvPicPr>
            <a:picLocks noChangeAspect="1"/>
          </p:cNvPicPr>
          <p:nvPr>
            <p:custDataLst>
              <p:tags r:id="rId2"/>
            </p:custDataLst>
          </p:nvPr>
        </p:nvPicPr>
        <p:blipFill>
          <a:blip r:embed="rId3"/>
          <a:stretch>
            <a:fillRect/>
          </a:stretch>
        </p:blipFill>
        <p:spPr>
          <a:xfrm>
            <a:off x="6305550" y="4214495"/>
            <a:ext cx="731520" cy="73152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991870" y="4204335"/>
            <a:ext cx="731520" cy="731520"/>
          </a:xfrm>
          <a:prstGeom prst="rect">
            <a:avLst/>
          </a:prstGeom>
        </p:spPr>
      </p:pic>
      <p:grpSp>
        <p:nvGrpSpPr>
          <p:cNvPr id="20" name="组合 19"/>
          <p:cNvGrpSpPr/>
          <p:nvPr>
            <p:custDataLst>
              <p:tags r:id="rId6"/>
            </p:custDataLst>
          </p:nvPr>
        </p:nvGrpSpPr>
        <p:grpSpPr>
          <a:xfrm>
            <a:off x="6305550" y="1120775"/>
            <a:ext cx="4292600" cy="2932430"/>
            <a:chOff x="9930" y="1765"/>
            <a:chExt cx="6760" cy="4618"/>
          </a:xfrm>
        </p:grpSpPr>
        <p:sp>
          <p:nvSpPr>
            <p:cNvPr id="14" name="矩形: 圆角 40"/>
            <p:cNvSpPr/>
            <p:nvPr>
              <p:custDataLst>
                <p:tags r:id="rId7"/>
              </p:custDataLst>
            </p:nvPr>
          </p:nvSpPr>
          <p:spPr>
            <a:xfrm>
              <a:off x="9930" y="1765"/>
              <a:ext cx="6761" cy="4618"/>
            </a:xfrm>
            <a:prstGeom prst="roundRect">
              <a:avLst>
                <a:gd name="adj" fmla="val 10388"/>
              </a:avLst>
            </a:prstGeom>
            <a:solidFill>
              <a:schemeClr val="accent5">
                <a:lumMod val="40000"/>
                <a:lumOff val="60000"/>
                <a:alpha val="48000"/>
              </a:schemeClr>
            </a:solidFill>
            <a:ln w="38100">
              <a:solidFill>
                <a:schemeClr val="accent5"/>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8"/>
              </p:custDataLst>
            </p:nvPr>
          </p:nvSpPr>
          <p:spPr>
            <a:xfrm>
              <a:off x="10830" y="2114"/>
              <a:ext cx="5178" cy="677"/>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智能挖掘子系统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8" name="图片 7"/>
            <p:cNvPicPr>
              <a:picLocks noChangeAspect="1"/>
            </p:cNvPicPr>
            <p:nvPr>
              <p:custDataLst>
                <p:tags r:id="rId9"/>
              </p:custDataLst>
            </p:nvPr>
          </p:nvPicPr>
          <p:blipFill>
            <a:blip r:embed="rId10"/>
            <a:stretch>
              <a:fillRect/>
            </a:stretch>
          </p:blipFill>
          <p:spPr>
            <a:xfrm>
              <a:off x="10443" y="3150"/>
              <a:ext cx="5736" cy="2898"/>
            </a:xfrm>
            <a:prstGeom prst="rect">
              <a:avLst/>
            </a:prstGeom>
          </p:spPr>
        </p:pic>
        <p:pic>
          <p:nvPicPr>
            <p:cNvPr id="7" name="图片 6"/>
            <p:cNvPicPr>
              <a:picLocks noChangeAspect="1"/>
            </p:cNvPicPr>
            <p:nvPr>
              <p:custDataLst>
                <p:tags r:id="rId11"/>
              </p:custDataLst>
            </p:nvPr>
          </p:nvPicPr>
          <p:blipFill>
            <a:blip r:embed="rId12"/>
            <a:stretch>
              <a:fillRect/>
            </a:stretch>
          </p:blipFill>
          <p:spPr>
            <a:xfrm>
              <a:off x="10443" y="1998"/>
              <a:ext cx="1152" cy="1152"/>
            </a:xfrm>
            <a:prstGeom prst="rect">
              <a:avLst/>
            </a:prstGeom>
          </p:spPr>
        </p:pic>
      </p:grpSp>
      <p:grpSp>
        <p:nvGrpSpPr>
          <p:cNvPr id="19" name="组合 18"/>
          <p:cNvGrpSpPr/>
          <p:nvPr>
            <p:custDataLst>
              <p:tags r:id="rId13"/>
            </p:custDataLst>
          </p:nvPr>
        </p:nvGrpSpPr>
        <p:grpSpPr>
          <a:xfrm>
            <a:off x="991870" y="1120775"/>
            <a:ext cx="4292600" cy="2932430"/>
            <a:chOff x="1562" y="1765"/>
            <a:chExt cx="6760" cy="4618"/>
          </a:xfrm>
        </p:grpSpPr>
        <p:sp>
          <p:nvSpPr>
            <p:cNvPr id="41" name="矩形: 圆角 40"/>
            <p:cNvSpPr/>
            <p:nvPr>
              <p:custDataLst>
                <p:tags r:id="rId14"/>
              </p:custDataLst>
            </p:nvPr>
          </p:nvSpPr>
          <p:spPr>
            <a:xfrm>
              <a:off x="1562" y="1765"/>
              <a:ext cx="6761" cy="4618"/>
            </a:xfrm>
            <a:prstGeom prst="roundRect">
              <a:avLst>
                <a:gd name="adj" fmla="val 10388"/>
              </a:avLst>
            </a:prstGeom>
            <a:solidFill>
              <a:schemeClr val="accent6">
                <a:lumMod val="20000"/>
                <a:lumOff val="80000"/>
                <a:alpha val="48000"/>
              </a:schemeClr>
            </a:solidFill>
            <a:ln w="38100">
              <a:solidFill>
                <a:schemeClr val="accent2"/>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custDataLst>
                <p:tags r:id="rId15"/>
              </p:custDataLst>
            </p:nvPr>
          </p:nvPicPr>
          <p:blipFill>
            <a:blip r:embed="rId16"/>
            <a:stretch>
              <a:fillRect/>
            </a:stretch>
          </p:blipFill>
          <p:spPr>
            <a:xfrm>
              <a:off x="2113" y="3150"/>
              <a:ext cx="5736" cy="2898"/>
            </a:xfrm>
            <a:prstGeom prst="rect">
              <a:avLst/>
            </a:prstGeom>
          </p:spPr>
        </p:pic>
        <p:sp>
          <p:nvSpPr>
            <p:cNvPr id="12" name="文本框 11"/>
            <p:cNvSpPr txBox="1"/>
            <p:nvPr>
              <p:custDataLst>
                <p:tags r:id="rId17"/>
              </p:custDataLst>
            </p:nvPr>
          </p:nvSpPr>
          <p:spPr>
            <a:xfrm>
              <a:off x="2512" y="2114"/>
              <a:ext cx="5178" cy="677"/>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文本标注子系统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17" name="图片 16"/>
            <p:cNvPicPr>
              <a:picLocks noChangeAspect="1"/>
            </p:cNvPicPr>
            <p:nvPr>
              <p:custDataLst>
                <p:tags r:id="rId18"/>
              </p:custDataLst>
            </p:nvPr>
          </p:nvPicPr>
          <p:blipFill>
            <a:blip r:embed="rId19"/>
            <a:stretch>
              <a:fillRect/>
            </a:stretch>
          </p:blipFill>
          <p:spPr>
            <a:xfrm>
              <a:off x="2113" y="1877"/>
              <a:ext cx="1152" cy="1152"/>
            </a:xfrm>
            <a:prstGeom prst="rect">
              <a:avLst/>
            </a:prstGeom>
          </p:spPr>
        </p:pic>
      </p:grpSp>
      <p:sp>
        <p:nvSpPr>
          <p:cNvPr id="23" name="圆角矩形 33"/>
          <p:cNvSpPr/>
          <p:nvPr/>
        </p:nvSpPr>
        <p:spPr>
          <a:xfrm>
            <a:off x="180975" y="782955"/>
            <a:ext cx="11874500" cy="5758180"/>
          </a:xfrm>
          <a:prstGeom prst="roundRect">
            <a:avLst>
              <a:gd name="adj" fmla="val 6356"/>
            </a:avLst>
          </a:prstGeom>
          <a:noFill/>
          <a:ln w="28575" cmpd="sng">
            <a:solidFill>
              <a:srgbClr val="FFA1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 name="文本框 4"/>
          <p:cNvSpPr txBox="1"/>
          <p:nvPr/>
        </p:nvSpPr>
        <p:spPr>
          <a:xfrm>
            <a:off x="1041400" y="5591175"/>
            <a:ext cx="9557385" cy="645160"/>
          </a:xfrm>
          <a:prstGeom prst="rect">
            <a:avLst/>
          </a:prstGeom>
          <a:noFill/>
        </p:spPr>
        <p:txBody>
          <a:bodyPr wrap="square" rtlCol="0">
            <a:spAutoFit/>
          </a:bodyPr>
          <a:lstStyle/>
          <a:p>
            <a:pPr algn="ctr"/>
            <a:r>
              <a:rPr lang="zh-CN" altLang="en-US" sz="3600" b="1" dirty="0">
                <a:solidFill>
                  <a:schemeClr val="bg1"/>
                </a:solidFill>
                <a:latin typeface="腾讯体 W7" panose="020C08030202040F0204" pitchFamily="34" charset="-122"/>
                <a:ea typeface="腾讯体 W7" panose="020C08030202040F0204" pitchFamily="34" charset="-122"/>
              </a:rPr>
              <a:t>文本标注+智能挖掘一体化</a:t>
            </a:r>
            <a:r>
              <a:rPr lang="zh-CN" altLang="en-US" sz="3600" b="1" dirty="0">
                <a:solidFill>
                  <a:srgbClr val="FFC000"/>
                </a:solidFill>
                <a:latin typeface="腾讯体 W7" panose="020C08030202040F0204" pitchFamily="34" charset="-122"/>
                <a:ea typeface="腾讯体 W7" panose="020C08030202040F0204" pitchFamily="34" charset="-122"/>
              </a:rPr>
              <a:t>平台级</a:t>
            </a:r>
            <a:r>
              <a:rPr lang="zh-CN" altLang="en-US" sz="3600" b="1" dirty="0">
                <a:solidFill>
                  <a:schemeClr val="bg1"/>
                </a:solidFill>
                <a:latin typeface="腾讯体 W7" panose="020C08030202040F0204" pitchFamily="34" charset="-122"/>
                <a:ea typeface="腾讯体 W7" panose="020C08030202040F0204" pitchFamily="34" charset="-122"/>
              </a:rPr>
              <a:t>解决方案</a:t>
            </a:r>
            <a:endParaRPr lang="zh-CN" altLang="en-US" sz="3600" b="1" dirty="0">
              <a:solidFill>
                <a:schemeClr val="bg1"/>
              </a:solidFill>
              <a:latin typeface="腾讯体 W7" panose="020C08030202040F0204" pitchFamily="34" charset="-122"/>
              <a:ea typeface="腾讯体 W7" panose="020C08030202040F0204" pitchFamily="34" charset="-122"/>
            </a:endParaRPr>
          </a:p>
        </p:txBody>
      </p:sp>
      <p:pic>
        <p:nvPicPr>
          <p:cNvPr id="21" name="图片 20"/>
          <p:cNvPicPr>
            <a:picLocks noChangeAspect="1"/>
          </p:cNvPicPr>
          <p:nvPr>
            <p:custDataLst>
              <p:tags r:id="rId20"/>
            </p:custDataLst>
          </p:nvPr>
        </p:nvPicPr>
        <p:blipFill>
          <a:blip r:embed="rId21"/>
          <a:stretch>
            <a:fillRect/>
          </a:stretch>
        </p:blipFill>
        <p:spPr>
          <a:xfrm>
            <a:off x="5544185" y="1284605"/>
            <a:ext cx="487680" cy="487680"/>
          </a:xfrm>
          <a:prstGeom prst="rect">
            <a:avLst/>
          </a:prstGeom>
        </p:spPr>
      </p:pic>
      <p:sp>
        <p:nvSpPr>
          <p:cNvPr id="22" name="文本框 21"/>
          <p:cNvSpPr txBox="1"/>
          <p:nvPr>
            <p:custDataLst>
              <p:tags r:id="rId22"/>
            </p:custDataLst>
          </p:nvPr>
        </p:nvSpPr>
        <p:spPr>
          <a:xfrm>
            <a:off x="1920240" y="4239260"/>
            <a:ext cx="2712085" cy="1014730"/>
          </a:xfrm>
          <a:prstGeom prst="rect">
            <a:avLst/>
          </a:prstGeom>
          <a:noFill/>
        </p:spPr>
        <p:txBody>
          <a:bodyPr wrap="square" rtlCol="0">
            <a:spAutoFit/>
          </a:bodyPr>
          <a:lstStyle/>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专精于文本标注服务</a:t>
            </a:r>
            <a:endParaRPr lang="zh-CN" altLang="en-US" sz="1600">
              <a:solidFill>
                <a:schemeClr val="bg2">
                  <a:lumMod val="95000"/>
                </a:schemeClr>
              </a:solidFill>
              <a:latin typeface="腾讯体 W7" panose="020C08030202040F0204" pitchFamily="34" charset="-122"/>
              <a:ea typeface="腾讯体 W7" panose="020C08030202040F0204" pitchFamily="34" charset="-122"/>
            </a:endParaRPr>
          </a:p>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为文本提供精准标注</a:t>
            </a:r>
            <a:endParaRPr lang="zh-CN" altLang="en-US" sz="1600">
              <a:solidFill>
                <a:schemeClr val="bg2">
                  <a:lumMod val="95000"/>
                </a:schemeClr>
              </a:solidFill>
              <a:latin typeface="腾讯体 W7" panose="020C08030202040F0204" pitchFamily="34" charset="-122"/>
              <a:ea typeface="腾讯体 W7" panose="020C08030202040F0204" pitchFamily="34" charset="-122"/>
            </a:endParaRPr>
          </a:p>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整合</a:t>
            </a:r>
            <a:r>
              <a:rPr lang="zh-CN" altLang="en-US" sz="1600">
                <a:solidFill>
                  <a:schemeClr val="bg2">
                    <a:lumMod val="95000"/>
                  </a:schemeClr>
                </a:solidFill>
                <a:latin typeface="腾讯体 W7" panose="020C08030202040F0204" pitchFamily="34" charset="-122"/>
                <a:ea typeface="腾讯体 W7" panose="020C08030202040F0204" pitchFamily="34" charset="-122"/>
                <a:sym typeface="+mn-ea"/>
              </a:rPr>
              <a:t>领域数据精准语料</a:t>
            </a:r>
            <a:endParaRPr lang="zh-CN" altLang="en-US" sz="1600">
              <a:solidFill>
                <a:schemeClr val="bg2">
                  <a:lumMod val="95000"/>
                </a:schemeClr>
              </a:solidFill>
              <a:latin typeface="腾讯体 W7" panose="020C08030202040F0204" pitchFamily="34" charset="-122"/>
              <a:ea typeface="腾讯体 W7" panose="020C08030202040F0204" pitchFamily="34" charset="-122"/>
              <a:sym typeface="+mn-ea"/>
            </a:endParaRPr>
          </a:p>
        </p:txBody>
      </p:sp>
      <p:sp>
        <p:nvSpPr>
          <p:cNvPr id="6" name="文本框 5"/>
          <p:cNvSpPr txBox="1"/>
          <p:nvPr>
            <p:custDataLst>
              <p:tags r:id="rId23"/>
            </p:custDataLst>
          </p:nvPr>
        </p:nvSpPr>
        <p:spPr>
          <a:xfrm>
            <a:off x="7362825" y="4239260"/>
            <a:ext cx="2910840" cy="1014730"/>
          </a:xfrm>
          <a:prstGeom prst="rect">
            <a:avLst/>
          </a:prstGeom>
          <a:noFill/>
        </p:spPr>
        <p:txBody>
          <a:bodyPr wrap="square" rtlCol="0">
            <a:spAutoFit/>
          </a:bodyPr>
          <a:lstStyle/>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面向多领域科研用户群体</a:t>
            </a:r>
            <a:endParaRPr lang="zh-CN" altLang="en-US" sz="1600">
              <a:solidFill>
                <a:schemeClr val="bg2">
                  <a:lumMod val="95000"/>
                </a:schemeClr>
              </a:solidFill>
              <a:latin typeface="腾讯体 W7" panose="020C08030202040F0204" pitchFamily="34" charset="-122"/>
              <a:ea typeface="腾讯体 W7" panose="020C08030202040F0204" pitchFamily="34" charset="-122"/>
            </a:endParaRPr>
          </a:p>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定制化挖掘模型即插即用</a:t>
            </a:r>
            <a:endParaRPr lang="zh-CN" altLang="en-US" sz="1600">
              <a:solidFill>
                <a:schemeClr val="bg2">
                  <a:lumMod val="95000"/>
                </a:schemeClr>
              </a:solidFill>
              <a:latin typeface="腾讯体 W7" panose="020C08030202040F0204" pitchFamily="34" charset="-122"/>
              <a:ea typeface="腾讯体 W7" panose="020C08030202040F0204" pitchFamily="34" charset="-122"/>
            </a:endParaRPr>
          </a:p>
          <a:p>
            <a:pPr marL="285750" indent="-285750" algn="l">
              <a:lnSpc>
                <a:spcPts val="2400"/>
              </a:lnSpc>
              <a:buClr>
                <a:srgbClr val="00B050"/>
              </a:buClr>
              <a:buSzTx/>
              <a:buFont typeface="Wingdings" panose="05000000000000000000" charset="0"/>
              <a:buChar char="ü"/>
            </a:pPr>
            <a:r>
              <a:rPr lang="zh-CN" altLang="en-US" sz="1600">
                <a:solidFill>
                  <a:schemeClr val="bg2">
                    <a:lumMod val="95000"/>
                  </a:schemeClr>
                </a:solidFill>
                <a:latin typeface="腾讯体 W7" panose="020C08030202040F0204" pitchFamily="34" charset="-122"/>
                <a:ea typeface="腾讯体 W7" panose="020C08030202040F0204" pitchFamily="34" charset="-122"/>
              </a:rPr>
              <a:t>高度自定义与多种选配服务</a:t>
            </a:r>
            <a:endParaRPr lang="zh-CN" altLang="en-US" sz="1600">
              <a:solidFill>
                <a:schemeClr val="bg2">
                  <a:lumMod val="95000"/>
                </a:schemeClr>
              </a:solidFill>
              <a:latin typeface="腾讯体 W7" panose="020C08030202040F0204" pitchFamily="34" charset="-122"/>
              <a:ea typeface="腾讯体 W7" panose="020C08030202040F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商业模式</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14" name="矩形: 圆角 40"/>
          <p:cNvSpPr/>
          <p:nvPr/>
        </p:nvSpPr>
        <p:spPr>
          <a:xfrm>
            <a:off x="6305550" y="1120775"/>
            <a:ext cx="4293235" cy="879475"/>
          </a:xfrm>
          <a:prstGeom prst="roundRect">
            <a:avLst>
              <a:gd name="adj" fmla="val 10388"/>
            </a:avLst>
          </a:prstGeom>
          <a:solidFill>
            <a:schemeClr val="accent5">
              <a:lumMod val="40000"/>
              <a:lumOff val="60000"/>
              <a:alpha val="48000"/>
            </a:schemeClr>
          </a:solidFill>
          <a:ln w="38100">
            <a:solidFill>
              <a:schemeClr val="accent5"/>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877050" y="1342390"/>
            <a:ext cx="3288030" cy="429895"/>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智能挖掘子系统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7" name="图片 6"/>
          <p:cNvPicPr>
            <a:picLocks noChangeAspect="1"/>
          </p:cNvPicPr>
          <p:nvPr/>
        </p:nvPicPr>
        <p:blipFill>
          <a:blip r:embed="rId1"/>
          <a:stretch>
            <a:fillRect/>
          </a:stretch>
        </p:blipFill>
        <p:spPr>
          <a:xfrm>
            <a:off x="6631305" y="1268730"/>
            <a:ext cx="731520" cy="731520"/>
          </a:xfrm>
          <a:prstGeom prst="rect">
            <a:avLst/>
          </a:prstGeom>
        </p:spPr>
      </p:pic>
      <p:sp>
        <p:nvSpPr>
          <p:cNvPr id="41" name="矩形: 圆角 40"/>
          <p:cNvSpPr/>
          <p:nvPr/>
        </p:nvSpPr>
        <p:spPr>
          <a:xfrm>
            <a:off x="991870" y="1120775"/>
            <a:ext cx="4293235" cy="879475"/>
          </a:xfrm>
          <a:prstGeom prst="roundRect">
            <a:avLst>
              <a:gd name="adj" fmla="val 10388"/>
            </a:avLst>
          </a:prstGeom>
          <a:solidFill>
            <a:schemeClr val="accent6">
              <a:lumMod val="20000"/>
              <a:lumOff val="80000"/>
              <a:alpha val="48000"/>
            </a:schemeClr>
          </a:solidFill>
          <a:ln w="38100">
            <a:solidFill>
              <a:schemeClr val="accent2"/>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595120" y="1342390"/>
            <a:ext cx="3288030" cy="429895"/>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文本标注子系统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17" name="图片 16"/>
          <p:cNvPicPr>
            <a:picLocks noChangeAspect="1"/>
          </p:cNvPicPr>
          <p:nvPr/>
        </p:nvPicPr>
        <p:blipFill>
          <a:blip r:embed="rId2"/>
          <a:stretch>
            <a:fillRect/>
          </a:stretch>
        </p:blipFill>
        <p:spPr>
          <a:xfrm>
            <a:off x="1341755" y="1191895"/>
            <a:ext cx="731520" cy="731520"/>
          </a:xfrm>
          <a:prstGeom prst="rect">
            <a:avLst/>
          </a:prstGeom>
        </p:spPr>
      </p:pic>
      <p:sp>
        <p:nvSpPr>
          <p:cNvPr id="23" name="圆角矩形 33"/>
          <p:cNvSpPr/>
          <p:nvPr/>
        </p:nvSpPr>
        <p:spPr>
          <a:xfrm>
            <a:off x="180975" y="782955"/>
            <a:ext cx="11874500" cy="5758180"/>
          </a:xfrm>
          <a:prstGeom prst="roundRect">
            <a:avLst>
              <a:gd name="adj" fmla="val 6356"/>
            </a:avLst>
          </a:prstGeom>
          <a:noFill/>
          <a:ln w="28575" cmpd="sng">
            <a:solidFill>
              <a:srgbClr val="FFA1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 name="Shape 333"/>
          <p:cNvSpPr txBox="1"/>
          <p:nvPr>
            <p:custDataLst>
              <p:tags r:id="rId3"/>
            </p:custDataLst>
          </p:nvPr>
        </p:nvSpPr>
        <p:spPr>
          <a:xfrm>
            <a:off x="975161" y="2354611"/>
            <a:ext cx="2316294" cy="9028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lumMod val="40000"/>
              <a:lumOff val="60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2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8" name="Shape 335"/>
          <p:cNvSpPr/>
          <p:nvPr>
            <p:custDataLst>
              <p:tags r:id="rId4"/>
            </p:custDataLst>
          </p:nvPr>
        </p:nvSpPr>
        <p:spPr>
          <a:xfrm>
            <a:off x="1594699" y="2677588"/>
            <a:ext cx="1077218" cy="251460"/>
          </a:xfrm>
          <a:prstGeom prst="rect">
            <a:avLst/>
          </a:prstGeom>
          <a:noFill/>
          <a:ln w="12700" cap="flat">
            <a:noFill/>
            <a:miter lim="400000"/>
          </a:ln>
          <a:effectLst/>
        </p:spPr>
        <p:txBody>
          <a:bodyPr wrap="non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rPr>
              <a:t>订阅服务</a:t>
            </a:r>
            <a:endPar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endParaRPr>
          </a:p>
        </p:txBody>
      </p:sp>
      <p:sp>
        <p:nvSpPr>
          <p:cNvPr id="9" name="Shape 338"/>
          <p:cNvSpPr txBox="1"/>
          <p:nvPr>
            <p:custDataLst>
              <p:tags r:id="rId5"/>
            </p:custDataLst>
          </p:nvPr>
        </p:nvSpPr>
        <p:spPr>
          <a:xfrm>
            <a:off x="3481412" y="2355788"/>
            <a:ext cx="2316294" cy="902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lumMod val="40000"/>
              <a:lumOff val="60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2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10" name="Shape 340"/>
          <p:cNvSpPr/>
          <p:nvPr>
            <p:custDataLst>
              <p:tags r:id="rId6"/>
            </p:custDataLst>
          </p:nvPr>
        </p:nvSpPr>
        <p:spPr>
          <a:xfrm>
            <a:off x="4011434" y="2669428"/>
            <a:ext cx="1504050" cy="2520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rPr>
              <a:t>定制化方案</a:t>
            </a:r>
            <a:endPar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endParaRPr>
          </a:p>
        </p:txBody>
      </p:sp>
      <p:sp>
        <p:nvSpPr>
          <p:cNvPr id="11" name="Shape 343"/>
          <p:cNvSpPr txBox="1"/>
          <p:nvPr>
            <p:custDataLst>
              <p:tags r:id="rId7"/>
            </p:custDataLst>
          </p:nvPr>
        </p:nvSpPr>
        <p:spPr>
          <a:xfrm>
            <a:off x="5974140" y="2356423"/>
            <a:ext cx="2316294" cy="902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lumMod val="40000"/>
              <a:lumOff val="60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2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15" name="Shape 345"/>
          <p:cNvSpPr/>
          <p:nvPr>
            <p:custDataLst>
              <p:tags r:id="rId8"/>
            </p:custDataLst>
          </p:nvPr>
        </p:nvSpPr>
        <p:spPr>
          <a:xfrm>
            <a:off x="6348614" y="2673143"/>
            <a:ext cx="1567346" cy="25146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rPr>
              <a:t>增值服务</a:t>
            </a:r>
            <a:endPar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endParaRPr>
          </a:p>
        </p:txBody>
      </p:sp>
      <p:sp>
        <p:nvSpPr>
          <p:cNvPr id="16" name="Shape 348"/>
          <p:cNvSpPr txBox="1"/>
          <p:nvPr>
            <p:custDataLst>
              <p:tags r:id="rId9"/>
            </p:custDataLst>
          </p:nvPr>
        </p:nvSpPr>
        <p:spPr>
          <a:xfrm>
            <a:off x="8549428" y="2357058"/>
            <a:ext cx="2316291" cy="902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lumMod val="40000"/>
              <a:lumOff val="60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2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19" name="Shape 350"/>
          <p:cNvSpPr/>
          <p:nvPr>
            <p:custDataLst>
              <p:tags r:id="rId10"/>
            </p:custDataLst>
          </p:nvPr>
        </p:nvSpPr>
        <p:spPr>
          <a:xfrm>
            <a:off x="8936492" y="2680763"/>
            <a:ext cx="1542161" cy="25146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rPr>
              <a:t>社区共享</a:t>
            </a:r>
            <a:endParaRPr lang="zh-CN" altLang="en-US" kern="0" dirty="0">
              <a:solidFill>
                <a:schemeClr val="tx1"/>
              </a:solidFill>
              <a:latin typeface="腾讯字体包" panose="02010600010101010101" charset="-128"/>
              <a:ea typeface="腾讯字体包" panose="02010600010101010101" charset="-128"/>
              <a:cs typeface="Times New Roman" panose="02020603050405020304" pitchFamily="18" charset="0"/>
              <a:sym typeface="Arial" panose="020B0604020202020204" pitchFamily="34" charset="0"/>
            </a:endParaRPr>
          </a:p>
        </p:txBody>
      </p:sp>
      <p:sp>
        <p:nvSpPr>
          <p:cNvPr id="29" name="Shape 1796"/>
          <p:cNvSpPr txBox="1"/>
          <p:nvPr>
            <p:custDataLst>
              <p:tags r:id="rId11"/>
            </p:custDataLst>
          </p:nvPr>
        </p:nvSpPr>
        <p:spPr>
          <a:xfrm>
            <a:off x="3377565" y="3643630"/>
            <a:ext cx="2381885"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领域定制平台方案</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0" name="Shape 1796"/>
          <p:cNvSpPr txBox="1"/>
          <p:nvPr>
            <p:custDataLst>
              <p:tags r:id="rId12"/>
            </p:custDataLst>
          </p:nvPr>
        </p:nvSpPr>
        <p:spPr>
          <a:xfrm>
            <a:off x="1021080" y="3650615"/>
            <a:ext cx="199517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免费用户体验</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1" name="Shape 1796"/>
          <p:cNvSpPr txBox="1"/>
          <p:nvPr>
            <p:custDataLst>
              <p:tags r:id="rId13"/>
            </p:custDataLst>
          </p:nvPr>
        </p:nvSpPr>
        <p:spPr>
          <a:xfrm>
            <a:off x="6049010" y="3616325"/>
            <a:ext cx="216662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高质量标注数据</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2" name="Shape 1796"/>
          <p:cNvSpPr txBox="1"/>
          <p:nvPr>
            <p:custDataLst>
              <p:tags r:id="rId14"/>
            </p:custDataLst>
          </p:nvPr>
        </p:nvSpPr>
        <p:spPr>
          <a:xfrm>
            <a:off x="8595360" y="3616325"/>
            <a:ext cx="2206625"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社区众包标注</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3" name="Shape 1796"/>
          <p:cNvSpPr txBox="1"/>
          <p:nvPr>
            <p:custDataLst>
              <p:tags r:id="rId15"/>
            </p:custDataLst>
          </p:nvPr>
        </p:nvSpPr>
        <p:spPr>
          <a:xfrm>
            <a:off x="1021080" y="5348605"/>
            <a:ext cx="199517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专业用户定制</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4" name="Shape 1796"/>
          <p:cNvSpPr txBox="1"/>
          <p:nvPr>
            <p:custDataLst>
              <p:tags r:id="rId16"/>
            </p:custDataLst>
          </p:nvPr>
        </p:nvSpPr>
        <p:spPr>
          <a:xfrm>
            <a:off x="3377565" y="4496435"/>
            <a:ext cx="238125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领域定制文本标注</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5" name="Shape 1796"/>
          <p:cNvSpPr txBox="1"/>
          <p:nvPr>
            <p:custDataLst>
              <p:tags r:id="rId17"/>
            </p:custDataLst>
          </p:nvPr>
        </p:nvSpPr>
        <p:spPr>
          <a:xfrm>
            <a:off x="8595360" y="4475480"/>
            <a:ext cx="2206625"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预训练模型共享</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6" name="Shape 1796"/>
          <p:cNvSpPr txBox="1"/>
          <p:nvPr>
            <p:custDataLst>
              <p:tags r:id="rId18"/>
            </p:custDataLst>
          </p:nvPr>
        </p:nvSpPr>
        <p:spPr>
          <a:xfrm>
            <a:off x="8595360" y="5340985"/>
            <a:ext cx="2206625"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模型开发者奖励</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7" name="Shape 1796"/>
          <p:cNvSpPr txBox="1"/>
          <p:nvPr>
            <p:custDataLst>
              <p:tags r:id="rId19"/>
            </p:custDataLst>
          </p:nvPr>
        </p:nvSpPr>
        <p:spPr>
          <a:xfrm>
            <a:off x="3348990" y="5348605"/>
            <a:ext cx="242062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高精度海量文本挖掘</a:t>
            </a:r>
            <a:endParaRPr lang="zh-CN" altLang="en-US"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8" name="Shape 1796"/>
          <p:cNvSpPr txBox="1"/>
          <p:nvPr>
            <p:custDataLst>
              <p:tags r:id="rId20"/>
            </p:custDataLst>
          </p:nvPr>
        </p:nvSpPr>
        <p:spPr>
          <a:xfrm>
            <a:off x="1021080" y="4496435"/>
            <a:ext cx="199517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高级用户使用</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9" name="Shape 1796"/>
          <p:cNvSpPr txBox="1"/>
          <p:nvPr>
            <p:custDataLst>
              <p:tags r:id="rId21"/>
            </p:custDataLst>
          </p:nvPr>
        </p:nvSpPr>
        <p:spPr>
          <a:xfrm>
            <a:off x="6055995" y="4486275"/>
            <a:ext cx="216027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自定义标注工具</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40" name="Shape 1796"/>
          <p:cNvSpPr txBox="1"/>
          <p:nvPr>
            <p:custDataLst>
              <p:tags r:id="rId22"/>
            </p:custDataLst>
          </p:nvPr>
        </p:nvSpPr>
        <p:spPr>
          <a:xfrm>
            <a:off x="6055995" y="5346700"/>
            <a:ext cx="2160270" cy="531495"/>
          </a:xfrm>
          <a:prstGeom prst="roundRect">
            <a:avLst>
              <a:gd name="adj" fmla="val 50000"/>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定制化模型训练</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pic>
        <p:nvPicPr>
          <p:cNvPr id="42" name="图片 41"/>
          <p:cNvPicPr>
            <a:picLocks noChangeAspect="1"/>
          </p:cNvPicPr>
          <p:nvPr/>
        </p:nvPicPr>
        <p:blipFill>
          <a:blip r:embed="rId23"/>
          <a:stretch>
            <a:fillRect/>
          </a:stretch>
        </p:blipFill>
        <p:spPr>
          <a:xfrm>
            <a:off x="5544185" y="1284605"/>
            <a:ext cx="487680" cy="487680"/>
          </a:xfrm>
          <a:prstGeom prst="rect">
            <a:avLst/>
          </a:prstGeom>
        </p:spPr>
      </p:pic>
      <p:sp>
        <p:nvSpPr>
          <p:cNvPr id="43" name="文本框 42"/>
          <p:cNvSpPr txBox="1"/>
          <p:nvPr/>
        </p:nvSpPr>
        <p:spPr>
          <a:xfrm>
            <a:off x="2642235" y="6046470"/>
            <a:ext cx="6294120" cy="368300"/>
          </a:xfrm>
          <a:prstGeom prst="rect">
            <a:avLst/>
          </a:prstGeom>
          <a:noFill/>
        </p:spPr>
        <p:txBody>
          <a:bodyPr wrap="square" rtlCol="0">
            <a:spAutoFit/>
          </a:bodyPr>
          <a:lstStyle/>
          <a:p>
            <a:pPr algn="ctr"/>
            <a:r>
              <a:rPr lang="zh-CN" altLang="en-US" b="1"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rPr>
              <a:t>高度自定义，定制化解决方案，按需选配服务</a:t>
            </a:r>
            <a:endParaRPr lang="zh-CN" altLang="en-US" b="1" dirty="0">
              <a:solidFill>
                <a:schemeClr val="bg2">
                  <a:lumMod val="95000"/>
                </a:schemeClr>
              </a:solidFill>
              <a:latin typeface="腾讯体 W7" panose="020C08030202040F0204" pitchFamily="34" charset="-122"/>
              <a:ea typeface="腾讯体 W7" panose="020C08030202040F0204" pitchFamily="34" charset="-122"/>
              <a:cs typeface="腾讯体 W7" panose="020C08030202040F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商业模式</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14" name="矩形: 圆角 40"/>
          <p:cNvSpPr/>
          <p:nvPr/>
        </p:nvSpPr>
        <p:spPr>
          <a:xfrm>
            <a:off x="6305550" y="1120775"/>
            <a:ext cx="4293235" cy="879475"/>
          </a:xfrm>
          <a:prstGeom prst="roundRect">
            <a:avLst>
              <a:gd name="adj" fmla="val 10388"/>
            </a:avLst>
          </a:prstGeom>
          <a:solidFill>
            <a:schemeClr val="accent5">
              <a:lumMod val="40000"/>
              <a:lumOff val="60000"/>
              <a:alpha val="48000"/>
            </a:schemeClr>
          </a:solidFill>
          <a:ln w="38100">
            <a:solidFill>
              <a:schemeClr val="accent5"/>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877050" y="1342390"/>
            <a:ext cx="3288030" cy="429895"/>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智能挖掘子系统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7" name="图片 6"/>
          <p:cNvPicPr>
            <a:picLocks noChangeAspect="1"/>
          </p:cNvPicPr>
          <p:nvPr/>
        </p:nvPicPr>
        <p:blipFill>
          <a:blip r:embed="rId1"/>
          <a:stretch>
            <a:fillRect/>
          </a:stretch>
        </p:blipFill>
        <p:spPr>
          <a:xfrm>
            <a:off x="6631305" y="1268730"/>
            <a:ext cx="731520" cy="731520"/>
          </a:xfrm>
          <a:prstGeom prst="rect">
            <a:avLst/>
          </a:prstGeom>
        </p:spPr>
      </p:pic>
      <p:sp>
        <p:nvSpPr>
          <p:cNvPr id="41" name="矩形: 圆角 40"/>
          <p:cNvSpPr/>
          <p:nvPr/>
        </p:nvSpPr>
        <p:spPr>
          <a:xfrm>
            <a:off x="991870" y="1120775"/>
            <a:ext cx="4293235" cy="879475"/>
          </a:xfrm>
          <a:prstGeom prst="roundRect">
            <a:avLst>
              <a:gd name="adj" fmla="val 10388"/>
            </a:avLst>
          </a:prstGeom>
          <a:solidFill>
            <a:schemeClr val="accent6">
              <a:lumMod val="20000"/>
              <a:lumOff val="80000"/>
              <a:alpha val="48000"/>
            </a:schemeClr>
          </a:solidFill>
          <a:ln w="38100">
            <a:solidFill>
              <a:schemeClr val="accent2"/>
            </a:solidFill>
          </a:ln>
          <a:effectLst>
            <a:glow rad="127000">
              <a:schemeClr val="accent1">
                <a:alpha val="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595120" y="1342390"/>
            <a:ext cx="3288030" cy="429895"/>
          </a:xfrm>
          <a:prstGeom prst="rect">
            <a:avLst/>
          </a:prstGeom>
          <a:noFill/>
        </p:spPr>
        <p:txBody>
          <a:bodyPr wrap="square" rtlCol="0">
            <a:spAutoFit/>
          </a:bodyPr>
          <a:lstStyle/>
          <a:p>
            <a:pPr algn="ctr"/>
            <a:r>
              <a:rPr lang="zh-CN" altLang="en-US" sz="2200" b="1" dirty="0">
                <a:solidFill>
                  <a:schemeClr val="bg1"/>
                </a:solidFill>
                <a:latin typeface="腾讯体 W7" panose="020C08030202040F0204" pitchFamily="34" charset="-122"/>
                <a:ea typeface="腾讯体 W7" panose="020C08030202040F0204" pitchFamily="34" charset="-122"/>
              </a:rPr>
              <a:t>文本标注子系统</a:t>
            </a:r>
            <a:endParaRPr lang="zh-CN" altLang="en-US" sz="2200" b="1" dirty="0">
              <a:solidFill>
                <a:schemeClr val="bg1"/>
              </a:solidFill>
              <a:latin typeface="腾讯体 W7" panose="020C08030202040F0204" pitchFamily="34" charset="-122"/>
              <a:ea typeface="腾讯体 W7" panose="020C08030202040F0204" pitchFamily="34" charset="-122"/>
            </a:endParaRPr>
          </a:p>
        </p:txBody>
      </p:sp>
      <p:pic>
        <p:nvPicPr>
          <p:cNvPr id="17" name="图片 16"/>
          <p:cNvPicPr>
            <a:picLocks noChangeAspect="1"/>
          </p:cNvPicPr>
          <p:nvPr/>
        </p:nvPicPr>
        <p:blipFill>
          <a:blip r:embed="rId2"/>
          <a:stretch>
            <a:fillRect/>
          </a:stretch>
        </p:blipFill>
        <p:spPr>
          <a:xfrm>
            <a:off x="1341755" y="1191895"/>
            <a:ext cx="731520" cy="731520"/>
          </a:xfrm>
          <a:prstGeom prst="rect">
            <a:avLst/>
          </a:prstGeom>
        </p:spPr>
      </p:pic>
      <p:sp>
        <p:nvSpPr>
          <p:cNvPr id="23" name="圆角矩形 33"/>
          <p:cNvSpPr/>
          <p:nvPr/>
        </p:nvSpPr>
        <p:spPr>
          <a:xfrm>
            <a:off x="180975" y="782955"/>
            <a:ext cx="11874500" cy="5758180"/>
          </a:xfrm>
          <a:prstGeom prst="roundRect">
            <a:avLst>
              <a:gd name="adj" fmla="val 6356"/>
            </a:avLst>
          </a:prstGeom>
          <a:noFill/>
          <a:ln w="28575" cmpd="sng">
            <a:solidFill>
              <a:srgbClr val="FFA1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30" name="Shape 1796"/>
          <p:cNvSpPr txBox="1"/>
          <p:nvPr/>
        </p:nvSpPr>
        <p:spPr>
          <a:xfrm>
            <a:off x="832485" y="2707640"/>
            <a:ext cx="2943860" cy="3638550"/>
          </a:xfrm>
          <a:prstGeom prst="roundRect">
            <a:avLst>
              <a:gd name="adj" fmla="val 5288"/>
            </a:avLst>
          </a:prstGeom>
          <a:solidFill>
            <a:schemeClr val="bg1">
              <a:lumMod val="95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33" name="Shape 1796"/>
          <p:cNvSpPr txBox="1"/>
          <p:nvPr/>
        </p:nvSpPr>
        <p:spPr>
          <a:xfrm>
            <a:off x="1409065" y="3443605"/>
            <a:ext cx="1651000" cy="471805"/>
          </a:xfrm>
          <a:prstGeom prst="roundRect">
            <a:avLst>
              <a:gd name="adj" fmla="val 46236"/>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Update for Free</a:t>
            </a:r>
            <a:endPar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6" name="文本框 5"/>
          <p:cNvSpPr txBox="1"/>
          <p:nvPr/>
        </p:nvSpPr>
        <p:spPr>
          <a:xfrm>
            <a:off x="1022985" y="3971925"/>
            <a:ext cx="2403475" cy="2245360"/>
          </a:xfrm>
          <a:prstGeom prst="rect">
            <a:avLst/>
          </a:prstGeom>
          <a:noFill/>
        </p:spPr>
        <p:txBody>
          <a:bodyPr wrap="square" rtlCol="0">
            <a:spAutoFit/>
          </a:bodyPr>
          <a:lstStyle/>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每日</a:t>
            </a:r>
            <a:r>
              <a:rPr lang="en-US" altLang="zh-CN" sz="1600">
                <a:solidFill>
                  <a:schemeClr val="tx1"/>
                </a:solidFill>
                <a:latin typeface="腾讯体 W7" panose="020C08030202040F0204" pitchFamily="34" charset="-122"/>
                <a:ea typeface="腾讯体 W7" panose="020C08030202040F0204" pitchFamily="34" charset="-122"/>
              </a:rPr>
              <a:t>5</a:t>
            </a:r>
            <a:r>
              <a:rPr lang="zh-CN" altLang="en-US" sz="1600">
                <a:solidFill>
                  <a:schemeClr val="tx1"/>
                </a:solidFill>
                <a:latin typeface="腾讯体 W7" panose="020C08030202040F0204" pitchFamily="34" charset="-122"/>
                <a:ea typeface="腾讯体 W7" panose="020C08030202040F0204" pitchFamily="34" charset="-122"/>
              </a:rPr>
              <a:t>个文本挖掘</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免费挖掘系统</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共享社区</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7F7F7F"/>
              </a:buClr>
              <a:buFont typeface="Wingdings" panose="05000000000000000000" charset="0"/>
              <a:buChar char="¢"/>
            </a:pPr>
            <a:r>
              <a:rPr lang="zh-CN" altLang="en-US" sz="1600">
                <a:solidFill>
                  <a:schemeClr val="tx1"/>
                </a:solidFill>
                <a:latin typeface="腾讯体 W7" panose="020C08030202040F0204" pitchFamily="34" charset="-122"/>
                <a:ea typeface="腾讯体 W7" panose="020C08030202040F0204" pitchFamily="34" charset="-122"/>
              </a:rPr>
              <a:t>无领域特定</a:t>
            </a:r>
            <a:r>
              <a:rPr lang="en-US" altLang="zh-CN" sz="1600">
                <a:solidFill>
                  <a:schemeClr val="tx1"/>
                </a:solidFill>
                <a:latin typeface="腾讯体 W7" panose="020C08030202040F0204" pitchFamily="34" charset="-122"/>
                <a:ea typeface="腾讯体 W7" panose="020C08030202040F0204" pitchFamily="34" charset="-122"/>
              </a:rPr>
              <a:t>API</a:t>
            </a:r>
            <a:r>
              <a:rPr lang="zh-CN" altLang="en-US" sz="1600">
                <a:solidFill>
                  <a:schemeClr val="tx1"/>
                </a:solidFill>
                <a:latin typeface="腾讯体 W7" panose="020C08030202040F0204" pitchFamily="34" charset="-122"/>
                <a:ea typeface="腾讯体 W7" panose="020C08030202040F0204" pitchFamily="34" charset="-122"/>
              </a:rPr>
              <a:t>服务</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7F7F7F"/>
              </a:buClr>
              <a:buFont typeface="Wingdings" panose="05000000000000000000" charset="0"/>
              <a:buChar char="¢"/>
            </a:pPr>
            <a:r>
              <a:rPr lang="en-US" altLang="zh-CN" sz="1600">
                <a:solidFill>
                  <a:schemeClr val="tx1"/>
                </a:solidFill>
                <a:latin typeface="腾讯体 W7" panose="020C08030202040F0204" pitchFamily="34" charset="-122"/>
                <a:ea typeface="腾讯体 W7" panose="020C08030202040F0204" pitchFamily="34" charset="-122"/>
              </a:rPr>
              <a:t>PDF</a:t>
            </a:r>
            <a:r>
              <a:rPr lang="zh-CN" altLang="en-US" sz="1600">
                <a:solidFill>
                  <a:schemeClr val="tx1"/>
                </a:solidFill>
                <a:latin typeface="腾讯体 W7" panose="020C08030202040F0204" pitchFamily="34" charset="-122"/>
                <a:ea typeface="腾讯体 W7" panose="020C08030202040F0204" pitchFamily="34" charset="-122"/>
              </a:rPr>
              <a:t>文本大小限制</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7F7F7F"/>
              </a:buClr>
              <a:buFont typeface="Wingdings" panose="05000000000000000000" charset="0"/>
              <a:buChar char="¢"/>
            </a:pPr>
            <a:r>
              <a:rPr lang="zh-CN" altLang="en-US" sz="1600">
                <a:solidFill>
                  <a:schemeClr val="tx1"/>
                </a:solidFill>
                <a:latin typeface="腾讯体 W7" panose="020C08030202040F0204" pitchFamily="34" charset="-122"/>
                <a:ea typeface="腾讯体 W7" panose="020C08030202040F0204" pitchFamily="34" charset="-122"/>
              </a:rPr>
              <a:t>无标注</a:t>
            </a:r>
            <a:r>
              <a:rPr lang="en-US" altLang="zh-CN" sz="1600">
                <a:solidFill>
                  <a:schemeClr val="tx1"/>
                </a:solidFill>
                <a:latin typeface="腾讯体 W7" panose="020C08030202040F0204" pitchFamily="34" charset="-122"/>
                <a:ea typeface="腾讯体 W7" panose="020C08030202040F0204" pitchFamily="34" charset="-122"/>
              </a:rPr>
              <a:t>prompt</a:t>
            </a:r>
            <a:r>
              <a:rPr lang="zh-CN" altLang="en-US" sz="1600">
                <a:solidFill>
                  <a:schemeClr val="tx1"/>
                </a:solidFill>
                <a:latin typeface="腾讯体 W7" panose="020C08030202040F0204" pitchFamily="34" charset="-122"/>
                <a:ea typeface="腾讯体 W7" panose="020C08030202040F0204" pitchFamily="34" charset="-122"/>
              </a:rPr>
              <a:t>提供</a:t>
            </a:r>
            <a:endParaRPr lang="zh-CN" altLang="en-US" sz="1600">
              <a:solidFill>
                <a:schemeClr val="tx1"/>
              </a:solidFill>
              <a:latin typeface="腾讯体 W7" panose="020C08030202040F0204" pitchFamily="34" charset="-122"/>
              <a:ea typeface="腾讯体 W7" panose="020C08030202040F0204" pitchFamily="34" charset="-122"/>
            </a:endParaRPr>
          </a:p>
          <a:p>
            <a:pPr indent="0" fontAlgn="auto">
              <a:lnSpc>
                <a:spcPts val="2400"/>
              </a:lnSpc>
              <a:buClr>
                <a:srgbClr val="7F7F7F"/>
              </a:buClr>
              <a:buFont typeface="Wingdings" panose="05000000000000000000" charset="0"/>
              <a:buNone/>
            </a:pPr>
            <a:endParaRPr lang="zh-CN" altLang="en-US" sz="1600">
              <a:solidFill>
                <a:schemeClr val="tx1"/>
              </a:solidFill>
              <a:latin typeface="腾讯体 W7" panose="020C08030202040F0204" pitchFamily="34" charset="-122"/>
              <a:ea typeface="腾讯体 W7" panose="020C08030202040F0204" pitchFamily="34" charset="-122"/>
            </a:endParaRPr>
          </a:p>
        </p:txBody>
      </p:sp>
      <p:sp>
        <p:nvSpPr>
          <p:cNvPr id="20" name="文本框 19"/>
          <p:cNvSpPr txBox="1"/>
          <p:nvPr/>
        </p:nvSpPr>
        <p:spPr>
          <a:xfrm>
            <a:off x="1336040" y="2971165"/>
            <a:ext cx="1878965" cy="368300"/>
          </a:xfrm>
          <a:prstGeom prst="rect">
            <a:avLst/>
          </a:prstGeom>
          <a:noFill/>
        </p:spPr>
        <p:txBody>
          <a:bodyPr wrap="square" rtlCol="0">
            <a:spAutoFit/>
          </a:bodyPr>
          <a:lstStyle/>
          <a:p>
            <a:pPr algn="ctr"/>
            <a:r>
              <a:rPr lang="zh-CN" altLang="en-US">
                <a:latin typeface="腾讯体 W7" panose="020C08030202040F0204" pitchFamily="34" charset="-122"/>
                <a:ea typeface="腾讯体 W7" panose="020C08030202040F0204" pitchFamily="34" charset="-122"/>
              </a:rPr>
              <a:t>免费版</a:t>
            </a:r>
            <a:r>
              <a:rPr lang="en-US" altLang="zh-CN">
                <a:latin typeface="腾讯体 W7" panose="020C08030202040F0204" pitchFamily="34" charset="-122"/>
                <a:ea typeface="腾讯体 W7" panose="020C08030202040F0204" pitchFamily="34" charset="-122"/>
              </a:rPr>
              <a:t> Free</a:t>
            </a:r>
            <a:endParaRPr lang="en-US" altLang="zh-CN">
              <a:latin typeface="腾讯体 W7" panose="020C08030202040F0204" pitchFamily="34" charset="-122"/>
              <a:ea typeface="腾讯体 W7" panose="020C08030202040F0204" pitchFamily="34" charset="-122"/>
            </a:endParaRPr>
          </a:p>
        </p:txBody>
      </p:sp>
      <p:pic>
        <p:nvPicPr>
          <p:cNvPr id="21" name="图片 20"/>
          <p:cNvPicPr>
            <a:picLocks noChangeAspect="1"/>
          </p:cNvPicPr>
          <p:nvPr/>
        </p:nvPicPr>
        <p:blipFill>
          <a:blip r:embed="rId3"/>
          <a:stretch>
            <a:fillRect/>
          </a:stretch>
        </p:blipFill>
        <p:spPr>
          <a:xfrm>
            <a:off x="5544185" y="1284605"/>
            <a:ext cx="487680" cy="487680"/>
          </a:xfrm>
          <a:prstGeom prst="rect">
            <a:avLst/>
          </a:prstGeom>
        </p:spPr>
      </p:pic>
      <p:sp>
        <p:nvSpPr>
          <p:cNvPr id="24" name="Shape 1796"/>
          <p:cNvSpPr txBox="1"/>
          <p:nvPr/>
        </p:nvSpPr>
        <p:spPr>
          <a:xfrm>
            <a:off x="4892675" y="2118360"/>
            <a:ext cx="1903095" cy="421640"/>
          </a:xfrm>
          <a:prstGeom prst="roundRect">
            <a:avLst>
              <a:gd name="adj" fmla="val 22295"/>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订阅服务</a:t>
            </a: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25" name="Shape 1796"/>
          <p:cNvSpPr txBox="1"/>
          <p:nvPr/>
        </p:nvSpPr>
        <p:spPr>
          <a:xfrm>
            <a:off x="4316095" y="2707640"/>
            <a:ext cx="2943860" cy="3638550"/>
          </a:xfrm>
          <a:prstGeom prst="roundRect">
            <a:avLst>
              <a:gd name="adj" fmla="val 5288"/>
            </a:avLst>
          </a:prstGeom>
          <a:solidFill>
            <a:schemeClr val="bg1">
              <a:lumMod val="95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26" name="Shape 1796"/>
          <p:cNvSpPr txBox="1"/>
          <p:nvPr/>
        </p:nvSpPr>
        <p:spPr>
          <a:xfrm>
            <a:off x="4829810" y="3443605"/>
            <a:ext cx="1801495" cy="471805"/>
          </a:xfrm>
          <a:prstGeom prst="roundRect">
            <a:avLst>
              <a:gd name="adj" fmla="val 46236"/>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a:t>
            </a:r>
            <a:r>
              <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89.90 / month</a:t>
            </a:r>
            <a:endPar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27" name="文本框 26"/>
          <p:cNvSpPr txBox="1"/>
          <p:nvPr/>
        </p:nvSpPr>
        <p:spPr>
          <a:xfrm>
            <a:off x="4460240" y="3971925"/>
            <a:ext cx="2642235" cy="2245360"/>
          </a:xfrm>
          <a:prstGeom prst="rect">
            <a:avLst/>
          </a:prstGeom>
          <a:noFill/>
        </p:spPr>
        <p:txBody>
          <a:bodyPr wrap="square" rtlCol="0">
            <a:spAutoFit/>
          </a:bodyPr>
          <a:lstStyle/>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每日</a:t>
            </a:r>
            <a:r>
              <a:rPr lang="zh-CN" altLang="en-US" sz="1600">
                <a:latin typeface="腾讯体 W7" panose="020C08030202040F0204" pitchFamily="34" charset="-122"/>
                <a:ea typeface="腾讯体 W7" panose="020C08030202040F0204" pitchFamily="34" charset="-122"/>
                <a:sym typeface="+mn-ea"/>
              </a:rPr>
              <a:t>不限数量文本挖掘</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标注</a:t>
            </a:r>
            <a:r>
              <a:rPr lang="en-US" altLang="zh-CN" sz="1600">
                <a:solidFill>
                  <a:schemeClr val="tx1"/>
                </a:solidFill>
                <a:latin typeface="腾讯体 W7" panose="020C08030202040F0204" pitchFamily="34" charset="-122"/>
                <a:ea typeface="腾讯体 W7" panose="020C08030202040F0204" pitchFamily="34" charset="-122"/>
              </a:rPr>
              <a:t>+</a:t>
            </a:r>
            <a:r>
              <a:rPr lang="zh-CN" altLang="en-US" sz="1600">
                <a:solidFill>
                  <a:schemeClr val="tx1"/>
                </a:solidFill>
                <a:latin typeface="腾讯体 W7" panose="020C08030202040F0204" pitchFamily="34" charset="-122"/>
                <a:ea typeface="腾讯体 W7" panose="020C08030202040F0204" pitchFamily="34" charset="-122"/>
              </a:rPr>
              <a:t>挖掘平台解决方案</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共享社区</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领域特定</a:t>
            </a:r>
            <a:r>
              <a:rPr lang="en-US" altLang="zh-CN" sz="1600">
                <a:solidFill>
                  <a:schemeClr val="tx1"/>
                </a:solidFill>
                <a:latin typeface="腾讯体 W7" panose="020C08030202040F0204" pitchFamily="34" charset="-122"/>
                <a:ea typeface="腾讯体 W7" panose="020C08030202040F0204" pitchFamily="34" charset="-122"/>
              </a:rPr>
              <a:t>API</a:t>
            </a:r>
            <a:r>
              <a:rPr lang="zh-CN" altLang="en-US" sz="1600">
                <a:solidFill>
                  <a:schemeClr val="tx1"/>
                </a:solidFill>
                <a:latin typeface="腾讯体 W7" panose="020C08030202040F0204" pitchFamily="34" charset="-122"/>
                <a:ea typeface="腾讯体 W7" panose="020C08030202040F0204" pitchFamily="34" charset="-122"/>
              </a:rPr>
              <a:t>调用</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latin typeface="腾讯体 W7" panose="020C08030202040F0204" pitchFamily="34" charset="-122"/>
                <a:ea typeface="腾讯体 W7" panose="020C08030202040F0204" pitchFamily="34" charset="-122"/>
                <a:sym typeface="+mn-ea"/>
              </a:rPr>
              <a:t>支持</a:t>
            </a:r>
            <a:r>
              <a:rPr lang="zh-CN" altLang="en-US" sz="1600">
                <a:solidFill>
                  <a:schemeClr val="tx1"/>
                </a:solidFill>
                <a:latin typeface="腾讯体 W7" panose="020C08030202040F0204" pitchFamily="34" charset="-122"/>
                <a:ea typeface="腾讯体 W7" panose="020C08030202040F0204" pitchFamily="34" charset="-122"/>
              </a:rPr>
              <a:t>有限</a:t>
            </a:r>
            <a:r>
              <a:rPr lang="en-US" altLang="zh-CN" sz="1600">
                <a:solidFill>
                  <a:schemeClr val="tx1"/>
                </a:solidFill>
                <a:latin typeface="腾讯体 W7" panose="020C08030202040F0204" pitchFamily="34" charset="-122"/>
                <a:ea typeface="腾讯体 W7" panose="020C08030202040F0204" pitchFamily="34" charset="-122"/>
              </a:rPr>
              <a:t>PDF</a:t>
            </a:r>
            <a:r>
              <a:rPr lang="zh-CN" altLang="en-US" sz="1600">
                <a:solidFill>
                  <a:schemeClr val="tx1"/>
                </a:solidFill>
                <a:latin typeface="腾讯体 W7" panose="020C08030202040F0204" pitchFamily="34" charset="-122"/>
                <a:ea typeface="腾讯体 W7" panose="020C08030202040F0204" pitchFamily="34" charset="-122"/>
              </a:rPr>
              <a:t>文本挖掘</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生成标注</a:t>
            </a:r>
            <a:r>
              <a:rPr lang="en-US" altLang="zh-CN" sz="1600">
                <a:solidFill>
                  <a:schemeClr val="tx1"/>
                </a:solidFill>
                <a:latin typeface="腾讯体 W7" panose="020C08030202040F0204" pitchFamily="34" charset="-122"/>
                <a:ea typeface="腾讯体 W7" panose="020C08030202040F0204" pitchFamily="34" charset="-122"/>
              </a:rPr>
              <a:t>prompt</a:t>
            </a:r>
            <a:r>
              <a:rPr lang="zh-CN" altLang="en-US" sz="1600">
                <a:solidFill>
                  <a:schemeClr val="tx1"/>
                </a:solidFill>
                <a:latin typeface="腾讯体 W7" panose="020C08030202040F0204" pitchFamily="34" charset="-122"/>
                <a:ea typeface="腾讯体 W7" panose="020C08030202040F0204" pitchFamily="34" charset="-122"/>
              </a:rPr>
              <a:t>服务</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7F7F7F"/>
              </a:buClr>
              <a:buFont typeface="Wingdings" panose="05000000000000000000" charset="0"/>
              <a:buChar char="¢"/>
            </a:pPr>
            <a:r>
              <a:rPr lang="zh-CN" altLang="en-US" sz="1600">
                <a:solidFill>
                  <a:schemeClr val="tx1"/>
                </a:solidFill>
                <a:latin typeface="腾讯体 W7" panose="020C08030202040F0204" pitchFamily="34" charset="-122"/>
                <a:ea typeface="腾讯体 W7" panose="020C08030202040F0204" pitchFamily="34" charset="-122"/>
              </a:rPr>
              <a:t>无其他增值服务</a:t>
            </a:r>
            <a:endParaRPr lang="zh-CN" altLang="en-US" sz="1600">
              <a:solidFill>
                <a:schemeClr val="tx1"/>
              </a:solidFill>
              <a:latin typeface="腾讯体 W7" panose="020C08030202040F0204" pitchFamily="34" charset="-122"/>
              <a:ea typeface="腾讯体 W7" panose="020C08030202040F0204" pitchFamily="34" charset="-122"/>
            </a:endParaRPr>
          </a:p>
        </p:txBody>
      </p:sp>
      <p:sp>
        <p:nvSpPr>
          <p:cNvPr id="28" name="文本框 27"/>
          <p:cNvSpPr txBox="1"/>
          <p:nvPr/>
        </p:nvSpPr>
        <p:spPr>
          <a:xfrm>
            <a:off x="4767580" y="2971165"/>
            <a:ext cx="2121535" cy="368300"/>
          </a:xfrm>
          <a:prstGeom prst="rect">
            <a:avLst/>
          </a:prstGeom>
          <a:noFill/>
        </p:spPr>
        <p:txBody>
          <a:bodyPr wrap="square" rtlCol="0">
            <a:spAutoFit/>
          </a:bodyPr>
          <a:lstStyle/>
          <a:p>
            <a:pPr algn="ctr"/>
            <a:r>
              <a:rPr lang="zh-CN" altLang="en-US">
                <a:latin typeface="腾讯体 W7" panose="020C08030202040F0204" pitchFamily="34" charset="-122"/>
                <a:ea typeface="腾讯体 W7" panose="020C08030202040F0204" pitchFamily="34" charset="-122"/>
              </a:rPr>
              <a:t>高级版</a:t>
            </a:r>
            <a:r>
              <a:rPr lang="en-US" altLang="zh-CN">
                <a:latin typeface="腾讯体 W7" panose="020C08030202040F0204" pitchFamily="34" charset="-122"/>
                <a:ea typeface="腾讯体 W7" panose="020C08030202040F0204" pitchFamily="34" charset="-122"/>
              </a:rPr>
              <a:t> Premium</a:t>
            </a:r>
            <a:endParaRPr lang="en-US" altLang="zh-CN">
              <a:latin typeface="腾讯体 W7" panose="020C08030202040F0204" pitchFamily="34" charset="-122"/>
              <a:ea typeface="腾讯体 W7" panose="020C08030202040F0204" pitchFamily="34" charset="-122"/>
            </a:endParaRPr>
          </a:p>
        </p:txBody>
      </p:sp>
      <p:sp>
        <p:nvSpPr>
          <p:cNvPr id="42" name="Shape 1796"/>
          <p:cNvSpPr txBox="1"/>
          <p:nvPr/>
        </p:nvSpPr>
        <p:spPr>
          <a:xfrm>
            <a:off x="7847330" y="2707640"/>
            <a:ext cx="2943860" cy="3638550"/>
          </a:xfrm>
          <a:prstGeom prst="roundRect">
            <a:avLst>
              <a:gd name="adj" fmla="val 5288"/>
            </a:avLst>
          </a:prstGeom>
          <a:solidFill>
            <a:schemeClr val="bg1">
              <a:lumMod val="95000"/>
            </a:schemeClr>
          </a:soli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43" name="Shape 1796"/>
          <p:cNvSpPr txBox="1"/>
          <p:nvPr/>
        </p:nvSpPr>
        <p:spPr>
          <a:xfrm>
            <a:off x="8380095" y="3443605"/>
            <a:ext cx="1844675" cy="471805"/>
          </a:xfrm>
          <a:prstGeom prst="roundRect">
            <a:avLst>
              <a:gd name="adj" fmla="val 46236"/>
            </a:avLst>
          </a:prstGeom>
          <a:gradFill>
            <a:gsLst>
              <a:gs pos="0">
                <a:schemeClr val="accent1">
                  <a:hueOff val="-2520000"/>
                </a:schemeClr>
              </a:gs>
              <a:gs pos="100000">
                <a:srgbClr val="7093D6">
                  <a:alpha val="100000"/>
                </a:srgbClr>
              </a:gs>
              <a:gs pos="100000">
                <a:srgbClr val="6C90D5">
                  <a:alpha val="100000"/>
                </a:srgbClr>
              </a:gs>
              <a:gs pos="100000">
                <a:srgbClr val="7395D7">
                  <a:alpha val="100000"/>
                </a:srgbClr>
              </a:gs>
              <a:gs pos="100000">
                <a:srgbClr val="658AD3">
                  <a:alpha val="100000"/>
                </a:srgbClr>
              </a:gs>
              <a:gs pos="100000">
                <a:srgbClr val="819FDB">
                  <a:alpha val="100000"/>
                </a:srgbClr>
              </a:gs>
              <a:gs pos="100000">
                <a:schemeClr val="accent1"/>
              </a:gs>
              <a:gs pos="49000">
                <a:schemeClr val="accent6">
                  <a:lumMod val="20000"/>
                  <a:lumOff val="80000"/>
                </a:schemeClr>
              </a:gs>
              <a:gs pos="100000">
                <a:schemeClr val="accent1">
                  <a:alpha val="32000"/>
                  <a:lumMod val="38000"/>
                  <a:lumOff val="62000"/>
                </a:schemeClr>
              </a:gs>
            </a:gsLst>
            <a:lin ang="3600000" scaled="0"/>
          </a:gradFill>
          <a:ln>
            <a:noFill/>
          </a:ln>
          <a:effec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a:t>
            </a:r>
            <a:r>
              <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rPr>
              <a:t>139.90 / month</a:t>
            </a:r>
            <a:endParaRPr lang="en-US" altLang="zh-CN" sz="1400" b="1" dirty="0">
              <a:solidFill>
                <a:schemeClr val="tx2"/>
              </a:solidFill>
              <a:latin typeface="腾讯体 W7" panose="020C08030202040F0204" pitchFamily="34" charset="-122"/>
              <a:ea typeface="腾讯体 W7" panose="020C08030202040F0204" pitchFamily="34" charset="-122"/>
              <a:sym typeface="Arial" panose="020B0604020202020204" pitchFamily="34" charset="0"/>
            </a:endParaRPr>
          </a:p>
        </p:txBody>
      </p:sp>
      <p:sp>
        <p:nvSpPr>
          <p:cNvPr id="44" name="文本框 43"/>
          <p:cNvSpPr txBox="1"/>
          <p:nvPr/>
        </p:nvSpPr>
        <p:spPr>
          <a:xfrm>
            <a:off x="8032115" y="3971925"/>
            <a:ext cx="2748915" cy="2245360"/>
          </a:xfrm>
          <a:prstGeom prst="rect">
            <a:avLst/>
          </a:prstGeom>
          <a:noFill/>
        </p:spPr>
        <p:txBody>
          <a:bodyPr wrap="square" rtlCol="0">
            <a:spAutoFit/>
          </a:bodyPr>
          <a:lstStyle/>
          <a:p>
            <a:pPr marL="285750" indent="-285750" fontAlgn="auto">
              <a:lnSpc>
                <a:spcPts val="2400"/>
              </a:lnSpc>
              <a:buClr>
                <a:srgbClr val="00B050"/>
              </a:buClr>
              <a:buFont typeface="Wingdings" panose="05000000000000000000" charset="0"/>
              <a:buChar char="ü"/>
            </a:pPr>
            <a:r>
              <a:rPr lang="zh-CN" altLang="en-US" sz="1600" b="1">
                <a:solidFill>
                  <a:srgbClr val="00B050"/>
                </a:solidFill>
                <a:latin typeface="腾讯体 W7" panose="020C08030202040F0204" pitchFamily="34" charset="-122"/>
                <a:ea typeface="腾讯体 W7" panose="020C08030202040F0204" pitchFamily="34" charset="-122"/>
              </a:rPr>
              <a:t>海量高精度</a:t>
            </a:r>
            <a:r>
              <a:rPr lang="zh-CN" altLang="en-US" sz="1600">
                <a:solidFill>
                  <a:schemeClr val="tx1"/>
                </a:solidFill>
                <a:latin typeface="腾讯体 W7" panose="020C08030202040F0204" pitchFamily="34" charset="-122"/>
                <a:ea typeface="腾讯体 W7" panose="020C08030202040F0204" pitchFamily="34" charset="-122"/>
              </a:rPr>
              <a:t>文本挖掘</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latin typeface="腾讯体 W7" panose="020C08030202040F0204" pitchFamily="34" charset="-122"/>
                <a:ea typeface="腾讯体 W7" panose="020C08030202040F0204" pitchFamily="34" charset="-122"/>
                <a:sym typeface="+mn-ea"/>
              </a:rPr>
              <a:t>标注</a:t>
            </a:r>
            <a:r>
              <a:rPr lang="en-US" altLang="zh-CN" sz="1600">
                <a:latin typeface="腾讯体 W7" panose="020C08030202040F0204" pitchFamily="34" charset="-122"/>
                <a:ea typeface="腾讯体 W7" panose="020C08030202040F0204" pitchFamily="34" charset="-122"/>
                <a:sym typeface="+mn-ea"/>
              </a:rPr>
              <a:t>+</a:t>
            </a:r>
            <a:r>
              <a:rPr lang="zh-CN" altLang="en-US" sz="1600">
                <a:latin typeface="腾讯体 W7" panose="020C08030202040F0204" pitchFamily="34" charset="-122"/>
                <a:ea typeface="腾讯体 W7" panose="020C08030202040F0204" pitchFamily="34" charset="-122"/>
                <a:sym typeface="+mn-ea"/>
              </a:rPr>
              <a:t>挖掘</a:t>
            </a:r>
            <a:r>
              <a:rPr lang="zh-CN" altLang="en-US" sz="1600" b="1">
                <a:solidFill>
                  <a:srgbClr val="00B050"/>
                </a:solidFill>
                <a:latin typeface="腾讯体 W7" panose="020C08030202040F0204" pitchFamily="34" charset="-122"/>
                <a:ea typeface="腾讯体 W7" panose="020C08030202040F0204" pitchFamily="34" charset="-122"/>
                <a:sym typeface="+mn-ea"/>
              </a:rPr>
              <a:t>定制化</a:t>
            </a:r>
            <a:r>
              <a:rPr lang="zh-CN" altLang="en-US" sz="1600">
                <a:latin typeface="腾讯体 W7" panose="020C08030202040F0204" pitchFamily="34" charset="-122"/>
                <a:ea typeface="腾讯体 W7" panose="020C08030202040F0204" pitchFamily="34" charset="-122"/>
                <a:sym typeface="+mn-ea"/>
              </a:rPr>
              <a:t>平台</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latin typeface="腾讯体 W7" panose="020C08030202040F0204" pitchFamily="34" charset="-122"/>
                <a:ea typeface="腾讯体 W7" panose="020C08030202040F0204" pitchFamily="34" charset="-122"/>
                <a:sym typeface="+mn-ea"/>
              </a:rPr>
              <a:t>共享社区</a:t>
            </a:r>
            <a:r>
              <a:rPr lang="en-US" altLang="zh-CN" sz="1600">
                <a:latin typeface="腾讯体 W7" panose="020C08030202040F0204" pitchFamily="34" charset="-122"/>
                <a:ea typeface="腾讯体 W7" panose="020C08030202040F0204" pitchFamily="34" charset="-122"/>
                <a:sym typeface="+mn-ea"/>
              </a:rPr>
              <a:t>+</a:t>
            </a:r>
            <a:r>
              <a:rPr lang="zh-CN" altLang="en-US" sz="1600" b="1">
                <a:solidFill>
                  <a:srgbClr val="00B050"/>
                </a:solidFill>
                <a:latin typeface="腾讯体 W7" panose="020C08030202040F0204" pitchFamily="34" charset="-122"/>
                <a:ea typeface="腾讯体 W7" panose="020C08030202040F0204" pitchFamily="34" charset="-122"/>
                <a:sym typeface="+mn-ea"/>
              </a:rPr>
              <a:t>定制化</a:t>
            </a:r>
            <a:r>
              <a:rPr lang="zh-CN" altLang="en-US" sz="1600">
                <a:latin typeface="腾讯体 W7" panose="020C08030202040F0204" pitchFamily="34" charset="-122"/>
                <a:ea typeface="腾讯体 W7" panose="020C08030202040F0204" pitchFamily="34" charset="-122"/>
                <a:sym typeface="+mn-ea"/>
              </a:rPr>
              <a:t>社区</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高自定义＋定制</a:t>
            </a:r>
            <a:r>
              <a:rPr lang="en-US" altLang="zh-CN" sz="1600">
                <a:solidFill>
                  <a:schemeClr val="tx1"/>
                </a:solidFill>
                <a:latin typeface="腾讯体 W7" panose="020C08030202040F0204" pitchFamily="34" charset="-122"/>
                <a:ea typeface="腾讯体 W7" panose="020C08030202040F0204" pitchFamily="34" charset="-122"/>
              </a:rPr>
              <a:t>API</a:t>
            </a:r>
            <a:r>
              <a:rPr lang="zh-CN" altLang="en-US" sz="1600">
                <a:solidFill>
                  <a:schemeClr val="tx1"/>
                </a:solidFill>
                <a:latin typeface="腾讯体 W7" panose="020C08030202040F0204" pitchFamily="34" charset="-122"/>
                <a:ea typeface="腾讯体 W7" panose="020C08030202040F0204" pitchFamily="34" charset="-122"/>
              </a:rPr>
              <a:t>服务</a:t>
            </a:r>
            <a:endParaRPr lang="zh-CN" altLang="en-US"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solidFill>
                  <a:schemeClr val="tx1"/>
                </a:solidFill>
                <a:latin typeface="腾讯体 W7" panose="020C08030202040F0204" pitchFamily="34" charset="-122"/>
                <a:ea typeface="腾讯体 W7" panose="020C08030202040F0204" pitchFamily="34" charset="-122"/>
              </a:rPr>
              <a:t>超长</a:t>
            </a:r>
            <a:r>
              <a:rPr lang="zh-CN" altLang="en-US" sz="1600" b="1">
                <a:solidFill>
                  <a:srgbClr val="00B050"/>
                </a:solidFill>
                <a:latin typeface="腾讯体 W7" panose="020C08030202040F0204" pitchFamily="34" charset="-122"/>
                <a:ea typeface="腾讯体 W7" panose="020C08030202040F0204" pitchFamily="34" charset="-122"/>
              </a:rPr>
              <a:t>多格式</a:t>
            </a:r>
            <a:r>
              <a:rPr lang="zh-CN" altLang="en-US" sz="1600">
                <a:solidFill>
                  <a:schemeClr val="tx1"/>
                </a:solidFill>
                <a:latin typeface="腾讯体 W7" panose="020C08030202040F0204" pitchFamily="34" charset="-122"/>
                <a:ea typeface="腾讯体 W7" panose="020C08030202040F0204" pitchFamily="34" charset="-122"/>
              </a:rPr>
              <a:t>文本挖掘</a:t>
            </a:r>
            <a:endParaRPr lang="en-US" altLang="zh-CN" sz="1600">
              <a:solidFill>
                <a:schemeClr val="tx1"/>
              </a:solidFill>
              <a:latin typeface="腾讯体 W7" panose="020C08030202040F0204" pitchFamily="34" charset="-122"/>
              <a:ea typeface="腾讯体 W7" panose="020C08030202040F0204" pitchFamily="34" charset="-122"/>
            </a:endParaRPr>
          </a:p>
          <a:p>
            <a:pPr marL="285750" indent="-285750" fontAlgn="auto">
              <a:lnSpc>
                <a:spcPts val="2400"/>
              </a:lnSpc>
              <a:buClr>
                <a:srgbClr val="00B050"/>
              </a:buClr>
              <a:buFont typeface="Wingdings" panose="05000000000000000000" charset="0"/>
              <a:buChar char="ü"/>
            </a:pPr>
            <a:r>
              <a:rPr lang="zh-CN" altLang="en-US" sz="1600">
                <a:latin typeface="腾讯体 W7" panose="020C08030202040F0204" pitchFamily="34" charset="-122"/>
                <a:ea typeface="腾讯体 W7" panose="020C08030202040F0204" pitchFamily="34" charset="-122"/>
                <a:sym typeface="+mn-ea"/>
              </a:rPr>
              <a:t>海量标注＋</a:t>
            </a:r>
            <a:r>
              <a:rPr lang="en-US" altLang="zh-CN" sz="1600">
                <a:latin typeface="腾讯体 W7" panose="020C08030202040F0204" pitchFamily="34" charset="-122"/>
                <a:ea typeface="腾讯体 W7" panose="020C08030202040F0204" pitchFamily="34" charset="-122"/>
                <a:sym typeface="+mn-ea"/>
              </a:rPr>
              <a:t>prompt</a:t>
            </a:r>
            <a:r>
              <a:rPr lang="zh-CN" altLang="en-US" sz="1600">
                <a:latin typeface="腾讯体 W7" panose="020C08030202040F0204" pitchFamily="34" charset="-122"/>
                <a:ea typeface="腾讯体 W7" panose="020C08030202040F0204" pitchFamily="34" charset="-122"/>
                <a:sym typeface="+mn-ea"/>
              </a:rPr>
              <a:t>服务</a:t>
            </a:r>
            <a:endParaRPr lang="zh-CN" altLang="en-US" sz="1600">
              <a:latin typeface="腾讯体 W7" panose="020C08030202040F0204" pitchFamily="34" charset="-122"/>
              <a:ea typeface="腾讯体 W7" panose="020C08030202040F0204" pitchFamily="34" charset="-122"/>
              <a:sym typeface="+mn-ea"/>
            </a:endParaRPr>
          </a:p>
          <a:p>
            <a:pPr marL="285750" indent="-285750" fontAlgn="auto">
              <a:lnSpc>
                <a:spcPts val="2400"/>
              </a:lnSpc>
              <a:buClr>
                <a:srgbClr val="00B050"/>
              </a:buClr>
              <a:buFont typeface="Wingdings" panose="05000000000000000000" charset="0"/>
              <a:buChar char="ü"/>
            </a:pPr>
            <a:r>
              <a:rPr lang="zh-CN" altLang="en-US" sz="1600">
                <a:latin typeface="腾讯体 W7" panose="020C08030202040F0204" pitchFamily="34" charset="-122"/>
                <a:ea typeface="腾讯体 W7" panose="020C08030202040F0204" pitchFamily="34" charset="-122"/>
                <a:sym typeface="+mn-ea"/>
              </a:rPr>
              <a:t>完整增值服务</a:t>
            </a:r>
            <a:endParaRPr lang="zh-CN" altLang="en-US" sz="1600">
              <a:latin typeface="腾讯体 W7" panose="020C08030202040F0204" pitchFamily="34" charset="-122"/>
              <a:ea typeface="腾讯体 W7" panose="020C08030202040F0204" pitchFamily="34" charset="-122"/>
              <a:sym typeface="+mn-ea"/>
            </a:endParaRPr>
          </a:p>
        </p:txBody>
      </p:sp>
      <p:sp>
        <p:nvSpPr>
          <p:cNvPr id="45" name="文本框 44"/>
          <p:cNvSpPr txBox="1"/>
          <p:nvPr/>
        </p:nvSpPr>
        <p:spPr>
          <a:xfrm>
            <a:off x="8100060" y="2971165"/>
            <a:ext cx="2413000" cy="368300"/>
          </a:xfrm>
          <a:prstGeom prst="rect">
            <a:avLst/>
          </a:prstGeom>
          <a:noFill/>
        </p:spPr>
        <p:txBody>
          <a:bodyPr wrap="square" rtlCol="0">
            <a:spAutoFit/>
          </a:bodyPr>
          <a:lstStyle/>
          <a:p>
            <a:pPr algn="ctr"/>
            <a:r>
              <a:rPr lang="zh-CN" altLang="en-US">
                <a:latin typeface="腾讯体 W7" panose="020C08030202040F0204" pitchFamily="34" charset="-122"/>
                <a:ea typeface="腾讯体 W7" panose="020C08030202040F0204" pitchFamily="34" charset="-122"/>
              </a:rPr>
              <a:t>专业版</a:t>
            </a:r>
            <a:r>
              <a:rPr lang="en-US" altLang="zh-CN">
                <a:latin typeface="腾讯体 W7" panose="020C08030202040F0204" pitchFamily="34" charset="-122"/>
                <a:ea typeface="腾讯体 W7" panose="020C08030202040F0204" pitchFamily="34" charset="-122"/>
              </a:rPr>
              <a:t> Professional</a:t>
            </a:r>
            <a:endParaRPr lang="en-US" altLang="zh-CN">
              <a:latin typeface="腾讯体 W7" panose="020C08030202040F0204" pitchFamily="34" charset="-122"/>
              <a:ea typeface="腾讯体 W7" panose="020C08030202040F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04121D"/>
            </a:gs>
            <a:gs pos="74000">
              <a:srgbClr val="193F58"/>
            </a:gs>
            <a:gs pos="100000">
              <a:srgbClr val="04121D"/>
            </a:gs>
          </a:gsLst>
          <a:lin ang="5400000" scaled="1"/>
        </a:gradFill>
        <a:effectLst/>
      </p:bgPr>
    </p:bg>
    <p:spTree>
      <p:nvGrpSpPr>
        <p:cNvPr id="1" name=""/>
        <p:cNvGrpSpPr/>
        <p:nvPr/>
      </p:nvGrpSpPr>
      <p:grpSpPr>
        <a:xfrm>
          <a:off x="0" y="0"/>
          <a:ext cx="0" cy="0"/>
          <a:chOff x="0" y="0"/>
          <a:chExt cx="0" cy="0"/>
        </a:xfrm>
      </p:grpSpPr>
      <p:pic>
        <p:nvPicPr>
          <p:cNvPr id="28" name="图片 27"/>
          <p:cNvPicPr>
            <a:picLocks noChangeAspect="1"/>
          </p:cNvPicPr>
          <p:nvPr/>
        </p:nvPicPr>
        <p:blipFill>
          <a:blip r:embed="rId1"/>
          <a:stretch>
            <a:fillRect/>
          </a:stretch>
        </p:blipFill>
        <p:spPr>
          <a:xfrm>
            <a:off x="4466590" y="1901190"/>
            <a:ext cx="3320415" cy="1435100"/>
          </a:xfrm>
          <a:prstGeom prst="rect">
            <a:avLst/>
          </a:prstGeom>
        </p:spPr>
      </p:pic>
      <p:sp>
        <p:nvSpPr>
          <p:cNvPr id="18" name="标题 17"/>
          <p:cNvSpPr>
            <a:spLocks noGrp="1"/>
          </p:cNvSpPr>
          <p:nvPr>
            <p:ph type="title"/>
          </p:nvPr>
        </p:nvSpPr>
        <p:spPr>
          <a:xfrm>
            <a:off x="288290" y="97155"/>
            <a:ext cx="7244080" cy="685800"/>
          </a:xfrm>
        </p:spPr>
        <p:txBody>
          <a:bodyPr>
            <a:normAutofit/>
          </a:bodyPr>
          <a:lstStyle/>
          <a:p>
            <a:r>
              <a:rPr lang="zh-CN" altLang="en-US" sz="4000" b="1" dirty="0">
                <a:solidFill>
                  <a:srgbClr val="088EFF"/>
                </a:solidFill>
                <a:latin typeface="腾讯体 W7" panose="020C08030202040F0204" pitchFamily="34" charset="-122"/>
                <a:ea typeface="腾讯体 W7" panose="020C08030202040F0204" pitchFamily="34" charset="-122"/>
              </a:rPr>
              <a:t>社会效益</a:t>
            </a:r>
            <a:endParaRPr lang="zh-CN" altLang="en-US" sz="4000" b="1" dirty="0">
              <a:solidFill>
                <a:srgbClr val="088EFF"/>
              </a:solidFill>
              <a:latin typeface="腾讯体 W7" panose="020C08030202040F0204" pitchFamily="34" charset="-122"/>
              <a:ea typeface="腾讯体 W7" panose="020C08030202040F0204" pitchFamily="34" charset="-122"/>
            </a:endParaRPr>
          </a:p>
        </p:txBody>
      </p:sp>
      <p:sp>
        <p:nvSpPr>
          <p:cNvPr id="6" name="文本框 5"/>
          <p:cNvSpPr txBox="1"/>
          <p:nvPr/>
        </p:nvSpPr>
        <p:spPr>
          <a:xfrm>
            <a:off x="8070215" y="920115"/>
            <a:ext cx="3637280" cy="655320"/>
          </a:xfrm>
          <a:prstGeom prst="rect">
            <a:avLst/>
          </a:prstGeom>
          <a:noFill/>
        </p:spPr>
        <p:txBody>
          <a:bodyPr wrap="square" rtlCol="0">
            <a:spAutoFit/>
          </a:bodyPr>
          <a:lstStyle/>
          <a:p>
            <a:pPr marL="342900" indent="-342900">
              <a:lnSpc>
                <a:spcPts val="2200"/>
              </a:lnSpc>
              <a:buClrTx/>
              <a:buSzTx/>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推动</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sym typeface="+mn-ea"/>
              </a:rPr>
              <a:t>跨学科交叉合作</a:t>
            </a: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，共享高质量标注数据资源，协同创新</a:t>
            </a:r>
            <a:r>
              <a:rPr lang="zh-CN"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a:t>
            </a:r>
            <a:endParaRPr 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p:txBody>
      </p:sp>
      <p:sp>
        <p:nvSpPr>
          <p:cNvPr id="7" name="圆角矩形 77"/>
          <p:cNvSpPr/>
          <p:nvPr/>
        </p:nvSpPr>
        <p:spPr>
          <a:xfrm>
            <a:off x="7356899" y="3622744"/>
            <a:ext cx="4669155" cy="2325370"/>
          </a:xfrm>
          <a:prstGeom prst="roundRect">
            <a:avLst>
              <a:gd name="adj" fmla="val 10886"/>
            </a:avLst>
          </a:prstGeom>
          <a:noFill/>
          <a:ln w="63500">
            <a:solidFill>
              <a:srgbClr val="4D6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8" name="圆角矩形 76"/>
          <p:cNvSpPr/>
          <p:nvPr/>
        </p:nvSpPr>
        <p:spPr>
          <a:xfrm>
            <a:off x="180764" y="3617664"/>
            <a:ext cx="4669155" cy="2325370"/>
          </a:xfrm>
          <a:prstGeom prst="roundRect">
            <a:avLst>
              <a:gd name="adj" fmla="val 10886"/>
            </a:avLst>
          </a:prstGeom>
          <a:noFill/>
          <a:ln w="63500">
            <a:solidFill>
              <a:srgbClr val="4D6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9" name="文本框 8"/>
          <p:cNvSpPr txBox="1"/>
          <p:nvPr/>
        </p:nvSpPr>
        <p:spPr>
          <a:xfrm>
            <a:off x="0" y="6048279"/>
            <a:ext cx="12171679" cy="521970"/>
          </a:xfrm>
          <a:prstGeom prst="rect">
            <a:avLst/>
          </a:prstGeom>
          <a:noFill/>
        </p:spPr>
        <p:txBody>
          <a:bodyPr wrap="square" rtlCol="0">
            <a:spAutoFit/>
          </a:bodyPr>
          <a:lstStyle/>
          <a:p>
            <a:pPr algn="ctr"/>
            <a:r>
              <a:rPr lang="zh-CN" altLang="en-US" sz="28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带动技术创新，促进产学研融合</a:t>
            </a:r>
            <a:endParaRPr lang="zh-CN" altLang="en-US" sz="28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pic>
        <p:nvPicPr>
          <p:cNvPr id="3" name="图片 31" descr="弯箭头"/>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2960000" flipH="1">
            <a:off x="6530884" y="3821499"/>
            <a:ext cx="891540" cy="663575"/>
          </a:xfrm>
          <a:prstGeom prst="rect">
            <a:avLst/>
          </a:prstGeom>
        </p:spPr>
      </p:pic>
      <p:sp>
        <p:nvSpPr>
          <p:cNvPr id="11" name="圆角矩形 33"/>
          <p:cNvSpPr/>
          <p:nvPr/>
        </p:nvSpPr>
        <p:spPr>
          <a:xfrm>
            <a:off x="181399" y="873612"/>
            <a:ext cx="11793855" cy="2598001"/>
          </a:xfrm>
          <a:prstGeom prst="roundRect">
            <a:avLst>
              <a:gd name="adj" fmla="val 10886"/>
            </a:avLst>
          </a:prstGeom>
          <a:noFill/>
          <a:ln w="63500">
            <a:solidFill>
              <a:srgbClr val="4D6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4" name="文本框 3"/>
          <p:cNvSpPr txBox="1"/>
          <p:nvPr/>
        </p:nvSpPr>
        <p:spPr>
          <a:xfrm>
            <a:off x="428625" y="920115"/>
            <a:ext cx="3465830" cy="937260"/>
          </a:xfrm>
          <a:prstGeom prst="rect">
            <a:avLst/>
          </a:prstGeom>
          <a:noFill/>
        </p:spPr>
        <p:txBody>
          <a:bodyPr wrap="square" rtlCol="0">
            <a:spAutoFit/>
          </a:bodyPr>
          <a:lstStyle/>
          <a:p>
            <a:pPr marL="285750" indent="-285750">
              <a:lnSpc>
                <a:spcPts val="2200"/>
              </a:lnSpc>
              <a:buClrTx/>
              <a:buSzTx/>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推动学术研究的</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sym typeface="+mn-ea"/>
              </a:rPr>
              <a:t>应用转化</a:t>
            </a: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，从海量文献和数据中高效提取关键信息，帮助学术研究更快应用</a:t>
            </a:r>
            <a:r>
              <a:rPr lang="zh-CN"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a:t>
            </a:r>
            <a:endParaRPr lang="zh-CN"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p:txBody>
      </p:sp>
      <p:sp>
        <p:nvSpPr>
          <p:cNvPr id="31" name="文本框 30"/>
          <p:cNvSpPr txBox="1"/>
          <p:nvPr/>
        </p:nvSpPr>
        <p:spPr>
          <a:xfrm>
            <a:off x="4114165" y="920115"/>
            <a:ext cx="3731895" cy="937260"/>
          </a:xfrm>
          <a:prstGeom prst="rect">
            <a:avLst/>
          </a:prstGeom>
          <a:noFill/>
        </p:spPr>
        <p:txBody>
          <a:bodyPr wrap="square" rtlCol="0">
            <a:spAutoFit/>
          </a:bodyPr>
          <a:lstStyle/>
          <a:p>
            <a:pPr marL="285750" indent="-285750">
              <a:lnSpc>
                <a:spcPts val="2200"/>
              </a:lnSpc>
              <a:buClrTx/>
              <a:buSzTx/>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提升</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sym typeface="+mn-ea"/>
              </a:rPr>
              <a:t>研究效率</a:t>
            </a: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，研究人员可以利用系统自动标注和挖掘信息的功能，大幅减少手动处理数据的时间。</a:t>
            </a:r>
            <a:endParaRPr lang="zh-CN" altLang="en-US" sz="1600" b="1"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endParaRPr>
          </a:p>
        </p:txBody>
      </p:sp>
      <p:grpSp>
        <p:nvGrpSpPr>
          <p:cNvPr id="33" name="组合 32"/>
          <p:cNvGrpSpPr/>
          <p:nvPr/>
        </p:nvGrpSpPr>
        <p:grpSpPr>
          <a:xfrm>
            <a:off x="6576484" y="4707959"/>
            <a:ext cx="1100455" cy="1131570"/>
            <a:chOff x="10552" y="6855"/>
            <a:chExt cx="2308" cy="2308"/>
          </a:xfrm>
        </p:grpSpPr>
        <p:sp>
          <p:nvSpPr>
            <p:cNvPr id="35" name="椭圆 34"/>
            <p:cNvSpPr/>
            <p:nvPr/>
          </p:nvSpPr>
          <p:spPr>
            <a:xfrm>
              <a:off x="10552" y="6855"/>
              <a:ext cx="2309" cy="2309"/>
            </a:xfrm>
            <a:prstGeom prst="ellipse">
              <a:avLst/>
            </a:prstGeom>
            <a:solidFill>
              <a:srgbClr val="173C54"/>
            </a:solidFill>
            <a:ln w="127000" cmpd="sng">
              <a:solidFill>
                <a:srgbClr val="173C54"/>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nvGrpSpPr>
            <p:cNvPr id="36" name="组合 35"/>
            <p:cNvGrpSpPr/>
            <p:nvPr/>
          </p:nvGrpSpPr>
          <p:grpSpPr>
            <a:xfrm>
              <a:off x="10552" y="6855"/>
              <a:ext cx="2308" cy="2308"/>
              <a:chOff x="3500" y="2624"/>
              <a:chExt cx="2308" cy="2308"/>
            </a:xfrm>
            <a:solidFill>
              <a:srgbClr val="173C54"/>
            </a:solidFill>
          </p:grpSpPr>
          <p:sp>
            <p:nvSpPr>
              <p:cNvPr id="38" name="椭圆 37"/>
              <p:cNvSpPr/>
              <p:nvPr/>
            </p:nvSpPr>
            <p:spPr>
              <a:xfrm>
                <a:off x="3500" y="2624"/>
                <a:ext cx="2309" cy="2309"/>
              </a:xfrm>
              <a:prstGeom prst="ellipse">
                <a:avLst/>
              </a:prstGeom>
              <a:grpFill/>
              <a:ln w="127000" cmpd="sng">
                <a:gradFill>
                  <a:gsLst>
                    <a:gs pos="59000">
                      <a:schemeClr val="accent1">
                        <a:lumMod val="5000"/>
                        <a:lumOff val="95000"/>
                        <a:alpha val="0"/>
                      </a:schemeClr>
                    </a:gs>
                    <a:gs pos="78000">
                      <a:srgbClr val="1D36EB"/>
                    </a:gs>
                    <a:gs pos="100000">
                      <a:srgbClr val="1D36EB"/>
                    </a:gs>
                  </a:gsLst>
                  <a:path path="circle">
                    <a:fillToRect l="50000" t="50000" r="50000" b="50000"/>
                  </a:path>
                  <a:tileRect/>
                </a:gra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0" name="文本框 49"/>
              <p:cNvSpPr txBox="1"/>
              <p:nvPr/>
            </p:nvSpPr>
            <p:spPr>
              <a:xfrm>
                <a:off x="3642" y="2965"/>
                <a:ext cx="2025" cy="1466"/>
              </a:xfrm>
              <a:prstGeom prst="rect">
                <a:avLst/>
              </a:prstGeom>
              <a:noFill/>
            </p:spPr>
            <p:txBody>
              <a:bodyPr wrap="square" rtlCol="0">
                <a:noAutofit/>
              </a:bodyPr>
              <a:lstStyle/>
              <a:p>
                <a:pPr algn="ctr"/>
                <a:r>
                  <a:rPr lang="zh-CN" altLang="en-US" sz="4000" b="1" dirty="0">
                    <a:solidFill>
                      <a:srgbClr val="FFFF00"/>
                    </a:solidFill>
                    <a:latin typeface="腾讯体 W7" panose="020C08030202040F0204" pitchFamily="34" charset="-122"/>
                    <a:ea typeface="腾讯体 W7" panose="020C08030202040F0204" pitchFamily="34" charset="-122"/>
                  </a:rPr>
                  <a:t>产</a:t>
                </a:r>
                <a:endParaRPr lang="zh-CN" altLang="en-US" sz="4000" b="1" dirty="0">
                  <a:solidFill>
                    <a:srgbClr val="FFFF00"/>
                  </a:solidFill>
                  <a:latin typeface="腾讯体 W7" panose="020C08030202040F0204" pitchFamily="34" charset="-122"/>
                  <a:ea typeface="腾讯体 W7" panose="020C08030202040F0204" pitchFamily="34" charset="-122"/>
                </a:endParaRPr>
              </a:p>
            </p:txBody>
          </p:sp>
        </p:grpSp>
      </p:grpSp>
      <p:grpSp>
        <p:nvGrpSpPr>
          <p:cNvPr id="51" name="组合 50"/>
          <p:cNvGrpSpPr/>
          <p:nvPr/>
        </p:nvGrpSpPr>
        <p:grpSpPr>
          <a:xfrm>
            <a:off x="4569884" y="4707959"/>
            <a:ext cx="1100455" cy="1131570"/>
            <a:chOff x="10552" y="6855"/>
            <a:chExt cx="2308" cy="2308"/>
          </a:xfrm>
        </p:grpSpPr>
        <p:sp>
          <p:nvSpPr>
            <p:cNvPr id="52" name="椭圆 51"/>
            <p:cNvSpPr/>
            <p:nvPr/>
          </p:nvSpPr>
          <p:spPr>
            <a:xfrm>
              <a:off x="10552" y="6855"/>
              <a:ext cx="2309" cy="2309"/>
            </a:xfrm>
            <a:prstGeom prst="ellipse">
              <a:avLst/>
            </a:prstGeom>
            <a:solidFill>
              <a:srgbClr val="173C54"/>
            </a:solidFill>
            <a:ln w="127000" cmpd="sng">
              <a:solidFill>
                <a:srgbClr val="173C54"/>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nvGrpSpPr>
            <p:cNvPr id="53" name="组合 52"/>
            <p:cNvGrpSpPr/>
            <p:nvPr/>
          </p:nvGrpSpPr>
          <p:grpSpPr>
            <a:xfrm>
              <a:off x="10552" y="6855"/>
              <a:ext cx="2308" cy="2308"/>
              <a:chOff x="3500" y="2624"/>
              <a:chExt cx="2308" cy="2308"/>
            </a:xfrm>
            <a:solidFill>
              <a:srgbClr val="173C54"/>
            </a:solidFill>
          </p:grpSpPr>
          <p:sp>
            <p:nvSpPr>
              <p:cNvPr id="54" name="椭圆 53"/>
              <p:cNvSpPr/>
              <p:nvPr/>
            </p:nvSpPr>
            <p:spPr>
              <a:xfrm>
                <a:off x="3500" y="2624"/>
                <a:ext cx="2309" cy="2309"/>
              </a:xfrm>
              <a:prstGeom prst="ellipse">
                <a:avLst/>
              </a:prstGeom>
              <a:grpFill/>
              <a:ln w="127000" cmpd="sng">
                <a:gradFill>
                  <a:gsLst>
                    <a:gs pos="59000">
                      <a:schemeClr val="accent1">
                        <a:lumMod val="5000"/>
                        <a:lumOff val="95000"/>
                        <a:alpha val="0"/>
                      </a:schemeClr>
                    </a:gs>
                    <a:gs pos="78000">
                      <a:srgbClr val="1D36EB"/>
                    </a:gs>
                    <a:gs pos="100000">
                      <a:srgbClr val="1D36EB"/>
                    </a:gs>
                  </a:gsLst>
                  <a:path path="circle">
                    <a:fillToRect l="50000" t="50000" r="50000" b="50000"/>
                  </a:path>
                  <a:tileRect/>
                </a:gra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55" name="文本框 54"/>
              <p:cNvSpPr txBox="1"/>
              <p:nvPr/>
            </p:nvSpPr>
            <p:spPr>
              <a:xfrm>
                <a:off x="3642" y="2965"/>
                <a:ext cx="2025" cy="1466"/>
              </a:xfrm>
              <a:prstGeom prst="rect">
                <a:avLst/>
              </a:prstGeom>
              <a:noFill/>
            </p:spPr>
            <p:txBody>
              <a:bodyPr wrap="square" rtlCol="0">
                <a:noAutofit/>
              </a:bodyPr>
              <a:lstStyle/>
              <a:p>
                <a:pPr algn="ctr"/>
                <a:r>
                  <a:rPr lang="zh-CN" altLang="en-US" sz="4000" b="1" dirty="0">
                    <a:solidFill>
                      <a:srgbClr val="FFFF00"/>
                    </a:solidFill>
                    <a:latin typeface="腾讯体 W7" panose="020C08030202040F0204" pitchFamily="34" charset="-122"/>
                    <a:ea typeface="腾讯体 W7" panose="020C08030202040F0204" pitchFamily="34" charset="-122"/>
                  </a:rPr>
                  <a:t>学</a:t>
                </a:r>
                <a:endParaRPr lang="zh-CN" altLang="en-US" sz="4000" b="1" dirty="0">
                  <a:solidFill>
                    <a:srgbClr val="FFFF00"/>
                  </a:solidFill>
                  <a:latin typeface="腾讯体 W7" panose="020C08030202040F0204" pitchFamily="34" charset="-122"/>
                  <a:ea typeface="腾讯体 W7" panose="020C08030202040F0204" pitchFamily="34" charset="-122"/>
                </a:endParaRPr>
              </a:p>
            </p:txBody>
          </p:sp>
        </p:grpSp>
      </p:grpSp>
      <p:pic>
        <p:nvPicPr>
          <p:cNvPr id="56" name="图片 74" descr="弯箭头"/>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rot="20640000" flipH="1">
            <a:off x="5705899" y="5370830"/>
            <a:ext cx="891540" cy="663575"/>
          </a:xfrm>
          <a:prstGeom prst="rect">
            <a:avLst/>
          </a:prstGeom>
        </p:spPr>
      </p:pic>
      <p:pic>
        <p:nvPicPr>
          <p:cNvPr id="57" name="图片 75" descr="弯箭头"/>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rot="6060000" flipH="1">
            <a:off x="4683549" y="3874839"/>
            <a:ext cx="891540" cy="663575"/>
          </a:xfrm>
          <a:prstGeom prst="rect">
            <a:avLst/>
          </a:prstGeom>
        </p:spPr>
      </p:pic>
      <p:sp>
        <p:nvSpPr>
          <p:cNvPr id="58" name="文本框 57"/>
          <p:cNvSpPr txBox="1"/>
          <p:nvPr/>
        </p:nvSpPr>
        <p:spPr>
          <a:xfrm>
            <a:off x="231140" y="3726180"/>
            <a:ext cx="4504055" cy="1534160"/>
          </a:xfrm>
          <a:prstGeom prst="rect">
            <a:avLst/>
          </a:prstGeom>
          <a:noFill/>
        </p:spPr>
        <p:txBody>
          <a:bodyPr wrap="square" rtlCol="0">
            <a:noAutofit/>
          </a:bodyPr>
          <a:lstStyle/>
          <a:p>
            <a:pPr marL="285750" indent="-285750" fontAlgn="auto">
              <a:lnSpc>
                <a:spcPts val="2200"/>
              </a:lnSpc>
              <a:buClrTx/>
              <a:buSzTx/>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在教学和学习中引入</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rPr>
              <a:t>先进工具</a:t>
            </a:r>
            <a:endPar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fontAlgn="auto">
              <a:lnSpc>
                <a:spcPts val="2200"/>
              </a:lnSpc>
              <a:buClrTx/>
              <a:buSzTx/>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提升</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rPr>
              <a:t>数据处理和分析能力</a:t>
            </a: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，为未来的科研和职业发展打下坚实基础。</a:t>
            </a:r>
            <a:endPar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grpSp>
        <p:nvGrpSpPr>
          <p:cNvPr id="12" name="组合 11"/>
          <p:cNvGrpSpPr/>
          <p:nvPr/>
        </p:nvGrpSpPr>
        <p:grpSpPr>
          <a:xfrm>
            <a:off x="5531600" y="3213169"/>
            <a:ext cx="1100455" cy="1131570"/>
            <a:chOff x="10552" y="6855"/>
            <a:chExt cx="2308" cy="2308"/>
          </a:xfrm>
        </p:grpSpPr>
        <p:sp>
          <p:nvSpPr>
            <p:cNvPr id="14" name="椭圆 13"/>
            <p:cNvSpPr/>
            <p:nvPr/>
          </p:nvSpPr>
          <p:spPr>
            <a:xfrm>
              <a:off x="10552" y="6855"/>
              <a:ext cx="2309" cy="2309"/>
            </a:xfrm>
            <a:prstGeom prst="ellipse">
              <a:avLst/>
            </a:prstGeom>
            <a:solidFill>
              <a:srgbClr val="173C54"/>
            </a:solidFill>
            <a:ln w="127000" cmpd="sng">
              <a:solidFill>
                <a:srgbClr val="173C54"/>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grpSp>
          <p:nvGrpSpPr>
            <p:cNvPr id="15" name="组合 14"/>
            <p:cNvGrpSpPr/>
            <p:nvPr/>
          </p:nvGrpSpPr>
          <p:grpSpPr>
            <a:xfrm>
              <a:off x="10552" y="6855"/>
              <a:ext cx="2308" cy="2308"/>
              <a:chOff x="3500" y="2624"/>
              <a:chExt cx="2308" cy="2308"/>
            </a:xfrm>
            <a:solidFill>
              <a:srgbClr val="173C54"/>
            </a:solidFill>
          </p:grpSpPr>
          <p:sp>
            <p:nvSpPr>
              <p:cNvPr id="16" name="椭圆 15"/>
              <p:cNvSpPr/>
              <p:nvPr/>
            </p:nvSpPr>
            <p:spPr>
              <a:xfrm>
                <a:off x="3500" y="2624"/>
                <a:ext cx="2309" cy="2309"/>
              </a:xfrm>
              <a:prstGeom prst="ellipse">
                <a:avLst/>
              </a:prstGeom>
              <a:grpFill/>
              <a:ln w="127000" cmpd="sng">
                <a:gradFill>
                  <a:gsLst>
                    <a:gs pos="59000">
                      <a:schemeClr val="accent1">
                        <a:lumMod val="5000"/>
                        <a:lumOff val="95000"/>
                        <a:alpha val="0"/>
                      </a:schemeClr>
                    </a:gs>
                    <a:gs pos="78000">
                      <a:srgbClr val="1D36EB"/>
                    </a:gs>
                    <a:gs pos="100000">
                      <a:srgbClr val="1D36EB"/>
                    </a:gs>
                  </a:gsLst>
                  <a:path path="circle">
                    <a:fillToRect l="50000" t="50000" r="50000" b="50000"/>
                  </a:path>
                  <a:tileRect/>
                </a:gra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腾讯体 W7" panose="020C08030202040F0204" pitchFamily="34" charset="-122"/>
                  <a:ea typeface="腾讯体 W7" panose="020C08030202040F0204" pitchFamily="34" charset="-122"/>
                </a:endParaRPr>
              </a:p>
            </p:txBody>
          </p:sp>
          <p:sp>
            <p:nvSpPr>
              <p:cNvPr id="17" name="文本框 16"/>
              <p:cNvSpPr txBox="1"/>
              <p:nvPr/>
            </p:nvSpPr>
            <p:spPr>
              <a:xfrm>
                <a:off x="3642" y="2965"/>
                <a:ext cx="2025" cy="1466"/>
              </a:xfrm>
              <a:prstGeom prst="rect">
                <a:avLst/>
              </a:prstGeom>
              <a:noFill/>
            </p:spPr>
            <p:txBody>
              <a:bodyPr wrap="square" rtlCol="0">
                <a:noAutofit/>
              </a:bodyPr>
              <a:lstStyle/>
              <a:p>
                <a:pPr algn="ctr"/>
                <a:r>
                  <a:rPr lang="zh-CN" altLang="en-US" sz="4000" b="1" dirty="0">
                    <a:solidFill>
                      <a:srgbClr val="FFFF00"/>
                    </a:solidFill>
                    <a:latin typeface="腾讯体 W7" panose="020C08030202040F0204" pitchFamily="34" charset="-122"/>
                    <a:ea typeface="腾讯体 W7" panose="020C08030202040F0204" pitchFamily="34" charset="-122"/>
                  </a:rPr>
                  <a:t>研</a:t>
                </a:r>
                <a:endParaRPr lang="zh-CN" altLang="en-US" sz="4000" b="1" dirty="0">
                  <a:solidFill>
                    <a:srgbClr val="FFFF00"/>
                  </a:solidFill>
                  <a:latin typeface="腾讯体 W7" panose="020C08030202040F0204" pitchFamily="34" charset="-122"/>
                  <a:ea typeface="腾讯体 W7" panose="020C08030202040F0204" pitchFamily="34" charset="-122"/>
                </a:endParaRPr>
              </a:p>
            </p:txBody>
          </p:sp>
        </p:grpSp>
      </p:grpSp>
      <p:sp>
        <p:nvSpPr>
          <p:cNvPr id="13" name="文本框 12"/>
          <p:cNvSpPr txBox="1"/>
          <p:nvPr/>
        </p:nvSpPr>
        <p:spPr>
          <a:xfrm>
            <a:off x="7473315" y="3726815"/>
            <a:ext cx="4504055" cy="1534160"/>
          </a:xfrm>
          <a:prstGeom prst="rect">
            <a:avLst/>
          </a:prstGeom>
          <a:noFill/>
        </p:spPr>
        <p:txBody>
          <a:bodyPr wrap="square" rtlCol="0">
            <a:noAutofit/>
          </a:bodyPr>
          <a:lstStyle/>
          <a:p>
            <a:pPr marL="285750" indent="-285750" fontAlgn="auto">
              <a:lnSpc>
                <a:spcPts val="2200"/>
              </a:lnSpc>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增强企业技术</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rPr>
              <a:t>创新能力</a:t>
            </a:r>
            <a:endPar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a:p>
            <a:pPr marL="285750" indent="-285750" fontAlgn="auto">
              <a:lnSpc>
                <a:spcPts val="2200"/>
              </a:lnSpc>
              <a:buFont typeface="Arial" panose="020B0604020202020204" pitchFamily="34" charset="0"/>
              <a:buChar char="•"/>
            </a:pP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提供</a:t>
            </a:r>
            <a:r>
              <a:rPr sz="1600" dirty="0">
                <a:solidFill>
                  <a:schemeClr val="accent3"/>
                </a:solidFill>
                <a:latin typeface="腾讯体 W7" panose="020C08030202040F0204" pitchFamily="34" charset="-122"/>
                <a:ea typeface="腾讯体 W7" panose="020C08030202040F0204" pitchFamily="34" charset="-122"/>
                <a:cs typeface="腾讯体 W7" panose="020C08030202040F0204" pitchFamily="34" charset="-122"/>
              </a:rPr>
              <a:t>有力数据支持</a:t>
            </a:r>
            <a:r>
              <a:rPr lang="zh-CN"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rPr>
              <a:t>：</a:t>
            </a:r>
            <a:r>
              <a:rPr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为产品开发、市场研究和战略决策</a:t>
            </a:r>
            <a:r>
              <a:rPr lang="zh-CN"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sym typeface="+mn-ea"/>
              </a:rPr>
              <a:t>助力。</a:t>
            </a:r>
            <a:endParaRPr lang="zh-CN" sz="1600" dirty="0">
              <a:solidFill>
                <a:schemeClr val="bg1"/>
              </a:solidFill>
              <a:latin typeface="腾讯体 W7" panose="020C08030202040F0204" pitchFamily="34" charset="-122"/>
              <a:ea typeface="腾讯体 W7" panose="020C08030202040F0204" pitchFamily="34" charset="-122"/>
              <a:cs typeface="腾讯体 W7" panose="020C08030202040F0204" pitchFamily="34" charset="-122"/>
            </a:endParaRPr>
          </a:p>
        </p:txBody>
      </p:sp>
      <p:pic>
        <p:nvPicPr>
          <p:cNvPr id="19" name="图片 18"/>
          <p:cNvPicPr/>
          <p:nvPr/>
        </p:nvPicPr>
        <p:blipFill>
          <a:blip r:embed="rId6"/>
          <a:stretch>
            <a:fillRect/>
          </a:stretch>
        </p:blipFill>
        <p:spPr>
          <a:xfrm>
            <a:off x="7825740" y="4724400"/>
            <a:ext cx="1985010" cy="1116330"/>
          </a:xfrm>
          <a:prstGeom prst="rect">
            <a:avLst/>
          </a:prstGeom>
          <a:noFill/>
          <a:ln w="9525">
            <a:noFill/>
          </a:ln>
        </p:spPr>
      </p:pic>
      <p:pic>
        <p:nvPicPr>
          <p:cNvPr id="20" name="图片 19"/>
          <p:cNvPicPr>
            <a:picLocks noChangeAspect="1"/>
          </p:cNvPicPr>
          <p:nvPr/>
        </p:nvPicPr>
        <p:blipFill>
          <a:blip r:embed="rId7"/>
          <a:stretch>
            <a:fillRect/>
          </a:stretch>
        </p:blipFill>
        <p:spPr>
          <a:xfrm>
            <a:off x="9871710" y="4724400"/>
            <a:ext cx="2049780" cy="1116330"/>
          </a:xfrm>
          <a:prstGeom prst="rect">
            <a:avLst/>
          </a:prstGeom>
        </p:spPr>
      </p:pic>
      <p:pic>
        <p:nvPicPr>
          <p:cNvPr id="21" name="图片 20"/>
          <p:cNvPicPr>
            <a:picLocks noChangeAspect="1"/>
          </p:cNvPicPr>
          <p:nvPr/>
        </p:nvPicPr>
        <p:blipFill>
          <a:blip r:embed="rId8"/>
          <a:stretch>
            <a:fillRect/>
          </a:stretch>
        </p:blipFill>
        <p:spPr>
          <a:xfrm>
            <a:off x="609600" y="4683760"/>
            <a:ext cx="2075815" cy="1134745"/>
          </a:xfrm>
          <a:prstGeom prst="rect">
            <a:avLst/>
          </a:prstGeom>
        </p:spPr>
      </p:pic>
      <p:pic>
        <p:nvPicPr>
          <p:cNvPr id="27" name="图片 26"/>
          <p:cNvPicPr>
            <a:picLocks noChangeAspect="1"/>
          </p:cNvPicPr>
          <p:nvPr/>
        </p:nvPicPr>
        <p:blipFill>
          <a:blip r:embed="rId9"/>
          <a:stretch>
            <a:fillRect/>
          </a:stretch>
        </p:blipFill>
        <p:spPr>
          <a:xfrm>
            <a:off x="840105" y="1890395"/>
            <a:ext cx="1365250" cy="1417320"/>
          </a:xfrm>
          <a:prstGeom prst="rect">
            <a:avLst/>
          </a:prstGeom>
        </p:spPr>
      </p:pic>
      <p:pic>
        <p:nvPicPr>
          <p:cNvPr id="29" name="图片 28"/>
          <p:cNvPicPr>
            <a:picLocks noChangeAspect="1"/>
          </p:cNvPicPr>
          <p:nvPr/>
        </p:nvPicPr>
        <p:blipFill>
          <a:blip r:embed="rId10"/>
          <a:stretch>
            <a:fillRect/>
          </a:stretch>
        </p:blipFill>
        <p:spPr>
          <a:xfrm>
            <a:off x="8392795" y="1917065"/>
            <a:ext cx="3330575" cy="1453515"/>
          </a:xfrm>
          <a:prstGeom prst="rect">
            <a:avLst/>
          </a:prstGeom>
        </p:spPr>
      </p:pic>
      <p:pic>
        <p:nvPicPr>
          <p:cNvPr id="107" name="图片 106"/>
          <p:cNvPicPr/>
          <p:nvPr/>
        </p:nvPicPr>
        <p:blipFill>
          <a:blip r:embed="rId11"/>
          <a:stretch>
            <a:fillRect/>
          </a:stretch>
        </p:blipFill>
        <p:spPr>
          <a:xfrm>
            <a:off x="2306955" y="1894205"/>
            <a:ext cx="1428750" cy="1428750"/>
          </a:xfrm>
          <a:prstGeom prst="rect">
            <a:avLst/>
          </a:prstGeom>
          <a:noFill/>
          <a:ln w="9525">
            <a:noFill/>
          </a:ln>
        </p:spPr>
      </p:pic>
      <p:pic>
        <p:nvPicPr>
          <p:cNvPr id="108" name="图片 107"/>
          <p:cNvPicPr/>
          <p:nvPr/>
        </p:nvPicPr>
        <p:blipFill>
          <a:blip r:embed="rId12"/>
          <a:stretch>
            <a:fillRect/>
          </a:stretch>
        </p:blipFill>
        <p:spPr>
          <a:xfrm>
            <a:off x="2787650" y="4657725"/>
            <a:ext cx="1150620" cy="1150620"/>
          </a:xfrm>
          <a:prstGeom prst="rect">
            <a:avLst/>
          </a:prstGeom>
          <a:noFill/>
          <a:ln w="9525">
            <a:noFill/>
          </a:ln>
        </p:spPr>
      </p:pic>
      <p:sp>
        <p:nvSpPr>
          <p:cNvPr id="2" name="平行四边形 1"/>
          <p:cNvSpPr/>
          <p:nvPr/>
        </p:nvSpPr>
        <p:spPr>
          <a:xfrm>
            <a:off x="1" y="7356887"/>
            <a:ext cx="12192000" cy="3710206"/>
          </a:xfrm>
          <a:prstGeom prst="parallelogram">
            <a:avLst>
              <a:gd name="adj" fmla="val 0"/>
            </a:avLst>
          </a:prstGeom>
          <a:gradFill flip="none" rotWithShape="1">
            <a:gsLst>
              <a:gs pos="0">
                <a:srgbClr val="FFA100"/>
              </a:gs>
              <a:gs pos="50000">
                <a:srgbClr val="FFA500"/>
              </a:gs>
              <a:gs pos="100000">
                <a:srgbClr val="FFC55C"/>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5" name="文本框 4"/>
          <p:cNvSpPr txBox="1"/>
          <p:nvPr/>
        </p:nvSpPr>
        <p:spPr>
          <a:xfrm>
            <a:off x="12476647" y="-99677"/>
            <a:ext cx="8499930" cy="934295"/>
          </a:xfrm>
          <a:prstGeom prst="rect">
            <a:avLst/>
          </a:prstGeom>
          <a:noFill/>
        </p:spPr>
        <p:txBody>
          <a:bodyPr wrap="square" rtlCol="0">
            <a:spAutoFit/>
          </a:bodyPr>
          <a:lstStyle/>
          <a:p>
            <a:pPr>
              <a:lnSpc>
                <a:spcPts val="7000"/>
              </a:lnSpc>
            </a:pPr>
            <a:r>
              <a:rPr lang="zh-CN" altLang="en-US" sz="5400" dirty="0">
                <a:solidFill>
                  <a:schemeClr val="bg1"/>
                </a:solidFill>
                <a:latin typeface="腾讯字体包" panose="02010600010101010101" charset="-128"/>
                <a:ea typeface="腾讯字体包" panose="02010600010101010101" charset="-128"/>
              </a:rPr>
              <a:t>标注先行，智能领航</a:t>
            </a:r>
            <a:r>
              <a:rPr lang="en-US" altLang="zh-CN" sz="4800" dirty="0">
                <a:solidFill>
                  <a:schemeClr val="bg1"/>
                </a:solidFill>
                <a:latin typeface="腾讯字体包" panose="02010600010101010101" charset="-128"/>
                <a:ea typeface="腾讯字体包" panose="02010600010101010101" charset="-128"/>
              </a:rPr>
              <a:t>——                                                  </a:t>
            </a:r>
            <a:endParaRPr lang="zh-CN" altLang="en-US" sz="4800" dirty="0">
              <a:solidFill>
                <a:schemeClr val="bg1"/>
              </a:solidFill>
              <a:latin typeface="腾讯字体包" panose="02010600010101010101" charset="-128"/>
              <a:ea typeface="腾讯字体包" panose="02010600010101010101" charset="-128"/>
            </a:endParaRPr>
          </a:p>
        </p:txBody>
      </p:sp>
      <p:sp>
        <p:nvSpPr>
          <p:cNvPr id="10" name="标题 1"/>
          <p:cNvSpPr txBox="1"/>
          <p:nvPr/>
        </p:nvSpPr>
        <p:spPr>
          <a:xfrm>
            <a:off x="3887969" y="2217163"/>
            <a:ext cx="7626376" cy="155448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altLang="zh-CN" sz="10000" b="1" dirty="0">
              <a:solidFill>
                <a:srgbClr val="088EFF"/>
              </a:solidFill>
              <a:latin typeface="字体圈欣意冠黑体" panose="00000500000000000000" pitchFamily="2" charset="-122"/>
              <a:ea typeface="字体圈欣意冠黑体" panose="00000500000000000000" pitchFamily="2" charset="-122"/>
            </a:endParaRPr>
          </a:p>
        </p:txBody>
      </p:sp>
      <p:pic>
        <p:nvPicPr>
          <p:cNvPr id="22" name="图片 21"/>
          <p:cNvPicPr>
            <a:picLocks noChangeAspect="1"/>
          </p:cNvPicPr>
          <p:nvPr/>
        </p:nvPicPr>
        <p:blipFill>
          <a:blip r:embed="rId13" cstate="print">
            <a:extLst>
              <a:ext uri="{BEBA8EAE-BF5A-486C-A8C5-ECC9F3942E4B}">
                <a14:imgProps xmlns:a14="http://schemas.microsoft.com/office/drawing/2010/main">
                  <a14:imgLayer r:embed="rId14">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15924506" y="8057721"/>
            <a:ext cx="2452412" cy="2308537"/>
          </a:xfrm>
          <a:prstGeom prst="rect">
            <a:avLst/>
          </a:prstGeom>
        </p:spPr>
      </p:pic>
      <p:pic>
        <p:nvPicPr>
          <p:cNvPr id="23" name="图片 2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69352" y="-2019726"/>
            <a:ext cx="9996170" cy="1913890"/>
          </a:xfrm>
          <a:prstGeom prst="rect">
            <a:avLst/>
          </a:prstGeom>
        </p:spPr>
      </p:pic>
      <p:sp>
        <p:nvSpPr>
          <p:cNvPr id="24" name="文本框 23"/>
          <p:cNvSpPr txBox="1"/>
          <p:nvPr/>
        </p:nvSpPr>
        <p:spPr>
          <a:xfrm>
            <a:off x="-3226567" y="6665778"/>
            <a:ext cx="8499930" cy="2087431"/>
          </a:xfrm>
          <a:prstGeom prst="rect">
            <a:avLst/>
          </a:prstGeom>
          <a:noFill/>
        </p:spPr>
        <p:txBody>
          <a:bodyPr wrap="square">
            <a:spAutoFit/>
          </a:bodyPr>
          <a:lstStyle/>
          <a:p>
            <a:pPr>
              <a:lnSpc>
                <a:spcPts val="8000"/>
              </a:lnSpc>
            </a:pPr>
            <a:r>
              <a:rPr lang="zh-CN" altLang="en-US" sz="4000" dirty="0">
                <a:solidFill>
                  <a:schemeClr val="bg1"/>
                </a:solidFill>
                <a:latin typeface="腾讯字体包" panose="02010600010101010101" charset="-128"/>
                <a:ea typeface="腾讯字体包" panose="02010600010101010101" charset="-128"/>
              </a:rPr>
              <a:t>           开启文本数据</a:t>
            </a:r>
            <a:r>
              <a:rPr lang="zh-CN" altLang="en-US" sz="4800" dirty="0">
                <a:solidFill>
                  <a:srgbClr val="FF2100"/>
                </a:solidFill>
                <a:latin typeface="腾讯字体包" panose="02010600010101010101" charset="-128"/>
                <a:ea typeface="腾讯字体包" panose="02010600010101010101" charset="-128"/>
              </a:rPr>
              <a:t>标注</a:t>
            </a:r>
            <a:r>
              <a:rPr lang="zh-CN" altLang="en-US" sz="4000" dirty="0">
                <a:solidFill>
                  <a:schemeClr val="bg1"/>
                </a:solidFill>
                <a:latin typeface="腾讯字体包" panose="02010600010101010101" charset="-128"/>
                <a:ea typeface="腾讯字体包" panose="02010600010101010101" charset="-128"/>
              </a:rPr>
              <a:t>与</a:t>
            </a:r>
            <a:r>
              <a:rPr lang="zh-CN" altLang="en-US" sz="4800" dirty="0">
                <a:solidFill>
                  <a:srgbClr val="FF0000"/>
                </a:solidFill>
                <a:latin typeface="腾讯字体包" panose="02010600010101010101" charset="-128"/>
                <a:ea typeface="腾讯字体包" panose="02010600010101010101" charset="-128"/>
              </a:rPr>
              <a:t>挖掘</a:t>
            </a:r>
            <a:r>
              <a:rPr lang="zh-CN" altLang="en-US" sz="4000" dirty="0">
                <a:solidFill>
                  <a:schemeClr val="bg1"/>
                </a:solidFill>
                <a:latin typeface="腾讯字体包" panose="02010600010101010101" charset="-128"/>
                <a:ea typeface="腾讯字体包" panose="02010600010101010101" charset="-128"/>
              </a:rPr>
              <a:t>的</a:t>
            </a:r>
            <a:r>
              <a:rPr lang="zh-CN" altLang="en-US" sz="6000" dirty="0">
                <a:solidFill>
                  <a:schemeClr val="bg1"/>
                </a:solidFill>
                <a:latin typeface="腾讯字体包" panose="02010600010101010101" charset="-128"/>
                <a:ea typeface="腾讯字体包" panose="02010600010101010101" charset="-128"/>
              </a:rPr>
              <a:t>全新时代！</a:t>
            </a:r>
            <a:endParaRPr lang="zh-CN" altLang="en-US" sz="4000" dirty="0"/>
          </a:p>
        </p:txBody>
      </p:sp>
      <p:pic>
        <p:nvPicPr>
          <p:cNvPr id="25" name="图片 24"/>
          <p:cNvPicPr>
            <a:picLocks noChangeAspect="1"/>
          </p:cNvPicPr>
          <p:nvPr/>
        </p:nvPicPr>
        <p:blipFill rotWithShape="1">
          <a:blip r:embed="rId16">
            <a:extLst>
              <a:ext uri="{28A0092B-C50C-407E-A947-70E740481C1C}">
                <a14:useLocalDpi xmlns:a14="http://schemas.microsoft.com/office/drawing/2010/main" val="0"/>
              </a:ext>
            </a:extLst>
          </a:blip>
          <a:srcRect l="29764" t="12338" r="37736" b="21068"/>
          <a:stretch>
            <a:fillRect/>
          </a:stretch>
        </p:blipFill>
        <p:spPr>
          <a:xfrm>
            <a:off x="-4074563" y="1388745"/>
            <a:ext cx="3616396" cy="141874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平行四边形 11"/>
          <p:cNvSpPr/>
          <p:nvPr/>
        </p:nvSpPr>
        <p:spPr>
          <a:xfrm>
            <a:off x="1" y="2085449"/>
            <a:ext cx="12192000" cy="3710206"/>
          </a:xfrm>
          <a:prstGeom prst="parallelogram">
            <a:avLst>
              <a:gd name="adj" fmla="val 0"/>
            </a:avLst>
          </a:prstGeom>
          <a:gradFill flip="none" rotWithShape="1">
            <a:gsLst>
              <a:gs pos="0">
                <a:srgbClr val="FFA100"/>
              </a:gs>
              <a:gs pos="50000">
                <a:srgbClr val="FFA500"/>
              </a:gs>
              <a:gs pos="100000">
                <a:srgbClr val="FFC55C"/>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22" name="文本框 21"/>
          <p:cNvSpPr txBox="1"/>
          <p:nvPr/>
        </p:nvSpPr>
        <p:spPr>
          <a:xfrm>
            <a:off x="2445860" y="2150857"/>
            <a:ext cx="8499930" cy="934295"/>
          </a:xfrm>
          <a:prstGeom prst="rect">
            <a:avLst/>
          </a:prstGeom>
          <a:noFill/>
        </p:spPr>
        <p:txBody>
          <a:bodyPr wrap="square" rtlCol="0">
            <a:spAutoFit/>
          </a:bodyPr>
          <a:lstStyle/>
          <a:p>
            <a:pPr>
              <a:lnSpc>
                <a:spcPts val="7000"/>
              </a:lnSpc>
            </a:pPr>
            <a:r>
              <a:rPr lang="zh-CN" altLang="en-US" sz="5400" dirty="0">
                <a:solidFill>
                  <a:schemeClr val="bg1"/>
                </a:solidFill>
                <a:latin typeface="腾讯字体包" panose="02010600010101010101" charset="-128"/>
                <a:ea typeface="腾讯字体包" panose="02010600010101010101" charset="-128"/>
              </a:rPr>
              <a:t>标注先行，智能领航</a:t>
            </a:r>
            <a:r>
              <a:rPr lang="en-US" altLang="zh-CN" sz="4800" dirty="0">
                <a:solidFill>
                  <a:schemeClr val="bg1"/>
                </a:solidFill>
                <a:latin typeface="腾讯字体包" panose="02010600010101010101" charset="-128"/>
                <a:ea typeface="腾讯字体包" panose="02010600010101010101" charset="-128"/>
              </a:rPr>
              <a:t>——                                                  </a:t>
            </a:r>
            <a:endParaRPr lang="zh-CN" altLang="en-US" sz="4800" dirty="0">
              <a:solidFill>
                <a:schemeClr val="bg1"/>
              </a:solidFill>
              <a:latin typeface="腾讯字体包" panose="02010600010101010101" charset="-128"/>
              <a:ea typeface="腾讯字体包" panose="02010600010101010101" charset="-128"/>
            </a:endParaRPr>
          </a:p>
        </p:txBody>
      </p:sp>
      <p:sp>
        <p:nvSpPr>
          <p:cNvPr id="4" name="标题 1"/>
          <p:cNvSpPr txBox="1"/>
          <p:nvPr/>
        </p:nvSpPr>
        <p:spPr>
          <a:xfrm>
            <a:off x="3887969" y="2217163"/>
            <a:ext cx="7626376" cy="155448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altLang="zh-CN" sz="10000" b="1" dirty="0">
              <a:solidFill>
                <a:srgbClr val="088EFF"/>
              </a:solidFill>
              <a:latin typeface="字体圈欣意冠黑体" panose="00000500000000000000" pitchFamily="2" charset="-122"/>
              <a:ea typeface="字体圈欣意冠黑体" panose="00000500000000000000" pitchFamily="2" charset="-122"/>
            </a:endParaRPr>
          </a:p>
        </p:txBody>
      </p:sp>
      <p:pic>
        <p:nvPicPr>
          <p:cNvPr id="20" name="图片 19"/>
          <p:cNvPicPr>
            <a:picLocks noChangeAspect="1"/>
          </p:cNvPicPr>
          <p:nvPr/>
        </p:nvPicPr>
        <p:blipFill>
          <a:blip r:embed="rId1" cstate="print">
            <a:extLst>
              <a:ext uri="{BEBA8EAE-BF5A-486C-A8C5-ECC9F3942E4B}">
                <a14:imgProps xmlns:a14="http://schemas.microsoft.com/office/drawing/2010/main">
                  <a14:imgLayer r:embed="rId2">
                    <a14:imgEffect>
                      <a14:backgroundRemoval t="4395" b="97949" l="3585" r="98438">
                        <a14:foregroundMark x1="48529" y1="11133" x2="14430" y2="27441"/>
                        <a14:foregroundMark x1="20037" y1="9961" x2="33732" y2="7813"/>
                        <a14:foregroundMark x1="33732" y1="7813" x2="63051" y2="10938"/>
                        <a14:foregroundMark x1="63051" y1="10938" x2="81434" y2="26074"/>
                        <a14:foregroundMark x1="81434" y1="26074" x2="90625" y2="40039"/>
                        <a14:foregroundMark x1="75735" y1="6152" x2="68934" y2="10352"/>
                        <a14:foregroundMark x1="68934" y1="10352" x2="29320" y2="6836"/>
                        <a14:foregroundMark x1="29320" y1="6836" x2="17371" y2="10645"/>
                        <a14:foregroundMark x1="17371" y1="10645" x2="15349" y2="12793"/>
                        <a14:foregroundMark x1="40074" y1="4590" x2="69301" y2="9570"/>
                        <a14:foregroundMark x1="69301" y1="9570" x2="69669" y2="9961"/>
                        <a14:foregroundMark x1="76471" y1="6348" x2="77482" y2="26660"/>
                        <a14:foregroundMark x1="77482" y1="26660" x2="86213" y2="36523"/>
                        <a14:foregroundMark x1="86213" y1="36523" x2="86673" y2="37793"/>
                        <a14:foregroundMark x1="86213" y1="24219" x2="92004" y2="51953"/>
                        <a14:foregroundMark x1="92004" y1="51953" x2="91912" y2="55273"/>
                        <a14:foregroundMark x1="82375" y1="62288" x2="75276" y2="83887"/>
                        <a14:foregroundMark x1="86542" y1="49613" x2="86059" y2="51082"/>
                        <a14:foregroundMark x1="90074" y1="38867" x2="87551" y2="46543"/>
                        <a14:foregroundMark x1="82261" y1="77539" x2="72702" y2="85156"/>
                        <a14:foregroundMark x1="72702" y1="85156" x2="51746" y2="93750"/>
                        <a14:foregroundMark x1="51746" y1="93750" x2="33824" y2="93359"/>
                        <a14:foregroundMark x1="53676" y1="97559" x2="33767" y2="93327"/>
                        <a14:foregroundMark x1="26838" y1="90137" x2="10570" y2="94141"/>
                        <a14:foregroundMark x1="10570" y1="94141" x2="14246" y2="82715"/>
                        <a14:foregroundMark x1="11949" y1="75098" x2="10478" y2="90527"/>
                        <a14:foregroundMark x1="10478" y1="90527" x2="10478" y2="90527"/>
                        <a14:foregroundMark x1="5147" y1="45215" x2="8824" y2="69727"/>
                        <a14:foregroundMark x1="8824" y1="69727" x2="9099" y2="70117"/>
                        <a14:foregroundMark x1="6066" y1="40234" x2="3676" y2="48633"/>
                        <a14:foregroundMark x1="61765" y1="36426" x2="50276" y2="54688"/>
                        <a14:foregroundMark x1="55147" y1="28809" x2="46507" y2="43066"/>
                        <a14:foregroundMark x1="49816" y1="35254" x2="48897" y2="34863"/>
                        <a14:foregroundMark x1="90441" y1="34180" x2="98529" y2="62109"/>
                        <a14:foregroundMark x1="71691" y1="5176" x2="74724" y2="4395"/>
                        <a14:foregroundMark x1="7629" y1="96094" x2="10662" y2="96777"/>
                        <a14:foregroundMark x1="9467" y1="97363" x2="9283" y2="97949"/>
                        <a14:backgroundMark x1="86673" y1="46484" x2="86489" y2="49609"/>
                        <a14:backgroundMark x1="85662" y1="52051" x2="84559" y2="57715"/>
                        <a14:backgroundMark x1="85662" y1="52246" x2="84926" y2="56836"/>
                        <a14:backgroundMark x1="86029" y1="51074" x2="84007" y2="59668"/>
                        <a14:backgroundMark x1="83824" y1="58105" x2="82721" y2="61426"/>
                        <a14:backgroundMark x1="84007" y1="58887" x2="82077" y2="62109"/>
                        <a14:backgroundMark x1="87040" y1="46680" x2="87592" y2="46680"/>
                        <a14:backgroundMark x1="87776" y1="46484" x2="87040" y2="46289"/>
                        <a14:backgroundMark x1="30974" y1="92969" x2="31893" y2="92383"/>
                        <a14:backgroundMark x1="29136" y1="92383" x2="33456" y2="93750"/>
                      </a14:backgroundRemoval>
                    </a14:imgEffect>
                  </a14:imgLayer>
                </a14:imgProps>
              </a:ext>
              <a:ext uri="{28A0092B-C50C-407E-A947-70E740481C1C}">
                <a14:useLocalDpi xmlns:a14="http://schemas.microsoft.com/office/drawing/2010/main" val="0"/>
              </a:ext>
            </a:extLst>
          </a:blip>
          <a:stretch>
            <a:fillRect/>
          </a:stretch>
        </p:blipFill>
        <p:spPr>
          <a:xfrm>
            <a:off x="9739588" y="3951732"/>
            <a:ext cx="2452412" cy="2308537"/>
          </a:xfrm>
          <a:prstGeom prst="rect">
            <a:avLst/>
          </a:prstGeom>
        </p:spPr>
      </p:pic>
      <p:pic>
        <p:nvPicPr>
          <p:cNvPr id="34" name="图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352" y="331216"/>
            <a:ext cx="9996170" cy="1913890"/>
          </a:xfrm>
          <a:prstGeom prst="rect">
            <a:avLst/>
          </a:prstGeom>
        </p:spPr>
      </p:pic>
      <p:sp>
        <p:nvSpPr>
          <p:cNvPr id="14" name="文本框 13"/>
          <p:cNvSpPr txBox="1"/>
          <p:nvPr/>
        </p:nvSpPr>
        <p:spPr>
          <a:xfrm>
            <a:off x="1966897" y="3150560"/>
            <a:ext cx="8499930" cy="2087431"/>
          </a:xfrm>
          <a:prstGeom prst="rect">
            <a:avLst/>
          </a:prstGeom>
          <a:noFill/>
        </p:spPr>
        <p:txBody>
          <a:bodyPr wrap="square">
            <a:spAutoFit/>
          </a:bodyPr>
          <a:lstStyle/>
          <a:p>
            <a:pPr>
              <a:lnSpc>
                <a:spcPts val="8000"/>
              </a:lnSpc>
            </a:pPr>
            <a:r>
              <a:rPr lang="zh-CN" altLang="en-US" sz="4000" dirty="0">
                <a:solidFill>
                  <a:schemeClr val="bg1"/>
                </a:solidFill>
                <a:latin typeface="腾讯字体包" panose="02010600010101010101" charset="-128"/>
                <a:ea typeface="腾讯字体包" panose="02010600010101010101" charset="-128"/>
              </a:rPr>
              <a:t>           开启文本数据</a:t>
            </a:r>
            <a:r>
              <a:rPr lang="zh-CN" altLang="en-US" sz="4800" dirty="0">
                <a:solidFill>
                  <a:srgbClr val="FF2100"/>
                </a:solidFill>
                <a:latin typeface="腾讯字体包" panose="02010600010101010101" charset="-128"/>
                <a:ea typeface="腾讯字体包" panose="02010600010101010101" charset="-128"/>
              </a:rPr>
              <a:t>标注</a:t>
            </a:r>
            <a:r>
              <a:rPr lang="zh-CN" altLang="en-US" sz="4000" dirty="0">
                <a:solidFill>
                  <a:schemeClr val="bg1"/>
                </a:solidFill>
                <a:latin typeface="腾讯字体包" panose="02010600010101010101" charset="-128"/>
                <a:ea typeface="腾讯字体包" panose="02010600010101010101" charset="-128"/>
              </a:rPr>
              <a:t>与</a:t>
            </a:r>
            <a:r>
              <a:rPr lang="zh-CN" altLang="en-US" sz="4800" dirty="0">
                <a:solidFill>
                  <a:srgbClr val="FF0000"/>
                </a:solidFill>
                <a:latin typeface="腾讯字体包" panose="02010600010101010101" charset="-128"/>
                <a:ea typeface="腾讯字体包" panose="02010600010101010101" charset="-128"/>
              </a:rPr>
              <a:t>挖掘</a:t>
            </a:r>
            <a:r>
              <a:rPr lang="zh-CN" altLang="en-US" sz="4000" dirty="0">
                <a:solidFill>
                  <a:schemeClr val="bg1"/>
                </a:solidFill>
                <a:latin typeface="腾讯字体包" panose="02010600010101010101" charset="-128"/>
                <a:ea typeface="腾讯字体包" panose="02010600010101010101" charset="-128"/>
              </a:rPr>
              <a:t>的</a:t>
            </a:r>
            <a:r>
              <a:rPr lang="zh-CN" altLang="en-US" sz="6000" dirty="0">
                <a:solidFill>
                  <a:schemeClr val="bg1"/>
                </a:solidFill>
                <a:latin typeface="腾讯字体包" panose="02010600010101010101" charset="-128"/>
                <a:ea typeface="腾讯字体包" panose="02010600010101010101" charset="-128"/>
              </a:rPr>
              <a:t>全新时代！</a:t>
            </a:r>
            <a:endParaRPr lang="zh-CN" altLang="en-US" sz="4000" dirty="0"/>
          </a:p>
        </p:txBody>
      </p:sp>
      <p:pic>
        <p:nvPicPr>
          <p:cNvPr id="16" name="图片 15"/>
          <p:cNvPicPr>
            <a:picLocks noChangeAspect="1"/>
          </p:cNvPicPr>
          <p:nvPr/>
        </p:nvPicPr>
        <p:blipFill rotWithShape="1">
          <a:blip r:embed="rId4">
            <a:extLst>
              <a:ext uri="{28A0092B-C50C-407E-A947-70E740481C1C}">
                <a14:useLocalDpi xmlns:a14="http://schemas.microsoft.com/office/drawing/2010/main" val="0"/>
              </a:ext>
            </a:extLst>
          </a:blip>
          <a:srcRect l="29764" t="12338" r="37736" b="21068"/>
          <a:stretch>
            <a:fillRect/>
          </a:stretch>
        </p:blipFill>
        <p:spPr>
          <a:xfrm>
            <a:off x="482382" y="3012547"/>
            <a:ext cx="3616396" cy="141874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tags/tag1.xml><?xml version="1.0" encoding="utf-8"?>
<p:tagLst xmlns:p="http://schemas.openxmlformats.org/presentationml/2006/main">
  <p:tag name="TABLE_ENDDRAG_ORIGIN_RECT" val="754*187"/>
  <p:tag name="TABLE_ENDDRAG_RECT" val="102*269*754*187"/>
</p:tagLst>
</file>

<file path=ppt/tags/tag2.xml><?xml version="1.0" encoding="utf-8"?>
<p:tagLst xmlns:p="http://schemas.openxmlformats.org/presentationml/2006/main">
  <p:tag name="KSO_WM_DIAGRAM_VIRTUALLY_FRAME" val="{&quot;height&quot;:325.45,&quot;left&quot;:78.1,&quot;top&quot;:88.25,&quot;width&quot;:756.4}"/>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 name="KSO_WM_DIAGRAM_VIRTUALLY_FRAME" val="{&quot;height&quot;:510.2217322834646,&quot;left&quot;:87.26196850393701,&quot;top&quot;:0.017401574803147923,&quot;width&quot;:762.6376377952756}"/>
</p:tagLst>
</file>

<file path=ppt/tags/tag8.xml><?xml version="1.0" encoding="utf-8"?>
<p:tagLst xmlns:p="http://schemas.openxmlformats.org/presentationml/2006/main">
  <p:tag name="KSO_WM_DIAGRAM_VIRTUALLY_FRAME" val="{&quot;height&quot;:325.45,&quot;left&quot;:78.1,&quot;top&quot;:88.25,&quot;width&quot;:756.4}"/>
</p:tagLst>
</file>

<file path=ppt/tags/tag9.xml><?xml version="1.0" encoding="utf-8"?>
<p:tagLst xmlns:p="http://schemas.openxmlformats.org/presentationml/2006/main">
  <p:tag name="KSO_WM_DIAGRAM_VIRTUALLY_FRAME" val="{&quot;height&quot;:325.45,&quot;left&quot;:78.1,&quot;top&quot;:88.25,&quot;width&quot;:756.4}"/>
</p:tagLst>
</file>

<file path=ppt/tags/tag10.xml><?xml version="1.0" encoding="utf-8"?>
<p:tagLst xmlns:p="http://schemas.openxmlformats.org/presentationml/2006/main">
  <p:tag name="KSO_WM_DIAGRAM_VIRTUALLY_FRAME" val="{&quot;height&quot;:325.45,&quot;left&quot;:78.1,&quot;top&quot;:88.25,&quot;width&quot;:756.4}"/>
</p:tagLst>
</file>

<file path=ppt/tags/tag11.xml><?xml version="1.0" encoding="utf-8"?>
<p:tagLst xmlns:p="http://schemas.openxmlformats.org/presentationml/2006/main">
  <p:tag name="KSO_WM_DIAGRAM_VIRTUALLY_FRAME" val="{&quot;height&quot;:325.45,&quot;left&quot;:78.1,&quot;top&quot;:88.25,&quot;width&quot;:756.4}"/>
</p:tagLst>
</file>

<file path=ppt/tags/tag12.xml><?xml version="1.0" encoding="utf-8"?>
<p:tagLst xmlns:p="http://schemas.openxmlformats.org/presentationml/2006/main">
  <p:tag name="KSO_WM_DIAGRAM_VIRTUALLY_FRAME" val="{&quot;height&quot;:325.45,&quot;left&quot;:78.1,&quot;top&quot;:88.25,&quot;width&quot;:756.4}"/>
</p:tagLst>
</file>

<file path=ppt/tags/tag13.xml><?xml version="1.0" encoding="utf-8"?>
<p:tagLst xmlns:p="http://schemas.openxmlformats.org/presentationml/2006/main">
  <p:tag name="KSO_WM_DIAGRAM_VIRTUALLY_FRAME" val="{&quot;height&quot;:325.45,&quot;left&quot;:78.1,&quot;top&quot;:88.25,&quot;width&quot;:756.4}"/>
</p:tagLst>
</file>

<file path=ppt/tags/tag14.xml><?xml version="1.0" encoding="utf-8"?>
<p:tagLst xmlns:p="http://schemas.openxmlformats.org/presentationml/2006/main">
  <p:tag name="KSO_WM_DIAGRAM_VIRTUALLY_FRAME" val="{&quot;height&quot;:325.45,&quot;left&quot;:78.1,&quot;top&quot;:88.25,&quot;width&quot;:756.4}"/>
</p:tagLst>
</file>

<file path=ppt/tags/tag15.xml><?xml version="1.0" encoding="utf-8"?>
<p:tagLst xmlns:p="http://schemas.openxmlformats.org/presentationml/2006/main">
  <p:tag name="KSO_WM_DIAGRAM_VIRTUALLY_FRAME" val="{&quot;height&quot;:325.45,&quot;left&quot;:78.1,&quot;top&quot;:88.25,&quot;width&quot;:756.4}"/>
</p:tagLst>
</file>

<file path=ppt/tags/tag16.xml><?xml version="1.0" encoding="utf-8"?>
<p:tagLst xmlns:p="http://schemas.openxmlformats.org/presentationml/2006/main">
  <p:tag name="KSO_WM_DIAGRAM_VIRTUALLY_FRAME" val="{&quot;height&quot;:325.45,&quot;left&quot;:78.1,&quot;top&quot;:88.25,&quot;width&quot;:756.4}"/>
</p:tagLst>
</file>

<file path=ppt/tags/tag17.xml><?xml version="1.0" encoding="utf-8"?>
<p:tagLst xmlns:p="http://schemas.openxmlformats.org/presentationml/2006/main">
  <p:tag name="KSO_WM_DIAGRAM_VIRTUALLY_FRAME" val="{&quot;height&quot;:325.45,&quot;left&quot;:78.1,&quot;top&quot;:88.25,&quot;width&quot;:756.4}"/>
</p:tagLst>
</file>

<file path=ppt/tags/tag18.xml><?xml version="1.0" encoding="utf-8"?>
<p:tagLst xmlns:p="http://schemas.openxmlformats.org/presentationml/2006/main">
  <p:tag name="KSO_WM_DIAGRAM_VIRTUALLY_FRAME" val="{&quot;height&quot;:325.45,&quot;left&quot;:78.1,&quot;top&quot;:88.25,&quot;width&quot;:756.4}"/>
</p:tagLst>
</file>

<file path=ppt/tags/tag19.xml><?xml version="1.0" encoding="utf-8"?>
<p:tagLst xmlns:p="http://schemas.openxmlformats.org/presentationml/2006/main">
  <p:tag name="KSO_WM_DIAGRAM_VIRTUALLY_FRAME" val="{&quot;height&quot;:325.45,&quot;left&quot;:78.1,&quot;top&quot;:88.25,&quot;width&quot;:756.4}"/>
</p:tagLst>
</file>

<file path=ppt/tags/tag20.xml><?xml version="1.0" encoding="utf-8"?>
<p:tagLst xmlns:p="http://schemas.openxmlformats.org/presentationml/2006/main">
  <p:tag name="KSO_WM_DIAGRAM_VIRTUALLY_FRAME" val="{&quot;height&quot;:325.45,&quot;left&quot;:78.1,&quot;top&quot;:88.25,&quot;width&quot;:756.4}"/>
</p:tagLst>
</file>

<file path=ppt/tags/tag21.xml><?xml version="1.0" encoding="utf-8"?>
<p:tagLst xmlns:p="http://schemas.openxmlformats.org/presentationml/2006/main">
  <p:tag name="KSO_WM_DIAGRAM_VIRTUALLY_FRAME" val="{&quot;height&quot;:325.45,&quot;left&quot;:78.1,&quot;top&quot;:88.25,&quot;width&quot;:756.4}"/>
</p:tagLst>
</file>

<file path=ppt/tags/tag22.xml><?xml version="1.0" encoding="utf-8"?>
<p:tagLst xmlns:p="http://schemas.openxmlformats.org/presentationml/2006/main">
  <p:tag name="KSO_WM_DIAGRAM_VIRTUALLY_FRAME" val="{&quot;height&quot;:325.45,&quot;left&quot;:78.1,&quot;top&quot;:88.25,&quot;width&quot;:756.4}"/>
</p:tagLst>
</file>

<file path=ppt/tags/tag23.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4.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5.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6.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7.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8.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29.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0.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1.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2.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3.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4.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5.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6.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7.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8.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39.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40.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41.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42.xml><?xml version="1.0" encoding="utf-8"?>
<p:tagLst xmlns:p="http://schemas.openxmlformats.org/presentationml/2006/main">
  <p:tag name="KSO_WM_DIAGRAM_VIRTUALLY_FRAME" val="{&quot;height&quot;:277.5975590551181,&quot;left&quot;:76.78433070866141,&quot;top&quot;:185.4024409448819,&quot;width&quot;:778.7840944881889}"/>
</p:tagLst>
</file>

<file path=ppt/tags/tag43.xml><?xml version="1.0" encoding="utf-8"?>
<p:tagLst xmlns:p="http://schemas.openxmlformats.org/presentationml/2006/main">
  <p:tag name="COMMONDATA" val="eyJoZGlkIjoiZWI2ODY4Mjc4MzcyZTA5OTVjNTdkOWI5NWI5OTQ2NzMifQ=="/>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4460</Words>
  <Application>WPS 演示</Application>
  <PresentationFormat>宽屏</PresentationFormat>
  <Paragraphs>768</Paragraphs>
  <Slides>31</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31</vt:i4>
      </vt:variant>
    </vt:vector>
  </HeadingPairs>
  <TitlesOfParts>
    <vt:vector size="47" baseType="lpstr">
      <vt:lpstr>Arial</vt:lpstr>
      <vt:lpstr>宋体</vt:lpstr>
      <vt:lpstr>Wingdings</vt:lpstr>
      <vt:lpstr>腾讯字体包</vt:lpstr>
      <vt:lpstr>字体圈欣意冠黑体</vt:lpstr>
      <vt:lpstr>腾讯体 W7</vt:lpstr>
      <vt:lpstr>Times New Roman Regular</vt:lpstr>
      <vt:lpstr>Times New Roman</vt:lpstr>
      <vt:lpstr>Calibri</vt:lpstr>
      <vt:lpstr>黑体</vt:lpstr>
      <vt:lpstr>微软雅黑</vt:lpstr>
      <vt:lpstr>Arial Unicode MS</vt:lpstr>
      <vt:lpstr>Wingdings</vt:lpstr>
      <vt:lpstr>STIXGeneral-Bold</vt:lpstr>
      <vt:lpstr>Segoe Print</vt:lpstr>
      <vt:lpstr>WPS</vt:lpstr>
      <vt:lpstr>PowerPoint 演示文稿</vt:lpstr>
      <vt:lpstr>PowerPoint 演示文稿</vt:lpstr>
      <vt:lpstr>时代需求</vt:lpstr>
      <vt:lpstr>市场需求</vt:lpstr>
      <vt:lpstr>竞品分析</vt:lpstr>
      <vt:lpstr>产品定位</vt:lpstr>
      <vt:lpstr>PowerPoint 演示文稿</vt:lpstr>
      <vt:lpstr>项目简介</vt:lpstr>
      <vt:lpstr>项目简介</vt:lpstr>
      <vt:lpstr>项目简介</vt:lpstr>
      <vt:lpstr>项目简介</vt:lpstr>
      <vt:lpstr>项目简介</vt:lpstr>
      <vt:lpstr>项目简介</vt:lpstr>
      <vt:lpstr>项目简介</vt:lpstr>
      <vt:lpstr>项目简介</vt:lpstr>
      <vt:lpstr>项目简介</vt:lpstr>
      <vt:lpstr>项目简介</vt:lpstr>
      <vt:lpstr>项目简介</vt:lpstr>
      <vt:lpstr>PowerPoint 演示文稿</vt:lpstr>
      <vt:lpstr>PowerPoint 演示文稿</vt:lpstr>
      <vt:lpstr>PowerPoint 演示文稿</vt:lpstr>
      <vt:lpstr>PowerPoint 演示文稿</vt:lpstr>
      <vt:lpstr>PowerPoint 演示文稿</vt:lpstr>
      <vt:lpstr>PowerPoint 演示文稿</vt:lpstr>
      <vt:lpstr>项目团队</vt:lpstr>
      <vt:lpstr>项目进展</vt:lpstr>
      <vt:lpstr>商业模式</vt:lpstr>
      <vt:lpstr>商业模式</vt:lpstr>
      <vt:lpstr>商业模式</vt:lpstr>
      <vt:lpstr>五、社会效益</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jl d</dc:creator>
  <cp:lastModifiedBy>houyue</cp:lastModifiedBy>
  <cp:revision>115</cp:revision>
  <dcterms:created xsi:type="dcterms:W3CDTF">2024-06-17T13:26:00Z</dcterms:created>
  <dcterms:modified xsi:type="dcterms:W3CDTF">2024-06-21T11:49:58Z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58EF066EA94948008565A9BA7564B4CE_13</vt:lpwstr>
  </property>
  <property fmtid="{D5CDD505-2E9C-101B-9397-08002B2CF9AE}" pid="3" name="KSOProductBuildVer">
    <vt:lpwstr>2052-12.1.0.16929</vt:lpwstr>
  </property>
</Properties>
</file>